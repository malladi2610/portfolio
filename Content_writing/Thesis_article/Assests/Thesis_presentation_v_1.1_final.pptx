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7FF64F22_776117E9.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7FF64F98_4BEACFAE.xml" ContentType="application/vnd.ms-powerpoint.comments+xml"/>
  <Override PartName="/ppt/notesSlides/notesSlide8.xml" ContentType="application/vnd.openxmlformats-officedocument.presentationml.notesSlide+xml"/>
  <Override PartName="/ppt/comments/modernComment_7FF65011_51AAC59E.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7FF64FCD_11AB65D5.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modernComment_7FF64FCF_69D97CD2.xml" ContentType="application/vnd.ms-powerpoint.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heme/themeOverride1.xml" ContentType="application/vnd.openxmlformats-officedocument.themeOverr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omments/modernComment_7FF64FCE_196F0907.xml" ContentType="application/vnd.ms-powerpoint.comments+xml"/>
  <Override PartName="/ppt/notesSlides/notesSlide43.xml" ContentType="application/vnd.openxmlformats-officedocument.presentationml.notesSlide+xml"/>
  <Override PartName="/ppt/theme/themeOverride2.xml" ContentType="application/vnd.openxmlformats-officedocument.themeOverr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omments/modernComment_193_24B74363.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9" r:id="rId1"/>
    <p:sldMasterId id="2147483834" r:id="rId2"/>
  </p:sldMasterIdLst>
  <p:notesMasterIdLst>
    <p:notesMasterId r:id="rId69"/>
  </p:notesMasterIdLst>
  <p:sldIdLst>
    <p:sldId id="2146848546" r:id="rId3"/>
    <p:sldId id="2146848781" r:id="rId4"/>
    <p:sldId id="2146848876" r:id="rId5"/>
    <p:sldId id="2146848783" r:id="rId6"/>
    <p:sldId id="2146848877" r:id="rId7"/>
    <p:sldId id="2146848773" r:id="rId8"/>
    <p:sldId id="2146848664" r:id="rId9"/>
    <p:sldId id="2146848785" r:id="rId10"/>
    <p:sldId id="2146848896" r:id="rId11"/>
    <p:sldId id="2146848730" r:id="rId12"/>
    <p:sldId id="2146848732" r:id="rId13"/>
    <p:sldId id="2146848794" r:id="rId14"/>
    <p:sldId id="2146848895" r:id="rId15"/>
    <p:sldId id="2146848849" r:id="rId16"/>
    <p:sldId id="2146848883" r:id="rId17"/>
    <p:sldId id="2146848749" r:id="rId18"/>
    <p:sldId id="2146848874" r:id="rId19"/>
    <p:sldId id="2146848750" r:id="rId20"/>
    <p:sldId id="472" r:id="rId21"/>
    <p:sldId id="2146848760" r:id="rId22"/>
    <p:sldId id="2146848846" r:id="rId23"/>
    <p:sldId id="2146848893" r:id="rId24"/>
    <p:sldId id="2146848848" r:id="rId25"/>
    <p:sldId id="2146848762" r:id="rId26"/>
    <p:sldId id="2146848884" r:id="rId27"/>
    <p:sldId id="2146848568" r:id="rId28"/>
    <p:sldId id="2146848717" r:id="rId29"/>
    <p:sldId id="2146848886" r:id="rId30"/>
    <p:sldId id="2146848892" r:id="rId31"/>
    <p:sldId id="2146848835" r:id="rId32"/>
    <p:sldId id="2146848826" r:id="rId33"/>
    <p:sldId id="2146848827" r:id="rId34"/>
    <p:sldId id="2146848719" r:id="rId35"/>
    <p:sldId id="2146848806" r:id="rId36"/>
    <p:sldId id="2146848832" r:id="rId37"/>
    <p:sldId id="2146848830" r:id="rId38"/>
    <p:sldId id="2146848833" r:id="rId39"/>
    <p:sldId id="2146848834" r:id="rId40"/>
    <p:sldId id="2146848887" r:id="rId41"/>
    <p:sldId id="2146848858" r:id="rId42"/>
    <p:sldId id="2146848879" r:id="rId43"/>
    <p:sldId id="2146848889" r:id="rId44"/>
    <p:sldId id="2146848880" r:id="rId45"/>
    <p:sldId id="2146848881" r:id="rId46"/>
    <p:sldId id="2146848872" r:id="rId47"/>
    <p:sldId id="2146848885" r:id="rId48"/>
    <p:sldId id="2146848852" r:id="rId49"/>
    <p:sldId id="2146848748" r:id="rId50"/>
    <p:sldId id="2146848855" r:id="rId51"/>
    <p:sldId id="2146848856" r:id="rId52"/>
    <p:sldId id="2146848857" r:id="rId53"/>
    <p:sldId id="2146848897" r:id="rId54"/>
    <p:sldId id="2146848890" r:id="rId55"/>
    <p:sldId id="2146848891" r:id="rId56"/>
    <p:sldId id="2146848718" r:id="rId57"/>
    <p:sldId id="2146848823" r:id="rId58"/>
    <p:sldId id="2146848843" r:id="rId59"/>
    <p:sldId id="2146848844" r:id="rId60"/>
    <p:sldId id="2146848845" r:id="rId61"/>
    <p:sldId id="2146848767" r:id="rId62"/>
    <p:sldId id="2146848724" r:id="rId63"/>
    <p:sldId id="2146848763" r:id="rId64"/>
    <p:sldId id="2146848816" r:id="rId65"/>
    <p:sldId id="2146848828" r:id="rId66"/>
    <p:sldId id="2146848829" r:id="rId67"/>
    <p:sldId id="403" r:id="rId68"/>
  </p:sldIdLst>
  <p:sldSz cx="9144000" cy="5143500" type="screen16x9"/>
  <p:notesSz cx="6858000" cy="9144000"/>
  <p:defaultTextStyle>
    <a:defPPr>
      <a:defRPr lang="en-US"/>
    </a:defPPr>
    <a:lvl1pPr marL="0" algn="l" defTabSz="411480" rtl="0" eaLnBrk="1" latinLnBrk="0" hangingPunct="1">
      <a:defRPr sz="1620" kern="1200">
        <a:solidFill>
          <a:schemeClr val="tx1"/>
        </a:solidFill>
        <a:latin typeface="+mn-lt"/>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40">
          <p15:clr>
            <a:srgbClr val="A4A3A4"/>
          </p15:clr>
        </p15:guide>
        <p15:guide id="5" orient="horz" pos="2928">
          <p15:clr>
            <a:srgbClr val="A4A3A4"/>
          </p15:clr>
        </p15:guide>
        <p15:guide id="6"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5D1271C-6098-A95B-33D3-60781A0BCB10}" name="Naga Subhash Malladi" initials="NM" userId="S::nmalladi@tudelft.nl::6bf9df75-fd10-4d24-98ad-e9a6031ce19f" providerId="AD"/>
  <p188:author id="{C3C49B76-E473-C752-8E42-BF783FCA5411}" name="Kanishkan Vadivel (imec)" initials="KV" userId="S::vadive41@imec.be::1597c874-422e-4ee2-8cce-e261aa64ba33" providerId="AD"/>
  <p188:author id="{521302F0-C185-0C81-A10B-18DDCD89C4CB}" name="Malladi Naga Subhash (imec)" initials="M(" userId="S::nagasu01@imec.be::5efa8e8c-e451-4b45-9385-2d129fc10fc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ACAC"/>
    <a:srgbClr val="FBC2B7"/>
    <a:srgbClr val="FFFFFF"/>
    <a:srgbClr val="FEF445"/>
    <a:srgbClr val="FF0000"/>
    <a:srgbClr val="92D050"/>
    <a:srgbClr val="FFFF00"/>
    <a:srgbClr val="000000"/>
    <a:srgbClr val="FCA972"/>
    <a:srgbClr val="FFFF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12013A-65AD-4A13-A0DD-96781A2DDE21}" v="4310" dt="2025-06-29T22:20:35.326"/>
    <p1510:client id="{B19F63B2-EBDE-517A-F400-C3794EC53A3A}" v="10" dt="2025-06-29T18:43:34.802"/>
    <p1510:client id="{E5B05642-7431-7823-B142-DC866C4F29A7}" v="61" dt="2025-06-28T23:34:22.1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447" autoAdjust="0"/>
  </p:normalViewPr>
  <p:slideViewPr>
    <p:cSldViewPr snapToGrid="0">
      <p:cViewPr varScale="1">
        <p:scale>
          <a:sx n="132" d="100"/>
          <a:sy n="132" d="100"/>
        </p:scale>
        <p:origin x="120" y="1560"/>
      </p:cViewPr>
      <p:guideLst>
        <p:guide orient="horz" pos="3140"/>
        <p:guide orient="horz" pos="2928"/>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microsoft.com/office/2015/10/relationships/revisionInfo" Target="revisionInfo.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75"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comments/modernComment_7FF64F22_776117E9.xml><?xml version="1.0" encoding="utf-8"?>
<p188:cmLst xmlns:a="http://schemas.openxmlformats.org/drawingml/2006/main" xmlns:r="http://schemas.openxmlformats.org/officeDocument/2006/relationships" xmlns:p188="http://schemas.microsoft.com/office/powerpoint/2018/8/main">
  <p188:cm id="{A3F6A47F-537F-4BB8-8D72-A12BF5A2F3CD}" authorId="{C3C49B76-E473-C752-8E42-BF783FCA5411}" created="2025-04-04T08:48:32.113">
    <ac:txMkLst xmlns:ac="http://schemas.microsoft.com/office/drawing/2013/main/command">
      <pc:docMk xmlns:pc="http://schemas.microsoft.com/office/powerpoint/2013/main/command"/>
      <pc:sldMk xmlns:pc="http://schemas.microsoft.com/office/powerpoint/2013/main/command" cId="2002851817" sldId="2146848546"/>
      <ac:spMk id="6" creationId="{79EF9D0C-9B36-7EE2-8230-1FAE5AB20F5E}"/>
      <ac:txMk cp="7" len="3">
        <ac:context len="61" hash="10139143"/>
      </ac:txMk>
    </ac:txMkLst>
    <p188:pos x="2304371" y="209086"/>
    <p188:txBody>
      <a:bodyPr/>
      <a:lstStyle/>
      <a:p>
        <a:r>
          <a:rPr lang="en-GB"/>
          <a:t>“An” in title is odd!</a:t>
        </a:r>
      </a:p>
    </p188:txBody>
  </p188:cm>
</p188:cmLst>
</file>

<file path=ppt/comments/modernComment_7FF64F98_4BEACFAE.xml><?xml version="1.0" encoding="utf-8"?>
<p188:cmLst xmlns:a="http://schemas.openxmlformats.org/drawingml/2006/main" xmlns:r="http://schemas.openxmlformats.org/officeDocument/2006/relationships" xmlns:p188="http://schemas.microsoft.com/office/powerpoint/2018/8/main">
  <p188:cm id="{0A306C47-A9A6-4D2C-A091-74279FBEBF13}" authorId="{521302F0-C185-0C81-A10B-18DDCD89C4CB}" created="2025-01-12T11:18:57.585">
    <pc:sldMkLst xmlns:pc="http://schemas.microsoft.com/office/powerpoint/2013/main/command">
      <pc:docMk/>
      <pc:sldMk cId="1686209781" sldId="393"/>
    </pc:sldMkLst>
    <p188:txBody>
      <a:bodyPr/>
      <a:lstStyle/>
      <a:p>
        <a:r>
          <a:rPr lang="en-GB"/>
          <a:t>Paste the high level diagram of the tool
With each block that will be explained in the background slides</a:t>
        </a:r>
      </a:p>
    </p188:txBody>
  </p188:cm>
</p188:cmLst>
</file>

<file path=ppt/comments/modernComment_7FF64FCD_11AB65D5.xml><?xml version="1.0" encoding="utf-8"?>
<p188:cmLst xmlns:a="http://schemas.openxmlformats.org/drawingml/2006/main" xmlns:r="http://schemas.openxmlformats.org/officeDocument/2006/relationships" xmlns:p188="http://schemas.microsoft.com/office/powerpoint/2018/8/main">
  <p188:cm id="{2B626EE9-81BA-4D20-B0D0-E1F884A6FAB8}" authorId="{521302F0-C185-0C81-A10B-18DDCD89C4CB}" created="2025-04-29T14:26:28.641">
    <pc:sldMkLst xmlns:pc="http://schemas.microsoft.com/office/powerpoint/2013/main/command">
      <pc:docMk/>
      <pc:sldMk cId="296445397" sldId="2146848717"/>
    </pc:sldMkLst>
    <p188:txBody>
      <a:bodyPr/>
      <a:lstStyle/>
      <a:p>
        <a:r>
          <a:rPr lang="en-GB"/>
          <a:t>Show Zoom out animation for the architecture</a:t>
        </a:r>
      </a:p>
    </p188:txBody>
  </p188:cm>
</p188:cmLst>
</file>

<file path=ppt/comments/modernComment_7FF64FCE_196F0907.xml><?xml version="1.0" encoding="utf-8"?>
<p188:cmLst xmlns:a="http://schemas.openxmlformats.org/drawingml/2006/main" xmlns:r="http://schemas.openxmlformats.org/officeDocument/2006/relationships" xmlns:p188="http://schemas.microsoft.com/office/powerpoint/2018/8/main">
  <p188:cm id="{5C32B929-90E4-4942-8DBB-F2C30023CFF4}" authorId="{521302F0-C185-0C81-A10B-18DDCD89C4CB}" created="2025-04-29T14:27:06.392">
    <pc:sldMkLst xmlns:pc="http://schemas.microsoft.com/office/powerpoint/2013/main/command">
      <pc:docMk/>
      <pc:sldMk cId="426707207" sldId="2146848718"/>
    </pc:sldMkLst>
    <p188:txBody>
      <a:bodyPr/>
      <a:lstStyle/>
      <a:p>
        <a:r>
          <a:rPr lang="en-GB"/>
          <a:t>Show the workload zoom out </a:t>
        </a:r>
      </a:p>
    </p188:txBody>
  </p188:cm>
</p188:cmLst>
</file>

<file path=ppt/comments/modernComment_7FF64FCF_69D97CD2.xml><?xml version="1.0" encoding="utf-8"?>
<p188:cmLst xmlns:a="http://schemas.openxmlformats.org/drawingml/2006/main" xmlns:r="http://schemas.openxmlformats.org/officeDocument/2006/relationships" xmlns:p188="http://schemas.microsoft.com/office/powerpoint/2018/8/main">
  <p188:cm id="{2D381610-43D3-4E36-8ED2-8D431AA73366}" authorId="{521302F0-C185-0C81-A10B-18DDCD89C4CB}" created="2025-04-29T14:27:25.237">
    <pc:sldMkLst xmlns:pc="http://schemas.microsoft.com/office/powerpoint/2013/main/command">
      <pc:docMk/>
      <pc:sldMk cId="1775860946" sldId="2146848719"/>
    </pc:sldMkLst>
    <p188:txBody>
      <a:bodyPr/>
      <a:lstStyle/>
      <a:p>
        <a:r>
          <a:rPr lang="en-GB"/>
          <a:t>Mapspace equations</a:t>
        </a:r>
      </a:p>
    </p188:txBody>
  </p188:cm>
</p188:cmLst>
</file>

<file path=ppt/comments/modernComment_7FF65011_51AAC59E.xml><?xml version="1.0" encoding="utf-8"?>
<p188:cmLst xmlns:a="http://schemas.openxmlformats.org/drawingml/2006/main" xmlns:r="http://schemas.openxmlformats.org/officeDocument/2006/relationships" xmlns:p188="http://schemas.microsoft.com/office/powerpoint/2018/8/main">
  <p188:cm id="{78F3700D-77EF-43C6-BAAE-BBEA40AB4CB3}" authorId="{521302F0-C185-0C81-A10B-18DDCD89C4CB}" created="2025-05-24T18:02:12.100">
    <pc:sldMkLst xmlns:pc="http://schemas.microsoft.com/office/powerpoint/2013/main/command">
      <pc:docMk/>
      <pc:sldMk cId="1370146206" sldId="2146848785"/>
    </pc:sldMkLst>
    <p188:txBody>
      <a:bodyPr/>
      <a:lstStyle/>
      <a:p>
        <a:r>
          <a:rPr lang="en-GB"/>
          <a:t>Get a graph showcasing that Memory and PE occupy a large part of the chip and finiding the best configuration would always be beneficial, RoI would be better</a:t>
        </a:r>
      </a:p>
    </p188:txBody>
  </p188:cm>
</p188:cmLst>
</file>

<file path=ppt/comments/modernComment_193_24B74363.xml><?xml version="1.0" encoding="utf-8"?>
<p188:cmLst xmlns:a="http://schemas.openxmlformats.org/drawingml/2006/main" xmlns:r="http://schemas.openxmlformats.org/officeDocument/2006/relationships" xmlns:p188="http://schemas.microsoft.com/office/powerpoint/2018/8/main">
  <p188:cm id="{6F1A7FAA-4046-4B01-8343-E048559086FC}" authorId="{521302F0-C185-0C81-A10B-18DDCD89C4CB}" created="2025-01-17T09:53:43.649">
    <pc:sldMkLst xmlns:pc="http://schemas.microsoft.com/office/powerpoint/2013/main/command">
      <pc:docMk/>
      <pc:sldMk cId="615990115" sldId="380"/>
    </pc:sldMkLst>
    <p188:txBody>
      <a:bodyPr/>
      <a:lstStyle/>
      <a:p>
        <a:r>
          <a:rPr lang="en-GB"/>
          <a:t>Put a high level diagram of sparseloop, stream and Zigzag and the combination of these things for event driven is the AeDAM</a:t>
        </a:r>
      </a:p>
    </p188:txBody>
  </p188:cm>
  <p188:cm id="{A3A1595A-1639-48D4-BB45-4F4CB2457CD2}" authorId="{521302F0-C185-0C81-A10B-18DDCD89C4CB}" created="2025-01-17T09:54:07.650">
    <pc:sldMkLst xmlns:pc="http://schemas.microsoft.com/office/powerpoint/2013/main/command">
      <pc:docMk/>
      <pc:sldMk cId="615990115" sldId="380"/>
    </pc:sldMkLst>
    <p188:txBody>
      <a:bodyPr/>
      <a:lstStyle/>
      <a:p>
        <a:r>
          <a:rPr lang="en-GB"/>
          <a:t>Remove the fine text and add it in the report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D038E-DF9D-47FA-AB4A-9EB9D4B033C1}" type="datetimeFigureOut">
              <a:rPr lang="en-GB" smtClean="0"/>
              <a:t>29/08/2025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2772C2-2D9F-4AAE-BA19-192BCFA0BB2C}" type="slidenum">
              <a:rPr lang="en-GB" smtClean="0"/>
              <a:t>‹#›</a:t>
            </a:fld>
            <a:endParaRPr lang="en-GB"/>
          </a:p>
        </p:txBody>
      </p:sp>
    </p:spTree>
    <p:extLst>
      <p:ext uri="{BB962C8B-B14F-4D97-AF65-F5344CB8AC3E}">
        <p14:creationId xmlns:p14="http://schemas.microsoft.com/office/powerpoint/2010/main" val="3924328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b="0" dirty="0">
                <a:latin typeface="Arial" panose="020B0604020202020204" pitchFamily="34" charset="0"/>
                <a:cs typeface="Arial" panose="020B0604020202020204" pitchFamily="34" charset="0"/>
              </a:rPr>
              <a:t>Good morning, everyone. Thank you for being here today—supervisors, committee members, colleagues, family, and friends.</a:t>
            </a:r>
          </a:p>
          <a:p>
            <a:endParaRPr lang="en-US" sz="2400" b="0" dirty="0">
              <a:latin typeface="Arial" panose="020B0604020202020204" pitchFamily="34" charset="0"/>
              <a:cs typeface="Arial" panose="020B0604020202020204" pitchFamily="34" charset="0"/>
            </a:endParaRPr>
          </a:p>
          <a:p>
            <a:r>
              <a:rPr lang="en-US" sz="2400" b="0" dirty="0">
                <a:latin typeface="Arial" panose="020B0604020202020204" pitchFamily="34" charset="0"/>
                <a:cs typeface="Arial" panose="020B0604020202020204" pitchFamily="34" charset="0"/>
              </a:rPr>
              <a:t>Today I will present my master's thesis work on AeDAM, an Event-Driven Architecture Mapping exploration tool. This research addresses a critical gap in the design space exploration tools available for emerging neuromorphic and event-driven computing architectures.</a:t>
            </a:r>
          </a:p>
          <a:p>
            <a:endParaRPr lang="en-US" sz="2400" b="0" dirty="0">
              <a:latin typeface="Arial" panose="020B0604020202020204" pitchFamily="34" charset="0"/>
              <a:cs typeface="Arial" panose="020B0604020202020204" pitchFamily="34" charset="0"/>
            </a:endParaRPr>
          </a:p>
          <a:p>
            <a:r>
              <a:rPr lang="en-US" sz="2400" b="0" dirty="0">
                <a:latin typeface="Arial" panose="020B0604020202020204" pitchFamily="34" charset="0"/>
                <a:cs typeface="Arial" panose="020B0604020202020204" pitchFamily="34" charset="0"/>
              </a:rPr>
              <a:t>There is substantial ground to cover, so let us begin.</a:t>
            </a:r>
          </a:p>
        </p:txBody>
      </p:sp>
      <p:sp>
        <p:nvSpPr>
          <p:cNvPr id="4" name="Slide Number Placeholder 3"/>
          <p:cNvSpPr>
            <a:spLocks noGrp="1"/>
          </p:cNvSpPr>
          <p:nvPr>
            <p:ph type="sldNum" sz="quarter" idx="5"/>
          </p:nvPr>
        </p:nvSpPr>
        <p:spPr/>
        <p:txBody>
          <a:bodyPr/>
          <a:lstStyle/>
          <a:p>
            <a:fld id="{F610E16F-47A4-4B41-9A7D-0B64615B21D7}" type="slidenum">
              <a:rPr lang="en-GB" smtClean="0"/>
              <a:t>1</a:t>
            </a:fld>
            <a:endParaRPr lang="en-GB"/>
          </a:p>
        </p:txBody>
      </p:sp>
    </p:spTree>
    <p:extLst>
      <p:ext uri="{BB962C8B-B14F-4D97-AF65-F5344CB8AC3E}">
        <p14:creationId xmlns:p14="http://schemas.microsoft.com/office/powerpoint/2010/main" val="7607147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427A5-238F-3C9D-276B-2118C1CF00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083D4-BAE0-6947-83AA-5B1D1672FF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47CDD2-C756-B4C9-B5B1-8B9063B12942}"/>
              </a:ext>
            </a:extLst>
          </p:cNvPr>
          <p:cNvSpPr>
            <a:spLocks noGrp="1"/>
          </p:cNvSpPr>
          <p:nvPr>
            <p:ph type="body" idx="1"/>
          </p:nvPr>
        </p:nvSpPr>
        <p:spPr/>
        <p:txBody>
          <a:bodyPr/>
          <a:lstStyle/>
          <a:p>
            <a:r>
              <a:rPr lang="en-US" dirty="0"/>
              <a:t>Artificial intelligence is everywhere in our world today. From transportation and healthcare to retail and manufacturing. </a:t>
            </a:r>
          </a:p>
          <a:p>
            <a:endParaRPr lang="en-US" dirty="0"/>
          </a:p>
          <a:p>
            <a:r>
              <a:rPr lang="en-US" dirty="0"/>
              <a:t>These systems are used in self-driving cars, medical diagnosis, online shopping recommendations, smart farming, banking services, and many other applications.</a:t>
            </a:r>
          </a:p>
          <a:p>
            <a:endParaRPr lang="en-US" dirty="0"/>
          </a:p>
          <a:p>
            <a:r>
              <a:rPr lang="en-US" dirty="0"/>
              <a:t>However, this growth in AI creates major challenges, especially when we need to run these intelligent systems on devices with limited power and processing capabilities.</a:t>
            </a:r>
          </a:p>
          <a:p>
            <a:endParaRPr lang="en-US" dirty="0"/>
          </a:p>
          <a:p>
            <a:r>
              <a:rPr lang="en-US" dirty="0"/>
              <a:t>This is an edge computing challenge.</a:t>
            </a:r>
            <a:endParaRPr lang="en-GB" dirty="0"/>
          </a:p>
        </p:txBody>
      </p:sp>
      <p:sp>
        <p:nvSpPr>
          <p:cNvPr id="4" name="Slide Number Placeholder 3">
            <a:extLst>
              <a:ext uri="{FF2B5EF4-FFF2-40B4-BE49-F238E27FC236}">
                <a16:creationId xmlns:a16="http://schemas.microsoft.com/office/drawing/2014/main" id="{F42903F0-3578-BBD6-981E-D953CF72EEAD}"/>
              </a:ext>
            </a:extLst>
          </p:cNvPr>
          <p:cNvSpPr>
            <a:spLocks noGrp="1"/>
          </p:cNvSpPr>
          <p:nvPr>
            <p:ph type="sldNum" sz="quarter" idx="5"/>
          </p:nvPr>
        </p:nvSpPr>
        <p:spPr/>
        <p:txBody>
          <a:bodyPr/>
          <a:lstStyle/>
          <a:p>
            <a:fld id="{1A59DF5E-6856-4D9F-AFC6-501AF185DEE7}" type="slidenum">
              <a:rPr lang="en-IN" smtClean="0"/>
              <a:t>2</a:t>
            </a:fld>
            <a:endParaRPr lang="en-IN"/>
          </a:p>
        </p:txBody>
      </p:sp>
    </p:spTree>
    <p:extLst>
      <p:ext uri="{BB962C8B-B14F-4D97-AF65-F5344CB8AC3E}">
        <p14:creationId xmlns:p14="http://schemas.microsoft.com/office/powerpoint/2010/main" val="1893063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widespread AI adoption creates a serious problem. </a:t>
            </a:r>
          </a:p>
          <a:p>
            <a:r>
              <a:rPr lang="en-US" dirty="0"/>
              <a:t>AI models are growing at an incredible rate - from millions to billions of parameters in just over a decade. </a:t>
            </a:r>
          </a:p>
          <a:p>
            <a:endParaRPr lang="en-US" dirty="0"/>
          </a:p>
          <a:p>
            <a:r>
              <a:rPr lang="en-US" dirty="0"/>
              <a:t>Energy consumption is following the same trend upward. We are now entering what experts call the 'Red AI Era' where energy costs rise dramatically with model size. </a:t>
            </a:r>
          </a:p>
          <a:p>
            <a:endParaRPr lang="en-US" dirty="0"/>
          </a:p>
          <a:p>
            <a:r>
              <a:rPr lang="en-US" dirty="0"/>
              <a:t>Meanwhile, edge devices face harsh limits on memory, energy, and processing power</a:t>
            </a:r>
          </a:p>
          <a:p>
            <a:endParaRPr lang="en-US" dirty="0"/>
          </a:p>
          <a:p>
            <a:r>
              <a:rPr lang="en-US" dirty="0"/>
              <a:t>Is there a solution?</a:t>
            </a:r>
            <a:endParaRPr lang="en-NL" dirty="0"/>
          </a:p>
        </p:txBody>
      </p:sp>
      <p:sp>
        <p:nvSpPr>
          <p:cNvPr id="4" name="Slide Number Placeholder 3"/>
          <p:cNvSpPr>
            <a:spLocks noGrp="1"/>
          </p:cNvSpPr>
          <p:nvPr>
            <p:ph type="sldNum" sz="quarter" idx="5"/>
          </p:nvPr>
        </p:nvSpPr>
        <p:spPr/>
        <p:txBody>
          <a:bodyPr/>
          <a:lstStyle/>
          <a:p>
            <a:fld id="{872772C2-2D9F-4AAE-BA19-192BCFA0BB2C}" type="slidenum">
              <a:rPr lang="en-GB" smtClean="0"/>
              <a:t>3</a:t>
            </a:fld>
            <a:endParaRPr lang="en-GB"/>
          </a:p>
        </p:txBody>
      </p:sp>
    </p:spTree>
    <p:extLst>
      <p:ext uri="{BB962C8B-B14F-4D97-AF65-F5344CB8AC3E}">
        <p14:creationId xmlns:p14="http://schemas.microsoft.com/office/powerpoint/2010/main" val="1937833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there a better solution?</a:t>
            </a:r>
          </a:p>
          <a:p>
            <a:r>
              <a:rPr lang="en-US" dirty="0"/>
              <a:t>Our brain processes complex tasks using only twenty watts of power. Inspired by this efficiency, neuromorphic computing emerged. </a:t>
            </a:r>
          </a:p>
          <a:p>
            <a:endParaRPr lang="en-US" dirty="0"/>
          </a:p>
          <a:p>
            <a:r>
              <a:rPr lang="en-US" dirty="0"/>
              <a:t>This approach uses bio-inspired techniques including asynchronous processing, analog circuits, event-driven computation, co-located memory and processing, and spiking neural networks. </a:t>
            </a:r>
          </a:p>
          <a:p>
            <a:endParaRPr lang="en-US" dirty="0"/>
          </a:p>
          <a:p>
            <a:r>
              <a:rPr lang="en-US" dirty="0"/>
              <a:t>These methods process information only when changes occur, dramatically improving energy efficiency for edge applications.</a:t>
            </a:r>
          </a:p>
          <a:p>
            <a:endParaRPr lang="en-US" dirty="0"/>
          </a:p>
          <a:p>
            <a:endParaRPr lang="en-US" dirty="0"/>
          </a:p>
          <a:p>
            <a:endParaRPr lang="en-US" dirty="0"/>
          </a:p>
          <a:p>
            <a:endParaRPr lang="en-US" dirty="0"/>
          </a:p>
          <a:p>
            <a:endParaRPr lang="en-US" dirty="0"/>
          </a:p>
          <a:p>
            <a:endParaRPr lang="en-US" dirty="0"/>
          </a:p>
          <a:p>
            <a:endParaRPr lang="en-US" dirty="0"/>
          </a:p>
          <a:p>
            <a:r>
              <a:rPr lang="en-US" b="1" dirty="0"/>
              <a:t>Full Presentation Notes (for preparation):</a:t>
            </a:r>
            <a:endParaRPr lang="en-US" dirty="0"/>
          </a:p>
          <a:p>
            <a:r>
              <a:rPr lang="en-US" dirty="0"/>
              <a:t>The key insight comes from studying biological systems. The human brain demonstrates remarkable efficiency, performing complex cognitive tasks while consuming approximately twenty watts of power. This efficiency stems from several fundamental principles that differ dramatically from traditional computing approaches.</a:t>
            </a:r>
          </a:p>
          <a:p>
            <a:r>
              <a:rPr lang="en-US" dirty="0"/>
              <a:t>Neuromorphic computing emerged from studying these biological principles. The brain operates asynchronously, meaning different regions process information independently without requiring global synchronization. Processing occurs only when neurons receive sufficient input to generate spikes, creating an event-driven system that avoids unnecessary computation.</a:t>
            </a:r>
          </a:p>
          <a:p>
            <a:r>
              <a:rPr lang="en-US" dirty="0"/>
              <a:t>Five core bio-inspired techniques enable this efficiency. Asynchronous processing eliminates the need for global clocks, allowing independent computation across different system components. Analog circuits provide continuous signal processing that more closely resembles biological neuron behavior. Event-driven processing triggers computation only when changes occur, significantly reducing energy consumption. Co-located processing and memory integration eliminates the energy overhead of constantly moving data between separate processing and storage units. Finally, spiking neural networks use the timing of discrete events to encode and process information, closely mimicking biological neural communication.</a:t>
            </a:r>
          </a:p>
          <a:p>
            <a:r>
              <a:rPr lang="en-US" dirty="0"/>
              <a:t>These principles collectively address the fundamental energy efficiency challenges facing edge AI deployment by processing information only when necessary, rather than continuously consuming power regardless of computational requirements.</a:t>
            </a:r>
          </a:p>
        </p:txBody>
      </p:sp>
      <p:sp>
        <p:nvSpPr>
          <p:cNvPr id="4" name="Slide Number Placeholder 3"/>
          <p:cNvSpPr>
            <a:spLocks noGrp="1"/>
          </p:cNvSpPr>
          <p:nvPr>
            <p:ph type="sldNum" sz="quarter" idx="5"/>
          </p:nvPr>
        </p:nvSpPr>
        <p:spPr/>
        <p:txBody>
          <a:bodyPr/>
          <a:lstStyle/>
          <a:p>
            <a:fld id="{872772C2-2D9F-4AAE-BA19-192BCFA0BB2C}" type="slidenum">
              <a:rPr lang="en-GB" smtClean="0"/>
              <a:t>4</a:t>
            </a:fld>
            <a:endParaRPr lang="en-GB"/>
          </a:p>
        </p:txBody>
      </p:sp>
    </p:spTree>
    <p:extLst>
      <p:ext uri="{BB962C8B-B14F-4D97-AF65-F5344CB8AC3E}">
        <p14:creationId xmlns:p14="http://schemas.microsoft.com/office/powerpoint/2010/main" val="3608879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computing processes every pixel in every frame continuously, handling 184 million pixels per second even when nothing changes. </a:t>
            </a:r>
          </a:p>
          <a:p>
            <a:endParaRPr lang="en-US" dirty="0"/>
          </a:p>
          <a:p>
            <a:r>
              <a:rPr lang="en-US" dirty="0"/>
              <a:t>Event-driven computing processes only changes when they occur, reducing data to just 1-10 million sparse events per second. </a:t>
            </a:r>
          </a:p>
          <a:p>
            <a:endParaRPr lang="en-US" dirty="0"/>
          </a:p>
          <a:p>
            <a:r>
              <a:rPr lang="en-US" dirty="0"/>
              <a:t>This paradigm shift delivers microsecond latency response times with 150 times less sensor power consumption, making it perfect for edge applications.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b="1" dirty="0"/>
              <a:t>Full Presentation Notes (for preparation):</a:t>
            </a:r>
            <a:endParaRPr lang="en-US" dirty="0"/>
          </a:p>
          <a:p>
            <a:r>
              <a:rPr lang="en-US" dirty="0"/>
              <a:t>The fundamental difference between traditional and event-driven computing lies in their processing philosophy. Traditional frame-based computing operates on a fixed schedule, continuously processing complete data frames regardless of whether changes have occurred. This approach processes whole data frames every 16.7 milliseconds at standard 60 frames per second, resulting in high bandwidth requirements of 184 million pixels per second data streams.</a:t>
            </a:r>
          </a:p>
          <a:p>
            <a:r>
              <a:rPr lang="en-US" dirty="0"/>
              <a:t>Event-driven computing represents a paradigm shift that processes information only when changes occur in the environment. Rather than continuously analyzing static data, this approach responds exclusively to changes, reducing the data load to approximately 1-10 million events per second compared to the maximum 30 million events per second capability. This selective processing approach dramatically reduces computational overhead.</a:t>
            </a:r>
          </a:p>
          <a:p>
            <a:r>
              <a:rPr lang="en-US" dirty="0"/>
              <a:t>The performance improvements are substantial and measurable. Event-driven systems achieve approximately one microsecond latency compared to the 16.7 millisecond temporal resolution of traditional systems. Power consumption drops dramatically, with sensor power reducing from 500 milliwatts to just 3 milliwatts, representing a 150-fold improvement in energy efficiency.</a:t>
            </a:r>
          </a:p>
          <a:p>
            <a:r>
              <a:rPr lang="en-US" dirty="0"/>
              <a:t>This efficiency gain makes event-driven processing particularly suitable for edge applications where power constraints are critical. The sparse nature of event data means processing resources are utilized only when environmental changes require attention, eliminating the energy waste associated with continuously processing unchanged information.</a:t>
            </a: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872772C2-2D9F-4AAE-BA19-192BCFA0BB2C}" type="slidenum">
              <a:rPr lang="en-GB" smtClean="0"/>
              <a:t>5</a:t>
            </a:fld>
            <a:endParaRPr lang="en-GB"/>
          </a:p>
        </p:txBody>
      </p:sp>
    </p:spTree>
    <p:extLst>
      <p:ext uri="{BB962C8B-B14F-4D97-AF65-F5344CB8AC3E}">
        <p14:creationId xmlns:p14="http://schemas.microsoft.com/office/powerpoint/2010/main" val="8284979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event-driven computing offers a solution, implementing it creates new challenges. </a:t>
            </a:r>
          </a:p>
          <a:p>
            <a:endParaRPr lang="en-US" dirty="0"/>
          </a:p>
          <a:p>
            <a:r>
              <a:rPr lang="en-US" dirty="0"/>
              <a:t>The neuromorphic architecture landscape shows tremendous diversity. Intel </a:t>
            </a:r>
            <a:r>
              <a:rPr lang="en-US" dirty="0" err="1"/>
              <a:t>Loihi</a:t>
            </a:r>
            <a:r>
              <a:rPr lang="en-US" dirty="0"/>
              <a:t>, IMEC Seneca, and IBM </a:t>
            </a:r>
            <a:r>
              <a:rPr lang="en-US" dirty="0" err="1"/>
              <a:t>Northpole</a:t>
            </a:r>
            <a:r>
              <a:rPr lang="en-US" dirty="0"/>
              <a:t> each use completely different approaches for organizing processing elements, memory systems, and interconnects.</a:t>
            </a:r>
          </a:p>
          <a:p>
            <a:endParaRPr lang="en-US" dirty="0"/>
          </a:p>
          <a:p>
            <a:r>
              <a:rPr lang="en-US" dirty="0"/>
              <a:t>Every architecture has countless design space exploration points including processing elements, memory configurations, interconnect strategies, and other architectural components.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b="1" dirty="0"/>
              <a:t>Full Presentation Notes (for preparation):</a:t>
            </a:r>
            <a:endParaRPr lang="en-US" dirty="0"/>
          </a:p>
          <a:p>
            <a:r>
              <a:rPr lang="en-US" b="1" dirty="0"/>
              <a:t>Animation 1 - Architecture Diversity:</a:t>
            </a:r>
            <a:r>
              <a:rPr lang="en-US" dirty="0"/>
              <a:t> Event-driven computing provides the theoretical solution to edge AI challenges, but implementing these systems reveals significant complexity. The neuromorphic architecture landscape demonstrates remarkable diversity across different implementations. Three major examples illustrate this variety: Intel </a:t>
            </a:r>
            <a:r>
              <a:rPr lang="en-US" dirty="0" err="1"/>
              <a:t>Loihi</a:t>
            </a:r>
            <a:r>
              <a:rPr lang="en-US" dirty="0"/>
              <a:t> focuses on programmable neuron models with extensive synaptic memory, IMEC Seneca emphasizes fully digital neuromorphic processing with RISC-V controllers, and IBM </a:t>
            </a:r>
            <a:r>
              <a:rPr lang="en-US" dirty="0" err="1"/>
              <a:t>Northpole</a:t>
            </a:r>
            <a:r>
              <a:rPr lang="en-US" dirty="0"/>
              <a:t> integrates massive core arrays with distributed memory systems.</a:t>
            </a:r>
          </a:p>
          <a:p>
            <a:r>
              <a:rPr lang="en-US" b="1" dirty="0"/>
              <a:t>Animation 2 - Component Highlighting:</a:t>
            </a:r>
            <a:r>
              <a:rPr lang="en-US" dirty="0"/>
              <a:t> Each architecture makes fundamentally different decisions about core components. Processing elements vary dramatically in their organization, capabilities, and interconnection strategies. Memory systems range from distributed local storage to centralized shared resources with different bandwidth and latency characteristics. The physical arrangement of these components creates unique trade-offs in energy efficiency, performance, and area utilization.</a:t>
            </a:r>
          </a:p>
          <a:p>
            <a:r>
              <a:rPr lang="en-US" b="1" dirty="0"/>
              <a:t>Animation 3 - Design Space Explosion:</a:t>
            </a:r>
            <a:r>
              <a:rPr lang="en-US" dirty="0"/>
              <a:t> This architectural diversity creates an explosion of design space exploration points. Every architecture presents numerous configuration options for processing element arrangements, memory hierarchy organization, interconnect topologies, and specialized functional blocks. The challenge becomes systematically exploring these vast design spaces to identify optimal configurations for specific applications and constraints.</a:t>
            </a:r>
          </a:p>
          <a:p>
            <a:r>
              <a:rPr lang="en-US" dirty="0"/>
              <a:t>This complexity motivates the need for specialized exploration tools that understand the unique characteristics of event-driven architectures, rather than trying to adapt tools designed for traditional synchronous systems.</a:t>
            </a:r>
          </a:p>
          <a:p>
            <a:br>
              <a:rPr lang="en-US" dirty="0">
                <a:latin typeface="Calibri"/>
                <a:ea typeface="Calibri"/>
                <a:cs typeface="Calibri"/>
              </a:rPr>
            </a:br>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872772C2-2D9F-4AAE-BA19-192BCFA0BB2C}" type="slidenum">
              <a:rPr lang="en-GB" smtClean="0"/>
              <a:t>6</a:t>
            </a:fld>
            <a:endParaRPr lang="en-GB"/>
          </a:p>
        </p:txBody>
      </p:sp>
    </p:spTree>
    <p:extLst>
      <p:ext uri="{BB962C8B-B14F-4D97-AF65-F5344CB8AC3E}">
        <p14:creationId xmlns:p14="http://schemas.microsoft.com/office/powerpoint/2010/main" val="694406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so many architectural choices and design options, how do we find the best configuration? </a:t>
            </a:r>
          </a:p>
          <a:p>
            <a:endParaRPr lang="en-US" dirty="0"/>
          </a:p>
          <a:p>
            <a:r>
              <a:rPr lang="en-US" dirty="0"/>
              <a:t>This process should be science-based, not an art form relying on intuition. We need systematic, analytical mapping exploration tools that can methodically evaluate different configurations. </a:t>
            </a:r>
          </a:p>
          <a:p>
            <a:endParaRPr lang="en-US" dirty="0"/>
          </a:p>
          <a:p>
            <a:r>
              <a:rPr lang="en-US" dirty="0"/>
              <a:t>Rather than guessing or using trial-and-error approaches, we require rigorous scientific methods to guide architectural decisions.“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b="1" dirty="0"/>
              <a:t>Full Presentation Notes (for preparation):</a:t>
            </a:r>
            <a:endParaRPr lang="en-US" dirty="0"/>
          </a:p>
          <a:p>
            <a:r>
              <a:rPr lang="en-US" dirty="0"/>
              <a:t>The complexity we just observed in neuromorphic architectures presents a fundamental challenge for system designers. With countless configuration options across processing elements, memory hierarchies, and interconnect strategies, the question becomes: how do we systematically identify optimal designs?</a:t>
            </a:r>
          </a:p>
          <a:p>
            <a:r>
              <a:rPr lang="en-US" dirty="0"/>
              <a:t>Traditionally, architecture exploration has often relied on expert intuition, rules of thumb, and iterative trial-and-error approaches. Designers would make educated guesses about promising configurations, implement prototypes, and refine their designs based on experimental results. While this approach can work for simple systems, it becomes completely impractical when dealing with the vast design spaces characteristic of neuromorphic architectures.</a:t>
            </a:r>
          </a:p>
          <a:p>
            <a:r>
              <a:rPr lang="en-US" dirty="0"/>
              <a:t>The solution requires transforming architecture exploration from an art form into a rigorous scientific discipline. This transformation demands analytical mapping exploration tools that can systematically evaluate design alternatives using quantitative methods. These tools must be capable of modeling complex architectural interactions, predicting performance and energy characteristics, and identifying optimal configurations through systematic search rather than intuitive guesswork.</a:t>
            </a:r>
          </a:p>
          <a:p>
            <a:r>
              <a:rPr lang="en-US" dirty="0"/>
              <a:t>Scientific exploration tools provide several critical advantages: they can exhaustively examine design spaces that would be impossible to explore manually, they eliminate human bias and subjective preferences from the optimization process, and they provide reproducible results that can be validated and compared across different research efforts.</a:t>
            </a:r>
          </a:p>
          <a:p>
            <a:r>
              <a:rPr lang="en-US" dirty="0"/>
              <a:t>This scientific approach becomes the foundation for my research contributions, which focus on developing specialized exploration tools for event-driven architectures.</a:t>
            </a:r>
          </a:p>
        </p:txBody>
      </p:sp>
      <p:sp>
        <p:nvSpPr>
          <p:cNvPr id="4" name="Slide Number Placeholder 3"/>
          <p:cNvSpPr>
            <a:spLocks noGrp="1"/>
          </p:cNvSpPr>
          <p:nvPr>
            <p:ph type="sldNum" sz="quarter" idx="5"/>
          </p:nvPr>
        </p:nvSpPr>
        <p:spPr/>
        <p:txBody>
          <a:bodyPr/>
          <a:lstStyle/>
          <a:p>
            <a:fld id="{872772C2-2D9F-4AAE-BA19-192BCFA0BB2C}" type="slidenum">
              <a:rPr lang="en-GB" smtClean="0"/>
              <a:t>7</a:t>
            </a:fld>
            <a:endParaRPr lang="en-GB"/>
          </a:p>
        </p:txBody>
      </p:sp>
    </p:spTree>
    <p:extLst>
      <p:ext uri="{BB962C8B-B14F-4D97-AF65-F5344CB8AC3E}">
        <p14:creationId xmlns:p14="http://schemas.microsoft.com/office/powerpoint/2010/main" val="1042443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Calibri"/>
                <a:ea typeface="Calibri"/>
                <a:cs typeface="Calibri"/>
              </a:rPr>
              <a:t>Problem statement</a:t>
            </a:r>
            <a:r>
              <a:rPr lang="en-US" dirty="0">
                <a:latin typeface="Calibri"/>
                <a:ea typeface="Calibri"/>
                <a:cs typeface="Calibri"/>
              </a:rPr>
              <a:t>:</a:t>
            </a:r>
            <a:br>
              <a:rPr lang="en-US" dirty="0">
                <a:latin typeface="Calibri"/>
                <a:ea typeface="Calibri"/>
                <a:cs typeface="Calibri"/>
              </a:rPr>
            </a:br>
            <a:br>
              <a:rPr lang="en-US" dirty="0">
                <a:latin typeface="Calibri"/>
                <a:ea typeface="Calibri"/>
                <a:cs typeface="Calibri"/>
              </a:rPr>
            </a:br>
            <a:r>
              <a:rPr lang="en-US" dirty="0">
                <a:latin typeface="Calibri"/>
                <a:ea typeface="Calibri"/>
                <a:cs typeface="Calibri"/>
              </a:rPr>
              <a:t>Current mapping exploration tools are mainly focused on the Frame based accelerator and are in efficient for the event driven architecture exploration and optimization</a:t>
            </a:r>
          </a:p>
          <a:p>
            <a:endParaRPr lang="en-US" dirty="0">
              <a:latin typeface="Calibri"/>
              <a:ea typeface="Calibri"/>
              <a:cs typeface="Calibri"/>
            </a:endParaRPr>
          </a:p>
          <a:p>
            <a:r>
              <a:rPr lang="en-US" b="1" dirty="0">
                <a:latin typeface="Calibri"/>
                <a:ea typeface="Calibri"/>
                <a:cs typeface="Calibri"/>
              </a:rPr>
              <a:t>Leads to</a:t>
            </a:r>
          </a:p>
          <a:p>
            <a:r>
              <a:rPr lang="en-US" b="1" dirty="0">
                <a:latin typeface="Calibri"/>
                <a:ea typeface="Calibri"/>
                <a:cs typeface="Calibri"/>
              </a:rPr>
              <a:t>Research gap:</a:t>
            </a:r>
          </a:p>
          <a:p>
            <a:endParaRPr lang="en-US" dirty="0">
              <a:latin typeface="Calibri"/>
              <a:ea typeface="Calibri"/>
              <a:cs typeface="Calibri"/>
            </a:endParaRPr>
          </a:p>
          <a:p>
            <a:r>
              <a:rPr lang="en-US" dirty="0">
                <a:latin typeface="Calibri"/>
                <a:ea typeface="Calibri"/>
                <a:cs typeface="Calibri"/>
              </a:rPr>
              <a:t>Not having an end to end tool (That considers Sparsity and event driven dataflow modelling for single and multi core architectures)</a:t>
            </a:r>
          </a:p>
          <a:p>
            <a:endParaRPr lang="en-US" dirty="0">
              <a:latin typeface="Calibri"/>
              <a:ea typeface="Calibri"/>
              <a:cs typeface="Calibri"/>
            </a:endParaRPr>
          </a:p>
          <a:p>
            <a:r>
              <a:rPr lang="en-US" dirty="0">
                <a:latin typeface="Calibri"/>
                <a:ea typeface="Calibri"/>
                <a:cs typeface="Calibri"/>
              </a:rPr>
              <a:t>Address this</a:t>
            </a:r>
          </a:p>
          <a:p>
            <a:r>
              <a:rPr lang="en-US" b="1" dirty="0">
                <a:latin typeface="Calibri"/>
                <a:ea typeface="Calibri"/>
                <a:cs typeface="Calibri"/>
              </a:rPr>
              <a:t>My contributions:</a:t>
            </a:r>
          </a:p>
          <a:p>
            <a:pPr marL="0" indent="0">
              <a:buNone/>
            </a:pPr>
            <a:endParaRPr lang="en-US" dirty="0">
              <a:latin typeface="Calibri"/>
              <a:ea typeface="Calibri"/>
              <a:cs typeface="Calibri"/>
            </a:endParaRPr>
          </a:p>
          <a:p>
            <a:pPr marL="0" indent="0">
              <a:buNone/>
            </a:pPr>
            <a:r>
              <a:rPr lang="en-US" dirty="0">
                <a:latin typeface="Calibri"/>
                <a:ea typeface="Calibri"/>
                <a:cs typeface="Calibri"/>
              </a:rPr>
              <a:t>Proposing an exploration tool which performs </a:t>
            </a:r>
          </a:p>
          <a:p>
            <a:pPr marL="228600" indent="-228600">
              <a:buAutoNum type="alphaLcPeriod"/>
            </a:pPr>
            <a:r>
              <a:rPr lang="en-US" dirty="0">
                <a:latin typeface="Calibri"/>
                <a:ea typeface="Calibri"/>
                <a:cs typeface="Calibri"/>
              </a:rPr>
              <a:t>Event driven intra-core spatial and temporal mapping explorations</a:t>
            </a:r>
          </a:p>
          <a:p>
            <a:pPr marL="228600" indent="-228600">
              <a:buAutoNum type="alphaLcPeriod"/>
            </a:pPr>
            <a:r>
              <a:rPr lang="en-US" dirty="0">
                <a:latin typeface="Calibri"/>
                <a:ea typeface="Calibri"/>
                <a:cs typeface="Calibri"/>
              </a:rPr>
              <a:t>Performing the Design space exploration  and optimizing of Event driven architectures on the basis of</a:t>
            </a:r>
          </a:p>
          <a:p>
            <a:pPr marL="685800" lvl="1" indent="-228600">
              <a:buAutoNum type="alphaLcPeriod"/>
            </a:pPr>
            <a:r>
              <a:rPr lang="en-US" dirty="0">
                <a:latin typeface="Calibri"/>
                <a:ea typeface="Calibri"/>
                <a:cs typeface="Calibri"/>
              </a:rPr>
              <a:t>Different memory configuration and  PE arrangement</a:t>
            </a:r>
          </a:p>
        </p:txBody>
      </p:sp>
      <p:sp>
        <p:nvSpPr>
          <p:cNvPr id="4" name="Slide Number Placeholder 3"/>
          <p:cNvSpPr>
            <a:spLocks noGrp="1"/>
          </p:cNvSpPr>
          <p:nvPr>
            <p:ph type="sldNum" sz="quarter" idx="5"/>
          </p:nvPr>
        </p:nvSpPr>
        <p:spPr/>
        <p:txBody>
          <a:bodyPr/>
          <a:lstStyle/>
          <a:p>
            <a:fld id="{872772C2-2D9F-4AAE-BA19-192BCFA0BB2C}" type="slidenum">
              <a:rPr lang="en-GB" smtClean="0"/>
              <a:t>8</a:t>
            </a:fld>
            <a:endParaRPr lang="en-GB"/>
          </a:p>
        </p:txBody>
      </p:sp>
    </p:spTree>
    <p:extLst>
      <p:ext uri="{BB962C8B-B14F-4D97-AF65-F5344CB8AC3E}">
        <p14:creationId xmlns:p14="http://schemas.microsoft.com/office/powerpoint/2010/main" val="1181442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delving deep into the </a:t>
            </a:r>
            <a:r>
              <a:rPr lang="en-US" dirty="0" err="1"/>
              <a:t>intriceses</a:t>
            </a:r>
            <a:r>
              <a:rPr lang="en-US" dirty="0"/>
              <a:t> of the Mapping exploration tool, let me explain how neural networks map to hardware. </a:t>
            </a:r>
          </a:p>
          <a:p>
            <a:endParaRPr lang="en-US" dirty="0"/>
          </a:p>
          <a:p>
            <a:r>
              <a:rPr lang="en-US" dirty="0"/>
              <a:t>Convolution operations involve multiple nested loops across different dimensions like batch size, channels, and spatial coordinates. </a:t>
            </a:r>
          </a:p>
          <a:p>
            <a:endParaRPr lang="en-US" dirty="0"/>
          </a:p>
          <a:p>
            <a:r>
              <a:rPr lang="en-US" dirty="0"/>
              <a:t>Hardware accelerators use two key strategies: spatial unrolling distributes computation across multiple processing elements simultaneously, while temporal unrolling sequences operations over time to optimize memory usage and performance.</a:t>
            </a:r>
            <a:endParaRPr lang="en-NL" dirty="0"/>
          </a:p>
        </p:txBody>
      </p:sp>
      <p:sp>
        <p:nvSpPr>
          <p:cNvPr id="4" name="Slide Number Placeholder 3"/>
          <p:cNvSpPr>
            <a:spLocks noGrp="1"/>
          </p:cNvSpPr>
          <p:nvPr>
            <p:ph type="sldNum" sz="quarter" idx="5"/>
          </p:nvPr>
        </p:nvSpPr>
        <p:spPr/>
        <p:txBody>
          <a:bodyPr/>
          <a:lstStyle/>
          <a:p>
            <a:fld id="{872772C2-2D9F-4AAE-BA19-192BCFA0BB2C}" type="slidenum">
              <a:rPr lang="en-GB" smtClean="0"/>
              <a:t>10</a:t>
            </a:fld>
            <a:endParaRPr lang="en-GB"/>
          </a:p>
        </p:txBody>
      </p:sp>
    </p:spTree>
    <p:extLst>
      <p:ext uri="{BB962C8B-B14F-4D97-AF65-F5344CB8AC3E}">
        <p14:creationId xmlns:p14="http://schemas.microsoft.com/office/powerpoint/2010/main" val="29306238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animation, The output stationary mapping is being executed on the hardware where the partial sums are constant in the PE and the weights and inputs are accessed continuously to perform the final output.</a:t>
            </a:r>
          </a:p>
          <a:p>
            <a:endParaRPr lang="en-US" dirty="0"/>
          </a:p>
          <a:p>
            <a:r>
              <a:rPr lang="en-US" dirty="0"/>
              <a:t>Here the spatial unrolling is across the output channels and they are computed in parallel as shown</a:t>
            </a:r>
            <a:br>
              <a:rPr lang="en-US" dirty="0"/>
            </a:br>
            <a:br>
              <a:rPr lang="en-US" dirty="0"/>
            </a:br>
            <a:r>
              <a:rPr lang="en-US" dirty="0"/>
              <a:t>This shows how the  mapping exploration process executes workloads on the target accelerator architecture..</a:t>
            </a:r>
            <a:endParaRPr lang="en-NL" dirty="0"/>
          </a:p>
        </p:txBody>
      </p:sp>
      <p:sp>
        <p:nvSpPr>
          <p:cNvPr id="4" name="Slide Number Placeholder 3"/>
          <p:cNvSpPr>
            <a:spLocks noGrp="1"/>
          </p:cNvSpPr>
          <p:nvPr>
            <p:ph type="sldNum" sz="quarter" idx="5"/>
          </p:nvPr>
        </p:nvSpPr>
        <p:spPr/>
        <p:txBody>
          <a:bodyPr/>
          <a:lstStyle/>
          <a:p>
            <a:fld id="{872772C2-2D9F-4AAE-BA19-192BCFA0BB2C}" type="slidenum">
              <a:rPr lang="en-GB" smtClean="0"/>
              <a:t>11</a:t>
            </a:fld>
            <a:endParaRPr lang="en-GB"/>
          </a:p>
        </p:txBody>
      </p:sp>
    </p:spTree>
    <p:extLst>
      <p:ext uri="{BB962C8B-B14F-4D97-AF65-F5344CB8AC3E}">
        <p14:creationId xmlns:p14="http://schemas.microsoft.com/office/powerpoint/2010/main" val="2737372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dataflow strategies keep different data types stationary to optimize memory access. </a:t>
            </a:r>
          </a:p>
          <a:p>
            <a:endParaRPr lang="en-US" dirty="0"/>
          </a:p>
          <a:p>
            <a:r>
              <a:rPr lang="en-US" dirty="0"/>
              <a:t>Output stationary minimizes partial sum movement, weight stationary reduces filter reloading, and input stationary optimizes input reuse. </a:t>
            </a:r>
          </a:p>
          <a:p>
            <a:endParaRPr lang="en-US" dirty="0"/>
          </a:p>
          <a:p>
            <a:r>
              <a:rPr lang="en-US" dirty="0"/>
              <a:t>Event-driven dataflow represents a fundamental shift: it keeps only non-zero activations stationary, completely skipping zero computations. This sparse processing paradigm requires entirely different mapping and scheduling approaches</a:t>
            </a:r>
          </a:p>
          <a:p>
            <a:endParaRPr lang="en-US" dirty="0"/>
          </a:p>
          <a:p>
            <a:endParaRPr lang="en-US" dirty="0"/>
          </a:p>
          <a:p>
            <a:endParaRPr lang="en-US" dirty="0"/>
          </a:p>
          <a:p>
            <a:r>
              <a:rPr lang="en-US" dirty="0"/>
              <a:t>Output stationary – Partial sums </a:t>
            </a:r>
          </a:p>
          <a:p>
            <a:r>
              <a:rPr lang="en-US" dirty="0"/>
              <a:t>Weigh stationary – Weights</a:t>
            </a:r>
          </a:p>
          <a:p>
            <a:endParaRPr lang="en-US" dirty="0"/>
          </a:p>
          <a:p>
            <a:r>
              <a:rPr lang="en-US" dirty="0"/>
              <a:t>Input stationary – Inputs are accessed by unrolling </a:t>
            </a:r>
            <a:r>
              <a:rPr lang="en-US" dirty="0" err="1"/>
              <a:t>themspatially</a:t>
            </a:r>
            <a:endParaRPr lang="en-US" dirty="0"/>
          </a:p>
          <a:p>
            <a:endParaRPr lang="en-US" dirty="0"/>
          </a:p>
          <a:p>
            <a:r>
              <a:rPr lang="en-US" dirty="0"/>
              <a:t>Event stationary – Where are single event is accessed one by one </a:t>
            </a:r>
            <a:endParaRPr lang="en-NL" dirty="0"/>
          </a:p>
        </p:txBody>
      </p:sp>
      <p:sp>
        <p:nvSpPr>
          <p:cNvPr id="4" name="Slide Number Placeholder 3"/>
          <p:cNvSpPr>
            <a:spLocks noGrp="1"/>
          </p:cNvSpPr>
          <p:nvPr>
            <p:ph type="sldNum" sz="quarter" idx="5"/>
          </p:nvPr>
        </p:nvSpPr>
        <p:spPr/>
        <p:txBody>
          <a:bodyPr/>
          <a:lstStyle/>
          <a:p>
            <a:fld id="{872772C2-2D9F-4AAE-BA19-192BCFA0BB2C}" type="slidenum">
              <a:rPr lang="en-GB" smtClean="0"/>
              <a:t>12</a:t>
            </a:fld>
            <a:endParaRPr lang="en-GB"/>
          </a:p>
        </p:txBody>
      </p:sp>
    </p:spTree>
    <p:extLst>
      <p:ext uri="{BB962C8B-B14F-4D97-AF65-F5344CB8AC3E}">
        <p14:creationId xmlns:p14="http://schemas.microsoft.com/office/powerpoint/2010/main" val="21304603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state-of-the-art exploration tools address different aspects of accelerator design but share a fundamental limitation: </a:t>
            </a:r>
          </a:p>
          <a:p>
            <a:endParaRPr lang="en-US" dirty="0"/>
          </a:p>
          <a:p>
            <a:r>
              <a:rPr lang="en-US" dirty="0"/>
              <a:t>all focus exclusively on traditional frame-based dataflow architectures. </a:t>
            </a:r>
            <a:r>
              <a:rPr lang="en-US" dirty="0" err="1"/>
              <a:t>Timeloop</a:t>
            </a:r>
            <a:r>
              <a:rPr lang="en-US" dirty="0"/>
              <a:t> handles dense tensors, Zigzag emphasizes memory-centric design, </a:t>
            </a:r>
            <a:r>
              <a:rPr lang="en-US" dirty="0" err="1"/>
              <a:t>Sparseloop</a:t>
            </a:r>
            <a:r>
              <a:rPr lang="en-US" dirty="0"/>
              <a:t> adds sparsity support, and Stream enables multi-core exploration. </a:t>
            </a:r>
          </a:p>
          <a:p>
            <a:endParaRPr lang="en-US" dirty="0"/>
          </a:p>
          <a:p>
            <a:r>
              <a:rPr lang="en-US" dirty="0"/>
              <a:t>However, none provide event-driven capabilities. Our goal addresses this critical gap with comprehensive event-driven exploration.</a:t>
            </a:r>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1. Current </a:t>
            </a:r>
            <a:r>
              <a:rPr lang="en-GB" dirty="0" err="1"/>
              <a:t>SoTA</a:t>
            </a:r>
            <a:r>
              <a:rPr lang="en-GB" dirty="0"/>
              <a:t> tools focus on the modelling on the Frame based dataflow architectures.</a:t>
            </a:r>
          </a:p>
          <a:p>
            <a:endParaRPr lang="en-GB" dirty="0"/>
          </a:p>
          <a:p>
            <a:r>
              <a:rPr lang="en-GB" dirty="0"/>
              <a:t>2. Stream which is capable of performing multicore exploration, works only for frame based architectures</a:t>
            </a:r>
          </a:p>
          <a:p>
            <a:endParaRPr lang="en-GB" dirty="0"/>
          </a:p>
          <a:p>
            <a:r>
              <a:rPr lang="en-GB" dirty="0"/>
              <a:t>Our goal is to provide a sparsity-aware, event driven mapping exploration tool for single-core and multi core design space optimisation.</a:t>
            </a:r>
          </a:p>
          <a:p>
            <a:endParaRPr lang="en-GB" dirty="0"/>
          </a:p>
          <a:p>
            <a:endParaRPr lang="en-GB" dirty="0"/>
          </a:p>
          <a:p>
            <a:endParaRPr lang="en-IN" dirty="0"/>
          </a:p>
        </p:txBody>
      </p:sp>
      <p:sp>
        <p:nvSpPr>
          <p:cNvPr id="4" name="Slide Number Placeholder 3"/>
          <p:cNvSpPr>
            <a:spLocks noGrp="1"/>
          </p:cNvSpPr>
          <p:nvPr>
            <p:ph type="sldNum" sz="quarter" idx="5"/>
          </p:nvPr>
        </p:nvSpPr>
        <p:spPr/>
        <p:txBody>
          <a:bodyPr/>
          <a:lstStyle/>
          <a:p>
            <a:fld id="{872772C2-2D9F-4AAE-BA19-192BCFA0BB2C}" type="slidenum">
              <a:rPr lang="en-GB" smtClean="0"/>
              <a:t>14</a:t>
            </a:fld>
            <a:endParaRPr lang="en-GB"/>
          </a:p>
        </p:txBody>
      </p:sp>
    </p:spTree>
    <p:extLst>
      <p:ext uri="{BB962C8B-B14F-4D97-AF65-F5344CB8AC3E}">
        <p14:creationId xmlns:p14="http://schemas.microsoft.com/office/powerpoint/2010/main" val="2192885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872772C2-2D9F-4AAE-BA19-192BCFA0BB2C}" type="slidenum">
              <a:rPr lang="en-GB" smtClean="0"/>
              <a:t>15</a:t>
            </a:fld>
            <a:endParaRPr lang="en-GB"/>
          </a:p>
        </p:txBody>
      </p:sp>
    </p:spTree>
    <p:extLst>
      <p:ext uri="{BB962C8B-B14F-4D97-AF65-F5344CB8AC3E}">
        <p14:creationId xmlns:p14="http://schemas.microsoft.com/office/powerpoint/2010/main" val="6643978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the overall ideal high level view of the AeDAM framework, which is developed with the goal to meet the end – end requirements of the event driven architecture exploration</a:t>
            </a:r>
          </a:p>
          <a:p>
            <a:endParaRPr lang="en-GB" dirty="0"/>
          </a:p>
          <a:p>
            <a:r>
              <a:rPr lang="en-GB" dirty="0"/>
              <a:t>It takes into consideration:</a:t>
            </a:r>
          </a:p>
          <a:p>
            <a:endParaRPr lang="en-GB" dirty="0"/>
          </a:p>
          <a:p>
            <a:pPr marL="228600" indent="-228600">
              <a:buAutoNum type="arabicPeriod"/>
            </a:pPr>
            <a:r>
              <a:rPr lang="en-GB" dirty="0"/>
              <a:t>Singe core event driven modelling</a:t>
            </a:r>
          </a:p>
          <a:p>
            <a:pPr marL="228600" indent="-228600">
              <a:buAutoNum type="arabicPeriod"/>
            </a:pPr>
            <a:r>
              <a:rPr lang="en-GB" dirty="0"/>
              <a:t>Extends it to </a:t>
            </a:r>
            <a:r>
              <a:rPr lang="en-GB" dirty="0" err="1"/>
              <a:t>mutli</a:t>
            </a:r>
            <a:r>
              <a:rPr lang="en-GB" dirty="0"/>
              <a:t> core exploration </a:t>
            </a:r>
          </a:p>
          <a:p>
            <a:pPr marL="228600" indent="-228600">
              <a:buAutoNum type="arabicPeriod"/>
            </a:pPr>
            <a:r>
              <a:rPr lang="en-GB" dirty="0"/>
              <a:t>Finally considers the sparsity in inputs and weights </a:t>
            </a:r>
          </a:p>
        </p:txBody>
      </p:sp>
      <p:sp>
        <p:nvSpPr>
          <p:cNvPr id="4" name="Slide Number Placeholder 3"/>
          <p:cNvSpPr>
            <a:spLocks noGrp="1"/>
          </p:cNvSpPr>
          <p:nvPr>
            <p:ph type="sldNum" sz="quarter" idx="5"/>
          </p:nvPr>
        </p:nvSpPr>
        <p:spPr/>
        <p:txBody>
          <a:bodyPr/>
          <a:lstStyle/>
          <a:p>
            <a:fld id="{872772C2-2D9F-4AAE-BA19-192BCFA0BB2C}" type="slidenum">
              <a:rPr lang="en-GB" smtClean="0"/>
              <a:t>16</a:t>
            </a:fld>
            <a:endParaRPr lang="en-GB"/>
          </a:p>
        </p:txBody>
      </p:sp>
    </p:spTree>
    <p:extLst>
      <p:ext uri="{BB962C8B-B14F-4D97-AF65-F5344CB8AC3E}">
        <p14:creationId xmlns:p14="http://schemas.microsoft.com/office/powerpoint/2010/main" val="16936173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083EE-9741-EDA8-9795-5C85967A95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912D2-9E39-DDD8-F276-DB1158DA0D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A8D929-8E3E-9792-6FA8-6394ABF69B86}"/>
              </a:ext>
            </a:extLst>
          </p:cNvPr>
          <p:cNvSpPr>
            <a:spLocks noGrp="1"/>
          </p:cNvSpPr>
          <p:nvPr>
            <p:ph type="body" idx="1"/>
          </p:nvPr>
        </p:nvSpPr>
        <p:spPr/>
        <p:txBody>
          <a:bodyPr/>
          <a:lstStyle/>
          <a:p>
            <a:r>
              <a:rPr lang="en-GB"/>
              <a:t>Out of the three goals of an ideal end to end exploration tool:</a:t>
            </a:r>
          </a:p>
          <a:p>
            <a:endParaRPr lang="en-GB"/>
          </a:p>
          <a:p>
            <a:r>
              <a:rPr lang="en-GB"/>
              <a:t>The main focus is Event driven core modelling only , This exploration deals with finding the best possible mapping schedule of a given workload, layer by layer on an single core event driven architecture.</a:t>
            </a:r>
          </a:p>
          <a:p>
            <a:endParaRPr lang="en-GB"/>
          </a:p>
          <a:p>
            <a:r>
              <a:rPr lang="en-GB"/>
              <a:t>Let’s understand the internal working on this particular block</a:t>
            </a:r>
            <a:endParaRPr lang="en-IN"/>
          </a:p>
        </p:txBody>
      </p:sp>
      <p:sp>
        <p:nvSpPr>
          <p:cNvPr id="4" name="Slide Number Placeholder 3">
            <a:extLst>
              <a:ext uri="{FF2B5EF4-FFF2-40B4-BE49-F238E27FC236}">
                <a16:creationId xmlns:a16="http://schemas.microsoft.com/office/drawing/2014/main" id="{94987B06-908A-40E8-1DFC-A7F6631A6C75}"/>
              </a:ext>
            </a:extLst>
          </p:cNvPr>
          <p:cNvSpPr>
            <a:spLocks noGrp="1"/>
          </p:cNvSpPr>
          <p:nvPr>
            <p:ph type="sldNum" sz="quarter" idx="5"/>
          </p:nvPr>
        </p:nvSpPr>
        <p:spPr/>
        <p:txBody>
          <a:bodyPr/>
          <a:lstStyle/>
          <a:p>
            <a:fld id="{872772C2-2D9F-4AAE-BA19-192BCFA0BB2C}" type="slidenum">
              <a:rPr lang="en-GB" smtClean="0"/>
              <a:t>17</a:t>
            </a:fld>
            <a:endParaRPr lang="en-GB"/>
          </a:p>
        </p:txBody>
      </p:sp>
    </p:spTree>
    <p:extLst>
      <p:ext uri="{BB962C8B-B14F-4D97-AF65-F5344CB8AC3E}">
        <p14:creationId xmlns:p14="http://schemas.microsoft.com/office/powerpoint/2010/main" val="37487404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exploration block consists of</a:t>
            </a:r>
          </a:p>
          <a:p>
            <a:endParaRPr lang="en-GB" dirty="0"/>
          </a:p>
          <a:p>
            <a:r>
              <a:rPr lang="en-GB" dirty="0"/>
              <a:t>Three main </a:t>
            </a:r>
            <a:r>
              <a:rPr lang="en-GB" dirty="0" err="1"/>
              <a:t>compnenets</a:t>
            </a:r>
            <a:endParaRPr lang="en-GB" dirty="0"/>
          </a:p>
          <a:p>
            <a:pPr marL="228600" indent="-228600">
              <a:buAutoNum type="arabicPeriod"/>
            </a:pPr>
            <a:r>
              <a:rPr lang="en-GB" dirty="0"/>
              <a:t>Map space generator</a:t>
            </a:r>
          </a:p>
          <a:p>
            <a:pPr marL="228600" indent="-228600">
              <a:buAutoNum type="arabicPeriod"/>
            </a:pPr>
            <a:r>
              <a:rPr lang="en-GB" dirty="0"/>
              <a:t>Map Search Engine</a:t>
            </a:r>
          </a:p>
          <a:p>
            <a:pPr marL="228600" indent="-228600">
              <a:buAutoNum type="arabicPeriod"/>
            </a:pPr>
            <a:r>
              <a:rPr lang="en-GB" dirty="0"/>
              <a:t>Analytical cost model for evaluating the mappings in the </a:t>
            </a:r>
            <a:r>
              <a:rPr lang="en-GB" dirty="0" err="1"/>
              <a:t>mapspace</a:t>
            </a:r>
            <a:endParaRPr lang="en-GB" dirty="0"/>
          </a:p>
          <a:p>
            <a:pPr marL="228600" indent="-228600">
              <a:buAutoNum type="arabicPeriod"/>
            </a:pPr>
            <a:endParaRPr lang="en-GB" dirty="0"/>
          </a:p>
          <a:p>
            <a:pPr marL="0" indent="0">
              <a:buNone/>
            </a:pPr>
            <a:r>
              <a:rPr lang="en-GB" dirty="0"/>
              <a:t>This finally gives the outputs</a:t>
            </a:r>
          </a:p>
          <a:p>
            <a:pPr marL="228600" indent="-228600">
              <a:buAutoNum type="arabicPeriod"/>
            </a:pPr>
            <a:r>
              <a:rPr lang="en-GB" dirty="0"/>
              <a:t>Best mapping schedule on the workload on the architecture being modelled</a:t>
            </a:r>
          </a:p>
          <a:p>
            <a:pPr marL="228600" indent="-228600">
              <a:buAutoNum type="arabicPeriod"/>
            </a:pPr>
            <a:r>
              <a:rPr lang="en-GB" dirty="0"/>
              <a:t>Energy and latency stats along with the resource utilisation stats</a:t>
            </a:r>
            <a:endParaRPr lang="en-IN" dirty="0"/>
          </a:p>
        </p:txBody>
      </p:sp>
      <p:sp>
        <p:nvSpPr>
          <p:cNvPr id="4" name="Slide Number Placeholder 3"/>
          <p:cNvSpPr>
            <a:spLocks noGrp="1"/>
          </p:cNvSpPr>
          <p:nvPr>
            <p:ph type="sldNum" sz="quarter" idx="5"/>
          </p:nvPr>
        </p:nvSpPr>
        <p:spPr/>
        <p:txBody>
          <a:bodyPr/>
          <a:lstStyle/>
          <a:p>
            <a:fld id="{872772C2-2D9F-4AAE-BA19-192BCFA0BB2C}" type="slidenum">
              <a:rPr lang="en-GB" smtClean="0"/>
              <a:t>19</a:t>
            </a:fld>
            <a:endParaRPr lang="en-GB"/>
          </a:p>
        </p:txBody>
      </p:sp>
    </p:spTree>
    <p:extLst>
      <p:ext uri="{BB962C8B-B14F-4D97-AF65-F5344CB8AC3E}">
        <p14:creationId xmlns:p14="http://schemas.microsoft.com/office/powerpoint/2010/main" val="42546516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Architectures is modelled with two major components</a:t>
            </a:r>
          </a:p>
          <a:p>
            <a:endParaRPr lang="en-GB"/>
          </a:p>
          <a:p>
            <a:r>
              <a:rPr lang="en-GB" err="1"/>
              <a:t>i.E</a:t>
            </a:r>
            <a:r>
              <a:rPr lang="en-GB"/>
              <a:t> PE units and the Memory units and each have its individual parameters like Size, R/W bandwidth, R/W energy data, Area, ports, latency</a:t>
            </a:r>
          </a:p>
          <a:p>
            <a:endParaRPr lang="en-GB"/>
          </a:p>
          <a:p>
            <a:endParaRPr lang="en-GB"/>
          </a:p>
          <a:p>
            <a:endParaRPr lang="en-GB"/>
          </a:p>
          <a:p>
            <a:r>
              <a:rPr lang="en-GB"/>
              <a:t>Workload is modelled with the associated Kernel and input dimensions</a:t>
            </a:r>
            <a:endParaRPr lang="en-IN"/>
          </a:p>
        </p:txBody>
      </p:sp>
      <p:sp>
        <p:nvSpPr>
          <p:cNvPr id="4" name="Slide Number Placeholder 3"/>
          <p:cNvSpPr>
            <a:spLocks noGrp="1"/>
          </p:cNvSpPr>
          <p:nvPr>
            <p:ph type="sldNum" sz="quarter" idx="5"/>
          </p:nvPr>
        </p:nvSpPr>
        <p:spPr/>
        <p:txBody>
          <a:bodyPr/>
          <a:lstStyle/>
          <a:p>
            <a:fld id="{872772C2-2D9F-4AAE-BA19-192BCFA0BB2C}" type="slidenum">
              <a:rPr lang="en-GB" smtClean="0"/>
              <a:t>20</a:t>
            </a:fld>
            <a:endParaRPr lang="en-GB"/>
          </a:p>
        </p:txBody>
      </p:sp>
    </p:spTree>
    <p:extLst>
      <p:ext uri="{BB962C8B-B14F-4D97-AF65-F5344CB8AC3E}">
        <p14:creationId xmlns:p14="http://schemas.microsoft.com/office/powerpoint/2010/main" val="30258958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Event-driven mapping requires strategic spatial and temporal configuration decisions. </a:t>
            </a:r>
          </a:p>
          <a:p>
            <a:endParaRPr lang="en-US" dirty="0"/>
          </a:p>
          <a:p>
            <a:r>
              <a:rPr lang="en-US" dirty="0"/>
              <a:t>The workload defines standard convolution dimensions including input height, width, channels, filter dimensions, and output channels. Spatial unrolling occurs across filter dimensions and output channels to enable event-driven behavior. </a:t>
            </a:r>
          </a:p>
          <a:p>
            <a:endParaRPr lang="en-US" dirty="0"/>
          </a:p>
          <a:p>
            <a:r>
              <a:rPr lang="en-US" dirty="0"/>
              <a:t>Temporal ordering ensures each input event triggers all associated computations simultaneously, maximizing efficiency through parallel processing of related operations.</a:t>
            </a:r>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Consider the workload represented in the standard form with inputs </a:t>
            </a:r>
            <a:r>
              <a:rPr lang="en-GB" dirty="0" err="1"/>
              <a:t>interms</a:t>
            </a:r>
            <a:r>
              <a:rPr lang="en-GB" dirty="0"/>
              <a:t> of IH,IW, C; weight FH, FW, K and Outputs as OH, OW and K</a:t>
            </a:r>
          </a:p>
          <a:p>
            <a:endParaRPr lang="en-GB" dirty="0"/>
          </a:p>
          <a:p>
            <a:endParaRPr lang="en-GB" dirty="0"/>
          </a:p>
          <a:p>
            <a:r>
              <a:rPr lang="en-GB" dirty="0"/>
              <a:t>First the spatial unrolling dimension is select: To achieve the event driven behaviour the spatial unrolling should be across K,FH, FW</a:t>
            </a:r>
          </a:p>
          <a:p>
            <a:endParaRPr lang="en-GB" dirty="0"/>
          </a:p>
          <a:p>
            <a:r>
              <a:rPr lang="en-GB" dirty="0"/>
              <a:t>Then the map space is developed with all the valid event driven temporal ordering where the inputs dimension are arranges such that each event is accessed only once and the all the respective computations associated with it are parallelised across the spatial unrolling dimension, In this example the spatial unrolling is across “K”</a:t>
            </a:r>
            <a:endParaRPr lang="en-IN" dirty="0"/>
          </a:p>
        </p:txBody>
      </p:sp>
      <p:sp>
        <p:nvSpPr>
          <p:cNvPr id="4" name="Slide Number Placeholder 3"/>
          <p:cNvSpPr>
            <a:spLocks noGrp="1"/>
          </p:cNvSpPr>
          <p:nvPr>
            <p:ph type="sldNum" sz="quarter" idx="5"/>
          </p:nvPr>
        </p:nvSpPr>
        <p:spPr/>
        <p:txBody>
          <a:bodyPr/>
          <a:lstStyle/>
          <a:p>
            <a:fld id="{872772C2-2D9F-4AAE-BA19-192BCFA0BB2C}" type="slidenum">
              <a:rPr lang="en-GB" smtClean="0"/>
              <a:t>21</a:t>
            </a:fld>
            <a:endParaRPr lang="en-GB"/>
          </a:p>
        </p:txBody>
      </p:sp>
    </p:spTree>
    <p:extLst>
      <p:ext uri="{BB962C8B-B14F-4D97-AF65-F5344CB8AC3E}">
        <p14:creationId xmlns:p14="http://schemas.microsoft.com/office/powerpoint/2010/main" val="14999848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C0794-2ABE-4CF5-9E86-CE68F231D7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FB68C-63DD-9550-9A96-084056A18C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42C8FE-8CBD-1F10-83C0-F47EE0679CC9}"/>
              </a:ext>
            </a:extLst>
          </p:cNvPr>
          <p:cNvSpPr>
            <a:spLocks noGrp="1"/>
          </p:cNvSpPr>
          <p:nvPr>
            <p:ph type="body" idx="1"/>
          </p:nvPr>
        </p:nvSpPr>
        <p:spPr/>
        <p:txBody>
          <a:bodyPr/>
          <a:lstStyle/>
          <a:p>
            <a:r>
              <a:rPr lang="en-GB" dirty="0"/>
              <a:t>The cost model is made up of three major models </a:t>
            </a:r>
            <a:r>
              <a:rPr lang="en-GB" dirty="0" err="1"/>
              <a:t>i.e</a:t>
            </a:r>
            <a:r>
              <a:rPr lang="en-GB" dirty="0"/>
              <a:t> latency, the energy model and the area then there are two associated block to support in the calculation of the energy, latency and the other resources utilisation stats like the memory, area etc..,</a:t>
            </a:r>
          </a:p>
          <a:p>
            <a:endParaRPr lang="en-GB" dirty="0"/>
          </a:p>
          <a:p>
            <a:r>
              <a:rPr lang="en-GB" dirty="0"/>
              <a:t>The Datapath and memory utilisation block takes in the Input workload, architecture and the map space generated to determine the data path along with the memory utilised at each memory block.</a:t>
            </a:r>
          </a:p>
          <a:p>
            <a:endParaRPr lang="en-GB" dirty="0"/>
          </a:p>
          <a:p>
            <a:r>
              <a:rPr lang="en-GB" dirty="0"/>
              <a:t>Then Data path of each operand the word access count is determined for each operand across each memory level</a:t>
            </a:r>
          </a:p>
          <a:p>
            <a:endParaRPr lang="en-GB" dirty="0"/>
          </a:p>
          <a:p>
            <a:r>
              <a:rPr lang="en-GB" dirty="0"/>
              <a:t>This word access count is then utilised to determine the dynamic power consumed by each operand </a:t>
            </a:r>
            <a:r>
              <a:rPr lang="en-GB" dirty="0" err="1"/>
              <a:t>acoss</a:t>
            </a:r>
            <a:r>
              <a:rPr lang="en-GB" dirty="0"/>
              <a:t> each memory level</a:t>
            </a:r>
          </a:p>
          <a:p>
            <a:endParaRPr lang="en-GB" dirty="0"/>
          </a:p>
          <a:p>
            <a:r>
              <a:rPr lang="en-GB" dirty="0"/>
              <a:t>The latency is determined by the help of the previously computed units like mapping, memory utilisation and the </a:t>
            </a:r>
            <a:r>
              <a:rPr lang="en-GB" dirty="0" err="1"/>
              <a:t>wordaccess</a:t>
            </a:r>
            <a:r>
              <a:rPr lang="en-GB" dirty="0"/>
              <a:t> count. This block give the onloading, offloading and the computational latency.</a:t>
            </a:r>
          </a:p>
          <a:p>
            <a:endParaRPr lang="en-GB" dirty="0"/>
          </a:p>
          <a:p>
            <a:r>
              <a:rPr lang="en-GB" dirty="0"/>
              <a:t>Finally the area model computes the area breakdown based on the architecture configurations which are input to the tool</a:t>
            </a:r>
            <a:endParaRPr lang="en-IN" dirty="0"/>
          </a:p>
        </p:txBody>
      </p:sp>
      <p:sp>
        <p:nvSpPr>
          <p:cNvPr id="4" name="Slide Number Placeholder 3">
            <a:extLst>
              <a:ext uri="{FF2B5EF4-FFF2-40B4-BE49-F238E27FC236}">
                <a16:creationId xmlns:a16="http://schemas.microsoft.com/office/drawing/2014/main" id="{2369719B-EF7A-165F-340F-30F46AB8685B}"/>
              </a:ext>
            </a:extLst>
          </p:cNvPr>
          <p:cNvSpPr>
            <a:spLocks noGrp="1"/>
          </p:cNvSpPr>
          <p:nvPr>
            <p:ph type="sldNum" sz="quarter" idx="5"/>
          </p:nvPr>
        </p:nvSpPr>
        <p:spPr/>
        <p:txBody>
          <a:bodyPr/>
          <a:lstStyle/>
          <a:p>
            <a:fld id="{872772C2-2D9F-4AAE-BA19-192BCFA0BB2C}" type="slidenum">
              <a:rPr lang="en-GB" smtClean="0"/>
              <a:t>22</a:t>
            </a:fld>
            <a:endParaRPr lang="en-GB"/>
          </a:p>
        </p:txBody>
      </p:sp>
    </p:spTree>
    <p:extLst>
      <p:ext uri="{BB962C8B-B14F-4D97-AF65-F5344CB8AC3E}">
        <p14:creationId xmlns:p14="http://schemas.microsoft.com/office/powerpoint/2010/main" val="29628484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From the cost analysis of each map in the </a:t>
            </a:r>
            <a:r>
              <a:rPr lang="en-GB" err="1"/>
              <a:t>mapspace</a:t>
            </a:r>
            <a:r>
              <a:rPr lang="en-GB"/>
              <a:t>, search process is conducted based on the optimisation parameter selected </a:t>
            </a:r>
            <a:r>
              <a:rPr lang="en-GB" err="1"/>
              <a:t>i.e</a:t>
            </a:r>
            <a:r>
              <a:rPr lang="en-GB"/>
              <a:t> latency, energy or the EDP. This give the best mapping schedule of the workload along with its resource utilisation stats </a:t>
            </a:r>
            <a:endParaRPr lang="en-IN"/>
          </a:p>
        </p:txBody>
      </p:sp>
      <p:sp>
        <p:nvSpPr>
          <p:cNvPr id="4" name="Slide Number Placeholder 3"/>
          <p:cNvSpPr>
            <a:spLocks noGrp="1"/>
          </p:cNvSpPr>
          <p:nvPr>
            <p:ph type="sldNum" sz="quarter" idx="5"/>
          </p:nvPr>
        </p:nvSpPr>
        <p:spPr/>
        <p:txBody>
          <a:bodyPr/>
          <a:lstStyle/>
          <a:p>
            <a:fld id="{872772C2-2D9F-4AAE-BA19-192BCFA0BB2C}" type="slidenum">
              <a:rPr lang="en-GB" smtClean="0"/>
              <a:t>23</a:t>
            </a:fld>
            <a:endParaRPr lang="en-GB"/>
          </a:p>
        </p:txBody>
      </p:sp>
    </p:spTree>
    <p:extLst>
      <p:ext uri="{BB962C8B-B14F-4D97-AF65-F5344CB8AC3E}">
        <p14:creationId xmlns:p14="http://schemas.microsoft.com/office/powerpoint/2010/main" val="21603005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final output of the framework after aggregating all the blocks is</a:t>
            </a:r>
          </a:p>
          <a:p>
            <a:endParaRPr lang="en-GB"/>
          </a:p>
          <a:p>
            <a:pPr marL="228600" indent="-228600">
              <a:buAutoNum type="arabicPeriod"/>
            </a:pPr>
            <a:r>
              <a:rPr lang="en-GB"/>
              <a:t>Best mapping of the input workload on the architecture</a:t>
            </a:r>
          </a:p>
          <a:p>
            <a:pPr marL="228600" indent="-228600">
              <a:buAutoNum type="arabicPeriod"/>
            </a:pPr>
            <a:r>
              <a:rPr lang="en-GB"/>
              <a:t>Energy and latency stats</a:t>
            </a:r>
          </a:p>
          <a:p>
            <a:pPr marL="228600" indent="-228600">
              <a:buAutoNum type="arabicPeriod"/>
            </a:pPr>
            <a:r>
              <a:rPr lang="en-GB"/>
              <a:t>Overall resource utilisation by the workload on the architecture when it is executed as per the output map</a:t>
            </a:r>
            <a:endParaRPr lang="en-IN"/>
          </a:p>
        </p:txBody>
      </p:sp>
      <p:sp>
        <p:nvSpPr>
          <p:cNvPr id="4" name="Slide Number Placeholder 3"/>
          <p:cNvSpPr>
            <a:spLocks noGrp="1"/>
          </p:cNvSpPr>
          <p:nvPr>
            <p:ph type="sldNum" sz="quarter" idx="5"/>
          </p:nvPr>
        </p:nvSpPr>
        <p:spPr/>
        <p:txBody>
          <a:bodyPr/>
          <a:lstStyle/>
          <a:p>
            <a:fld id="{872772C2-2D9F-4AAE-BA19-192BCFA0BB2C}" type="slidenum">
              <a:rPr lang="en-GB" smtClean="0"/>
              <a:t>24</a:t>
            </a:fld>
            <a:endParaRPr lang="en-GB"/>
          </a:p>
        </p:txBody>
      </p:sp>
    </p:spTree>
    <p:extLst>
      <p:ext uri="{BB962C8B-B14F-4D97-AF65-F5344CB8AC3E}">
        <p14:creationId xmlns:p14="http://schemas.microsoft.com/office/powerpoint/2010/main" val="31008123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Modelling of the single core of the SENECA</a:t>
            </a:r>
          </a:p>
          <a:p>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Single-Core Event-Driven Processor Modeling</a:t>
            </a:r>
            <a:endParaRPr lang="en-NL" sz="1200"/>
          </a:p>
          <a:p>
            <a:endParaRPr lang="en-GB"/>
          </a:p>
          <a:p>
            <a:endParaRPr lang="en-IN"/>
          </a:p>
        </p:txBody>
      </p:sp>
      <p:sp>
        <p:nvSpPr>
          <p:cNvPr id="4" name="Slide Number Placeholder 3"/>
          <p:cNvSpPr>
            <a:spLocks noGrp="1"/>
          </p:cNvSpPr>
          <p:nvPr>
            <p:ph type="sldNum" sz="quarter" idx="5"/>
          </p:nvPr>
        </p:nvSpPr>
        <p:spPr/>
        <p:txBody>
          <a:bodyPr/>
          <a:lstStyle/>
          <a:p>
            <a:fld id="{872772C2-2D9F-4AAE-BA19-192BCFA0BB2C}" type="slidenum">
              <a:rPr lang="en-GB" smtClean="0"/>
              <a:t>27</a:t>
            </a:fld>
            <a:endParaRPr lang="en-GB"/>
          </a:p>
        </p:txBody>
      </p:sp>
    </p:spTree>
    <p:extLst>
      <p:ext uri="{BB962C8B-B14F-4D97-AF65-F5344CB8AC3E}">
        <p14:creationId xmlns:p14="http://schemas.microsoft.com/office/powerpoint/2010/main" val="37304411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2979D-C985-25C3-CB02-D53F5877D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A5619C-C4F4-D599-A20A-B1D4CFBFEC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36AE57-9951-4F97-942E-EBE9CE73DF73}"/>
              </a:ext>
            </a:extLst>
          </p:cNvPr>
          <p:cNvSpPr>
            <a:spLocks noGrp="1"/>
          </p:cNvSpPr>
          <p:nvPr>
            <p:ph type="body" idx="1"/>
          </p:nvPr>
        </p:nvSpPr>
        <p:spPr/>
        <p:txBody>
          <a:bodyPr/>
          <a:lstStyle/>
          <a:p>
            <a:r>
              <a:rPr lang="en-GB"/>
              <a:t>Modelling of the 1</a:t>
            </a:r>
            <a:r>
              <a:rPr lang="en-GB" baseline="30000"/>
              <a:t>st</a:t>
            </a:r>
            <a:r>
              <a:rPr lang="en-GB"/>
              <a:t> layer of the </a:t>
            </a:r>
            <a:r>
              <a:rPr lang="en-GB" err="1"/>
              <a:t>VGGNet</a:t>
            </a:r>
            <a:r>
              <a:rPr lang="en-GB"/>
              <a:t> model</a:t>
            </a:r>
            <a:endParaRPr lang="en-IN"/>
          </a:p>
        </p:txBody>
      </p:sp>
      <p:sp>
        <p:nvSpPr>
          <p:cNvPr id="4" name="Slide Number Placeholder 3">
            <a:extLst>
              <a:ext uri="{FF2B5EF4-FFF2-40B4-BE49-F238E27FC236}">
                <a16:creationId xmlns:a16="http://schemas.microsoft.com/office/drawing/2014/main" id="{309051A0-6A21-B0A7-E011-1C65BE8BAAA4}"/>
              </a:ext>
            </a:extLst>
          </p:cNvPr>
          <p:cNvSpPr>
            <a:spLocks noGrp="1"/>
          </p:cNvSpPr>
          <p:nvPr>
            <p:ph type="sldNum" sz="quarter" idx="5"/>
          </p:nvPr>
        </p:nvSpPr>
        <p:spPr/>
        <p:txBody>
          <a:bodyPr/>
          <a:lstStyle/>
          <a:p>
            <a:fld id="{872772C2-2D9F-4AAE-BA19-192BCFA0BB2C}" type="slidenum">
              <a:rPr lang="en-GB" smtClean="0"/>
              <a:t>28</a:t>
            </a:fld>
            <a:endParaRPr lang="en-GB"/>
          </a:p>
        </p:txBody>
      </p:sp>
    </p:spTree>
    <p:extLst>
      <p:ext uri="{BB962C8B-B14F-4D97-AF65-F5344CB8AC3E}">
        <p14:creationId xmlns:p14="http://schemas.microsoft.com/office/powerpoint/2010/main" val="16227630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validation process is divided in four stage based on the blocks implemented in the exploration tool.</a:t>
            </a:r>
          </a:p>
          <a:p>
            <a:endParaRPr lang="en-GB" dirty="0"/>
          </a:p>
          <a:p>
            <a:r>
              <a:rPr lang="en-GB" dirty="0"/>
              <a:t>For the Seneca architecture and the 1</a:t>
            </a:r>
            <a:r>
              <a:rPr lang="en-GB" baseline="30000" dirty="0"/>
              <a:t>st</a:t>
            </a:r>
            <a:r>
              <a:rPr lang="en-GB" dirty="0"/>
              <a:t> layer of the </a:t>
            </a:r>
            <a:r>
              <a:rPr lang="en-GB" dirty="0" err="1"/>
              <a:t>VGGnet</a:t>
            </a:r>
            <a:r>
              <a:rPr lang="en-GB" dirty="0"/>
              <a:t> as the input, the Data path validation which is the flow of inputs, weights and outputs; Word access validation with the manual verification of the mapping with the AeDAM implemented formulas and finally the Latency model and the Energy models are validated respectively by evaluating the True cycles, Stalls and Data transfer timings and the Mac </a:t>
            </a:r>
            <a:r>
              <a:rPr lang="en-GB" dirty="0" err="1"/>
              <a:t>opearions</a:t>
            </a:r>
            <a:r>
              <a:rPr lang="en-GB" dirty="0"/>
              <a:t> and the memory access energies.</a:t>
            </a:r>
            <a:endParaRPr lang="en-NL" dirty="0"/>
          </a:p>
        </p:txBody>
      </p:sp>
      <p:sp>
        <p:nvSpPr>
          <p:cNvPr id="4" name="Slide Number Placeholder 3"/>
          <p:cNvSpPr>
            <a:spLocks noGrp="1"/>
          </p:cNvSpPr>
          <p:nvPr>
            <p:ph type="sldNum" sz="quarter" idx="5"/>
          </p:nvPr>
        </p:nvSpPr>
        <p:spPr/>
        <p:txBody>
          <a:bodyPr/>
          <a:lstStyle/>
          <a:p>
            <a:fld id="{872772C2-2D9F-4AAE-BA19-192BCFA0BB2C}" type="slidenum">
              <a:rPr lang="en-GB" smtClean="0"/>
              <a:t>29</a:t>
            </a:fld>
            <a:endParaRPr lang="en-GB"/>
          </a:p>
        </p:txBody>
      </p:sp>
    </p:spTree>
    <p:extLst>
      <p:ext uri="{BB962C8B-B14F-4D97-AF65-F5344CB8AC3E}">
        <p14:creationId xmlns:p14="http://schemas.microsoft.com/office/powerpoint/2010/main" val="35254971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On revisiting the related works, but this time adding AeDAM to the able that is able to modes the full event driven architecture and also perform the mapping exploration of the single core architecture for input neural networks</a:t>
            </a:r>
          </a:p>
          <a:p>
            <a:endParaRPr lang="en-GB"/>
          </a:p>
          <a:p>
            <a:endParaRPr lang="en-IN"/>
          </a:p>
        </p:txBody>
      </p:sp>
      <p:sp>
        <p:nvSpPr>
          <p:cNvPr id="4" name="Slide Number Placeholder 3"/>
          <p:cNvSpPr>
            <a:spLocks noGrp="1"/>
          </p:cNvSpPr>
          <p:nvPr>
            <p:ph type="sldNum" sz="quarter" idx="5"/>
          </p:nvPr>
        </p:nvSpPr>
        <p:spPr/>
        <p:txBody>
          <a:bodyPr/>
          <a:lstStyle/>
          <a:p>
            <a:fld id="{872772C2-2D9F-4AAE-BA19-192BCFA0BB2C}" type="slidenum">
              <a:rPr lang="en-GB" smtClean="0"/>
              <a:t>30</a:t>
            </a:fld>
            <a:endParaRPr lang="en-GB"/>
          </a:p>
        </p:txBody>
      </p:sp>
    </p:spTree>
    <p:extLst>
      <p:ext uri="{BB962C8B-B14F-4D97-AF65-F5344CB8AC3E}">
        <p14:creationId xmlns:p14="http://schemas.microsoft.com/office/powerpoint/2010/main" val="14995667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To develop this complete flow, parts of zigzag were utilised as follows</a:t>
            </a:r>
            <a:endParaRPr lang="en-IN"/>
          </a:p>
        </p:txBody>
      </p:sp>
      <p:sp>
        <p:nvSpPr>
          <p:cNvPr id="4" name="Slide Number Placeholder 3"/>
          <p:cNvSpPr>
            <a:spLocks noGrp="1"/>
          </p:cNvSpPr>
          <p:nvPr>
            <p:ph type="sldNum" sz="quarter" idx="5"/>
          </p:nvPr>
        </p:nvSpPr>
        <p:spPr/>
        <p:txBody>
          <a:bodyPr/>
          <a:lstStyle/>
          <a:p>
            <a:fld id="{872772C2-2D9F-4AAE-BA19-192BCFA0BB2C}" type="slidenum">
              <a:rPr lang="en-GB" smtClean="0"/>
              <a:t>31</a:t>
            </a:fld>
            <a:endParaRPr lang="en-GB"/>
          </a:p>
        </p:txBody>
      </p:sp>
    </p:spTree>
    <p:extLst>
      <p:ext uri="{BB962C8B-B14F-4D97-AF65-F5344CB8AC3E}">
        <p14:creationId xmlns:p14="http://schemas.microsoft.com/office/powerpoint/2010/main" val="4873246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Mapping space generation, Mapping </a:t>
            </a:r>
            <a:r>
              <a:rPr lang="en-GB" dirty="0" err="1"/>
              <a:t>seach</a:t>
            </a:r>
            <a:r>
              <a:rPr lang="en-GB" dirty="0"/>
              <a:t> block and the cost stats and calculation are extended to implement the event driven behaviour </a:t>
            </a:r>
          </a:p>
          <a:p>
            <a:endParaRPr lang="en-GB" dirty="0"/>
          </a:p>
          <a:p>
            <a:endParaRPr lang="en-GB" dirty="0"/>
          </a:p>
        </p:txBody>
      </p:sp>
      <p:sp>
        <p:nvSpPr>
          <p:cNvPr id="4" name="Slide Number Placeholder 3"/>
          <p:cNvSpPr>
            <a:spLocks noGrp="1"/>
          </p:cNvSpPr>
          <p:nvPr>
            <p:ph type="sldNum" sz="quarter" idx="5"/>
          </p:nvPr>
        </p:nvSpPr>
        <p:spPr/>
        <p:txBody>
          <a:bodyPr/>
          <a:lstStyle/>
          <a:p>
            <a:fld id="{872772C2-2D9F-4AAE-BA19-192BCFA0BB2C}" type="slidenum">
              <a:rPr lang="en-GB" smtClean="0"/>
              <a:t>32</a:t>
            </a:fld>
            <a:endParaRPr lang="en-GB"/>
          </a:p>
        </p:txBody>
      </p:sp>
    </p:spTree>
    <p:extLst>
      <p:ext uri="{BB962C8B-B14F-4D97-AF65-F5344CB8AC3E}">
        <p14:creationId xmlns:p14="http://schemas.microsoft.com/office/powerpoint/2010/main" val="26905234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trend shows dramatic reduction in mapping space complexity. </a:t>
            </a:r>
          </a:p>
          <a:p>
            <a:endParaRPr lang="en-US" dirty="0"/>
          </a:p>
          <a:p>
            <a:r>
              <a:rPr lang="en-US" dirty="0"/>
              <a:t>Manual exhaustive search requires exploring billions of configurations, while AeDAM reduces this to hundreds of millions through intelligent heuristics. The optimization lumps smallest loop prime factors while preserving large factors individually. </a:t>
            </a:r>
          </a:p>
          <a:p>
            <a:endParaRPr lang="en-US" dirty="0"/>
          </a:p>
          <a:p>
            <a:r>
              <a:rPr lang="en-US" dirty="0"/>
              <a:t>This achieves 10-100x reduction in search complexity without compromising solution quality, enabling practical exploration times.</a:t>
            </a:r>
          </a:p>
          <a:p>
            <a:endParaRPr lang="en-US" dirty="0"/>
          </a:p>
          <a:p>
            <a:endParaRPr lang="en-US" dirty="0"/>
          </a:p>
          <a:p>
            <a:endParaRPr lang="en-US" dirty="0"/>
          </a:p>
          <a:p>
            <a:endParaRPr lang="en-US" dirty="0"/>
          </a:p>
          <a:p>
            <a:r>
              <a:rPr lang="en-US" dirty="0"/>
              <a:t>The heuristic recognizes that small prime factors often produce similar performance characteristics when combined, making exhaustive exploration of these combinations inefficient. By contrast, large prime factors typically create significant performance differences and merit individual evaluation. This selective exploration strategy maintains solution quality while dramatically improving exploration tractability.</a:t>
            </a:r>
          </a:p>
        </p:txBody>
      </p:sp>
      <p:sp>
        <p:nvSpPr>
          <p:cNvPr id="4" name="Slide Number Placeholder 3"/>
          <p:cNvSpPr>
            <a:spLocks noGrp="1"/>
          </p:cNvSpPr>
          <p:nvPr>
            <p:ph type="sldNum" sz="quarter" idx="5"/>
          </p:nvPr>
        </p:nvSpPr>
        <p:spPr/>
        <p:txBody>
          <a:bodyPr/>
          <a:lstStyle/>
          <a:p>
            <a:fld id="{872772C2-2D9F-4AAE-BA19-192BCFA0BB2C}" type="slidenum">
              <a:rPr lang="en-GB" smtClean="0"/>
              <a:t>33</a:t>
            </a:fld>
            <a:endParaRPr lang="en-GB"/>
          </a:p>
        </p:txBody>
      </p:sp>
    </p:spTree>
    <p:extLst>
      <p:ext uri="{BB962C8B-B14F-4D97-AF65-F5344CB8AC3E}">
        <p14:creationId xmlns:p14="http://schemas.microsoft.com/office/powerpoint/2010/main" val="27646113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trend reveals AeDAM generates significantly fewer mapping options than </a:t>
            </a:r>
            <a:r>
              <a:rPr lang="en-US" err="1"/>
              <a:t>ZigZag</a:t>
            </a:r>
            <a:r>
              <a:rPr lang="en-US"/>
              <a:t> across all network layers. </a:t>
            </a:r>
            <a:r>
              <a:rPr lang="en-US" err="1"/>
              <a:t>ZigZag</a:t>
            </a:r>
            <a:r>
              <a:rPr lang="en-US"/>
              <a:t> produces 720 mappings for convolution layers while AeDAM generates only 36, representing a 20× reduction. </a:t>
            </a:r>
          </a:p>
          <a:p>
            <a:endParaRPr lang="en-US"/>
          </a:p>
          <a:p>
            <a:r>
              <a:rPr lang="en-US"/>
              <a:t>This occurs because AeDAM specializes in event-driven mappings, focusing only on relevant configurations, while </a:t>
            </a:r>
            <a:r>
              <a:rPr lang="en-US" err="1"/>
              <a:t>ZigZag</a:t>
            </a:r>
            <a:r>
              <a:rPr lang="en-US"/>
              <a:t> explores all possible traditional dataflow patterns including unsuitable options for event-driven architectures.</a:t>
            </a:r>
          </a:p>
        </p:txBody>
      </p:sp>
      <p:sp>
        <p:nvSpPr>
          <p:cNvPr id="4" name="Slide Number Placeholder 3"/>
          <p:cNvSpPr>
            <a:spLocks noGrp="1"/>
          </p:cNvSpPr>
          <p:nvPr>
            <p:ph type="sldNum" sz="quarter" idx="5"/>
          </p:nvPr>
        </p:nvSpPr>
        <p:spPr/>
        <p:txBody>
          <a:bodyPr/>
          <a:lstStyle/>
          <a:p>
            <a:fld id="{872772C2-2D9F-4AAE-BA19-192BCFA0BB2C}" type="slidenum">
              <a:rPr lang="en-GB" smtClean="0"/>
              <a:t>34</a:t>
            </a:fld>
            <a:endParaRPr lang="en-GB"/>
          </a:p>
        </p:txBody>
      </p:sp>
    </p:spTree>
    <p:extLst>
      <p:ext uri="{BB962C8B-B14F-4D97-AF65-F5344CB8AC3E}">
        <p14:creationId xmlns:p14="http://schemas.microsoft.com/office/powerpoint/2010/main" val="40721838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Due to this specialised map space search, AeDAM perform around 2 times faster than zigzag for </a:t>
            </a:r>
            <a:r>
              <a:rPr lang="en-GB" err="1"/>
              <a:t>VGGnet</a:t>
            </a:r>
            <a:r>
              <a:rPr lang="en-GB"/>
              <a:t> and Resnet architectures.</a:t>
            </a:r>
            <a:endParaRPr lang="en-IN"/>
          </a:p>
        </p:txBody>
      </p:sp>
      <p:sp>
        <p:nvSpPr>
          <p:cNvPr id="4" name="Slide Number Placeholder 3"/>
          <p:cNvSpPr>
            <a:spLocks noGrp="1"/>
          </p:cNvSpPr>
          <p:nvPr>
            <p:ph type="sldNum" sz="quarter" idx="5"/>
          </p:nvPr>
        </p:nvSpPr>
        <p:spPr/>
        <p:txBody>
          <a:bodyPr/>
          <a:lstStyle/>
          <a:p>
            <a:fld id="{872772C2-2D9F-4AAE-BA19-192BCFA0BB2C}" type="slidenum">
              <a:rPr lang="en-GB" smtClean="0"/>
              <a:t>35</a:t>
            </a:fld>
            <a:endParaRPr lang="en-GB"/>
          </a:p>
        </p:txBody>
      </p:sp>
    </p:spTree>
    <p:extLst>
      <p:ext uri="{BB962C8B-B14F-4D97-AF65-F5344CB8AC3E}">
        <p14:creationId xmlns:p14="http://schemas.microsoft.com/office/powerpoint/2010/main" val="24835519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comparison of the word access of best map produced by the zigzag and the AeDAM.</a:t>
            </a:r>
          </a:p>
          <a:p>
            <a:endParaRPr lang="en-GB" dirty="0"/>
          </a:p>
          <a:p>
            <a:r>
              <a:rPr lang="en-GB" dirty="0"/>
              <a:t> Zigzag produces a weight stationary map for the layer 1 and the output stationary map for the layer 7 when forced to produce an event driven map. </a:t>
            </a:r>
          </a:p>
          <a:p>
            <a:endParaRPr lang="en-GB" dirty="0"/>
          </a:p>
          <a:p>
            <a:r>
              <a:rPr lang="en-GB" dirty="0"/>
              <a:t>The AeDAM on the other hand produces a perfect event driven map where each input is accessed event by event and the weights are accessed as per the computations available and finally the output are written to the NOC</a:t>
            </a:r>
            <a:endParaRPr lang="en-IN" dirty="0"/>
          </a:p>
        </p:txBody>
      </p:sp>
      <p:sp>
        <p:nvSpPr>
          <p:cNvPr id="4" name="Slide Number Placeholder 3"/>
          <p:cNvSpPr>
            <a:spLocks noGrp="1"/>
          </p:cNvSpPr>
          <p:nvPr>
            <p:ph type="sldNum" sz="quarter" idx="5"/>
          </p:nvPr>
        </p:nvSpPr>
        <p:spPr/>
        <p:txBody>
          <a:bodyPr/>
          <a:lstStyle/>
          <a:p>
            <a:fld id="{872772C2-2D9F-4AAE-BA19-192BCFA0BB2C}" type="slidenum">
              <a:rPr lang="en-GB" smtClean="0"/>
              <a:t>36</a:t>
            </a:fld>
            <a:endParaRPr lang="en-GB"/>
          </a:p>
        </p:txBody>
      </p:sp>
    </p:spTree>
    <p:extLst>
      <p:ext uri="{BB962C8B-B14F-4D97-AF65-F5344CB8AC3E}">
        <p14:creationId xmlns:p14="http://schemas.microsoft.com/office/powerpoint/2010/main" val="31082748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AeDAM’s best map in comparison with the Zigzag for the layer 1 and layer 7 produces a 1x times better event driven map than the zigzag for  same layers</a:t>
            </a:r>
            <a:endParaRPr lang="en-IN"/>
          </a:p>
        </p:txBody>
      </p:sp>
      <p:sp>
        <p:nvSpPr>
          <p:cNvPr id="4" name="Slide Number Placeholder 3"/>
          <p:cNvSpPr>
            <a:spLocks noGrp="1"/>
          </p:cNvSpPr>
          <p:nvPr>
            <p:ph type="sldNum" sz="quarter" idx="5"/>
          </p:nvPr>
        </p:nvSpPr>
        <p:spPr/>
        <p:txBody>
          <a:bodyPr/>
          <a:lstStyle/>
          <a:p>
            <a:fld id="{872772C2-2D9F-4AAE-BA19-192BCFA0BB2C}" type="slidenum">
              <a:rPr lang="en-GB" smtClean="0"/>
              <a:t>37</a:t>
            </a:fld>
            <a:endParaRPr lang="en-GB"/>
          </a:p>
        </p:txBody>
      </p:sp>
    </p:spTree>
    <p:extLst>
      <p:ext uri="{BB962C8B-B14F-4D97-AF65-F5344CB8AC3E}">
        <p14:creationId xmlns:p14="http://schemas.microsoft.com/office/powerpoint/2010/main" val="27705025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Now, Coming to the energy computations, The map generated by AeDAM consumes ~2x and ~5x times less energy for the inputs read and output write than zigzag, the weight energy is higher compared to the zigzag being the weights are accessed again and again for every computation and this value will drop once the sparsity in the data is introduced.</a:t>
            </a:r>
            <a:endParaRPr lang="en-IN"/>
          </a:p>
        </p:txBody>
      </p:sp>
      <p:sp>
        <p:nvSpPr>
          <p:cNvPr id="4" name="Slide Number Placeholder 3"/>
          <p:cNvSpPr>
            <a:spLocks noGrp="1"/>
          </p:cNvSpPr>
          <p:nvPr>
            <p:ph type="sldNum" sz="quarter" idx="5"/>
          </p:nvPr>
        </p:nvSpPr>
        <p:spPr/>
        <p:txBody>
          <a:bodyPr/>
          <a:lstStyle/>
          <a:p>
            <a:fld id="{872772C2-2D9F-4AAE-BA19-192BCFA0BB2C}" type="slidenum">
              <a:rPr lang="en-GB" smtClean="0"/>
              <a:t>38</a:t>
            </a:fld>
            <a:endParaRPr lang="en-GB"/>
          </a:p>
        </p:txBody>
      </p:sp>
    </p:spTree>
    <p:extLst>
      <p:ext uri="{BB962C8B-B14F-4D97-AF65-F5344CB8AC3E}">
        <p14:creationId xmlns:p14="http://schemas.microsoft.com/office/powerpoint/2010/main" val="23973338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C1BE-129C-175A-926D-E21234812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C8FDC-60C9-2018-30AA-14844D33E8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582333-9ABB-1AF7-6B53-2B557F78F72E}"/>
              </a:ext>
            </a:extLst>
          </p:cNvPr>
          <p:cNvSpPr>
            <a:spLocks noGrp="1"/>
          </p:cNvSpPr>
          <p:nvPr>
            <p:ph type="body" idx="1"/>
          </p:nvPr>
        </p:nvSpPr>
        <p:spPr/>
        <p:txBody>
          <a:bodyPr/>
          <a:lstStyle/>
          <a:p>
            <a:r>
              <a:rPr lang="en-GB"/>
              <a:t>Final </a:t>
            </a:r>
            <a:r>
              <a:rPr lang="en-GB" err="1"/>
              <a:t>comaprision</a:t>
            </a:r>
            <a:r>
              <a:rPr lang="en-GB"/>
              <a:t> b/w both the tools in terms of Hardware design space, Mapping space, Mapping search strategies, Cost estimation.</a:t>
            </a:r>
            <a:endParaRPr lang="en-IN"/>
          </a:p>
        </p:txBody>
      </p:sp>
      <p:sp>
        <p:nvSpPr>
          <p:cNvPr id="4" name="Slide Number Placeholder 3">
            <a:extLst>
              <a:ext uri="{FF2B5EF4-FFF2-40B4-BE49-F238E27FC236}">
                <a16:creationId xmlns:a16="http://schemas.microsoft.com/office/drawing/2014/main" id="{9A6B463B-223C-EE5B-3B66-859BA3B112C2}"/>
              </a:ext>
            </a:extLst>
          </p:cNvPr>
          <p:cNvSpPr>
            <a:spLocks noGrp="1"/>
          </p:cNvSpPr>
          <p:nvPr>
            <p:ph type="sldNum" sz="quarter" idx="5"/>
          </p:nvPr>
        </p:nvSpPr>
        <p:spPr/>
        <p:txBody>
          <a:bodyPr/>
          <a:lstStyle/>
          <a:p>
            <a:fld id="{872772C2-2D9F-4AAE-BA19-192BCFA0BB2C}" type="slidenum">
              <a:rPr lang="en-GB" smtClean="0"/>
              <a:t>39</a:t>
            </a:fld>
            <a:endParaRPr lang="en-GB"/>
          </a:p>
        </p:txBody>
      </p:sp>
    </p:spTree>
    <p:extLst>
      <p:ext uri="{BB962C8B-B14F-4D97-AF65-F5344CB8AC3E}">
        <p14:creationId xmlns:p14="http://schemas.microsoft.com/office/powerpoint/2010/main" val="1606425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From left to right as the size increase there is no major </a:t>
            </a:r>
            <a:r>
              <a:rPr lang="en-GB" dirty="0" err="1"/>
              <a:t>changee</a:t>
            </a:r>
            <a:endParaRPr lang="en-NL" dirty="0"/>
          </a:p>
        </p:txBody>
      </p:sp>
      <p:sp>
        <p:nvSpPr>
          <p:cNvPr id="4" name="Slide Number Placeholder 3"/>
          <p:cNvSpPr>
            <a:spLocks noGrp="1"/>
          </p:cNvSpPr>
          <p:nvPr>
            <p:ph type="sldNum" sz="quarter" idx="5"/>
          </p:nvPr>
        </p:nvSpPr>
        <p:spPr/>
        <p:txBody>
          <a:bodyPr/>
          <a:lstStyle/>
          <a:p>
            <a:fld id="{872772C2-2D9F-4AAE-BA19-192BCFA0BB2C}" type="slidenum">
              <a:rPr lang="en-GB" smtClean="0"/>
              <a:t>41</a:t>
            </a:fld>
            <a:endParaRPr lang="en-GB"/>
          </a:p>
        </p:txBody>
      </p:sp>
    </p:spTree>
    <p:extLst>
      <p:ext uri="{BB962C8B-B14F-4D97-AF65-F5344CB8AC3E}">
        <p14:creationId xmlns:p14="http://schemas.microsoft.com/office/powerpoint/2010/main" val="14621117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16029-580A-8CCF-FA9B-5D1530C34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E4D7C-5CC9-B4AE-F12B-2A9C20297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AE876A-5D24-1FC6-44E1-C27F209F881C}"/>
              </a:ext>
            </a:extLst>
          </p:cNvPr>
          <p:cNvSpPr>
            <a:spLocks noGrp="1"/>
          </p:cNvSpPr>
          <p:nvPr>
            <p:ph type="body" idx="1"/>
          </p:nvPr>
        </p:nvSpPr>
        <p:spPr/>
        <p:txBody>
          <a:bodyPr/>
          <a:lstStyle/>
          <a:p>
            <a:r>
              <a:rPr lang="en-US">
                <a:latin typeface="Calibri"/>
                <a:ea typeface="Calibri"/>
                <a:cs typeface="Calibri"/>
              </a:rPr>
              <a:t>Revisiting the contributions again:</a:t>
            </a:r>
          </a:p>
          <a:p>
            <a:r>
              <a:rPr lang="en-US">
                <a:latin typeface="Calibri"/>
                <a:ea typeface="Calibri"/>
                <a:cs typeface="Calibri"/>
              </a:rPr>
              <a:t>An event driven architecture exploration tool is developed for the single core architectures </a:t>
            </a:r>
          </a:p>
          <a:p>
            <a:endParaRPr lang="en-US">
              <a:latin typeface="Calibri"/>
              <a:ea typeface="Calibri"/>
              <a:cs typeface="Calibri"/>
            </a:endParaRPr>
          </a:p>
          <a:p>
            <a:r>
              <a:rPr lang="en-US">
                <a:latin typeface="Calibri"/>
                <a:ea typeface="Calibri"/>
                <a:cs typeface="Calibri"/>
              </a:rPr>
              <a:t>And on </a:t>
            </a:r>
            <a:r>
              <a:rPr lang="en-US" err="1">
                <a:latin typeface="Calibri"/>
                <a:ea typeface="Calibri"/>
                <a:cs typeface="Calibri"/>
              </a:rPr>
              <a:t>comaparision</a:t>
            </a:r>
            <a:r>
              <a:rPr lang="en-US">
                <a:latin typeface="Calibri"/>
                <a:ea typeface="Calibri"/>
                <a:cs typeface="Calibri"/>
              </a:rPr>
              <a:t> with the </a:t>
            </a:r>
            <a:r>
              <a:rPr lang="en-US" err="1">
                <a:latin typeface="Calibri"/>
                <a:ea typeface="Calibri"/>
                <a:cs typeface="Calibri"/>
              </a:rPr>
              <a:t>SoTA</a:t>
            </a:r>
            <a:r>
              <a:rPr lang="en-US">
                <a:latin typeface="Calibri"/>
                <a:ea typeface="Calibri"/>
                <a:cs typeface="Calibri"/>
              </a:rPr>
              <a:t>: AeDAM produces a better mapping schedule than the vanilla zigzag and also performs the exploration process faster than it.</a:t>
            </a:r>
          </a:p>
        </p:txBody>
      </p:sp>
      <p:sp>
        <p:nvSpPr>
          <p:cNvPr id="4" name="Slide Number Placeholder 3">
            <a:extLst>
              <a:ext uri="{FF2B5EF4-FFF2-40B4-BE49-F238E27FC236}">
                <a16:creationId xmlns:a16="http://schemas.microsoft.com/office/drawing/2014/main" id="{BA801F2E-E781-2B75-3A0B-4B4A22F898B6}"/>
              </a:ext>
            </a:extLst>
          </p:cNvPr>
          <p:cNvSpPr>
            <a:spLocks noGrp="1"/>
          </p:cNvSpPr>
          <p:nvPr>
            <p:ph type="sldNum" sz="quarter" idx="5"/>
          </p:nvPr>
        </p:nvSpPr>
        <p:spPr/>
        <p:txBody>
          <a:bodyPr/>
          <a:lstStyle/>
          <a:p>
            <a:fld id="{872772C2-2D9F-4AAE-BA19-192BCFA0BB2C}" type="slidenum">
              <a:rPr lang="en-GB" smtClean="0"/>
              <a:t>47</a:t>
            </a:fld>
            <a:endParaRPr lang="en-GB"/>
          </a:p>
        </p:txBody>
      </p:sp>
    </p:spTree>
    <p:extLst>
      <p:ext uri="{BB962C8B-B14F-4D97-AF65-F5344CB8AC3E}">
        <p14:creationId xmlns:p14="http://schemas.microsoft.com/office/powerpoint/2010/main" val="36157127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ADD5A-6F9A-8F13-B6CA-D3451A2305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B370E6-A86C-9E31-99D9-DB9365C01A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7FA802-D36F-7DFA-2A27-17CF87ACF236}"/>
              </a:ext>
            </a:extLst>
          </p:cNvPr>
          <p:cNvSpPr>
            <a:spLocks noGrp="1"/>
          </p:cNvSpPr>
          <p:nvPr>
            <p:ph type="body" idx="1"/>
          </p:nvPr>
        </p:nvSpPr>
        <p:spPr/>
        <p:txBody>
          <a:bodyPr/>
          <a:lstStyle/>
          <a:p>
            <a:r>
              <a:rPr lang="en-GB"/>
              <a:t>With this introduction about importance of AI, benefits of using Neuromorphic architectures for edge application and there is a huge design space to explore to benefit that particular architecture.</a:t>
            </a:r>
          </a:p>
          <a:p>
            <a:endParaRPr lang="en-GB"/>
          </a:p>
          <a:p>
            <a:r>
              <a:rPr lang="en-GB"/>
              <a:t>Let’s discuss about the tools that are existing right now to help in the exploration</a:t>
            </a:r>
            <a:endParaRPr lang="en-IN"/>
          </a:p>
        </p:txBody>
      </p:sp>
      <p:sp>
        <p:nvSpPr>
          <p:cNvPr id="4" name="Slide Number Placeholder 3">
            <a:extLst>
              <a:ext uri="{FF2B5EF4-FFF2-40B4-BE49-F238E27FC236}">
                <a16:creationId xmlns:a16="http://schemas.microsoft.com/office/drawing/2014/main" id="{85C0E5BC-DB9F-8ED8-4347-2DE9FDAD2D50}"/>
              </a:ext>
            </a:extLst>
          </p:cNvPr>
          <p:cNvSpPr>
            <a:spLocks noGrp="1"/>
          </p:cNvSpPr>
          <p:nvPr>
            <p:ph type="sldNum" sz="quarter" idx="5"/>
          </p:nvPr>
        </p:nvSpPr>
        <p:spPr/>
        <p:txBody>
          <a:bodyPr/>
          <a:lstStyle/>
          <a:p>
            <a:fld id="{872772C2-2D9F-4AAE-BA19-192BCFA0BB2C}" type="slidenum">
              <a:rPr lang="en-GB" smtClean="0"/>
              <a:t>49</a:t>
            </a:fld>
            <a:endParaRPr lang="en-GB"/>
          </a:p>
        </p:txBody>
      </p:sp>
    </p:spTree>
    <p:extLst>
      <p:ext uri="{BB962C8B-B14F-4D97-AF65-F5344CB8AC3E}">
        <p14:creationId xmlns:p14="http://schemas.microsoft.com/office/powerpoint/2010/main" val="37772552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D11E0-5B85-58EB-4454-79E887C67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4CCA9-BD0F-54B2-1481-E9AD857F4F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AACF11-B8D8-005B-48F9-596A4D86A470}"/>
              </a:ext>
            </a:extLst>
          </p:cNvPr>
          <p:cNvSpPr>
            <a:spLocks noGrp="1"/>
          </p:cNvSpPr>
          <p:nvPr>
            <p:ph type="body" idx="1"/>
          </p:nvPr>
        </p:nvSpPr>
        <p:spPr/>
        <p:txBody>
          <a:bodyPr/>
          <a:lstStyle/>
          <a:p>
            <a:r>
              <a:rPr lang="en-GB"/>
              <a:t>With this introduction about importance of AI, benefits of using Neuromorphic architectures for edge application and there is a huge design space to explore to benefit that particular architecture.</a:t>
            </a:r>
          </a:p>
          <a:p>
            <a:endParaRPr lang="en-GB"/>
          </a:p>
          <a:p>
            <a:r>
              <a:rPr lang="en-GB"/>
              <a:t>Let’s discuss about the tools that are existing right now to help in the exploration</a:t>
            </a:r>
            <a:endParaRPr lang="en-IN"/>
          </a:p>
        </p:txBody>
      </p:sp>
      <p:sp>
        <p:nvSpPr>
          <p:cNvPr id="4" name="Slide Number Placeholder 3">
            <a:extLst>
              <a:ext uri="{FF2B5EF4-FFF2-40B4-BE49-F238E27FC236}">
                <a16:creationId xmlns:a16="http://schemas.microsoft.com/office/drawing/2014/main" id="{825E83AB-75BC-255C-75C7-4AE74A2920F3}"/>
              </a:ext>
            </a:extLst>
          </p:cNvPr>
          <p:cNvSpPr>
            <a:spLocks noGrp="1"/>
          </p:cNvSpPr>
          <p:nvPr>
            <p:ph type="sldNum" sz="quarter" idx="5"/>
          </p:nvPr>
        </p:nvSpPr>
        <p:spPr/>
        <p:txBody>
          <a:bodyPr/>
          <a:lstStyle/>
          <a:p>
            <a:fld id="{872772C2-2D9F-4AAE-BA19-192BCFA0BB2C}" type="slidenum">
              <a:rPr lang="en-GB" smtClean="0"/>
              <a:t>50</a:t>
            </a:fld>
            <a:endParaRPr lang="en-GB"/>
          </a:p>
        </p:txBody>
      </p:sp>
    </p:spTree>
    <p:extLst>
      <p:ext uri="{BB962C8B-B14F-4D97-AF65-F5344CB8AC3E}">
        <p14:creationId xmlns:p14="http://schemas.microsoft.com/office/powerpoint/2010/main" val="20512824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2714E-E37C-04F5-D9DE-C6D8D65CF2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A29F7-125C-57FE-4257-1112657851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BA0CFD-A6CD-4366-2251-94A7F8306E3D}"/>
              </a:ext>
            </a:extLst>
          </p:cNvPr>
          <p:cNvSpPr>
            <a:spLocks noGrp="1"/>
          </p:cNvSpPr>
          <p:nvPr>
            <p:ph type="body" idx="1"/>
          </p:nvPr>
        </p:nvSpPr>
        <p:spPr/>
        <p:txBody>
          <a:bodyPr/>
          <a:lstStyle/>
          <a:p>
            <a:r>
              <a:rPr lang="en-GB"/>
              <a:t>With this introduction about importance of AI, benefits of using Neuromorphic architectures for edge application and there is a huge design space to explore to benefit that particular architecture.</a:t>
            </a:r>
          </a:p>
          <a:p>
            <a:endParaRPr lang="en-GB"/>
          </a:p>
          <a:p>
            <a:r>
              <a:rPr lang="en-GB"/>
              <a:t>Let’s discuss about the tools that are existing right now to help in the exploration</a:t>
            </a:r>
            <a:endParaRPr lang="en-IN"/>
          </a:p>
        </p:txBody>
      </p:sp>
      <p:sp>
        <p:nvSpPr>
          <p:cNvPr id="4" name="Slide Number Placeholder 3">
            <a:extLst>
              <a:ext uri="{FF2B5EF4-FFF2-40B4-BE49-F238E27FC236}">
                <a16:creationId xmlns:a16="http://schemas.microsoft.com/office/drawing/2014/main" id="{DD59CDD8-3B31-47E6-CC63-84A7F062C418}"/>
              </a:ext>
            </a:extLst>
          </p:cNvPr>
          <p:cNvSpPr>
            <a:spLocks noGrp="1"/>
          </p:cNvSpPr>
          <p:nvPr>
            <p:ph type="sldNum" sz="quarter" idx="5"/>
          </p:nvPr>
        </p:nvSpPr>
        <p:spPr/>
        <p:txBody>
          <a:bodyPr/>
          <a:lstStyle/>
          <a:p>
            <a:fld id="{872772C2-2D9F-4AAE-BA19-192BCFA0BB2C}" type="slidenum">
              <a:rPr lang="en-GB" smtClean="0"/>
              <a:t>51</a:t>
            </a:fld>
            <a:endParaRPr lang="en-GB"/>
          </a:p>
        </p:txBody>
      </p:sp>
    </p:spTree>
    <p:extLst>
      <p:ext uri="{BB962C8B-B14F-4D97-AF65-F5344CB8AC3E}">
        <p14:creationId xmlns:p14="http://schemas.microsoft.com/office/powerpoint/2010/main" val="29535676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2DA94-6812-B92C-40D7-FE1419A009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C3D559-E707-1B61-E7A7-2ED3D220B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A9F453-BCCD-0FD8-CEA7-63A2A2C7DDD9}"/>
              </a:ext>
            </a:extLst>
          </p:cNvPr>
          <p:cNvSpPr>
            <a:spLocks noGrp="1"/>
          </p:cNvSpPr>
          <p:nvPr>
            <p:ph type="body" idx="1"/>
          </p:nvPr>
        </p:nvSpPr>
        <p:spPr/>
        <p:txBody>
          <a:bodyPr/>
          <a:lstStyle/>
          <a:p>
            <a:r>
              <a:rPr lang="en-US"/>
              <a:t>Output stationary – Partial sums </a:t>
            </a:r>
          </a:p>
          <a:p>
            <a:r>
              <a:rPr lang="en-US"/>
              <a:t>Weigh stationary – Weights</a:t>
            </a:r>
          </a:p>
          <a:p>
            <a:endParaRPr lang="en-US"/>
          </a:p>
          <a:p>
            <a:r>
              <a:rPr lang="en-US"/>
              <a:t>Input stationary – Inputs are accessed by unrolling </a:t>
            </a:r>
            <a:r>
              <a:rPr lang="en-US" err="1"/>
              <a:t>themspatially</a:t>
            </a:r>
            <a:endParaRPr lang="en-US"/>
          </a:p>
          <a:p>
            <a:endParaRPr lang="en-US"/>
          </a:p>
          <a:p>
            <a:r>
              <a:rPr lang="en-US"/>
              <a:t>Event stationary – Where are single event is accessed one by one </a:t>
            </a:r>
            <a:endParaRPr lang="en-NL"/>
          </a:p>
        </p:txBody>
      </p:sp>
      <p:sp>
        <p:nvSpPr>
          <p:cNvPr id="4" name="Slide Number Placeholder 3">
            <a:extLst>
              <a:ext uri="{FF2B5EF4-FFF2-40B4-BE49-F238E27FC236}">
                <a16:creationId xmlns:a16="http://schemas.microsoft.com/office/drawing/2014/main" id="{B32515C6-BF94-2997-3C26-FD1754671269}"/>
              </a:ext>
            </a:extLst>
          </p:cNvPr>
          <p:cNvSpPr>
            <a:spLocks noGrp="1"/>
          </p:cNvSpPr>
          <p:nvPr>
            <p:ph type="sldNum" sz="quarter" idx="5"/>
          </p:nvPr>
        </p:nvSpPr>
        <p:spPr/>
        <p:txBody>
          <a:bodyPr/>
          <a:lstStyle/>
          <a:p>
            <a:fld id="{872772C2-2D9F-4AAE-BA19-192BCFA0BB2C}" type="slidenum">
              <a:rPr lang="en-GB" smtClean="0"/>
              <a:t>53</a:t>
            </a:fld>
            <a:endParaRPr lang="en-GB"/>
          </a:p>
        </p:txBody>
      </p:sp>
    </p:spTree>
    <p:extLst>
      <p:ext uri="{BB962C8B-B14F-4D97-AF65-F5344CB8AC3E}">
        <p14:creationId xmlns:p14="http://schemas.microsoft.com/office/powerpoint/2010/main" val="27359875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54025-A27C-6DB0-D48D-05345664AD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D04F8D-38A4-1D4E-880E-B70799818A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8C186-4763-0885-153A-18F70CCDF0AF}"/>
              </a:ext>
            </a:extLst>
          </p:cNvPr>
          <p:cNvSpPr>
            <a:spLocks noGrp="1"/>
          </p:cNvSpPr>
          <p:nvPr>
            <p:ph type="body" idx="1"/>
          </p:nvPr>
        </p:nvSpPr>
        <p:spPr/>
        <p:txBody>
          <a:bodyPr/>
          <a:lstStyle/>
          <a:p>
            <a:r>
              <a:rPr lang="en-GB"/>
              <a:t>The cost model is made up of three major models </a:t>
            </a:r>
            <a:r>
              <a:rPr lang="en-GB" err="1"/>
              <a:t>i.e</a:t>
            </a:r>
            <a:r>
              <a:rPr lang="en-GB"/>
              <a:t> latency, the energy model and the area then there are two associated block to support in the calculation of the energy, latency and the other resources utilisation stats like the memory, area etc..,</a:t>
            </a:r>
          </a:p>
          <a:p>
            <a:endParaRPr lang="en-GB"/>
          </a:p>
          <a:p>
            <a:r>
              <a:rPr lang="en-GB"/>
              <a:t>The Datapath and memory utilisation block takes in the Input workload, architecture and the map space generated to determine the data path along with the memory utilised at each memory block.</a:t>
            </a:r>
          </a:p>
          <a:p>
            <a:endParaRPr lang="en-GB"/>
          </a:p>
          <a:p>
            <a:r>
              <a:rPr lang="en-GB"/>
              <a:t>Then Data path of each operand the word access count is determined for each operand across each memory level</a:t>
            </a:r>
          </a:p>
          <a:p>
            <a:endParaRPr lang="en-GB"/>
          </a:p>
          <a:p>
            <a:r>
              <a:rPr lang="en-GB"/>
              <a:t>This word access count is then utilised to determine the dynamic power consumed by each operand </a:t>
            </a:r>
            <a:r>
              <a:rPr lang="en-GB" err="1"/>
              <a:t>acoss</a:t>
            </a:r>
            <a:r>
              <a:rPr lang="en-GB"/>
              <a:t> each memory level</a:t>
            </a:r>
          </a:p>
          <a:p>
            <a:endParaRPr lang="en-GB"/>
          </a:p>
          <a:p>
            <a:r>
              <a:rPr lang="en-GB"/>
              <a:t>Finally the latency is determined by the help of the previously computed units like mapping, memory utilisation and the </a:t>
            </a:r>
            <a:r>
              <a:rPr lang="en-GB" err="1"/>
              <a:t>wordaccess</a:t>
            </a:r>
            <a:r>
              <a:rPr lang="en-GB"/>
              <a:t> count. This block give the onloading, offloading and the computational latency.</a:t>
            </a:r>
            <a:endParaRPr lang="en-IN"/>
          </a:p>
        </p:txBody>
      </p:sp>
      <p:sp>
        <p:nvSpPr>
          <p:cNvPr id="4" name="Slide Number Placeholder 3">
            <a:extLst>
              <a:ext uri="{FF2B5EF4-FFF2-40B4-BE49-F238E27FC236}">
                <a16:creationId xmlns:a16="http://schemas.microsoft.com/office/drawing/2014/main" id="{DA27977B-95D1-222E-6265-A72DBD741AC0}"/>
              </a:ext>
            </a:extLst>
          </p:cNvPr>
          <p:cNvSpPr>
            <a:spLocks noGrp="1"/>
          </p:cNvSpPr>
          <p:nvPr>
            <p:ph type="sldNum" sz="quarter" idx="5"/>
          </p:nvPr>
        </p:nvSpPr>
        <p:spPr/>
        <p:txBody>
          <a:bodyPr/>
          <a:lstStyle/>
          <a:p>
            <a:fld id="{872772C2-2D9F-4AAE-BA19-192BCFA0BB2C}" type="slidenum">
              <a:rPr lang="en-GB" smtClean="0"/>
              <a:t>54</a:t>
            </a:fld>
            <a:endParaRPr lang="en-GB"/>
          </a:p>
        </p:txBody>
      </p:sp>
    </p:spTree>
    <p:extLst>
      <p:ext uri="{BB962C8B-B14F-4D97-AF65-F5344CB8AC3E}">
        <p14:creationId xmlns:p14="http://schemas.microsoft.com/office/powerpoint/2010/main" val="42533996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Modelling of the 1</a:t>
            </a:r>
            <a:r>
              <a:rPr lang="en-GB" baseline="30000"/>
              <a:t>st</a:t>
            </a:r>
            <a:r>
              <a:rPr lang="en-GB"/>
              <a:t> layer of the </a:t>
            </a:r>
            <a:r>
              <a:rPr lang="en-GB" err="1"/>
              <a:t>VGGNet</a:t>
            </a:r>
            <a:r>
              <a:rPr lang="en-GB"/>
              <a:t> model</a:t>
            </a:r>
            <a:endParaRPr lang="en-IN"/>
          </a:p>
        </p:txBody>
      </p:sp>
      <p:sp>
        <p:nvSpPr>
          <p:cNvPr id="4" name="Slide Number Placeholder 3"/>
          <p:cNvSpPr>
            <a:spLocks noGrp="1"/>
          </p:cNvSpPr>
          <p:nvPr>
            <p:ph type="sldNum" sz="quarter" idx="5"/>
          </p:nvPr>
        </p:nvSpPr>
        <p:spPr/>
        <p:txBody>
          <a:bodyPr/>
          <a:lstStyle/>
          <a:p>
            <a:fld id="{872772C2-2D9F-4AAE-BA19-192BCFA0BB2C}" type="slidenum">
              <a:rPr lang="en-GB" smtClean="0"/>
              <a:t>55</a:t>
            </a:fld>
            <a:endParaRPr lang="en-GB"/>
          </a:p>
        </p:txBody>
      </p:sp>
    </p:spTree>
    <p:extLst>
      <p:ext uri="{BB962C8B-B14F-4D97-AF65-F5344CB8AC3E}">
        <p14:creationId xmlns:p14="http://schemas.microsoft.com/office/powerpoint/2010/main" val="41038857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Validation of the </a:t>
            </a:r>
            <a:r>
              <a:rPr lang="en-GB" err="1"/>
              <a:t>datapath</a:t>
            </a:r>
            <a:r>
              <a:rPr lang="en-GB"/>
              <a:t> for input reads, Weight reads, Partial sum generation and the output writes in comparison with the actual SENECA </a:t>
            </a:r>
            <a:r>
              <a:rPr lang="en-GB" err="1"/>
              <a:t>architecuture</a:t>
            </a:r>
            <a:endParaRPr lang="en-GB"/>
          </a:p>
          <a:p>
            <a:endParaRPr lang="en-GB"/>
          </a:p>
          <a:p>
            <a:r>
              <a:rPr lang="en-GB"/>
              <a:t>1. Inputs are Streamed event by event to the registers and are utilised for the computations</a:t>
            </a:r>
            <a:endParaRPr lang="en-IN"/>
          </a:p>
        </p:txBody>
      </p:sp>
      <p:sp>
        <p:nvSpPr>
          <p:cNvPr id="4" name="Slide Number Placeholder 3"/>
          <p:cNvSpPr>
            <a:spLocks noGrp="1"/>
          </p:cNvSpPr>
          <p:nvPr>
            <p:ph type="sldNum" sz="quarter" idx="5"/>
          </p:nvPr>
        </p:nvSpPr>
        <p:spPr/>
        <p:txBody>
          <a:bodyPr/>
          <a:lstStyle/>
          <a:p>
            <a:fld id="{872772C2-2D9F-4AAE-BA19-192BCFA0BB2C}" type="slidenum">
              <a:rPr lang="en-GB" smtClean="0"/>
              <a:t>56</a:t>
            </a:fld>
            <a:endParaRPr lang="en-GB"/>
          </a:p>
        </p:txBody>
      </p:sp>
    </p:spTree>
    <p:extLst>
      <p:ext uri="{BB962C8B-B14F-4D97-AF65-F5344CB8AC3E}">
        <p14:creationId xmlns:p14="http://schemas.microsoft.com/office/powerpoint/2010/main" val="26438143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Required weights for the MAC operation are continuously accessed from SRAM to RF</a:t>
            </a:r>
            <a:endParaRPr lang="en-IN"/>
          </a:p>
        </p:txBody>
      </p:sp>
      <p:sp>
        <p:nvSpPr>
          <p:cNvPr id="4" name="Slide Number Placeholder 3"/>
          <p:cNvSpPr>
            <a:spLocks noGrp="1"/>
          </p:cNvSpPr>
          <p:nvPr>
            <p:ph type="sldNum" sz="quarter" idx="5"/>
          </p:nvPr>
        </p:nvSpPr>
        <p:spPr/>
        <p:txBody>
          <a:bodyPr/>
          <a:lstStyle/>
          <a:p>
            <a:fld id="{872772C2-2D9F-4AAE-BA19-192BCFA0BB2C}" type="slidenum">
              <a:rPr lang="en-GB" smtClean="0"/>
              <a:t>57</a:t>
            </a:fld>
            <a:endParaRPr lang="en-GB"/>
          </a:p>
        </p:txBody>
      </p:sp>
    </p:spTree>
    <p:extLst>
      <p:ext uri="{BB962C8B-B14F-4D97-AF65-F5344CB8AC3E}">
        <p14:creationId xmlns:p14="http://schemas.microsoft.com/office/powerpoint/2010/main" val="6718052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computed partial sums are written to SRAM and are read again based on the output value being computed</a:t>
            </a:r>
            <a:endParaRPr lang="en-IN"/>
          </a:p>
        </p:txBody>
      </p:sp>
      <p:sp>
        <p:nvSpPr>
          <p:cNvPr id="4" name="Slide Number Placeholder 3"/>
          <p:cNvSpPr>
            <a:spLocks noGrp="1"/>
          </p:cNvSpPr>
          <p:nvPr>
            <p:ph type="sldNum" sz="quarter" idx="5"/>
          </p:nvPr>
        </p:nvSpPr>
        <p:spPr/>
        <p:txBody>
          <a:bodyPr/>
          <a:lstStyle/>
          <a:p>
            <a:fld id="{872772C2-2D9F-4AAE-BA19-192BCFA0BB2C}" type="slidenum">
              <a:rPr lang="en-GB" smtClean="0"/>
              <a:t>58</a:t>
            </a:fld>
            <a:endParaRPr lang="en-GB"/>
          </a:p>
        </p:txBody>
      </p:sp>
    </p:spTree>
    <p:extLst>
      <p:ext uri="{BB962C8B-B14F-4D97-AF65-F5344CB8AC3E}">
        <p14:creationId xmlns:p14="http://schemas.microsoft.com/office/powerpoint/2010/main" val="29641382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Finally, each output after the accumulation is written to the NOC</a:t>
            </a:r>
            <a:endParaRPr lang="en-IN"/>
          </a:p>
        </p:txBody>
      </p:sp>
      <p:sp>
        <p:nvSpPr>
          <p:cNvPr id="4" name="Slide Number Placeholder 3"/>
          <p:cNvSpPr>
            <a:spLocks noGrp="1"/>
          </p:cNvSpPr>
          <p:nvPr>
            <p:ph type="sldNum" sz="quarter" idx="5"/>
          </p:nvPr>
        </p:nvSpPr>
        <p:spPr/>
        <p:txBody>
          <a:bodyPr/>
          <a:lstStyle/>
          <a:p>
            <a:fld id="{872772C2-2D9F-4AAE-BA19-192BCFA0BB2C}" type="slidenum">
              <a:rPr lang="en-GB" smtClean="0"/>
              <a:t>59</a:t>
            </a:fld>
            <a:endParaRPr lang="en-GB"/>
          </a:p>
        </p:txBody>
      </p:sp>
    </p:spTree>
    <p:extLst>
      <p:ext uri="{BB962C8B-B14F-4D97-AF65-F5344CB8AC3E}">
        <p14:creationId xmlns:p14="http://schemas.microsoft.com/office/powerpoint/2010/main" val="40927830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A_dir</a:t>
            </a:r>
            <a:r>
              <a:rPr lang="en-US"/>
              <a:t> = ceil(</a:t>
            </a:r>
            <a:r>
              <a:rPr lang="en-US" err="1"/>
              <a:t>A_elem</a:t>
            </a:r>
            <a:r>
              <a:rPr lang="en-US"/>
              <a:t> * p / </a:t>
            </a:r>
            <a:r>
              <a:rPr lang="en-US" err="1"/>
              <a:t>BW_min</a:t>
            </a:r>
            <a:r>
              <a:rPr lang="en-US"/>
              <a:t>) * (</a:t>
            </a:r>
            <a:r>
              <a:rPr lang="en-US" err="1"/>
              <a:t>BW_min</a:t>
            </a:r>
            <a:r>
              <a:rPr lang="en-US"/>
              <a:t> / </a:t>
            </a:r>
            <a:r>
              <a:rPr lang="en-US" err="1"/>
              <a:t>BW_max</a:t>
            </a:r>
            <a:r>
              <a:rPr lang="en-US"/>
              <a:t>) * P * UC</a:t>
            </a:r>
          </a:p>
          <a:p>
            <a:endParaRPr lang="en-US"/>
          </a:p>
          <a:p>
            <a:r>
              <a:rPr lang="en-US"/>
              <a:t>Period is the </a:t>
            </a:r>
            <a:r>
              <a:rPr lang="en-US" err="1"/>
              <a:t>no.of</a:t>
            </a:r>
            <a:r>
              <a:rPr lang="en-US"/>
              <a:t> times the inner loops repeats</a:t>
            </a:r>
          </a:p>
        </p:txBody>
      </p:sp>
      <p:sp>
        <p:nvSpPr>
          <p:cNvPr id="4" name="Slide Number Placeholder 3"/>
          <p:cNvSpPr>
            <a:spLocks noGrp="1"/>
          </p:cNvSpPr>
          <p:nvPr>
            <p:ph type="sldNum" sz="quarter" idx="5"/>
          </p:nvPr>
        </p:nvSpPr>
        <p:spPr/>
        <p:txBody>
          <a:bodyPr/>
          <a:lstStyle/>
          <a:p>
            <a:fld id="{872772C2-2D9F-4AAE-BA19-192BCFA0BB2C}" type="slidenum">
              <a:rPr lang="en-GB" smtClean="0"/>
              <a:t>60</a:t>
            </a:fld>
            <a:endParaRPr lang="en-GB"/>
          </a:p>
        </p:txBody>
      </p:sp>
    </p:spTree>
    <p:extLst>
      <p:ext uri="{BB962C8B-B14F-4D97-AF65-F5344CB8AC3E}">
        <p14:creationId xmlns:p14="http://schemas.microsoft.com/office/powerpoint/2010/main" val="52065075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During the map space generation: </a:t>
            </a:r>
            <a:r>
              <a:rPr lang="en-GB">
                <a:latin typeface="Gill Sans MT"/>
                <a:cs typeface="Gill Sans"/>
              </a:rPr>
              <a:t>Lump the smallest Loop Prime Factors (LPFs) of the loop type with the most factors while preserving large LPFs individually, this leads to a much smaller </a:t>
            </a:r>
            <a:r>
              <a:rPr lang="en-GB" err="1">
                <a:latin typeface="Gill Sans MT"/>
                <a:cs typeface="Gill Sans"/>
              </a:rPr>
              <a:t>mapspace</a:t>
            </a:r>
            <a:r>
              <a:rPr lang="en-GB">
                <a:latin typeface="Gill Sans MT"/>
                <a:cs typeface="Gill Sans"/>
              </a:rPr>
              <a:t> with no significant loss in the performance as the lumping is done with the small loops which have less impact on the overall performance.</a:t>
            </a:r>
            <a:endParaRPr lang="en-IN"/>
          </a:p>
        </p:txBody>
      </p:sp>
      <p:sp>
        <p:nvSpPr>
          <p:cNvPr id="4" name="Slide Number Placeholder 3"/>
          <p:cNvSpPr>
            <a:spLocks noGrp="1"/>
          </p:cNvSpPr>
          <p:nvPr>
            <p:ph type="sldNum" sz="quarter" idx="5"/>
          </p:nvPr>
        </p:nvSpPr>
        <p:spPr/>
        <p:txBody>
          <a:bodyPr/>
          <a:lstStyle/>
          <a:p>
            <a:fld id="{872772C2-2D9F-4AAE-BA19-192BCFA0BB2C}" type="slidenum">
              <a:rPr lang="en-GB" smtClean="0"/>
              <a:t>64</a:t>
            </a:fld>
            <a:endParaRPr lang="en-GB"/>
          </a:p>
        </p:txBody>
      </p:sp>
    </p:spTree>
    <p:extLst>
      <p:ext uri="{BB962C8B-B14F-4D97-AF65-F5344CB8AC3E}">
        <p14:creationId xmlns:p14="http://schemas.microsoft.com/office/powerpoint/2010/main" val="28899248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AeDAM being focused on the event driven architecture generates the specialised map space due to which the overall </a:t>
            </a:r>
            <a:r>
              <a:rPr lang="en-GB" err="1"/>
              <a:t>mapspace</a:t>
            </a:r>
            <a:r>
              <a:rPr lang="en-GB"/>
              <a:t> quantity is less than the zigzag </a:t>
            </a:r>
            <a:endParaRPr lang="en-IN"/>
          </a:p>
        </p:txBody>
      </p:sp>
      <p:sp>
        <p:nvSpPr>
          <p:cNvPr id="4" name="Slide Number Placeholder 3"/>
          <p:cNvSpPr>
            <a:spLocks noGrp="1"/>
          </p:cNvSpPr>
          <p:nvPr>
            <p:ph type="sldNum" sz="quarter" idx="5"/>
          </p:nvPr>
        </p:nvSpPr>
        <p:spPr/>
        <p:txBody>
          <a:bodyPr/>
          <a:lstStyle/>
          <a:p>
            <a:fld id="{872772C2-2D9F-4AAE-BA19-192BCFA0BB2C}" type="slidenum">
              <a:rPr lang="en-GB" smtClean="0"/>
              <a:t>65</a:t>
            </a:fld>
            <a:endParaRPr lang="en-GB"/>
          </a:p>
        </p:txBody>
      </p:sp>
    </p:spTree>
    <p:extLst>
      <p:ext uri="{BB962C8B-B14F-4D97-AF65-F5344CB8AC3E}">
        <p14:creationId xmlns:p14="http://schemas.microsoft.com/office/powerpoint/2010/main" val="3631183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nl-BE"/>
              <a:t>Click to edit Master title style</a:t>
            </a:r>
            <a:endParaRPr lang="en-US"/>
          </a:p>
        </p:txBody>
      </p:sp>
      <p:sp>
        <p:nvSpPr>
          <p:cNvPr id="3" name="Content Placeholder 2"/>
          <p:cNvSpPr>
            <a:spLocks noGrp="1"/>
          </p:cNvSpPr>
          <p:nvPr>
            <p:ph idx="1"/>
          </p:nvPr>
        </p:nvSpPr>
        <p:spPr/>
        <p:txBody>
          <a:bodyPr/>
          <a:lstStyle>
            <a:lvl1pPr>
              <a:defRPr b="0" i="0"/>
            </a:lvl1pPr>
            <a:lvl2pPr>
              <a:defRPr b="0" i="0"/>
            </a:lvl2pPr>
            <a:lvl3pPr>
              <a:defRPr b="0" i="0"/>
            </a:lvl3pPr>
            <a:lvl4pPr>
              <a:defRPr b="0" i="0"/>
            </a:lvl4pPr>
            <a:lvl5pPr>
              <a:defRPr b="0" i="0"/>
            </a:lvl5pPr>
          </a:lstStyle>
          <a:p>
            <a:pPr lvl="0"/>
            <a:r>
              <a:rPr lang="nl-BE"/>
              <a:t>Click to edit Master text styles</a:t>
            </a:r>
          </a:p>
          <a:p>
            <a:pPr lvl="1"/>
            <a:r>
              <a:rPr lang="nl-BE"/>
              <a:t>Second level</a:t>
            </a:r>
          </a:p>
          <a:p>
            <a:pPr lvl="2"/>
            <a:r>
              <a:rPr lang="nl-BE"/>
              <a:t>Third level</a:t>
            </a:r>
          </a:p>
          <a:p>
            <a:pPr lvl="3"/>
            <a:r>
              <a:rPr lang="nl-BE"/>
              <a:t>Fourth level</a:t>
            </a:r>
          </a:p>
          <a:p>
            <a:pPr lvl="4"/>
            <a:r>
              <a:rPr lang="nl-BE"/>
              <a:t>Fifth level</a:t>
            </a:r>
            <a:endParaRPr lang="en-US"/>
          </a:p>
        </p:txBody>
      </p:sp>
      <p:sp>
        <p:nvSpPr>
          <p:cNvPr id="6" name="Slide Number Placeholder 5"/>
          <p:cNvSpPr>
            <a:spLocks noGrp="1"/>
          </p:cNvSpPr>
          <p:nvPr>
            <p:ph type="sldNum" sz="quarter" idx="12"/>
          </p:nvPr>
        </p:nvSpPr>
        <p:spPr/>
        <p:txBody>
          <a:bodyPr/>
          <a:lstStyle/>
          <a:p>
            <a:fld id="{8836216C-5BC3-7C44-80F8-E30864FFC228}" type="slidenum">
              <a:rPr lang="en-US" smtClean="0"/>
              <a:t>‹#›</a:t>
            </a:fld>
            <a:endParaRPr lang="en-US"/>
          </a:p>
        </p:txBody>
      </p:sp>
      <p:sp>
        <p:nvSpPr>
          <p:cNvPr id="5" name="Text Placeholder 4"/>
          <p:cNvSpPr>
            <a:spLocks noGrp="1"/>
          </p:cNvSpPr>
          <p:nvPr>
            <p:ph type="body" sz="quarter" idx="13" hasCustomPrompt="1"/>
          </p:nvPr>
        </p:nvSpPr>
        <p:spPr>
          <a:xfrm>
            <a:off x="160630" y="576315"/>
            <a:ext cx="8753475" cy="369332"/>
          </a:xfrm>
        </p:spPr>
        <p:txBody>
          <a:bodyPr wrap="square" anchor="t">
            <a:spAutoFit/>
          </a:bodyPr>
          <a:lstStyle>
            <a:lvl1pPr marL="0" indent="0">
              <a:buFont typeface="Arial"/>
              <a:buNone/>
              <a:defRPr b="0" i="0" cap="none" baseline="0">
                <a:solidFill>
                  <a:schemeClr val="tx1"/>
                </a:solidFill>
              </a:defRPr>
            </a:lvl1pPr>
          </a:lstStyle>
          <a:p>
            <a:pPr lvl="0"/>
            <a:r>
              <a:rPr lang="nl-BE"/>
              <a:t>Click to edit Master Subtitle Style</a:t>
            </a:r>
            <a:endParaRPr lang="en-US"/>
          </a:p>
        </p:txBody>
      </p:sp>
    </p:spTree>
    <p:extLst>
      <p:ext uri="{BB962C8B-B14F-4D97-AF65-F5344CB8AC3E}">
        <p14:creationId xmlns:p14="http://schemas.microsoft.com/office/powerpoint/2010/main" val="799595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umber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nl-BE"/>
              <a:t>Click to edit Master title style</a:t>
            </a:r>
            <a:endParaRPr lang="en-US"/>
          </a:p>
        </p:txBody>
      </p:sp>
      <p:sp>
        <p:nvSpPr>
          <p:cNvPr id="3" name="Slide Number Placeholder 2"/>
          <p:cNvSpPr>
            <a:spLocks noGrp="1"/>
          </p:cNvSpPr>
          <p:nvPr>
            <p:ph type="sldNum" sz="quarter" idx="10"/>
          </p:nvPr>
        </p:nvSpPr>
        <p:spPr/>
        <p:txBody>
          <a:bodyPr/>
          <a:lstStyle/>
          <a:p>
            <a:fld id="{8836216C-5BC3-7C44-80F8-E30864FFC228}" type="slidenum">
              <a:rPr lang="en-US" smtClean="0"/>
              <a:pPr/>
              <a:t>‹#›</a:t>
            </a:fld>
            <a:endParaRPr lang="en-US"/>
          </a:p>
        </p:txBody>
      </p:sp>
      <p:sp>
        <p:nvSpPr>
          <p:cNvPr id="4" name="Text Placeholder 4"/>
          <p:cNvSpPr>
            <a:spLocks noGrp="1"/>
          </p:cNvSpPr>
          <p:nvPr>
            <p:ph type="body" sz="quarter" idx="13" hasCustomPrompt="1"/>
          </p:nvPr>
        </p:nvSpPr>
        <p:spPr>
          <a:xfrm>
            <a:off x="160631" y="576315"/>
            <a:ext cx="8753475" cy="369332"/>
          </a:xfrm>
        </p:spPr>
        <p:txBody>
          <a:bodyPr wrap="square" anchor="t">
            <a:spAutoFit/>
          </a:bodyPr>
          <a:lstStyle>
            <a:lvl1pPr marL="0" indent="0">
              <a:buFont typeface="Arial"/>
              <a:buNone/>
              <a:defRPr b="0" i="0" cap="none" baseline="0">
                <a:solidFill>
                  <a:schemeClr val="tx1"/>
                </a:solidFill>
              </a:defRPr>
            </a:lvl1pPr>
          </a:lstStyle>
          <a:p>
            <a:pPr lvl="0"/>
            <a:r>
              <a:rPr lang="nl-BE"/>
              <a:t>Click to edit Master Subtitle Style</a:t>
            </a:r>
            <a:endParaRPr lang="en-US"/>
          </a:p>
        </p:txBody>
      </p:sp>
      <p:sp>
        <p:nvSpPr>
          <p:cNvPr id="6" name="Content Placeholder 5"/>
          <p:cNvSpPr>
            <a:spLocks noGrp="1"/>
          </p:cNvSpPr>
          <p:nvPr>
            <p:ph sz="quarter" idx="14"/>
          </p:nvPr>
        </p:nvSpPr>
        <p:spPr>
          <a:xfrm>
            <a:off x="160631" y="1071563"/>
            <a:ext cx="8753475" cy="3531870"/>
          </a:xfrm>
        </p:spPr>
        <p:txBody>
          <a:bodyPr/>
          <a:lstStyle>
            <a:lvl1pPr marL="322898" indent="-322898">
              <a:buClr>
                <a:schemeClr val="tx2"/>
              </a:buClr>
              <a:buSzPct val="65000"/>
              <a:buFont typeface="+mj-lt"/>
              <a:buAutoNum type="arabicPeriod"/>
              <a:defRPr b="0" i="0"/>
            </a:lvl1pPr>
            <a:lvl2pPr marL="645795" indent="-234315">
              <a:buClr>
                <a:schemeClr val="tx1"/>
              </a:buClr>
              <a:buSzPct val="65000"/>
              <a:buFont typeface="+mj-lt"/>
              <a:buAutoNum type="arabicPeriod"/>
              <a:defRPr b="0" i="0"/>
            </a:lvl2pPr>
            <a:lvl3pPr marL="1050132" indent="-227172">
              <a:buClr>
                <a:schemeClr val="tx2"/>
              </a:buClr>
              <a:buSzPct val="65000"/>
              <a:buFont typeface="+mj-lt"/>
              <a:buAutoNum type="arabicPeriod"/>
              <a:defRPr b="0" i="0"/>
            </a:lvl3pPr>
            <a:lvl4pPr marL="1454468" indent="-220028">
              <a:buClr>
                <a:schemeClr val="tx1"/>
              </a:buClr>
              <a:buSzPct val="65000"/>
              <a:buFont typeface="+mj-lt"/>
              <a:buAutoNum type="arabicPeriod"/>
              <a:defRPr b="0" i="0"/>
            </a:lvl4pPr>
            <a:lvl5pPr marL="1854518" indent="-208598">
              <a:buClr>
                <a:schemeClr val="tx2"/>
              </a:buClr>
              <a:buSzPct val="65000"/>
              <a:buFont typeface="+mj-lt"/>
              <a:buAutoNum type="arabicPeriod"/>
              <a:defRPr b="0" i="0"/>
            </a:lvl5pPr>
          </a:lstStyle>
          <a:p>
            <a:pPr lvl="0"/>
            <a:r>
              <a:rPr lang="nl-BE"/>
              <a:t>Click to edit Master text styles</a:t>
            </a:r>
          </a:p>
          <a:p>
            <a:pPr lvl="1"/>
            <a:r>
              <a:rPr lang="nl-BE"/>
              <a:t>Second level</a:t>
            </a:r>
          </a:p>
          <a:p>
            <a:pPr lvl="2"/>
            <a:r>
              <a:rPr lang="nl-BE"/>
              <a:t>Third level</a:t>
            </a:r>
          </a:p>
          <a:p>
            <a:pPr lvl="3"/>
            <a:r>
              <a:rPr lang="nl-BE"/>
              <a:t>Fourth level</a:t>
            </a:r>
          </a:p>
          <a:p>
            <a:pPr lvl="4"/>
            <a:r>
              <a:rPr lang="nl-BE"/>
              <a:t>Fifth level</a:t>
            </a:r>
            <a:endParaRPr lang="en-US"/>
          </a:p>
        </p:txBody>
      </p:sp>
    </p:spTree>
    <p:extLst>
      <p:ext uri="{BB962C8B-B14F-4D97-AF65-F5344CB8AC3E}">
        <p14:creationId xmlns:p14="http://schemas.microsoft.com/office/powerpoint/2010/main" val="2063513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ouble 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nl-BE"/>
              <a:t>Click to edit Master title style</a:t>
            </a:r>
            <a:endParaRPr lang="en-US"/>
          </a:p>
        </p:txBody>
      </p:sp>
      <p:sp>
        <p:nvSpPr>
          <p:cNvPr id="3" name="Content Placeholder 2"/>
          <p:cNvSpPr>
            <a:spLocks noGrp="1"/>
          </p:cNvSpPr>
          <p:nvPr>
            <p:ph idx="1"/>
          </p:nvPr>
        </p:nvSpPr>
        <p:spPr>
          <a:xfrm>
            <a:off x="160630" y="1078230"/>
            <a:ext cx="4318000" cy="3524250"/>
          </a:xfrm>
        </p:spPr>
        <p:txBody>
          <a:bodyPr/>
          <a:lstStyle>
            <a:lvl1pPr>
              <a:defRPr b="0" i="0"/>
            </a:lvl1pPr>
            <a:lvl2pPr>
              <a:defRPr b="0" i="0"/>
            </a:lvl2pPr>
            <a:lvl3pPr>
              <a:defRPr b="0" i="0"/>
            </a:lvl3pPr>
            <a:lvl4pPr>
              <a:defRPr b="0" i="0"/>
            </a:lvl4pPr>
            <a:lvl5pPr>
              <a:defRPr b="0" i="0"/>
            </a:lvl5pPr>
          </a:lstStyle>
          <a:p>
            <a:pPr lvl="0"/>
            <a:r>
              <a:rPr lang="nl-BE"/>
              <a:t>Click to edit Master text styles</a:t>
            </a:r>
          </a:p>
          <a:p>
            <a:pPr lvl="1"/>
            <a:r>
              <a:rPr lang="nl-BE"/>
              <a:t>Second level</a:t>
            </a:r>
          </a:p>
          <a:p>
            <a:pPr lvl="2"/>
            <a:r>
              <a:rPr lang="nl-BE"/>
              <a:t>Third level</a:t>
            </a:r>
          </a:p>
          <a:p>
            <a:pPr lvl="3"/>
            <a:r>
              <a:rPr lang="nl-BE"/>
              <a:t>Fourth level</a:t>
            </a:r>
          </a:p>
          <a:p>
            <a:pPr lvl="4"/>
            <a:r>
              <a:rPr lang="nl-BE"/>
              <a:t>Fifth level</a:t>
            </a:r>
            <a:endParaRPr lang="en-US"/>
          </a:p>
        </p:txBody>
      </p:sp>
      <p:sp>
        <p:nvSpPr>
          <p:cNvPr id="6" name="Slide Number Placeholder 5"/>
          <p:cNvSpPr>
            <a:spLocks noGrp="1"/>
          </p:cNvSpPr>
          <p:nvPr>
            <p:ph type="sldNum" sz="quarter" idx="12"/>
          </p:nvPr>
        </p:nvSpPr>
        <p:spPr/>
        <p:txBody>
          <a:bodyPr/>
          <a:lstStyle/>
          <a:p>
            <a:fld id="{8836216C-5BC3-7C44-80F8-E30864FFC228}" type="slidenum">
              <a:rPr lang="en-US" smtClean="0"/>
              <a:t>‹#›</a:t>
            </a:fld>
            <a:endParaRPr lang="en-US"/>
          </a:p>
        </p:txBody>
      </p:sp>
      <p:sp>
        <p:nvSpPr>
          <p:cNvPr id="5" name="Text Placeholder 4"/>
          <p:cNvSpPr>
            <a:spLocks noGrp="1"/>
          </p:cNvSpPr>
          <p:nvPr>
            <p:ph type="body" sz="quarter" idx="13" hasCustomPrompt="1"/>
          </p:nvPr>
        </p:nvSpPr>
        <p:spPr>
          <a:xfrm>
            <a:off x="160631" y="576315"/>
            <a:ext cx="8753475" cy="369332"/>
          </a:xfrm>
        </p:spPr>
        <p:txBody>
          <a:bodyPr wrap="square" anchor="t">
            <a:spAutoFit/>
          </a:bodyPr>
          <a:lstStyle>
            <a:lvl1pPr marL="0" indent="0">
              <a:buFont typeface="Arial"/>
              <a:buNone/>
              <a:defRPr b="0" i="0" cap="none" baseline="0">
                <a:solidFill>
                  <a:schemeClr val="tx1"/>
                </a:solidFill>
              </a:defRPr>
            </a:lvl1pPr>
          </a:lstStyle>
          <a:p>
            <a:pPr lvl="0"/>
            <a:r>
              <a:rPr lang="nl-BE"/>
              <a:t>Click to edit Master Subtitle Style</a:t>
            </a:r>
            <a:endParaRPr lang="en-US"/>
          </a:p>
        </p:txBody>
      </p:sp>
      <p:sp>
        <p:nvSpPr>
          <p:cNvPr id="7" name="Content Placeholder 2"/>
          <p:cNvSpPr>
            <a:spLocks noGrp="1"/>
          </p:cNvSpPr>
          <p:nvPr>
            <p:ph idx="14"/>
          </p:nvPr>
        </p:nvSpPr>
        <p:spPr>
          <a:xfrm>
            <a:off x="4587876" y="1078230"/>
            <a:ext cx="4318000" cy="3524250"/>
          </a:xfrm>
        </p:spPr>
        <p:txBody>
          <a:bodyPr/>
          <a:lstStyle>
            <a:lvl1pPr>
              <a:defRPr b="0" i="0"/>
            </a:lvl1pPr>
            <a:lvl2pPr>
              <a:defRPr b="0" i="0"/>
            </a:lvl2pPr>
            <a:lvl3pPr>
              <a:defRPr b="0" i="0"/>
            </a:lvl3pPr>
            <a:lvl4pPr>
              <a:defRPr b="0" i="0"/>
            </a:lvl4pPr>
            <a:lvl5pPr>
              <a:defRPr b="0" i="0"/>
            </a:lvl5pPr>
          </a:lstStyle>
          <a:p>
            <a:pPr lvl="0"/>
            <a:r>
              <a:rPr lang="nl-BE"/>
              <a:t>Click to edit Master text styles</a:t>
            </a:r>
          </a:p>
          <a:p>
            <a:pPr lvl="1"/>
            <a:r>
              <a:rPr lang="nl-BE"/>
              <a:t>Second level</a:t>
            </a:r>
          </a:p>
          <a:p>
            <a:pPr lvl="2"/>
            <a:r>
              <a:rPr lang="nl-BE"/>
              <a:t>Third level</a:t>
            </a:r>
          </a:p>
          <a:p>
            <a:pPr lvl="3"/>
            <a:r>
              <a:rPr lang="nl-BE"/>
              <a:t>Fourth level</a:t>
            </a:r>
          </a:p>
          <a:p>
            <a:pPr lvl="4"/>
            <a:r>
              <a:rPr lang="nl-BE"/>
              <a:t>Fifth level</a:t>
            </a:r>
            <a:endParaRPr lang="en-US"/>
          </a:p>
        </p:txBody>
      </p:sp>
    </p:spTree>
    <p:extLst>
      <p:ext uri="{BB962C8B-B14F-4D97-AF65-F5344CB8AC3E}">
        <p14:creationId xmlns:p14="http://schemas.microsoft.com/office/powerpoint/2010/main" val="1250417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number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nl-BE"/>
              <a:t>Click to edit Master title style</a:t>
            </a:r>
            <a:endParaRPr lang="en-US"/>
          </a:p>
        </p:txBody>
      </p:sp>
      <p:sp>
        <p:nvSpPr>
          <p:cNvPr id="6" name="Slide Number Placeholder 5"/>
          <p:cNvSpPr>
            <a:spLocks noGrp="1"/>
          </p:cNvSpPr>
          <p:nvPr>
            <p:ph type="sldNum" sz="quarter" idx="12"/>
          </p:nvPr>
        </p:nvSpPr>
        <p:spPr/>
        <p:txBody>
          <a:bodyPr/>
          <a:lstStyle/>
          <a:p>
            <a:fld id="{8836216C-5BC3-7C44-80F8-E30864FFC228}" type="slidenum">
              <a:rPr lang="en-US" smtClean="0"/>
              <a:t>‹#›</a:t>
            </a:fld>
            <a:endParaRPr lang="en-US"/>
          </a:p>
        </p:txBody>
      </p:sp>
      <p:sp>
        <p:nvSpPr>
          <p:cNvPr id="5" name="Text Placeholder 4"/>
          <p:cNvSpPr>
            <a:spLocks noGrp="1"/>
          </p:cNvSpPr>
          <p:nvPr>
            <p:ph type="body" sz="quarter" idx="13" hasCustomPrompt="1"/>
          </p:nvPr>
        </p:nvSpPr>
        <p:spPr>
          <a:xfrm>
            <a:off x="160631" y="576315"/>
            <a:ext cx="8753475" cy="369332"/>
          </a:xfrm>
        </p:spPr>
        <p:txBody>
          <a:bodyPr wrap="square" anchor="t">
            <a:spAutoFit/>
          </a:bodyPr>
          <a:lstStyle>
            <a:lvl1pPr marL="0" indent="0">
              <a:buFont typeface="Arial"/>
              <a:buNone/>
              <a:defRPr lang="en-US" sz="1800" b="0" i="0" kern="1200" cap="none" baseline="0" dirty="0">
                <a:solidFill>
                  <a:schemeClr val="tx1"/>
                </a:solidFill>
                <a:latin typeface="Gill Sans MT" panose="020B0502020104020203" pitchFamily="34" charset="77"/>
                <a:ea typeface="+mn-ea"/>
                <a:cs typeface="Gill Sans" panose="020B0502020104020203" pitchFamily="34" charset="-79"/>
              </a:defRPr>
            </a:lvl1pPr>
          </a:lstStyle>
          <a:p>
            <a:pPr marL="0" lvl="0" indent="0" algn="l" defTabSz="411480" rtl="0" eaLnBrk="1" latinLnBrk="0" hangingPunct="1">
              <a:spcBef>
                <a:spcPct val="20000"/>
              </a:spcBef>
              <a:buClr>
                <a:schemeClr val="tx1"/>
              </a:buClr>
              <a:buSzPct val="70000"/>
              <a:buFont typeface="Arial"/>
              <a:buNone/>
            </a:pPr>
            <a:r>
              <a:rPr lang="nl-BE"/>
              <a:t>Click to edit Master Subtitle Style</a:t>
            </a:r>
            <a:endParaRPr lang="en-US"/>
          </a:p>
        </p:txBody>
      </p:sp>
      <p:sp>
        <p:nvSpPr>
          <p:cNvPr id="7" name="Content Placeholder 5"/>
          <p:cNvSpPr>
            <a:spLocks noGrp="1"/>
          </p:cNvSpPr>
          <p:nvPr>
            <p:ph sz="quarter" idx="14"/>
          </p:nvPr>
        </p:nvSpPr>
        <p:spPr>
          <a:xfrm>
            <a:off x="160631" y="1071563"/>
            <a:ext cx="4368652" cy="3531870"/>
          </a:xfrm>
        </p:spPr>
        <p:txBody>
          <a:bodyPr/>
          <a:lstStyle>
            <a:lvl1pPr marL="322898" indent="-322898">
              <a:buClr>
                <a:schemeClr val="tx2"/>
              </a:buClr>
              <a:buSzPct val="65000"/>
              <a:buFont typeface="+mj-lt"/>
              <a:buAutoNum type="arabicPeriod"/>
              <a:defRPr b="0" i="0"/>
            </a:lvl1pPr>
            <a:lvl2pPr marL="645795" indent="-234315">
              <a:buClr>
                <a:schemeClr val="tx1"/>
              </a:buClr>
              <a:buSzPct val="65000"/>
              <a:buFont typeface="+mj-lt"/>
              <a:buAutoNum type="arabicPeriod"/>
              <a:defRPr b="0" i="0"/>
            </a:lvl2pPr>
            <a:lvl3pPr marL="1050132" indent="-227172">
              <a:buClr>
                <a:schemeClr val="tx2"/>
              </a:buClr>
              <a:buSzPct val="65000"/>
              <a:buFont typeface="+mj-lt"/>
              <a:buAutoNum type="arabicPeriod"/>
              <a:defRPr b="0" i="0"/>
            </a:lvl3pPr>
            <a:lvl4pPr marL="1454468" indent="-220028">
              <a:buClr>
                <a:schemeClr val="tx1"/>
              </a:buClr>
              <a:buSzPct val="65000"/>
              <a:buFont typeface="+mj-lt"/>
              <a:buAutoNum type="arabicPeriod"/>
              <a:defRPr b="0" i="0"/>
            </a:lvl4pPr>
            <a:lvl5pPr marL="1854518" indent="-208598">
              <a:buClr>
                <a:schemeClr val="tx2"/>
              </a:buClr>
              <a:buSzPct val="65000"/>
              <a:buFont typeface="+mj-lt"/>
              <a:buAutoNum type="arabicPeriod"/>
              <a:defRPr b="0" i="0"/>
            </a:lvl5pPr>
          </a:lstStyle>
          <a:p>
            <a:pPr lvl="0"/>
            <a:r>
              <a:rPr lang="nl-BE"/>
              <a:t>Click to edit Master text styles</a:t>
            </a:r>
          </a:p>
          <a:p>
            <a:pPr lvl="1"/>
            <a:r>
              <a:rPr lang="nl-BE"/>
              <a:t>Second level</a:t>
            </a:r>
          </a:p>
          <a:p>
            <a:pPr lvl="2"/>
            <a:r>
              <a:rPr lang="nl-BE"/>
              <a:t>Third level</a:t>
            </a:r>
          </a:p>
          <a:p>
            <a:pPr lvl="3"/>
            <a:r>
              <a:rPr lang="nl-BE"/>
              <a:t>Fourth level</a:t>
            </a:r>
          </a:p>
          <a:p>
            <a:pPr lvl="4"/>
            <a:r>
              <a:rPr lang="nl-BE"/>
              <a:t>Fifth level</a:t>
            </a:r>
            <a:endParaRPr lang="en-US"/>
          </a:p>
        </p:txBody>
      </p:sp>
      <p:sp>
        <p:nvSpPr>
          <p:cNvPr id="11" name="Content Placeholder 5"/>
          <p:cNvSpPr>
            <a:spLocks noGrp="1"/>
          </p:cNvSpPr>
          <p:nvPr>
            <p:ph sz="quarter" idx="15"/>
          </p:nvPr>
        </p:nvSpPr>
        <p:spPr>
          <a:xfrm>
            <a:off x="4545453" y="1071563"/>
            <a:ext cx="4368652" cy="3531870"/>
          </a:xfrm>
        </p:spPr>
        <p:txBody>
          <a:bodyPr/>
          <a:lstStyle>
            <a:lvl1pPr marL="322898" indent="-322898">
              <a:buClr>
                <a:schemeClr val="tx2"/>
              </a:buClr>
              <a:buSzPct val="65000"/>
              <a:buFont typeface="+mj-lt"/>
              <a:buAutoNum type="arabicPeriod"/>
              <a:defRPr b="0" i="0"/>
            </a:lvl1pPr>
            <a:lvl2pPr marL="645795" indent="-234315">
              <a:buClr>
                <a:schemeClr val="tx1"/>
              </a:buClr>
              <a:buSzPct val="65000"/>
              <a:buFont typeface="+mj-lt"/>
              <a:buAutoNum type="arabicPeriod"/>
              <a:defRPr b="0" i="0"/>
            </a:lvl2pPr>
            <a:lvl3pPr marL="1050132" indent="-227172">
              <a:buClr>
                <a:schemeClr val="tx2"/>
              </a:buClr>
              <a:buSzPct val="65000"/>
              <a:buFont typeface="+mj-lt"/>
              <a:buAutoNum type="arabicPeriod"/>
              <a:defRPr b="0" i="0"/>
            </a:lvl3pPr>
            <a:lvl4pPr marL="1454468" indent="-220028">
              <a:buClr>
                <a:schemeClr val="tx1"/>
              </a:buClr>
              <a:buSzPct val="65000"/>
              <a:buFont typeface="+mj-lt"/>
              <a:buAutoNum type="arabicPeriod"/>
              <a:defRPr b="0" i="0"/>
            </a:lvl4pPr>
            <a:lvl5pPr marL="1854518" indent="-208598">
              <a:buClr>
                <a:schemeClr val="tx2"/>
              </a:buClr>
              <a:buSzPct val="65000"/>
              <a:buFont typeface="+mj-lt"/>
              <a:buAutoNum type="arabicPeriod"/>
              <a:defRPr b="0" i="0"/>
            </a:lvl5pPr>
          </a:lstStyle>
          <a:p>
            <a:pPr lvl="0"/>
            <a:r>
              <a:rPr lang="nl-BE"/>
              <a:t>Click to edit Master text styles</a:t>
            </a:r>
          </a:p>
          <a:p>
            <a:pPr lvl="1"/>
            <a:r>
              <a:rPr lang="nl-BE"/>
              <a:t>Second level</a:t>
            </a:r>
          </a:p>
          <a:p>
            <a:pPr lvl="2"/>
            <a:r>
              <a:rPr lang="nl-BE"/>
              <a:t>Third level</a:t>
            </a:r>
          </a:p>
          <a:p>
            <a:pPr lvl="3"/>
            <a:r>
              <a:rPr lang="nl-BE"/>
              <a:t>Fourth level</a:t>
            </a:r>
          </a:p>
          <a:p>
            <a:pPr lvl="4"/>
            <a:r>
              <a:rPr lang="nl-BE"/>
              <a:t>Fifth level</a:t>
            </a:r>
            <a:endParaRPr lang="en-US"/>
          </a:p>
        </p:txBody>
      </p:sp>
    </p:spTree>
    <p:extLst>
      <p:ext uri="{BB962C8B-B14F-4D97-AF65-F5344CB8AC3E}">
        <p14:creationId xmlns:p14="http://schemas.microsoft.com/office/powerpoint/2010/main" val="1274575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nl-BE"/>
              <a:t>Click to edit Master title style</a:t>
            </a:r>
            <a:endParaRPr lang="en-US"/>
          </a:p>
        </p:txBody>
      </p:sp>
      <p:sp>
        <p:nvSpPr>
          <p:cNvPr id="5" name="Slide Number Placeholder 4"/>
          <p:cNvSpPr>
            <a:spLocks noGrp="1"/>
          </p:cNvSpPr>
          <p:nvPr>
            <p:ph type="sldNum" sz="quarter" idx="12"/>
          </p:nvPr>
        </p:nvSpPr>
        <p:spPr/>
        <p:txBody>
          <a:bodyPr/>
          <a:lstStyle/>
          <a:p>
            <a:fld id="{8836216C-5BC3-7C44-80F8-E30864FFC228}" type="slidenum">
              <a:rPr lang="en-US" smtClean="0"/>
              <a:t>‹#›</a:t>
            </a:fld>
            <a:endParaRPr lang="en-US"/>
          </a:p>
        </p:txBody>
      </p:sp>
      <p:sp>
        <p:nvSpPr>
          <p:cNvPr id="6" name="Text Placeholder 4"/>
          <p:cNvSpPr>
            <a:spLocks noGrp="1"/>
          </p:cNvSpPr>
          <p:nvPr>
            <p:ph type="body" sz="quarter" idx="14" hasCustomPrompt="1"/>
          </p:nvPr>
        </p:nvSpPr>
        <p:spPr>
          <a:xfrm>
            <a:off x="160631" y="576315"/>
            <a:ext cx="8753475" cy="369332"/>
          </a:xfrm>
        </p:spPr>
        <p:txBody>
          <a:bodyPr wrap="square" anchor="t">
            <a:spAutoFit/>
          </a:bodyPr>
          <a:lstStyle>
            <a:lvl1pPr marL="0" indent="0">
              <a:buFont typeface="Arial"/>
              <a:buNone/>
              <a:defRPr lang="en-US" sz="1800" b="0" i="0" kern="1200" cap="none" baseline="0" dirty="0">
                <a:solidFill>
                  <a:schemeClr val="tx1"/>
                </a:solidFill>
                <a:latin typeface="Gill Sans MT" panose="020B0502020104020203" pitchFamily="34" charset="77"/>
                <a:ea typeface="+mn-ea"/>
                <a:cs typeface="Gill Sans" panose="020B0502020104020203" pitchFamily="34" charset="-79"/>
              </a:defRPr>
            </a:lvl1pPr>
          </a:lstStyle>
          <a:p>
            <a:pPr marL="0" lvl="0" indent="0" algn="l" defTabSz="411480" rtl="0" eaLnBrk="1" latinLnBrk="0" hangingPunct="1">
              <a:spcBef>
                <a:spcPct val="20000"/>
              </a:spcBef>
              <a:buClr>
                <a:schemeClr val="tx1"/>
              </a:buClr>
              <a:buSzPct val="70000"/>
              <a:buFont typeface="Arial"/>
              <a:buNone/>
            </a:pPr>
            <a:r>
              <a:rPr lang="nl-BE"/>
              <a:t>Click to edit Master Subtitle Style</a:t>
            </a:r>
            <a:endParaRPr lang="en-US"/>
          </a:p>
        </p:txBody>
      </p:sp>
    </p:spTree>
    <p:extLst>
      <p:ext uri="{BB962C8B-B14F-4D97-AF65-F5344CB8AC3E}">
        <p14:creationId xmlns:p14="http://schemas.microsoft.com/office/powerpoint/2010/main" val="36350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836216C-5BC3-7C44-80F8-E30864FFC228}" type="slidenum">
              <a:rPr lang="en-US" smtClean="0"/>
              <a:t>‹#›</a:t>
            </a:fld>
            <a:endParaRPr lang="en-US"/>
          </a:p>
        </p:txBody>
      </p:sp>
    </p:spTree>
    <p:extLst>
      <p:ext uri="{BB962C8B-B14F-4D97-AF65-F5344CB8AC3E}">
        <p14:creationId xmlns:p14="http://schemas.microsoft.com/office/powerpoint/2010/main" val="207250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1"/>
        </a:solidFill>
        <a:effectLst/>
      </p:bgPr>
    </p:bg>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361456" y="1245126"/>
            <a:ext cx="8421086" cy="430887"/>
          </a:xfrm>
        </p:spPr>
        <p:txBody>
          <a:bodyPr wrap="square" lIns="108000" rIns="0" anchor="b">
            <a:spAutoFit/>
          </a:bodyPr>
          <a:lstStyle>
            <a:lvl1pPr algn="ctr">
              <a:defRPr sz="2200" b="0" i="0" baseline="0">
                <a:solidFill>
                  <a:schemeClr val="tx2"/>
                </a:solidFill>
              </a:defRPr>
            </a:lvl1pPr>
          </a:lstStyle>
          <a:p>
            <a:r>
              <a:rPr lang="nl-BE"/>
              <a:t>A short teasing title can be put here</a:t>
            </a:r>
            <a:endParaRPr lang="en-US"/>
          </a:p>
        </p:txBody>
      </p:sp>
      <p:sp>
        <p:nvSpPr>
          <p:cNvPr id="5" name="Subtitle 2"/>
          <p:cNvSpPr>
            <a:spLocks noGrp="1"/>
          </p:cNvSpPr>
          <p:nvPr>
            <p:ph type="subTitle" idx="1" hasCustomPrompt="1"/>
          </p:nvPr>
        </p:nvSpPr>
        <p:spPr>
          <a:xfrm>
            <a:off x="266206" y="1830317"/>
            <a:ext cx="8421089" cy="369332"/>
          </a:xfrm>
        </p:spPr>
        <p:txBody>
          <a:bodyPr wrap="square" lIns="108000" rIns="0" anchor="t">
            <a:spAutoFit/>
          </a:bodyPr>
          <a:lstStyle>
            <a:lvl1pPr marL="0" indent="0" algn="ctr">
              <a:buNone/>
              <a:defRPr sz="1800" b="0" i="0" cap="none" baseline="0">
                <a:solidFill>
                  <a:schemeClr val="tx1"/>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nl-BE"/>
              <a:t>Your name here</a:t>
            </a:r>
            <a:endParaRPr lang="en-US"/>
          </a:p>
        </p:txBody>
      </p:sp>
    </p:spTree>
    <p:extLst>
      <p:ext uri="{BB962C8B-B14F-4D97-AF65-F5344CB8AC3E}">
        <p14:creationId xmlns:p14="http://schemas.microsoft.com/office/powerpoint/2010/main" val="1482456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p>
        </p:txBody>
      </p:sp>
      <p:sp>
        <p:nvSpPr>
          <p:cNvPr id="3" name="Content Placeholder 2"/>
          <p:cNvSpPr>
            <a:spLocks noGrp="1"/>
          </p:cNvSpPr>
          <p:nvPr>
            <p:ph idx="1"/>
          </p:nvPr>
        </p:nvSpPr>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8836216C-5BC3-7C44-80F8-E30864FFC228}" type="slidenum">
              <a:rPr lang="en-US" smtClean="0"/>
              <a:t>‹#›</a:t>
            </a:fld>
            <a:endParaRPr lang="en-US"/>
          </a:p>
        </p:txBody>
      </p:sp>
      <p:sp>
        <p:nvSpPr>
          <p:cNvPr id="5" name="Text Placeholder 4"/>
          <p:cNvSpPr>
            <a:spLocks noGrp="1"/>
          </p:cNvSpPr>
          <p:nvPr>
            <p:ph type="body" sz="quarter" idx="13" hasCustomPrompt="1"/>
          </p:nvPr>
        </p:nvSpPr>
        <p:spPr>
          <a:xfrm>
            <a:off x="160630" y="576315"/>
            <a:ext cx="8753475" cy="369332"/>
          </a:xfrm>
        </p:spPr>
        <p:txBody>
          <a:bodyPr wrap="square" anchor="t">
            <a:spAutoFit/>
          </a:bodyPr>
          <a:lstStyle>
            <a:lvl1pPr marL="0" indent="0">
              <a:buFont typeface="Arial"/>
              <a:buNone/>
              <a:defRPr b="0" i="0" cap="none" baseline="0">
                <a:solidFill>
                  <a:schemeClr val="tx1"/>
                </a:solidFill>
              </a:defRPr>
            </a:lvl1pPr>
          </a:lstStyle>
          <a:p>
            <a:pPr lvl="0"/>
            <a:r>
              <a:rPr lang="nl-BE"/>
              <a:t>Click to edit Master Subtitle Style</a:t>
            </a:r>
            <a:endParaRPr lang="en-US"/>
          </a:p>
        </p:txBody>
      </p:sp>
    </p:spTree>
    <p:extLst>
      <p:ext uri="{BB962C8B-B14F-4D97-AF65-F5344CB8AC3E}">
        <p14:creationId xmlns:p14="http://schemas.microsoft.com/office/powerpoint/2010/main" val="1177171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Number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p>
        </p:txBody>
      </p:sp>
      <p:sp>
        <p:nvSpPr>
          <p:cNvPr id="3" name="Slide Number Placeholder 2"/>
          <p:cNvSpPr>
            <a:spLocks noGrp="1"/>
          </p:cNvSpPr>
          <p:nvPr>
            <p:ph type="sldNum" sz="quarter" idx="10"/>
          </p:nvPr>
        </p:nvSpPr>
        <p:spPr/>
        <p:txBody>
          <a:bodyPr/>
          <a:lstStyle/>
          <a:p>
            <a:fld id="{8836216C-5BC3-7C44-80F8-E30864FFC228}" type="slidenum">
              <a:rPr lang="en-US" smtClean="0"/>
              <a:pPr/>
              <a:t>‹#›</a:t>
            </a:fld>
            <a:endParaRPr lang="en-US"/>
          </a:p>
        </p:txBody>
      </p:sp>
      <p:sp>
        <p:nvSpPr>
          <p:cNvPr id="4" name="Text Placeholder 4"/>
          <p:cNvSpPr>
            <a:spLocks noGrp="1"/>
          </p:cNvSpPr>
          <p:nvPr>
            <p:ph type="body" sz="quarter" idx="13" hasCustomPrompt="1"/>
          </p:nvPr>
        </p:nvSpPr>
        <p:spPr>
          <a:xfrm>
            <a:off x="160631" y="576315"/>
            <a:ext cx="8753475" cy="369332"/>
          </a:xfrm>
        </p:spPr>
        <p:txBody>
          <a:bodyPr wrap="square" anchor="t">
            <a:spAutoFit/>
          </a:bodyPr>
          <a:lstStyle>
            <a:lvl1pPr marL="0" indent="0">
              <a:buFont typeface="Arial"/>
              <a:buNone/>
              <a:defRPr b="0" i="0" cap="none" baseline="0">
                <a:solidFill>
                  <a:schemeClr val="tx1"/>
                </a:solidFill>
              </a:defRPr>
            </a:lvl1pPr>
          </a:lstStyle>
          <a:p>
            <a:pPr lvl="0"/>
            <a:r>
              <a:rPr lang="nl-BE"/>
              <a:t>Click to edit Master Subtitle Style</a:t>
            </a:r>
            <a:endParaRPr lang="en-US"/>
          </a:p>
        </p:txBody>
      </p:sp>
      <p:sp>
        <p:nvSpPr>
          <p:cNvPr id="6" name="Content Placeholder 5"/>
          <p:cNvSpPr>
            <a:spLocks noGrp="1"/>
          </p:cNvSpPr>
          <p:nvPr>
            <p:ph sz="quarter" idx="14"/>
          </p:nvPr>
        </p:nvSpPr>
        <p:spPr>
          <a:xfrm>
            <a:off x="160631" y="1071563"/>
            <a:ext cx="8753475" cy="3531870"/>
          </a:xfrm>
        </p:spPr>
        <p:txBody>
          <a:bodyPr/>
          <a:lstStyle>
            <a:lvl1pPr marL="322898" indent="-322898">
              <a:buClr>
                <a:schemeClr val="tx2"/>
              </a:buClr>
              <a:buSzPct val="65000"/>
              <a:buFont typeface="+mj-lt"/>
              <a:buAutoNum type="arabicPeriod"/>
              <a:defRPr b="0" i="0"/>
            </a:lvl1pPr>
            <a:lvl2pPr marL="645795" indent="-234315">
              <a:buClr>
                <a:schemeClr val="tx1"/>
              </a:buClr>
              <a:buSzPct val="65000"/>
              <a:buFont typeface="+mj-lt"/>
              <a:buAutoNum type="arabicPeriod"/>
              <a:defRPr b="0" i="0"/>
            </a:lvl2pPr>
            <a:lvl3pPr marL="1050132" indent="-227172">
              <a:buClr>
                <a:schemeClr val="tx2"/>
              </a:buClr>
              <a:buSzPct val="65000"/>
              <a:buFont typeface="+mj-lt"/>
              <a:buAutoNum type="arabicPeriod"/>
              <a:defRPr b="0" i="0"/>
            </a:lvl3pPr>
            <a:lvl4pPr marL="1454468" indent="-220028">
              <a:buClr>
                <a:schemeClr val="tx1"/>
              </a:buClr>
              <a:buSzPct val="65000"/>
              <a:buFont typeface="+mj-lt"/>
              <a:buAutoNum type="arabicPeriod"/>
              <a:defRPr b="0" i="0"/>
            </a:lvl4pPr>
            <a:lvl5pPr marL="1854518" indent="-208598">
              <a:buClr>
                <a:schemeClr val="tx2"/>
              </a:buClr>
              <a:buSzPct val="65000"/>
              <a:buFont typeface="+mj-lt"/>
              <a:buAutoNum type="arabicPeriod"/>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9540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ouble 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p>
        </p:txBody>
      </p:sp>
      <p:sp>
        <p:nvSpPr>
          <p:cNvPr id="3" name="Content Placeholder 2"/>
          <p:cNvSpPr>
            <a:spLocks noGrp="1"/>
          </p:cNvSpPr>
          <p:nvPr>
            <p:ph idx="1"/>
          </p:nvPr>
        </p:nvSpPr>
        <p:spPr>
          <a:xfrm>
            <a:off x="160630" y="1078230"/>
            <a:ext cx="4318000" cy="3524250"/>
          </a:xfr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8836216C-5BC3-7C44-80F8-E30864FFC228}" type="slidenum">
              <a:rPr lang="en-US" smtClean="0"/>
              <a:t>‹#›</a:t>
            </a:fld>
            <a:endParaRPr lang="en-US"/>
          </a:p>
        </p:txBody>
      </p:sp>
      <p:sp>
        <p:nvSpPr>
          <p:cNvPr id="5" name="Text Placeholder 4"/>
          <p:cNvSpPr>
            <a:spLocks noGrp="1"/>
          </p:cNvSpPr>
          <p:nvPr>
            <p:ph type="body" sz="quarter" idx="13" hasCustomPrompt="1"/>
          </p:nvPr>
        </p:nvSpPr>
        <p:spPr>
          <a:xfrm>
            <a:off x="160631" y="576315"/>
            <a:ext cx="8753475" cy="369332"/>
          </a:xfrm>
        </p:spPr>
        <p:txBody>
          <a:bodyPr wrap="square" anchor="t">
            <a:spAutoFit/>
          </a:bodyPr>
          <a:lstStyle>
            <a:lvl1pPr marL="0" indent="0">
              <a:buFont typeface="Arial"/>
              <a:buNone/>
              <a:defRPr b="0" i="0" cap="none" baseline="0">
                <a:solidFill>
                  <a:schemeClr val="tx1"/>
                </a:solidFill>
              </a:defRPr>
            </a:lvl1pPr>
          </a:lstStyle>
          <a:p>
            <a:pPr lvl="0"/>
            <a:r>
              <a:rPr lang="nl-BE"/>
              <a:t>Click to edit Master Subtitle Style</a:t>
            </a:r>
            <a:endParaRPr lang="en-US"/>
          </a:p>
        </p:txBody>
      </p:sp>
      <p:sp>
        <p:nvSpPr>
          <p:cNvPr id="7" name="Content Placeholder 2"/>
          <p:cNvSpPr>
            <a:spLocks noGrp="1"/>
          </p:cNvSpPr>
          <p:nvPr>
            <p:ph idx="14"/>
          </p:nvPr>
        </p:nvSpPr>
        <p:spPr>
          <a:xfrm>
            <a:off x="4587876" y="1078230"/>
            <a:ext cx="4318000" cy="3524250"/>
          </a:xfr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0086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ouble number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p>
        </p:txBody>
      </p:sp>
      <p:sp>
        <p:nvSpPr>
          <p:cNvPr id="6" name="Slide Number Placeholder 5"/>
          <p:cNvSpPr>
            <a:spLocks noGrp="1"/>
          </p:cNvSpPr>
          <p:nvPr>
            <p:ph type="sldNum" sz="quarter" idx="12"/>
          </p:nvPr>
        </p:nvSpPr>
        <p:spPr/>
        <p:txBody>
          <a:bodyPr/>
          <a:lstStyle/>
          <a:p>
            <a:fld id="{8836216C-5BC3-7C44-80F8-E30864FFC228}" type="slidenum">
              <a:rPr lang="en-US" smtClean="0"/>
              <a:t>‹#›</a:t>
            </a:fld>
            <a:endParaRPr lang="en-US"/>
          </a:p>
        </p:txBody>
      </p:sp>
      <p:sp>
        <p:nvSpPr>
          <p:cNvPr id="5" name="Text Placeholder 4"/>
          <p:cNvSpPr>
            <a:spLocks noGrp="1"/>
          </p:cNvSpPr>
          <p:nvPr>
            <p:ph type="body" sz="quarter" idx="13" hasCustomPrompt="1"/>
          </p:nvPr>
        </p:nvSpPr>
        <p:spPr>
          <a:xfrm>
            <a:off x="160631" y="576315"/>
            <a:ext cx="8753475" cy="369332"/>
          </a:xfrm>
        </p:spPr>
        <p:txBody>
          <a:bodyPr wrap="square" anchor="t">
            <a:spAutoFit/>
          </a:bodyPr>
          <a:lstStyle>
            <a:lvl1pPr marL="0" indent="0">
              <a:buFont typeface="Arial"/>
              <a:buNone/>
              <a:defRPr lang="en-US" sz="1800" b="0" i="0" kern="1200" cap="none" baseline="0" dirty="0">
                <a:solidFill>
                  <a:schemeClr val="tx1"/>
                </a:solidFill>
                <a:latin typeface="Gill Sans MT" panose="020B0502020104020203" pitchFamily="34" charset="77"/>
                <a:ea typeface="+mn-ea"/>
                <a:cs typeface="Gill Sans" panose="020B0502020104020203" pitchFamily="34" charset="-79"/>
              </a:defRPr>
            </a:lvl1pPr>
          </a:lstStyle>
          <a:p>
            <a:pPr marL="0" lvl="0" indent="0" algn="l" defTabSz="411480" rtl="0" eaLnBrk="1" latinLnBrk="0" hangingPunct="1">
              <a:spcBef>
                <a:spcPct val="20000"/>
              </a:spcBef>
              <a:buClr>
                <a:schemeClr val="tx1"/>
              </a:buClr>
              <a:buSzPct val="70000"/>
              <a:buFont typeface="Arial"/>
              <a:buNone/>
            </a:pPr>
            <a:r>
              <a:rPr lang="nl-BE"/>
              <a:t>Click to edit Master Subtitle Style</a:t>
            </a:r>
            <a:endParaRPr lang="en-US"/>
          </a:p>
        </p:txBody>
      </p:sp>
      <p:sp>
        <p:nvSpPr>
          <p:cNvPr id="7" name="Content Placeholder 5"/>
          <p:cNvSpPr>
            <a:spLocks noGrp="1"/>
          </p:cNvSpPr>
          <p:nvPr>
            <p:ph sz="quarter" idx="14"/>
          </p:nvPr>
        </p:nvSpPr>
        <p:spPr>
          <a:xfrm>
            <a:off x="160631" y="1071563"/>
            <a:ext cx="4368652" cy="3531870"/>
          </a:xfrm>
        </p:spPr>
        <p:txBody>
          <a:bodyPr/>
          <a:lstStyle>
            <a:lvl1pPr marL="322898" indent="-322898">
              <a:buClr>
                <a:schemeClr val="tx2"/>
              </a:buClr>
              <a:buSzPct val="65000"/>
              <a:buFont typeface="+mj-lt"/>
              <a:buAutoNum type="arabicPeriod"/>
              <a:defRPr b="0" i="0"/>
            </a:lvl1pPr>
            <a:lvl2pPr marL="645795" indent="-234315">
              <a:buClr>
                <a:schemeClr val="tx1"/>
              </a:buClr>
              <a:buSzPct val="65000"/>
              <a:buFont typeface="+mj-lt"/>
              <a:buAutoNum type="arabicPeriod"/>
              <a:defRPr b="0" i="0"/>
            </a:lvl2pPr>
            <a:lvl3pPr marL="1050132" indent="-227172">
              <a:buClr>
                <a:schemeClr val="tx2"/>
              </a:buClr>
              <a:buSzPct val="65000"/>
              <a:buFont typeface="+mj-lt"/>
              <a:buAutoNum type="arabicPeriod"/>
              <a:defRPr b="0" i="0"/>
            </a:lvl3pPr>
            <a:lvl4pPr marL="1454468" indent="-220028">
              <a:buClr>
                <a:schemeClr val="tx1"/>
              </a:buClr>
              <a:buSzPct val="65000"/>
              <a:buFont typeface="+mj-lt"/>
              <a:buAutoNum type="arabicPeriod"/>
              <a:defRPr b="0" i="0"/>
            </a:lvl4pPr>
            <a:lvl5pPr marL="1854518" indent="-208598">
              <a:buClr>
                <a:schemeClr val="tx2"/>
              </a:buClr>
              <a:buSzPct val="65000"/>
              <a:buFont typeface="+mj-lt"/>
              <a:buAutoNum type="arabicPeriod"/>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5"/>
          <p:cNvSpPr>
            <a:spLocks noGrp="1"/>
          </p:cNvSpPr>
          <p:nvPr>
            <p:ph sz="quarter" idx="15"/>
          </p:nvPr>
        </p:nvSpPr>
        <p:spPr>
          <a:xfrm>
            <a:off x="4545453" y="1071563"/>
            <a:ext cx="4368652" cy="3531870"/>
          </a:xfrm>
        </p:spPr>
        <p:txBody>
          <a:bodyPr/>
          <a:lstStyle>
            <a:lvl1pPr marL="322898" indent="-322898">
              <a:buClr>
                <a:schemeClr val="tx2"/>
              </a:buClr>
              <a:buSzPct val="65000"/>
              <a:buFont typeface="+mj-lt"/>
              <a:buAutoNum type="arabicPeriod"/>
              <a:defRPr b="0" i="0"/>
            </a:lvl1pPr>
            <a:lvl2pPr marL="645795" indent="-234315">
              <a:buClr>
                <a:schemeClr val="tx1"/>
              </a:buClr>
              <a:buSzPct val="65000"/>
              <a:buFont typeface="+mj-lt"/>
              <a:buAutoNum type="arabicPeriod"/>
              <a:defRPr b="0" i="0"/>
            </a:lvl2pPr>
            <a:lvl3pPr marL="1050132" indent="-227172">
              <a:buClr>
                <a:schemeClr val="tx2"/>
              </a:buClr>
              <a:buSzPct val="65000"/>
              <a:buFont typeface="+mj-lt"/>
              <a:buAutoNum type="arabicPeriod"/>
              <a:defRPr b="0" i="0"/>
            </a:lvl3pPr>
            <a:lvl4pPr marL="1454468" indent="-220028">
              <a:buClr>
                <a:schemeClr val="tx1"/>
              </a:buClr>
              <a:buSzPct val="65000"/>
              <a:buFont typeface="+mj-lt"/>
              <a:buAutoNum type="arabicPeriod"/>
              <a:defRPr b="0" i="0"/>
            </a:lvl4pPr>
            <a:lvl5pPr marL="1854518" indent="-208598">
              <a:buClr>
                <a:schemeClr val="tx2"/>
              </a:buClr>
              <a:buSzPct val="65000"/>
              <a:buFont typeface="+mj-lt"/>
              <a:buAutoNum type="arabicPeriod"/>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3514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p>
        </p:txBody>
      </p:sp>
      <p:sp>
        <p:nvSpPr>
          <p:cNvPr id="5" name="Slide Number Placeholder 4"/>
          <p:cNvSpPr>
            <a:spLocks noGrp="1"/>
          </p:cNvSpPr>
          <p:nvPr>
            <p:ph type="sldNum" sz="quarter" idx="12"/>
          </p:nvPr>
        </p:nvSpPr>
        <p:spPr/>
        <p:txBody>
          <a:bodyPr/>
          <a:lstStyle/>
          <a:p>
            <a:fld id="{8836216C-5BC3-7C44-80F8-E30864FFC228}" type="slidenum">
              <a:rPr lang="en-US" smtClean="0"/>
              <a:t>‹#›</a:t>
            </a:fld>
            <a:endParaRPr lang="en-US"/>
          </a:p>
        </p:txBody>
      </p:sp>
      <p:sp>
        <p:nvSpPr>
          <p:cNvPr id="6" name="Text Placeholder 4"/>
          <p:cNvSpPr>
            <a:spLocks noGrp="1"/>
          </p:cNvSpPr>
          <p:nvPr>
            <p:ph type="body" sz="quarter" idx="14" hasCustomPrompt="1"/>
          </p:nvPr>
        </p:nvSpPr>
        <p:spPr>
          <a:xfrm>
            <a:off x="160631" y="576315"/>
            <a:ext cx="8753475" cy="369332"/>
          </a:xfrm>
        </p:spPr>
        <p:txBody>
          <a:bodyPr wrap="square" anchor="t">
            <a:spAutoFit/>
          </a:bodyPr>
          <a:lstStyle>
            <a:lvl1pPr marL="0" indent="0">
              <a:buFont typeface="Arial"/>
              <a:buNone/>
              <a:defRPr lang="en-US" sz="1800" b="0" i="0" kern="1200" cap="none" baseline="0" dirty="0">
                <a:solidFill>
                  <a:schemeClr val="tx1"/>
                </a:solidFill>
                <a:latin typeface="Gill Sans MT" panose="020B0502020104020203" pitchFamily="34" charset="77"/>
                <a:ea typeface="+mn-ea"/>
                <a:cs typeface="Gill Sans" panose="020B0502020104020203" pitchFamily="34" charset="-79"/>
              </a:defRPr>
            </a:lvl1pPr>
          </a:lstStyle>
          <a:p>
            <a:pPr marL="0" lvl="0" indent="0" algn="l" defTabSz="411480" rtl="0" eaLnBrk="1" latinLnBrk="0" hangingPunct="1">
              <a:spcBef>
                <a:spcPct val="20000"/>
              </a:spcBef>
              <a:buClr>
                <a:schemeClr val="tx1"/>
              </a:buClr>
              <a:buSzPct val="70000"/>
              <a:buFont typeface="Arial"/>
              <a:buNone/>
            </a:pPr>
            <a:r>
              <a:rPr lang="nl-BE"/>
              <a:t>Click to edit Master Subtitle Style</a:t>
            </a:r>
            <a:endParaRPr lang="en-US"/>
          </a:p>
        </p:txBody>
      </p:sp>
    </p:spTree>
    <p:extLst>
      <p:ext uri="{BB962C8B-B14F-4D97-AF65-F5344CB8AC3E}">
        <p14:creationId xmlns:p14="http://schemas.microsoft.com/office/powerpoint/2010/main" val="25515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lour divider">
    <p:bg>
      <p:bgPr>
        <a:gradFill>
          <a:gsLst>
            <a:gs pos="0">
              <a:schemeClr val="accent6"/>
            </a:gs>
            <a:gs pos="60000">
              <a:schemeClr val="tx2"/>
            </a:gs>
          </a:gsLst>
          <a:lin ang="27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2401" y="2339919"/>
            <a:ext cx="8839200" cy="461665"/>
          </a:xfrm>
        </p:spPr>
        <p:txBody>
          <a:bodyPr anchor="ctr"/>
          <a:lstStyle>
            <a:lvl1pPr algn="ctr">
              <a:defRPr b="0" i="0">
                <a:solidFill>
                  <a:schemeClr val="bg1"/>
                </a:solidFill>
              </a:defRPr>
            </a:lvl1pPr>
          </a:lstStyle>
          <a:p>
            <a:r>
              <a:rPr lang="en-US"/>
              <a:t>Click to edit Master title style</a:t>
            </a:r>
          </a:p>
        </p:txBody>
      </p:sp>
    </p:spTree>
    <p:extLst>
      <p:ext uri="{BB962C8B-B14F-4D97-AF65-F5344CB8AC3E}">
        <p14:creationId xmlns:p14="http://schemas.microsoft.com/office/powerpoint/2010/main" val="304675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836216C-5BC3-7C44-80F8-E30864FFC228}" type="slidenum">
              <a:rPr lang="en-US" smtClean="0"/>
              <a:t>‹#›</a:t>
            </a:fld>
            <a:endParaRPr lang="en-US"/>
          </a:p>
        </p:txBody>
      </p:sp>
    </p:spTree>
    <p:extLst>
      <p:ext uri="{BB962C8B-B14F-4D97-AF65-F5344CB8AC3E}">
        <p14:creationId xmlns:p14="http://schemas.microsoft.com/office/powerpoint/2010/main" val="1092658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Image Divider Blue">
    <p:bg>
      <p:bgPr>
        <a:solidFill>
          <a:schemeClr val="bg1"/>
        </a:solid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152401" y="2345535"/>
            <a:ext cx="8753475" cy="461665"/>
          </a:xfrm>
        </p:spPr>
        <p:txBody>
          <a:bodyPr anchor="ctr"/>
          <a:lstStyle>
            <a:lvl1pPr algn="ctr">
              <a:defRPr b="0" i="0"/>
            </a:lvl1pPr>
          </a:lstStyle>
          <a:p>
            <a:r>
              <a:rPr lang="en-US"/>
              <a:t>Click to edit Master title style</a:t>
            </a:r>
          </a:p>
        </p:txBody>
      </p:sp>
    </p:spTree>
    <p:extLst>
      <p:ext uri="{BB962C8B-B14F-4D97-AF65-F5344CB8AC3E}">
        <p14:creationId xmlns:p14="http://schemas.microsoft.com/office/powerpoint/2010/main" val="374151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Image Divider White">
    <p:bg>
      <p:bgPr>
        <a:solidFill>
          <a:schemeClr val="bg1"/>
        </a:solid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152401" y="2345535"/>
            <a:ext cx="8753475" cy="461665"/>
          </a:xfrm>
        </p:spPr>
        <p:txBody>
          <a:bodyPr anchor="ctr"/>
          <a:lstStyle>
            <a:lvl1pPr algn="ctr">
              <a:defRPr b="0" i="0">
                <a:solidFill>
                  <a:schemeClr val="bg1"/>
                </a:solidFill>
                <a:effectLst>
                  <a:outerShdw blurRad="50800" dist="38100" dir="2700000" algn="tl" rotWithShape="0">
                    <a:prstClr val="black">
                      <a:alpha val="40000"/>
                    </a:prstClr>
                  </a:outerShdw>
                </a:effectLst>
              </a:defRPr>
            </a:lvl1pPr>
          </a:lstStyle>
          <a:p>
            <a:r>
              <a:rPr lang="en-US"/>
              <a:t>Click to edit Master title style</a:t>
            </a:r>
          </a:p>
        </p:txBody>
      </p:sp>
    </p:spTree>
    <p:extLst>
      <p:ext uri="{BB962C8B-B14F-4D97-AF65-F5344CB8AC3E}">
        <p14:creationId xmlns:p14="http://schemas.microsoft.com/office/powerpoint/2010/main" val="346707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Title">
    <p:bg>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0712" y="1276898"/>
            <a:ext cx="5142576" cy="2567860"/>
          </a:xfrm>
          <a:prstGeom prst="rect">
            <a:avLst/>
          </a:prstGeom>
        </p:spPr>
      </p:pic>
    </p:spTree>
    <p:extLst>
      <p:ext uri="{BB962C8B-B14F-4D97-AF65-F5344CB8AC3E}">
        <p14:creationId xmlns:p14="http://schemas.microsoft.com/office/powerpoint/2010/main" val="36289036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dt="0"/>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1.pn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0631" y="206094"/>
            <a:ext cx="8753475" cy="461665"/>
          </a:xfrm>
          <a:prstGeom prst="rect">
            <a:avLst/>
          </a:prstGeom>
        </p:spPr>
        <p:txBody>
          <a:bodyPr vert="horz" wrap="square" lIns="91440" tIns="45720" rIns="91440" bIns="45720" rtlCol="0" anchor="b" anchorCtr="0">
            <a:spAutoFit/>
          </a:bodyPr>
          <a:lstStyle/>
          <a:p>
            <a:r>
              <a:rPr lang="nl-BE"/>
              <a:t>Click to edit Master title style</a:t>
            </a:r>
            <a:endParaRPr lang="en-US"/>
          </a:p>
        </p:txBody>
      </p:sp>
      <p:sp>
        <p:nvSpPr>
          <p:cNvPr id="3" name="Text Placeholder 2"/>
          <p:cNvSpPr>
            <a:spLocks noGrp="1"/>
          </p:cNvSpPr>
          <p:nvPr>
            <p:ph type="body" idx="1"/>
          </p:nvPr>
        </p:nvSpPr>
        <p:spPr>
          <a:xfrm>
            <a:off x="160631" y="1078230"/>
            <a:ext cx="8753475" cy="3524250"/>
          </a:xfrm>
          <a:prstGeom prst="rect">
            <a:avLst/>
          </a:prstGeom>
        </p:spPr>
        <p:txBody>
          <a:bodyPr vert="horz" lIns="91440" tIns="45720" rIns="91440" bIns="45720" rtlCol="0" anchor="ctr">
            <a:normAutofit/>
          </a:bodyPr>
          <a:lstStyle/>
          <a:p>
            <a:pPr lvl="0"/>
            <a:r>
              <a:rPr lang="nl-BE"/>
              <a:t>Click to edit Master text styles</a:t>
            </a:r>
          </a:p>
          <a:p>
            <a:pPr lvl="1"/>
            <a:r>
              <a:rPr lang="nl-BE"/>
              <a:t>Second level</a:t>
            </a:r>
          </a:p>
          <a:p>
            <a:pPr lvl="2"/>
            <a:r>
              <a:rPr lang="nl-BE"/>
              <a:t>Third level</a:t>
            </a:r>
          </a:p>
          <a:p>
            <a:pPr lvl="3"/>
            <a:r>
              <a:rPr lang="nl-BE"/>
              <a:t>Fourth level</a:t>
            </a:r>
          </a:p>
          <a:p>
            <a:pPr lvl="4"/>
            <a:r>
              <a:rPr lang="nl-BE"/>
              <a:t>Fifth level</a:t>
            </a:r>
            <a:endParaRPr lang="en-US"/>
          </a:p>
        </p:txBody>
      </p:sp>
      <p:sp>
        <p:nvSpPr>
          <p:cNvPr id="6" name="Slide Number Placeholder 5"/>
          <p:cNvSpPr>
            <a:spLocks noGrp="1"/>
          </p:cNvSpPr>
          <p:nvPr>
            <p:ph type="sldNum" sz="quarter" idx="4"/>
          </p:nvPr>
        </p:nvSpPr>
        <p:spPr>
          <a:xfrm>
            <a:off x="4140200" y="4893997"/>
            <a:ext cx="863600" cy="169277"/>
          </a:xfrm>
          <a:prstGeom prst="rect">
            <a:avLst/>
          </a:prstGeom>
        </p:spPr>
        <p:txBody>
          <a:bodyPr vert="horz" lIns="91440" tIns="45720" rIns="91440" bIns="45720" rtlCol="0" anchor="ctr">
            <a:spAutoFit/>
          </a:bodyPr>
          <a:lstStyle>
            <a:lvl1pPr algn="ctr">
              <a:defRPr sz="500" b="0" i="0">
                <a:solidFill>
                  <a:schemeClr val="tx1"/>
                </a:solidFill>
                <a:latin typeface="Gill Sans MT" panose="020B0502020104020203" pitchFamily="34" charset="77"/>
              </a:defRPr>
            </a:lvl1pPr>
          </a:lstStyle>
          <a:p>
            <a:fld id="{8836216C-5BC3-7C44-80F8-E30864FFC228}" type="slidenum">
              <a:rPr lang="en-US" smtClean="0"/>
              <a:pPr/>
              <a:t>‹#›</a:t>
            </a:fld>
            <a:endParaRPr lang="en-US"/>
          </a:p>
        </p:txBody>
      </p:sp>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0631" y="4891771"/>
            <a:ext cx="562085" cy="167966"/>
          </a:xfrm>
          <a:prstGeom prst="rect">
            <a:avLst/>
          </a:prstGeom>
        </p:spPr>
      </p:pic>
      <p:pic>
        <p:nvPicPr>
          <p:cNvPr id="8" name="Picture 7"/>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75825" y="4926301"/>
            <a:ext cx="792136" cy="210116"/>
          </a:xfrm>
          <a:prstGeom prst="rect">
            <a:avLst/>
          </a:prstGeom>
          <a:noFill/>
          <a:ln>
            <a:noFill/>
          </a:ln>
        </p:spPr>
      </p:pic>
    </p:spTree>
    <p:extLst>
      <p:ext uri="{BB962C8B-B14F-4D97-AF65-F5344CB8AC3E}">
        <p14:creationId xmlns:p14="http://schemas.microsoft.com/office/powerpoint/2010/main" val="1845445915"/>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7" r:id="rId6"/>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dt="0"/>
  <p:txStyles>
    <p:titleStyle>
      <a:lvl1pPr algn="l" defTabSz="411480" rtl="0" eaLnBrk="1" latinLnBrk="0" hangingPunct="1">
        <a:spcBef>
          <a:spcPct val="0"/>
        </a:spcBef>
        <a:buNone/>
        <a:defRPr sz="2400" b="0" i="0" kern="1200" cap="none" baseline="0">
          <a:solidFill>
            <a:schemeClr val="tx2"/>
          </a:solidFill>
          <a:latin typeface="Gill Sans MT" panose="020B0502020104020203" pitchFamily="34" charset="77"/>
          <a:ea typeface="+mj-ea"/>
          <a:cs typeface="Gill Sans" panose="020B0502020104020203" pitchFamily="34" charset="-79"/>
        </a:defRPr>
      </a:lvl1pPr>
    </p:titleStyle>
    <p:bodyStyle>
      <a:lvl1pPr marL="308610" indent="-308610" algn="l" defTabSz="411480" rtl="0" eaLnBrk="1" latinLnBrk="0" hangingPunct="1">
        <a:spcBef>
          <a:spcPct val="20000"/>
        </a:spcBef>
        <a:buClr>
          <a:schemeClr val="tx2"/>
        </a:buClr>
        <a:buSzPct val="100000"/>
        <a:buFont typeface="Wingdings" charset="2"/>
        <a:buChar char="§"/>
        <a:defRPr sz="1800" b="0" i="0" kern="1200">
          <a:solidFill>
            <a:srgbClr val="000000"/>
          </a:solidFill>
          <a:latin typeface="Gill Sans MT" panose="020B0502020104020203" pitchFamily="34" charset="77"/>
          <a:ea typeface="+mn-ea"/>
          <a:cs typeface="Gill Sans" panose="020B0502020104020203" pitchFamily="34" charset="-79"/>
        </a:defRPr>
      </a:lvl1pPr>
      <a:lvl2pPr marL="668655" indent="-257175" algn="l" defTabSz="411480" rtl="0" eaLnBrk="1" latinLnBrk="0" hangingPunct="1">
        <a:spcBef>
          <a:spcPct val="20000"/>
        </a:spcBef>
        <a:buClr>
          <a:schemeClr val="tx1"/>
        </a:buClr>
        <a:buSzPct val="100000"/>
        <a:buFont typeface="Wingdings" charset="2"/>
        <a:buChar char="§"/>
        <a:defRPr sz="1620" b="0" i="0" kern="1200">
          <a:solidFill>
            <a:srgbClr val="000000"/>
          </a:solidFill>
          <a:latin typeface="Gill Sans MT" panose="020B0502020104020203" pitchFamily="34" charset="77"/>
          <a:ea typeface="+mn-ea"/>
          <a:cs typeface="Gill Sans" panose="020B0502020104020203" pitchFamily="34" charset="-79"/>
        </a:defRPr>
      </a:lvl2pPr>
      <a:lvl3pPr marL="102870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3pPr>
      <a:lvl4pPr marL="1440180" indent="-205740" algn="l" defTabSz="411480" rtl="0" eaLnBrk="1" latinLnBrk="0" hangingPunct="1">
        <a:spcBef>
          <a:spcPct val="20000"/>
        </a:spcBef>
        <a:buClr>
          <a:schemeClr val="tx1"/>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4pPr>
      <a:lvl5pPr marL="185166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p:bodyStyle>
    <p:otherStyle>
      <a:defPPr>
        <a:defRPr lang="en-US"/>
      </a:defPPr>
      <a:lvl1pPr marL="0" algn="l" defTabSz="411480" rtl="0" eaLnBrk="1" latinLnBrk="0" hangingPunct="1">
        <a:defRPr sz="1620" kern="1200">
          <a:solidFill>
            <a:schemeClr val="tx1"/>
          </a:solidFill>
          <a:latin typeface="+mn-lt"/>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5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0631" y="206094"/>
            <a:ext cx="8753475" cy="461665"/>
          </a:xfrm>
          <a:prstGeom prst="rect">
            <a:avLst/>
          </a:prstGeom>
        </p:spPr>
        <p:txBody>
          <a:bodyPr vert="horz" wrap="square" lIns="91440" tIns="45720" rIns="91440" bIns="45720" rtlCol="0" anchor="b" anchorCtr="0">
            <a:spAutoFit/>
          </a:bodyPr>
          <a:lstStyle/>
          <a:p>
            <a:r>
              <a:rPr lang="en-US"/>
              <a:t>Click to edit Master title style</a:t>
            </a:r>
          </a:p>
        </p:txBody>
      </p:sp>
      <p:sp>
        <p:nvSpPr>
          <p:cNvPr id="3" name="Text Placeholder 2"/>
          <p:cNvSpPr>
            <a:spLocks noGrp="1"/>
          </p:cNvSpPr>
          <p:nvPr>
            <p:ph type="body" idx="1"/>
          </p:nvPr>
        </p:nvSpPr>
        <p:spPr>
          <a:xfrm>
            <a:off x="160631" y="1078230"/>
            <a:ext cx="8753475" cy="352425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4140200" y="4893997"/>
            <a:ext cx="863600" cy="169277"/>
          </a:xfrm>
          <a:prstGeom prst="rect">
            <a:avLst/>
          </a:prstGeom>
        </p:spPr>
        <p:txBody>
          <a:bodyPr vert="horz" lIns="91440" tIns="45720" rIns="91440" bIns="45720" rtlCol="0" anchor="ctr">
            <a:spAutoFit/>
          </a:bodyPr>
          <a:lstStyle>
            <a:lvl1pPr algn="ctr">
              <a:defRPr sz="500" b="0" i="0">
                <a:solidFill>
                  <a:schemeClr val="tx1"/>
                </a:solidFill>
                <a:latin typeface="Gill Sans MT" panose="020B0502020104020203" pitchFamily="34" charset="77"/>
              </a:defRPr>
            </a:lvl1pPr>
          </a:lstStyle>
          <a:p>
            <a:fld id="{8836216C-5BC3-7C44-80F8-E30864FFC228}" type="slidenum">
              <a:rPr lang="en-US" smtClean="0"/>
              <a:pPr/>
              <a:t>‹#›</a:t>
            </a:fld>
            <a:endParaRPr lang="en-US"/>
          </a:p>
        </p:txBody>
      </p:sp>
      <p:pic>
        <p:nvPicPr>
          <p:cNvPr id="4" name="Picture 3"/>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60631" y="4891771"/>
            <a:ext cx="562085" cy="167966"/>
          </a:xfrm>
          <a:prstGeom prst="rect">
            <a:avLst/>
          </a:prstGeom>
        </p:spPr>
      </p:pic>
      <p:pic>
        <p:nvPicPr>
          <p:cNvPr id="5" name="Picture 4" descr="A black and blue logo&#10;&#10;Description automatically generated">
            <a:extLst>
              <a:ext uri="{FF2B5EF4-FFF2-40B4-BE49-F238E27FC236}">
                <a16:creationId xmlns:a16="http://schemas.microsoft.com/office/drawing/2014/main" id="{0F571711-EAA9-B65C-7B62-E7782503FB58}"/>
              </a:ext>
            </a:extLst>
          </p:cNvPr>
          <p:cNvPicPr>
            <a:picLocks noChangeAspect="1"/>
          </p:cNvPicPr>
          <p:nvPr/>
        </p:nvPicPr>
        <p:blipFill rotWithShape="1">
          <a:blip r:embed="rId14"/>
          <a:srcRect r="31735" b="21542"/>
          <a:stretch/>
        </p:blipFill>
        <p:spPr>
          <a:xfrm>
            <a:off x="796675" y="4734513"/>
            <a:ext cx="750403" cy="405786"/>
          </a:xfrm>
          <a:prstGeom prst="rect">
            <a:avLst/>
          </a:prstGeom>
        </p:spPr>
      </p:pic>
    </p:spTree>
    <p:extLst>
      <p:ext uri="{BB962C8B-B14F-4D97-AF65-F5344CB8AC3E}">
        <p14:creationId xmlns:p14="http://schemas.microsoft.com/office/powerpoint/2010/main" val="1211179812"/>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dt="0"/>
  <p:txStyles>
    <p:titleStyle>
      <a:lvl1pPr algn="l" defTabSz="411480" rtl="0" eaLnBrk="1" latinLnBrk="0" hangingPunct="1">
        <a:spcBef>
          <a:spcPct val="0"/>
        </a:spcBef>
        <a:buNone/>
        <a:defRPr sz="2400" b="0" i="0" kern="1200" cap="none" baseline="0">
          <a:solidFill>
            <a:schemeClr val="tx2"/>
          </a:solidFill>
          <a:latin typeface="Gill Sans MT" panose="020B0502020104020203" pitchFamily="34" charset="77"/>
          <a:ea typeface="+mj-ea"/>
          <a:cs typeface="Gill Sans" panose="020B0502020104020203" pitchFamily="34" charset="-79"/>
        </a:defRPr>
      </a:lvl1pPr>
    </p:titleStyle>
    <p:bodyStyle>
      <a:lvl1pPr marL="308610" indent="-308610" algn="l" defTabSz="411480" rtl="0" eaLnBrk="1" latinLnBrk="0" hangingPunct="1">
        <a:spcBef>
          <a:spcPct val="20000"/>
        </a:spcBef>
        <a:buClr>
          <a:schemeClr val="tx2"/>
        </a:buClr>
        <a:buSzPct val="100000"/>
        <a:buFont typeface="Wingdings" charset="2"/>
        <a:buChar char="§"/>
        <a:defRPr sz="1800" b="0" i="0" kern="1200">
          <a:solidFill>
            <a:srgbClr val="000000"/>
          </a:solidFill>
          <a:latin typeface="Gill Sans MT" panose="020B0502020104020203" pitchFamily="34" charset="77"/>
          <a:ea typeface="+mn-ea"/>
          <a:cs typeface="Gill Sans" panose="020B0502020104020203" pitchFamily="34" charset="-79"/>
        </a:defRPr>
      </a:lvl1pPr>
      <a:lvl2pPr marL="668655" indent="-257175" algn="l" defTabSz="411480" rtl="0" eaLnBrk="1" latinLnBrk="0" hangingPunct="1">
        <a:spcBef>
          <a:spcPct val="20000"/>
        </a:spcBef>
        <a:buClr>
          <a:schemeClr val="tx1"/>
        </a:buClr>
        <a:buSzPct val="100000"/>
        <a:buFont typeface="Wingdings" charset="2"/>
        <a:buChar char="§"/>
        <a:defRPr sz="1620" b="0" i="0" kern="1200">
          <a:solidFill>
            <a:srgbClr val="000000"/>
          </a:solidFill>
          <a:latin typeface="Gill Sans MT" panose="020B0502020104020203" pitchFamily="34" charset="77"/>
          <a:ea typeface="+mn-ea"/>
          <a:cs typeface="Gill Sans" panose="020B0502020104020203" pitchFamily="34" charset="-79"/>
        </a:defRPr>
      </a:lvl2pPr>
      <a:lvl3pPr marL="102870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3pPr>
      <a:lvl4pPr marL="1440180" indent="-205740" algn="l" defTabSz="411480" rtl="0" eaLnBrk="1" latinLnBrk="0" hangingPunct="1">
        <a:spcBef>
          <a:spcPct val="20000"/>
        </a:spcBef>
        <a:buClr>
          <a:schemeClr val="tx1"/>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4pPr>
      <a:lvl5pPr marL="185166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p:bodyStyle>
    <p:otherStyle>
      <a:defPPr>
        <a:defRPr lang="en-US"/>
      </a:defPPr>
      <a:lvl1pPr marL="0" algn="l" defTabSz="411480" rtl="0" eaLnBrk="1" latinLnBrk="0" hangingPunct="1">
        <a:defRPr sz="1620" kern="1200">
          <a:solidFill>
            <a:schemeClr val="tx1"/>
          </a:solidFill>
          <a:latin typeface="+mn-lt"/>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58">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18/10/relationships/comments" Target="../comments/modernComment_7FF64F22_776117E9.xml"/><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3" Type="http://schemas.openxmlformats.org/officeDocument/2006/relationships/image" Target="../media/image16.svg"/><Relationship Id="rId18" Type="http://schemas.openxmlformats.org/officeDocument/2006/relationships/image" Target="../media/image21.png"/><Relationship Id="rId26" Type="http://schemas.openxmlformats.org/officeDocument/2006/relationships/image" Target="../media/image29.png"/><Relationship Id="rId3" Type="http://schemas.openxmlformats.org/officeDocument/2006/relationships/image" Target="../media/image6.jpeg"/><Relationship Id="rId21" Type="http://schemas.openxmlformats.org/officeDocument/2006/relationships/image" Target="../media/image24.svg"/><Relationship Id="rId34" Type="http://schemas.openxmlformats.org/officeDocument/2006/relationships/image" Target="../media/image37.png"/><Relationship Id="rId7" Type="http://schemas.openxmlformats.org/officeDocument/2006/relationships/image" Target="../media/image10.svg"/><Relationship Id="rId12" Type="http://schemas.openxmlformats.org/officeDocument/2006/relationships/image" Target="../media/image15.png"/><Relationship Id="rId17" Type="http://schemas.openxmlformats.org/officeDocument/2006/relationships/image" Target="../media/image20.svg"/><Relationship Id="rId25" Type="http://schemas.openxmlformats.org/officeDocument/2006/relationships/image" Target="../media/image28.svg"/><Relationship Id="rId33" Type="http://schemas.openxmlformats.org/officeDocument/2006/relationships/image" Target="../media/image36.svg"/><Relationship Id="rId2" Type="http://schemas.openxmlformats.org/officeDocument/2006/relationships/notesSlide" Target="../notesSlides/notesSlide2.xml"/><Relationship Id="rId16" Type="http://schemas.openxmlformats.org/officeDocument/2006/relationships/image" Target="../media/image19.png"/><Relationship Id="rId20" Type="http://schemas.openxmlformats.org/officeDocument/2006/relationships/image" Target="../media/image23.png"/><Relationship Id="rId29" Type="http://schemas.openxmlformats.org/officeDocument/2006/relationships/image" Target="../media/image32.svg"/><Relationship Id="rId1" Type="http://schemas.openxmlformats.org/officeDocument/2006/relationships/slideLayout" Target="../slideLayouts/slideLayout9.xml"/><Relationship Id="rId6" Type="http://schemas.openxmlformats.org/officeDocument/2006/relationships/image" Target="../media/image9.png"/><Relationship Id="rId11" Type="http://schemas.openxmlformats.org/officeDocument/2006/relationships/image" Target="../media/image14.svg"/><Relationship Id="rId24" Type="http://schemas.openxmlformats.org/officeDocument/2006/relationships/image" Target="../media/image27.png"/><Relationship Id="rId32" Type="http://schemas.openxmlformats.org/officeDocument/2006/relationships/image" Target="../media/image35.png"/><Relationship Id="rId5" Type="http://schemas.openxmlformats.org/officeDocument/2006/relationships/image" Target="../media/image8.svg"/><Relationship Id="rId15" Type="http://schemas.openxmlformats.org/officeDocument/2006/relationships/image" Target="../media/image18.svg"/><Relationship Id="rId23" Type="http://schemas.openxmlformats.org/officeDocument/2006/relationships/image" Target="../media/image26.svg"/><Relationship Id="rId28" Type="http://schemas.openxmlformats.org/officeDocument/2006/relationships/image" Target="../media/image31.png"/><Relationship Id="rId10" Type="http://schemas.openxmlformats.org/officeDocument/2006/relationships/image" Target="../media/image13.png"/><Relationship Id="rId19" Type="http://schemas.openxmlformats.org/officeDocument/2006/relationships/image" Target="../media/image22.svg"/><Relationship Id="rId31" Type="http://schemas.openxmlformats.org/officeDocument/2006/relationships/image" Target="../media/image34.svg"/><Relationship Id="rId4" Type="http://schemas.openxmlformats.org/officeDocument/2006/relationships/image" Target="../media/image7.png"/><Relationship Id="rId9" Type="http://schemas.openxmlformats.org/officeDocument/2006/relationships/image" Target="../media/image12.sv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svg"/><Relationship Id="rId30" Type="http://schemas.openxmlformats.org/officeDocument/2006/relationships/image" Target="../media/image33.png"/><Relationship Id="rId35" Type="http://schemas.openxmlformats.org/officeDocument/2006/relationships/image" Target="../media/image38.sv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4.xml.rels><?xml version="1.0" encoding="UTF-8" standalone="yes"?>
<Relationships xmlns="http://schemas.openxmlformats.org/package/2006/relationships"><Relationship Id="rId3" Type="http://schemas.openxmlformats.org/officeDocument/2006/relationships/image" Target="../media/image41.gif"/><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43.png"/><Relationship Id="rId4" Type="http://schemas.openxmlformats.org/officeDocument/2006/relationships/image" Target="../media/image42.png"/></Relationships>
</file>

<file path=ppt/slides/_rels/slide5.xml.rels><?xml version="1.0" encoding="UTF-8" standalone="yes"?>
<Relationships xmlns="http://schemas.openxmlformats.org/package/2006/relationships"><Relationship Id="rId3" Type="http://schemas.openxmlformats.org/officeDocument/2006/relationships/image" Target="../media/image44.gif"/><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47.png"/><Relationship Id="rId4" Type="http://schemas.openxmlformats.org/officeDocument/2006/relationships/image" Target="../media/image46.png"/></Relationships>
</file>

<file path=ppt/slides/_rels/slide7.xml.rels><?xml version="1.0" encoding="UTF-8" standalone="yes"?>
<Relationships xmlns="http://schemas.openxmlformats.org/package/2006/relationships"><Relationship Id="rId3" Type="http://schemas.microsoft.com/office/2018/10/relationships/comments" Target="../comments/modernComment_7FF64F98_4BEACFAE.xml"/><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microsoft.com/office/2018/10/relationships/comments" Target="../comments/modernComment_7FF65011_51AAC59E.xml"/><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49.gif"/><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53.gif"/><Relationship Id="rId5" Type="http://schemas.openxmlformats.org/officeDocument/2006/relationships/image" Target="../media/image52.gif"/><Relationship Id="rId4" Type="http://schemas.openxmlformats.org/officeDocument/2006/relationships/image" Target="../media/image51.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59.gif"/><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60.png"/><Relationship Id="rId4" Type="http://schemas.openxmlformats.org/officeDocument/2006/relationships/image" Target="../media/image53.gi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58.png"/><Relationship Id="rId5" Type="http://schemas.openxmlformats.org/officeDocument/2006/relationships/image" Target="../media/image62.png"/><Relationship Id="rId4" Type="http://schemas.openxmlformats.org/officeDocument/2006/relationships/image" Target="../media/image53.gi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microsoft.com/office/2018/10/relationships/comments" Target="../comments/modernComment_7FF64FCD_11AB65D5.xml"/><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63.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microsoft.com/office/2018/10/relationships/comments" Target="../comments/modernComment_7FF64FCF_69D97CD2.xml"/><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66.jpeg"/><Relationship Id="rId4" Type="http://schemas.openxmlformats.org/officeDocument/2006/relationships/image" Target="../media/image65.png"/></Relationships>
</file>

<file path=ppt/slides/_rels/slide3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8.xml"/><Relationship Id="rId1" Type="http://schemas.openxmlformats.org/officeDocument/2006/relationships/themeOverride" Target="../theme/themeOverride1.xml"/><Relationship Id="rId4" Type="http://schemas.openxmlformats.org/officeDocument/2006/relationships/image" Target="../media/image69.png"/></Relationships>
</file>

<file path=ppt/slides/_rels/slide3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5.xml"/><Relationship Id="rId1" Type="http://schemas.openxmlformats.org/officeDocument/2006/relationships/slideLayout" Target="../slideLayouts/slideLayout8.xml"/><Relationship Id="rId4" Type="http://schemas.openxmlformats.org/officeDocument/2006/relationships/image" Target="../media/image73.png"/></Relationships>
</file>

<file path=ppt/slides/_rels/slide4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40.xml"/><Relationship Id="rId1" Type="http://schemas.openxmlformats.org/officeDocument/2006/relationships/slideLayout" Target="../slideLayouts/slideLayout8.xml"/><Relationship Id="rId6" Type="http://schemas.openxmlformats.org/officeDocument/2006/relationships/image" Target="../media/image53.gif"/><Relationship Id="rId5" Type="http://schemas.openxmlformats.org/officeDocument/2006/relationships/image" Target="../media/image52.gif"/><Relationship Id="rId4" Type="http://schemas.openxmlformats.org/officeDocument/2006/relationships/image" Target="../media/image51.gif"/></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microsoft.com/office/2018/10/relationships/comments" Target="../comments/modernComment_7FF64FCE_196F0907.xml"/><Relationship Id="rId2" Type="http://schemas.openxmlformats.org/officeDocument/2006/relationships/notesSlide" Target="../notesSlides/notesSlide42.xml"/><Relationship Id="rId1" Type="http://schemas.openxmlformats.org/officeDocument/2006/relationships/slideLayout" Target="../slideLayouts/slideLayout8.xml"/><Relationship Id="rId4" Type="http://schemas.openxmlformats.org/officeDocument/2006/relationships/image" Target="../media/image78.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8.xml"/><Relationship Id="rId1" Type="http://schemas.openxmlformats.org/officeDocument/2006/relationships/themeOverride" Target="../theme/themeOverride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49.xml"/><Relationship Id="rId1" Type="http://schemas.openxmlformats.org/officeDocument/2006/relationships/slideLayout" Target="../slideLayouts/slideLayout8.xml"/><Relationship Id="rId6" Type="http://schemas.openxmlformats.org/officeDocument/2006/relationships/image" Target="../media/image53.gif"/><Relationship Id="rId5" Type="http://schemas.openxmlformats.org/officeDocument/2006/relationships/image" Target="../media/image52.gif"/><Relationship Id="rId4" Type="http://schemas.openxmlformats.org/officeDocument/2006/relationships/image" Target="../media/image51.gif"/></Relationships>
</file>

<file path=ppt/slides/_rels/slide66.xml.rels><?xml version="1.0" encoding="UTF-8" standalone="yes"?>
<Relationships xmlns="http://schemas.openxmlformats.org/package/2006/relationships"><Relationship Id="rId3" Type="http://schemas.openxmlformats.org/officeDocument/2006/relationships/image" Target="../media/image82.png"/><Relationship Id="rId2" Type="http://schemas.microsoft.com/office/2018/10/relationships/comments" Target="../comments/modernComment_193_24B7436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ploaded image">
            <a:extLst>
              <a:ext uri="{FF2B5EF4-FFF2-40B4-BE49-F238E27FC236}">
                <a16:creationId xmlns:a16="http://schemas.microsoft.com/office/drawing/2014/main" id="{8C013D96-5184-5B08-6D92-853A72E93C19}"/>
              </a:ext>
            </a:extLst>
          </p:cNvPr>
          <p:cNvPicPr>
            <a:picLocks noChangeAspect="1"/>
          </p:cNvPicPr>
          <p:nvPr/>
        </p:nvPicPr>
        <p:blipFill>
          <a:blip r:embed="rId4">
            <a:alphaModFix amt="20000"/>
          </a:blip>
          <a:stretch>
            <a:fillRect/>
          </a:stretch>
        </p:blipFill>
        <p:spPr>
          <a:xfrm>
            <a:off x="0" y="0"/>
            <a:ext cx="9144000" cy="5143500"/>
          </a:xfrm>
          <a:prstGeom prst="rect">
            <a:avLst/>
          </a:prstGeom>
        </p:spPr>
      </p:pic>
      <p:sp>
        <p:nvSpPr>
          <p:cNvPr id="4" name="Slide Number Placeholder 3">
            <a:extLst>
              <a:ext uri="{FF2B5EF4-FFF2-40B4-BE49-F238E27FC236}">
                <a16:creationId xmlns:a16="http://schemas.microsoft.com/office/drawing/2014/main" id="{C70ECAF1-073C-EE30-8D32-31698476F950}"/>
              </a:ext>
            </a:extLst>
          </p:cNvPr>
          <p:cNvSpPr>
            <a:spLocks noGrp="1"/>
          </p:cNvSpPr>
          <p:nvPr>
            <p:ph type="sldNum" sz="quarter" idx="12"/>
          </p:nvPr>
        </p:nvSpPr>
        <p:spPr/>
        <p:txBody>
          <a:bodyPr/>
          <a:lstStyle/>
          <a:p>
            <a:fld id="{8836216C-5BC3-7C44-80F8-E30864FFC228}" type="slidenum">
              <a:rPr lang="en-US" smtClean="0"/>
              <a:t>1</a:t>
            </a:fld>
            <a:endParaRPr lang="en-US"/>
          </a:p>
        </p:txBody>
      </p:sp>
      <p:sp>
        <p:nvSpPr>
          <p:cNvPr id="6" name="Title 1">
            <a:extLst>
              <a:ext uri="{FF2B5EF4-FFF2-40B4-BE49-F238E27FC236}">
                <a16:creationId xmlns:a16="http://schemas.microsoft.com/office/drawing/2014/main" id="{79EF9D0C-9B36-7EE2-8230-1FAE5AB20F5E}"/>
              </a:ext>
            </a:extLst>
          </p:cNvPr>
          <p:cNvSpPr txBox="1">
            <a:spLocks/>
          </p:cNvSpPr>
          <p:nvPr/>
        </p:nvSpPr>
        <p:spPr>
          <a:xfrm>
            <a:off x="361457" y="845991"/>
            <a:ext cx="8421086" cy="1118540"/>
          </a:xfrm>
          <a:prstGeom prst="rect">
            <a:avLst/>
          </a:prstGeom>
        </p:spPr>
        <p:txBody>
          <a:bodyPr lIns="91440" tIns="45720" rIns="91440" bIns="45720" anchor="t"/>
          <a:lstStyle>
            <a:lvl1pPr algn="l" defTabSz="411480" rtl="0" eaLnBrk="1" latinLnBrk="0" hangingPunct="1">
              <a:spcBef>
                <a:spcPct val="0"/>
              </a:spcBef>
              <a:buNone/>
              <a:defRPr sz="2400" b="0" i="0" kern="1200" cap="none" baseline="0">
                <a:solidFill>
                  <a:schemeClr val="tx2"/>
                </a:solidFill>
                <a:latin typeface="Gill Sans MT" panose="020B0502020104020203" pitchFamily="34" charset="77"/>
                <a:ea typeface="+mj-ea"/>
                <a:cs typeface="Gill Sans" panose="020B0502020104020203" pitchFamily="34" charset="-79"/>
              </a:defRPr>
            </a:lvl1pPr>
          </a:lstStyle>
          <a:p>
            <a:pPr algn="ctr"/>
            <a:r>
              <a:rPr lang="en-US" sz="3200">
                <a:latin typeface="Gill Sans MT"/>
                <a:cs typeface="Gill Sans"/>
              </a:rPr>
              <a:t>AeDAM: </a:t>
            </a:r>
            <a:r>
              <a:rPr lang="en-US" sz="3200" b="1" u="sng">
                <a:latin typeface="Gill Sans MT"/>
                <a:cs typeface="Gill Sans"/>
              </a:rPr>
              <a:t>A</a:t>
            </a:r>
            <a:r>
              <a:rPr lang="en-US" sz="3200">
                <a:latin typeface="Gill Sans MT"/>
                <a:cs typeface="Gill Sans"/>
              </a:rPr>
              <a:t>n </a:t>
            </a:r>
            <a:r>
              <a:rPr lang="en-US" sz="3200" b="1" u="sng">
                <a:latin typeface="Gill Sans MT"/>
                <a:cs typeface="Gill Sans"/>
              </a:rPr>
              <a:t>E</a:t>
            </a:r>
            <a:r>
              <a:rPr lang="en-US" sz="3200">
                <a:latin typeface="Gill Sans MT"/>
                <a:cs typeface="Gill Sans"/>
              </a:rPr>
              <a:t>vent-</a:t>
            </a:r>
            <a:r>
              <a:rPr lang="en-US" sz="3200" b="1" u="sng">
                <a:latin typeface="Gill Sans MT"/>
                <a:cs typeface="Gill Sans"/>
              </a:rPr>
              <a:t>D</a:t>
            </a:r>
            <a:r>
              <a:rPr lang="en-US" sz="3200">
                <a:latin typeface="Gill Sans MT"/>
                <a:cs typeface="Gill Sans"/>
              </a:rPr>
              <a:t>riven </a:t>
            </a:r>
            <a:r>
              <a:rPr lang="en-US" sz="3200" b="1" u="sng">
                <a:latin typeface="Gill Sans MT"/>
                <a:cs typeface="Gill Sans"/>
              </a:rPr>
              <a:t>A</a:t>
            </a:r>
            <a:r>
              <a:rPr lang="en-US" sz="3200">
                <a:latin typeface="Gill Sans MT"/>
                <a:cs typeface="Gill Sans"/>
              </a:rPr>
              <a:t>rchitecture </a:t>
            </a:r>
            <a:r>
              <a:rPr lang="en-US" sz="3200" b="1" u="sng">
                <a:latin typeface="Gill Sans MT"/>
                <a:cs typeface="Gill Sans"/>
              </a:rPr>
              <a:t>M</a:t>
            </a:r>
            <a:r>
              <a:rPr lang="en-US" sz="3200">
                <a:latin typeface="Gill Sans MT"/>
                <a:cs typeface="Gill Sans"/>
              </a:rPr>
              <a:t>apping exploration tool</a:t>
            </a:r>
            <a:endParaRPr lang="en-GB" sz="3200" b="1"/>
          </a:p>
        </p:txBody>
      </p:sp>
      <p:sp>
        <p:nvSpPr>
          <p:cNvPr id="8" name="Subtitle 2">
            <a:extLst>
              <a:ext uri="{FF2B5EF4-FFF2-40B4-BE49-F238E27FC236}">
                <a16:creationId xmlns:a16="http://schemas.microsoft.com/office/drawing/2014/main" id="{8FD09887-412B-B692-4B54-69B69D41E02B}"/>
              </a:ext>
            </a:extLst>
          </p:cNvPr>
          <p:cNvSpPr txBox="1">
            <a:spLocks/>
          </p:cNvSpPr>
          <p:nvPr/>
        </p:nvSpPr>
        <p:spPr>
          <a:xfrm>
            <a:off x="294462" y="2146982"/>
            <a:ext cx="8421089" cy="1832886"/>
          </a:xfrm>
          <a:prstGeom prst="rect">
            <a:avLst/>
          </a:prstGeom>
        </p:spPr>
        <p:txBody>
          <a:bodyPr lIns="91440" tIns="45720" rIns="91440" bIns="45720" anchor="t"/>
          <a:lstStyle>
            <a:lvl1pPr marL="308610" indent="-308610" algn="l" defTabSz="411480" rtl="0" eaLnBrk="1" latinLnBrk="0" hangingPunct="1">
              <a:spcBef>
                <a:spcPct val="20000"/>
              </a:spcBef>
              <a:buClr>
                <a:schemeClr val="tx2"/>
              </a:buClr>
              <a:buSzPct val="100000"/>
              <a:buFont typeface="Wingdings" charset="2"/>
              <a:buChar char="§"/>
              <a:defRPr sz="1800" b="0" i="0" kern="1200">
                <a:solidFill>
                  <a:srgbClr val="000000"/>
                </a:solidFill>
                <a:latin typeface="Gill Sans MT" panose="020B0502020104020203" pitchFamily="34" charset="77"/>
                <a:ea typeface="+mn-ea"/>
                <a:cs typeface="Gill Sans" panose="020B0502020104020203" pitchFamily="34" charset="-79"/>
              </a:defRPr>
            </a:lvl1pPr>
            <a:lvl2pPr marL="668655" indent="-257175" algn="l" defTabSz="411480" rtl="0" eaLnBrk="1" latinLnBrk="0" hangingPunct="1">
              <a:spcBef>
                <a:spcPct val="20000"/>
              </a:spcBef>
              <a:buClr>
                <a:schemeClr val="tx1"/>
              </a:buClr>
              <a:buSzPct val="100000"/>
              <a:buFont typeface="Wingdings" charset="2"/>
              <a:buChar char="§"/>
              <a:defRPr sz="1620" b="0" i="0" kern="1200">
                <a:solidFill>
                  <a:srgbClr val="000000"/>
                </a:solidFill>
                <a:latin typeface="Gill Sans MT" panose="020B0502020104020203" pitchFamily="34" charset="77"/>
                <a:ea typeface="+mn-ea"/>
                <a:cs typeface="Gill Sans" panose="020B0502020104020203" pitchFamily="34" charset="-79"/>
              </a:defRPr>
            </a:lvl2pPr>
            <a:lvl3pPr marL="102870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3pPr>
            <a:lvl4pPr marL="1440180" indent="-205740" algn="l" defTabSz="411480" rtl="0" eaLnBrk="1" latinLnBrk="0" hangingPunct="1">
              <a:spcBef>
                <a:spcPct val="20000"/>
              </a:spcBef>
              <a:buClr>
                <a:schemeClr val="tx1"/>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4pPr>
            <a:lvl5pPr marL="185166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0" indent="0" algn="ctr">
              <a:buNone/>
            </a:pPr>
            <a:r>
              <a:rPr lang="en-US" sz="1400" dirty="0">
                <a:solidFill>
                  <a:schemeClr val="tx1"/>
                </a:solidFill>
                <a:latin typeface="Gill Sans MT"/>
                <a:cs typeface="Gill Sans"/>
              </a:rPr>
              <a:t>MSc Thesis Defense</a:t>
            </a:r>
            <a:endParaRPr lang="en-US" dirty="0">
              <a:solidFill>
                <a:schemeClr val="tx1"/>
              </a:solidFill>
            </a:endParaRPr>
          </a:p>
          <a:p>
            <a:pPr marL="0" indent="0" algn="ctr">
              <a:buNone/>
            </a:pPr>
            <a:r>
              <a:rPr lang="en-US" sz="2400" b="1" dirty="0">
                <a:latin typeface="Gill Sans MT"/>
                <a:cs typeface="Gill Sans"/>
              </a:rPr>
              <a:t>Naga Subhash Malladi</a:t>
            </a:r>
            <a:endParaRPr lang="en-US" dirty="0"/>
          </a:p>
          <a:p>
            <a:pPr marL="0" indent="0" algn="ctr">
              <a:buNone/>
            </a:pPr>
            <a:r>
              <a:rPr lang="en-US" sz="1400" dirty="0">
                <a:latin typeface="Gill Sans MT"/>
                <a:cs typeface="Gill Sans"/>
              </a:rPr>
              <a:t>Student No: 6006388</a:t>
            </a:r>
            <a:endParaRPr lang="en-US" dirty="0"/>
          </a:p>
          <a:p>
            <a:pPr marL="0" indent="0" algn="ctr">
              <a:buNone/>
            </a:pPr>
            <a:r>
              <a:rPr lang="en-US" sz="1200" dirty="0">
                <a:latin typeface="Gill Sans MT"/>
                <a:cs typeface="Gill Sans"/>
              </a:rPr>
              <a:t>Computer and Embedded Systems Engineering</a:t>
            </a:r>
            <a:endParaRPr lang="en-US" dirty="0"/>
          </a:p>
          <a:p>
            <a:pPr marL="0" indent="0" algn="ctr">
              <a:buNone/>
            </a:pPr>
            <a:endParaRPr lang="en-US" dirty="0"/>
          </a:p>
          <a:p>
            <a:pPr marL="0" indent="0" algn="ctr">
              <a:buNone/>
            </a:pPr>
            <a:r>
              <a:rPr lang="en-US" sz="1000" dirty="0">
                <a:latin typeface="Gill Sans MT"/>
                <a:cs typeface="Gill Sans"/>
              </a:rPr>
              <a:t>Supervisors: Dr. Rajendra Bishnoi &amp; Kanishkan Vadivel</a:t>
            </a:r>
          </a:p>
          <a:p>
            <a:pPr marL="0" indent="0" algn="ctr">
              <a:buNone/>
            </a:pPr>
            <a:r>
              <a:rPr lang="en-US" sz="1000" dirty="0">
                <a:latin typeface="Gill Sans MT"/>
                <a:cs typeface="Gill Sans"/>
              </a:rPr>
              <a:t>Thesis Advisor: Prof. Said </a:t>
            </a:r>
            <a:r>
              <a:rPr lang="en-US" sz="1000" dirty="0" err="1">
                <a:latin typeface="Gill Sans MT"/>
                <a:cs typeface="Gill Sans"/>
              </a:rPr>
              <a:t>Hamdioui</a:t>
            </a:r>
            <a:endParaRPr lang="en-US" dirty="0"/>
          </a:p>
          <a:p>
            <a:pPr marL="0" indent="0" algn="ctr">
              <a:buNone/>
            </a:pPr>
            <a:r>
              <a:rPr lang="en-US" sz="1000" dirty="0">
                <a:latin typeface="Gill Sans MT"/>
                <a:cs typeface="Gill Sans"/>
              </a:rPr>
              <a:t>External Committee member: Dr. R.R Venkatesha Prasad</a:t>
            </a:r>
            <a:endParaRPr lang="en-US" sz="1000" dirty="0"/>
          </a:p>
          <a:p>
            <a:pPr marL="0" indent="0" algn="ctr">
              <a:buNone/>
            </a:pPr>
            <a:endParaRPr lang="en-US" dirty="0"/>
          </a:p>
          <a:p>
            <a:pPr marL="0" indent="0" algn="ctr">
              <a:buNone/>
            </a:pPr>
            <a:r>
              <a:rPr lang="en-US" sz="1000" i="1" dirty="0">
                <a:latin typeface="Gill Sans MT"/>
                <a:cs typeface="Gill Sans"/>
              </a:rPr>
              <a:t>Hardware Efficient AI Group, IMEC Netherlands | Computer Engineering, TU Delft, The Netherlands</a:t>
            </a:r>
            <a:endParaRPr lang="en-US" sz="1000" i="1" dirty="0"/>
          </a:p>
        </p:txBody>
      </p:sp>
    </p:spTree>
    <p:extLst>
      <p:ext uri="{BB962C8B-B14F-4D97-AF65-F5344CB8AC3E}">
        <p14:creationId xmlns:p14="http://schemas.microsoft.com/office/powerpoint/2010/main" val="20028518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0F936-491F-C372-B9E6-373FACBE9D62}"/>
            </a:ext>
          </a:extLst>
        </p:cNvPr>
        <p:cNvGrpSpPr/>
        <p:nvPr/>
      </p:nvGrpSpPr>
      <p:grpSpPr>
        <a:xfrm>
          <a:off x="0" y="0"/>
          <a:ext cx="0" cy="0"/>
          <a:chOff x="0" y="0"/>
          <a:chExt cx="0" cy="0"/>
        </a:xfrm>
      </p:grpSpPr>
      <p:pic>
        <p:nvPicPr>
          <p:cNvPr id="4121" name="Picture 4" descr="Artificial Intelligence Logo Vector Art, Icons, and Graphics for Free  Download">
            <a:extLst>
              <a:ext uri="{FF2B5EF4-FFF2-40B4-BE49-F238E27FC236}">
                <a16:creationId xmlns:a16="http://schemas.microsoft.com/office/drawing/2014/main" id="{7196821E-B7BD-51C0-661A-6FF9B6AE0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8120" y="80226"/>
            <a:ext cx="4897467" cy="489746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48F4C5C-D6D6-0102-3BB3-3846496B7B25}"/>
              </a:ext>
            </a:extLst>
          </p:cNvPr>
          <p:cNvSpPr>
            <a:spLocks noGrp="1"/>
          </p:cNvSpPr>
          <p:nvPr>
            <p:ph type="title"/>
          </p:nvPr>
        </p:nvSpPr>
        <p:spPr>
          <a:xfrm>
            <a:off x="160631" y="206094"/>
            <a:ext cx="8753475" cy="461665"/>
          </a:xfrm>
        </p:spPr>
        <p:txBody>
          <a:bodyPr wrap="square" anchor="b">
            <a:normAutofit/>
          </a:bodyPr>
          <a:lstStyle/>
          <a:p>
            <a:r>
              <a:rPr lang="en-US"/>
              <a:t>A</a:t>
            </a:r>
            <a:r>
              <a:rPr lang="en-GB"/>
              <a:t>I is Everywhere</a:t>
            </a:r>
          </a:p>
        </p:txBody>
      </p:sp>
      <p:sp>
        <p:nvSpPr>
          <p:cNvPr id="4" name="Slide Number Placeholder 3">
            <a:extLst>
              <a:ext uri="{FF2B5EF4-FFF2-40B4-BE49-F238E27FC236}">
                <a16:creationId xmlns:a16="http://schemas.microsoft.com/office/drawing/2014/main" id="{C9F3E992-F322-76D2-ABFA-D6F52D3A0AE8}"/>
              </a:ext>
            </a:extLst>
          </p:cNvPr>
          <p:cNvSpPr>
            <a:spLocks noGrp="1"/>
          </p:cNvSpPr>
          <p:nvPr>
            <p:ph type="sldNum" sz="quarter" idx="10"/>
          </p:nvPr>
        </p:nvSpPr>
        <p:spPr>
          <a:xfrm>
            <a:off x="4315667" y="4937406"/>
            <a:ext cx="863600" cy="169277"/>
          </a:xfrm>
        </p:spPr>
        <p:txBody>
          <a:bodyPr anchor="ctr">
            <a:normAutofit/>
          </a:bodyPr>
          <a:lstStyle/>
          <a:p>
            <a:pPr>
              <a:spcAft>
                <a:spcPts val="600"/>
              </a:spcAft>
            </a:pPr>
            <a:fld id="{8836216C-5BC3-7C44-80F8-E30864FFC228}" type="slidenum">
              <a:rPr lang="en-US" smtClean="0"/>
              <a:pPr>
                <a:spcAft>
                  <a:spcPts val="600"/>
                </a:spcAft>
              </a:pPr>
              <a:t>2</a:t>
            </a:fld>
            <a:endParaRPr lang="en-US"/>
          </a:p>
        </p:txBody>
      </p:sp>
      <p:sp>
        <p:nvSpPr>
          <p:cNvPr id="8" name="Oval 7">
            <a:extLst>
              <a:ext uri="{FF2B5EF4-FFF2-40B4-BE49-F238E27FC236}">
                <a16:creationId xmlns:a16="http://schemas.microsoft.com/office/drawing/2014/main" id="{DC154F3B-E02C-19AC-336E-7266E8C557BA}"/>
              </a:ext>
            </a:extLst>
          </p:cNvPr>
          <p:cNvSpPr/>
          <p:nvPr/>
        </p:nvSpPr>
        <p:spPr>
          <a:xfrm>
            <a:off x="3172742" y="1226995"/>
            <a:ext cx="859109" cy="808279"/>
          </a:xfrm>
          <a:prstGeom prst="ellipse">
            <a:avLst/>
          </a:prstGeom>
          <a:solidFill>
            <a:schemeClr val="tx2">
              <a:lumMod val="60000"/>
              <a:lumOff val="40000"/>
            </a:schemeClr>
          </a:solidFill>
          <a:ln>
            <a:solidFill>
              <a:srgbClr val="0036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 name="TextBox 8">
            <a:extLst>
              <a:ext uri="{FF2B5EF4-FFF2-40B4-BE49-F238E27FC236}">
                <a16:creationId xmlns:a16="http://schemas.microsoft.com/office/drawing/2014/main" id="{7FFB2FA3-5463-35A2-357C-7CCFC5D432B0}"/>
              </a:ext>
            </a:extLst>
          </p:cNvPr>
          <p:cNvSpPr txBox="1"/>
          <p:nvPr/>
        </p:nvSpPr>
        <p:spPr>
          <a:xfrm>
            <a:off x="3035985" y="1983346"/>
            <a:ext cx="1120140" cy="276999"/>
          </a:xfrm>
          <a:prstGeom prst="rect">
            <a:avLst/>
          </a:prstGeom>
          <a:noFill/>
        </p:spPr>
        <p:txBody>
          <a:bodyPr wrap="square" rtlCol="0">
            <a:spAutoFit/>
          </a:bodyPr>
          <a:lstStyle/>
          <a:p>
            <a:pPr algn="ctr"/>
            <a:r>
              <a:rPr lang="en-GB" sz="1200"/>
              <a:t>Transportation</a:t>
            </a:r>
          </a:p>
        </p:txBody>
      </p:sp>
      <p:pic>
        <p:nvPicPr>
          <p:cNvPr id="11" name="Graphic 10" descr="Dump truck with solid fill">
            <a:extLst>
              <a:ext uri="{FF2B5EF4-FFF2-40B4-BE49-F238E27FC236}">
                <a16:creationId xmlns:a16="http://schemas.microsoft.com/office/drawing/2014/main" id="{7A3ACA17-131B-CA25-48D7-E539E5190FD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08230" y="1315184"/>
            <a:ext cx="631902" cy="631902"/>
          </a:xfrm>
          <a:prstGeom prst="rect">
            <a:avLst/>
          </a:prstGeom>
        </p:spPr>
      </p:pic>
      <p:sp>
        <p:nvSpPr>
          <p:cNvPr id="16" name="Oval 15">
            <a:extLst>
              <a:ext uri="{FF2B5EF4-FFF2-40B4-BE49-F238E27FC236}">
                <a16:creationId xmlns:a16="http://schemas.microsoft.com/office/drawing/2014/main" id="{B8028939-4173-149D-8289-1F9A87111278}"/>
              </a:ext>
            </a:extLst>
          </p:cNvPr>
          <p:cNvSpPr/>
          <p:nvPr/>
        </p:nvSpPr>
        <p:spPr>
          <a:xfrm>
            <a:off x="5186556" y="2835437"/>
            <a:ext cx="859109" cy="808279"/>
          </a:xfrm>
          <a:prstGeom prst="ellipse">
            <a:avLst/>
          </a:prstGeom>
          <a:solidFill>
            <a:schemeClr val="tx2">
              <a:lumMod val="60000"/>
              <a:lumOff val="40000"/>
            </a:schemeClr>
          </a:solidFill>
          <a:ln>
            <a:solidFill>
              <a:srgbClr val="0036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pic>
        <p:nvPicPr>
          <p:cNvPr id="15" name="Graphic 14" descr="Bank with solid fill">
            <a:extLst>
              <a:ext uri="{FF2B5EF4-FFF2-40B4-BE49-F238E27FC236}">
                <a16:creationId xmlns:a16="http://schemas.microsoft.com/office/drawing/2014/main" id="{C3CD8C22-562C-44D8-C48B-65ED0DED8F7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51372" y="2842847"/>
            <a:ext cx="729476" cy="729476"/>
          </a:xfrm>
          <a:prstGeom prst="rect">
            <a:avLst/>
          </a:prstGeom>
        </p:spPr>
      </p:pic>
      <p:sp>
        <p:nvSpPr>
          <p:cNvPr id="20" name="Oval 19">
            <a:extLst>
              <a:ext uri="{FF2B5EF4-FFF2-40B4-BE49-F238E27FC236}">
                <a16:creationId xmlns:a16="http://schemas.microsoft.com/office/drawing/2014/main" id="{D4EAE8E4-4A6E-0D2E-8489-B37DF741C206}"/>
              </a:ext>
            </a:extLst>
          </p:cNvPr>
          <p:cNvSpPr/>
          <p:nvPr/>
        </p:nvSpPr>
        <p:spPr>
          <a:xfrm>
            <a:off x="2420017" y="2106873"/>
            <a:ext cx="859109" cy="808279"/>
          </a:xfrm>
          <a:prstGeom prst="ellipse">
            <a:avLst/>
          </a:prstGeom>
          <a:solidFill>
            <a:schemeClr val="tx2">
              <a:lumMod val="60000"/>
              <a:lumOff val="40000"/>
            </a:schemeClr>
          </a:solidFill>
          <a:ln>
            <a:solidFill>
              <a:srgbClr val="0036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1" name="TextBox 20">
            <a:extLst>
              <a:ext uri="{FF2B5EF4-FFF2-40B4-BE49-F238E27FC236}">
                <a16:creationId xmlns:a16="http://schemas.microsoft.com/office/drawing/2014/main" id="{8A49651B-6D9D-6A54-A184-C60709D5C30A}"/>
              </a:ext>
            </a:extLst>
          </p:cNvPr>
          <p:cNvSpPr txBox="1"/>
          <p:nvPr/>
        </p:nvSpPr>
        <p:spPr>
          <a:xfrm>
            <a:off x="2289501" y="2864841"/>
            <a:ext cx="1120140" cy="276999"/>
          </a:xfrm>
          <a:prstGeom prst="rect">
            <a:avLst/>
          </a:prstGeom>
          <a:noFill/>
        </p:spPr>
        <p:txBody>
          <a:bodyPr wrap="square" rtlCol="0">
            <a:spAutoFit/>
          </a:bodyPr>
          <a:lstStyle/>
          <a:p>
            <a:pPr algn="ctr"/>
            <a:r>
              <a:rPr lang="en-GB" sz="1200"/>
              <a:t>Ecommerce</a:t>
            </a:r>
          </a:p>
        </p:txBody>
      </p:sp>
      <p:pic>
        <p:nvPicPr>
          <p:cNvPr id="19" name="Graphic 18" descr="Ecommerce with solid fill">
            <a:extLst>
              <a:ext uri="{FF2B5EF4-FFF2-40B4-BE49-F238E27FC236}">
                <a16:creationId xmlns:a16="http://schemas.microsoft.com/office/drawing/2014/main" id="{AB0179AD-FC62-39AD-E0FB-97C5F5A4FD7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50077" y="2239107"/>
            <a:ext cx="598987" cy="598987"/>
          </a:xfrm>
          <a:prstGeom prst="rect">
            <a:avLst/>
          </a:prstGeom>
        </p:spPr>
      </p:pic>
      <p:sp>
        <p:nvSpPr>
          <p:cNvPr id="22" name="Oval 21">
            <a:extLst>
              <a:ext uri="{FF2B5EF4-FFF2-40B4-BE49-F238E27FC236}">
                <a16:creationId xmlns:a16="http://schemas.microsoft.com/office/drawing/2014/main" id="{758CEEBF-FE58-0149-BF1D-DDF20ED4AD79}"/>
              </a:ext>
            </a:extLst>
          </p:cNvPr>
          <p:cNvSpPr/>
          <p:nvPr/>
        </p:nvSpPr>
        <p:spPr>
          <a:xfrm>
            <a:off x="3172550" y="2873645"/>
            <a:ext cx="859109" cy="808279"/>
          </a:xfrm>
          <a:prstGeom prst="ellipse">
            <a:avLst/>
          </a:prstGeom>
          <a:solidFill>
            <a:schemeClr val="tx2">
              <a:lumMod val="60000"/>
              <a:lumOff val="40000"/>
            </a:schemeClr>
          </a:solidFill>
          <a:ln>
            <a:solidFill>
              <a:srgbClr val="0036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3" name="TextBox 22">
            <a:extLst>
              <a:ext uri="{FF2B5EF4-FFF2-40B4-BE49-F238E27FC236}">
                <a16:creationId xmlns:a16="http://schemas.microsoft.com/office/drawing/2014/main" id="{732F3C99-4EFF-8BDA-08B8-1CB20BDF2063}"/>
              </a:ext>
            </a:extLst>
          </p:cNvPr>
          <p:cNvSpPr txBox="1"/>
          <p:nvPr/>
        </p:nvSpPr>
        <p:spPr>
          <a:xfrm>
            <a:off x="3076466" y="3636857"/>
            <a:ext cx="1120140" cy="276999"/>
          </a:xfrm>
          <a:prstGeom prst="rect">
            <a:avLst/>
          </a:prstGeom>
          <a:noFill/>
        </p:spPr>
        <p:txBody>
          <a:bodyPr wrap="square" rtlCol="0">
            <a:spAutoFit/>
          </a:bodyPr>
          <a:lstStyle/>
          <a:p>
            <a:pPr algn="ctr"/>
            <a:r>
              <a:rPr lang="en-GB" sz="1200"/>
              <a:t>Education</a:t>
            </a:r>
          </a:p>
        </p:txBody>
      </p:sp>
      <p:pic>
        <p:nvPicPr>
          <p:cNvPr id="25" name="Graphic 24" descr="Classroom with solid fill">
            <a:extLst>
              <a:ext uri="{FF2B5EF4-FFF2-40B4-BE49-F238E27FC236}">
                <a16:creationId xmlns:a16="http://schemas.microsoft.com/office/drawing/2014/main" id="{1A37C61E-48EC-CE0E-EEAF-E86AC203E56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245369" y="2915691"/>
            <a:ext cx="686905" cy="686905"/>
          </a:xfrm>
          <a:prstGeom prst="rect">
            <a:avLst/>
          </a:prstGeom>
        </p:spPr>
      </p:pic>
      <p:sp>
        <p:nvSpPr>
          <p:cNvPr id="26" name="Oval 25">
            <a:extLst>
              <a:ext uri="{FF2B5EF4-FFF2-40B4-BE49-F238E27FC236}">
                <a16:creationId xmlns:a16="http://schemas.microsoft.com/office/drawing/2014/main" id="{8BF430E1-DD58-BA5A-2CE2-F688F27A299F}"/>
              </a:ext>
            </a:extLst>
          </p:cNvPr>
          <p:cNvSpPr/>
          <p:nvPr/>
        </p:nvSpPr>
        <p:spPr>
          <a:xfrm>
            <a:off x="1331912" y="2861663"/>
            <a:ext cx="859109" cy="808279"/>
          </a:xfrm>
          <a:prstGeom prst="ellipse">
            <a:avLst/>
          </a:prstGeom>
          <a:solidFill>
            <a:schemeClr val="tx2">
              <a:lumMod val="60000"/>
              <a:lumOff val="40000"/>
            </a:schemeClr>
          </a:solidFill>
          <a:ln>
            <a:solidFill>
              <a:srgbClr val="0036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7" name="TextBox 26">
            <a:extLst>
              <a:ext uri="{FF2B5EF4-FFF2-40B4-BE49-F238E27FC236}">
                <a16:creationId xmlns:a16="http://schemas.microsoft.com/office/drawing/2014/main" id="{36B1A79C-62FB-7E20-B08B-D3EFD7138257}"/>
              </a:ext>
            </a:extLst>
          </p:cNvPr>
          <p:cNvSpPr txBox="1"/>
          <p:nvPr/>
        </p:nvSpPr>
        <p:spPr>
          <a:xfrm>
            <a:off x="1200234" y="3619631"/>
            <a:ext cx="1120140" cy="276999"/>
          </a:xfrm>
          <a:prstGeom prst="rect">
            <a:avLst/>
          </a:prstGeom>
          <a:noFill/>
        </p:spPr>
        <p:txBody>
          <a:bodyPr wrap="square" rtlCol="0">
            <a:spAutoFit/>
          </a:bodyPr>
          <a:lstStyle/>
          <a:p>
            <a:pPr algn="ctr"/>
            <a:r>
              <a:rPr lang="en-GB" sz="1200"/>
              <a:t>Retail</a:t>
            </a:r>
          </a:p>
        </p:txBody>
      </p:sp>
      <p:pic>
        <p:nvPicPr>
          <p:cNvPr id="29" name="Graphic 28" descr="Shopping cart with solid fill">
            <a:extLst>
              <a:ext uri="{FF2B5EF4-FFF2-40B4-BE49-F238E27FC236}">
                <a16:creationId xmlns:a16="http://schemas.microsoft.com/office/drawing/2014/main" id="{E3D01D75-C712-6774-71B4-6300FA294FD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438777" y="2983037"/>
            <a:ext cx="596696" cy="596696"/>
          </a:xfrm>
          <a:prstGeom prst="rect">
            <a:avLst/>
          </a:prstGeom>
        </p:spPr>
      </p:pic>
      <p:sp>
        <p:nvSpPr>
          <p:cNvPr id="30" name="Oval 29">
            <a:extLst>
              <a:ext uri="{FF2B5EF4-FFF2-40B4-BE49-F238E27FC236}">
                <a16:creationId xmlns:a16="http://schemas.microsoft.com/office/drawing/2014/main" id="{4761F6F5-F4B3-003F-C7A1-6B6D9D11385C}"/>
              </a:ext>
            </a:extLst>
          </p:cNvPr>
          <p:cNvSpPr/>
          <p:nvPr/>
        </p:nvSpPr>
        <p:spPr>
          <a:xfrm>
            <a:off x="2296911" y="3674185"/>
            <a:ext cx="859109" cy="808279"/>
          </a:xfrm>
          <a:prstGeom prst="ellipse">
            <a:avLst/>
          </a:prstGeom>
          <a:solidFill>
            <a:schemeClr val="tx2">
              <a:lumMod val="60000"/>
              <a:lumOff val="40000"/>
            </a:schemeClr>
          </a:solidFill>
          <a:ln>
            <a:solidFill>
              <a:srgbClr val="0036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1" name="TextBox 30">
            <a:extLst>
              <a:ext uri="{FF2B5EF4-FFF2-40B4-BE49-F238E27FC236}">
                <a16:creationId xmlns:a16="http://schemas.microsoft.com/office/drawing/2014/main" id="{EC805A80-41DA-2651-EA9D-ACC78FCE7AA9}"/>
              </a:ext>
            </a:extLst>
          </p:cNvPr>
          <p:cNvSpPr txBox="1"/>
          <p:nvPr/>
        </p:nvSpPr>
        <p:spPr>
          <a:xfrm>
            <a:off x="2144668" y="4409459"/>
            <a:ext cx="1120140" cy="276999"/>
          </a:xfrm>
          <a:prstGeom prst="rect">
            <a:avLst/>
          </a:prstGeom>
          <a:noFill/>
        </p:spPr>
        <p:txBody>
          <a:bodyPr wrap="square" rtlCol="0">
            <a:spAutoFit/>
          </a:bodyPr>
          <a:lstStyle/>
          <a:p>
            <a:pPr algn="ctr"/>
            <a:r>
              <a:rPr lang="en-GB" sz="1200"/>
              <a:t>Healthcare</a:t>
            </a:r>
          </a:p>
        </p:txBody>
      </p:sp>
      <p:pic>
        <p:nvPicPr>
          <p:cNvPr id="33" name="Graphic 32" descr="Medical with solid fill">
            <a:extLst>
              <a:ext uri="{FF2B5EF4-FFF2-40B4-BE49-F238E27FC236}">
                <a16:creationId xmlns:a16="http://schemas.microsoft.com/office/drawing/2014/main" id="{1E206988-BEE9-9CA9-A44D-3F39C094944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316526" y="3662586"/>
            <a:ext cx="819878" cy="819878"/>
          </a:xfrm>
          <a:prstGeom prst="rect">
            <a:avLst/>
          </a:prstGeom>
        </p:spPr>
      </p:pic>
      <p:sp>
        <p:nvSpPr>
          <p:cNvPr id="34" name="Oval 33">
            <a:extLst>
              <a:ext uri="{FF2B5EF4-FFF2-40B4-BE49-F238E27FC236}">
                <a16:creationId xmlns:a16="http://schemas.microsoft.com/office/drawing/2014/main" id="{EF5126F0-214C-B839-821D-F4CFA62FD281}"/>
              </a:ext>
            </a:extLst>
          </p:cNvPr>
          <p:cNvSpPr/>
          <p:nvPr/>
        </p:nvSpPr>
        <p:spPr>
          <a:xfrm>
            <a:off x="4133494" y="723748"/>
            <a:ext cx="859109" cy="808279"/>
          </a:xfrm>
          <a:prstGeom prst="ellipse">
            <a:avLst/>
          </a:prstGeom>
          <a:solidFill>
            <a:schemeClr val="tx2">
              <a:lumMod val="60000"/>
              <a:lumOff val="40000"/>
            </a:schemeClr>
          </a:solidFill>
          <a:ln>
            <a:solidFill>
              <a:srgbClr val="0036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5" name="TextBox 34">
            <a:extLst>
              <a:ext uri="{FF2B5EF4-FFF2-40B4-BE49-F238E27FC236}">
                <a16:creationId xmlns:a16="http://schemas.microsoft.com/office/drawing/2014/main" id="{A00EE763-D971-B59E-5FF5-048768D5AD19}"/>
              </a:ext>
            </a:extLst>
          </p:cNvPr>
          <p:cNvSpPr txBox="1"/>
          <p:nvPr/>
        </p:nvSpPr>
        <p:spPr>
          <a:xfrm>
            <a:off x="4002978" y="1481716"/>
            <a:ext cx="1120140" cy="276999"/>
          </a:xfrm>
          <a:prstGeom prst="rect">
            <a:avLst/>
          </a:prstGeom>
          <a:noFill/>
        </p:spPr>
        <p:txBody>
          <a:bodyPr wrap="square" rtlCol="0">
            <a:spAutoFit/>
          </a:bodyPr>
          <a:lstStyle/>
          <a:p>
            <a:pPr algn="ctr"/>
            <a:r>
              <a:rPr lang="en-GB" sz="1200"/>
              <a:t>Cyber Security</a:t>
            </a:r>
          </a:p>
        </p:txBody>
      </p:sp>
      <p:pic>
        <p:nvPicPr>
          <p:cNvPr id="37" name="Graphic 36" descr="Shield Cross with solid fill">
            <a:extLst>
              <a:ext uri="{FF2B5EF4-FFF2-40B4-BE49-F238E27FC236}">
                <a16:creationId xmlns:a16="http://schemas.microsoft.com/office/drawing/2014/main" id="{FFAA248A-2BC8-372C-2BD9-BE02A81BAAE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185304" y="761753"/>
            <a:ext cx="755487" cy="755487"/>
          </a:xfrm>
          <a:prstGeom prst="rect">
            <a:avLst/>
          </a:prstGeom>
        </p:spPr>
      </p:pic>
      <p:sp>
        <p:nvSpPr>
          <p:cNvPr id="38" name="Oval 37">
            <a:extLst>
              <a:ext uri="{FF2B5EF4-FFF2-40B4-BE49-F238E27FC236}">
                <a16:creationId xmlns:a16="http://schemas.microsoft.com/office/drawing/2014/main" id="{34E24BAE-E0EE-6742-60A0-AB3969D35D63}"/>
              </a:ext>
            </a:extLst>
          </p:cNvPr>
          <p:cNvSpPr/>
          <p:nvPr/>
        </p:nvSpPr>
        <p:spPr>
          <a:xfrm>
            <a:off x="1918330" y="832338"/>
            <a:ext cx="859109" cy="808279"/>
          </a:xfrm>
          <a:prstGeom prst="ellipse">
            <a:avLst/>
          </a:prstGeom>
          <a:solidFill>
            <a:schemeClr val="tx2">
              <a:lumMod val="60000"/>
              <a:lumOff val="40000"/>
            </a:schemeClr>
          </a:solidFill>
          <a:ln>
            <a:solidFill>
              <a:srgbClr val="0036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9" name="TextBox 38">
            <a:extLst>
              <a:ext uri="{FF2B5EF4-FFF2-40B4-BE49-F238E27FC236}">
                <a16:creationId xmlns:a16="http://schemas.microsoft.com/office/drawing/2014/main" id="{C391C4D1-7E1A-6D12-AB76-4E876382FF27}"/>
              </a:ext>
            </a:extLst>
          </p:cNvPr>
          <p:cNvSpPr txBox="1"/>
          <p:nvPr/>
        </p:nvSpPr>
        <p:spPr>
          <a:xfrm>
            <a:off x="1860484" y="1632036"/>
            <a:ext cx="1120140" cy="276999"/>
          </a:xfrm>
          <a:prstGeom prst="rect">
            <a:avLst/>
          </a:prstGeom>
          <a:noFill/>
        </p:spPr>
        <p:txBody>
          <a:bodyPr wrap="square" rtlCol="0">
            <a:spAutoFit/>
          </a:bodyPr>
          <a:lstStyle/>
          <a:p>
            <a:pPr algn="ctr"/>
            <a:r>
              <a:rPr lang="en-GB" sz="1200"/>
              <a:t>Justice</a:t>
            </a:r>
          </a:p>
        </p:txBody>
      </p:sp>
      <p:pic>
        <p:nvPicPr>
          <p:cNvPr id="41" name="Graphic 40" descr="Weights Uneven with solid fill">
            <a:extLst>
              <a:ext uri="{FF2B5EF4-FFF2-40B4-BE49-F238E27FC236}">
                <a16:creationId xmlns:a16="http://schemas.microsoft.com/office/drawing/2014/main" id="{36C8F53E-7FB3-BEFF-5A24-DB5CB10167A3}"/>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987745" y="836777"/>
            <a:ext cx="720277" cy="720277"/>
          </a:xfrm>
          <a:prstGeom prst="rect">
            <a:avLst/>
          </a:prstGeom>
        </p:spPr>
      </p:pic>
      <p:sp>
        <p:nvSpPr>
          <p:cNvPr id="53" name="Oval 52">
            <a:extLst>
              <a:ext uri="{FF2B5EF4-FFF2-40B4-BE49-F238E27FC236}">
                <a16:creationId xmlns:a16="http://schemas.microsoft.com/office/drawing/2014/main" id="{DCF9E448-A4AD-5FAD-8D92-2362E3F4045D}"/>
              </a:ext>
            </a:extLst>
          </p:cNvPr>
          <p:cNvSpPr/>
          <p:nvPr/>
        </p:nvSpPr>
        <p:spPr>
          <a:xfrm>
            <a:off x="5179267" y="1106490"/>
            <a:ext cx="859109" cy="808279"/>
          </a:xfrm>
          <a:prstGeom prst="ellipse">
            <a:avLst/>
          </a:prstGeom>
          <a:solidFill>
            <a:schemeClr val="tx2">
              <a:lumMod val="60000"/>
              <a:lumOff val="40000"/>
            </a:schemeClr>
          </a:solidFill>
          <a:ln>
            <a:solidFill>
              <a:srgbClr val="0036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4" name="TextBox 53">
            <a:extLst>
              <a:ext uri="{FF2B5EF4-FFF2-40B4-BE49-F238E27FC236}">
                <a16:creationId xmlns:a16="http://schemas.microsoft.com/office/drawing/2014/main" id="{E78EACF3-C722-6CA5-10BA-3D80E394476F}"/>
              </a:ext>
            </a:extLst>
          </p:cNvPr>
          <p:cNvSpPr txBox="1"/>
          <p:nvPr/>
        </p:nvSpPr>
        <p:spPr>
          <a:xfrm>
            <a:off x="5092857" y="1851669"/>
            <a:ext cx="1120140" cy="276999"/>
          </a:xfrm>
          <a:prstGeom prst="rect">
            <a:avLst/>
          </a:prstGeom>
          <a:noFill/>
        </p:spPr>
        <p:txBody>
          <a:bodyPr wrap="square" rtlCol="0">
            <a:spAutoFit/>
          </a:bodyPr>
          <a:lstStyle/>
          <a:p>
            <a:pPr algn="ctr"/>
            <a:r>
              <a:rPr lang="en-GB" sz="1200"/>
              <a:t>Business</a:t>
            </a:r>
          </a:p>
        </p:txBody>
      </p:sp>
      <p:pic>
        <p:nvPicPr>
          <p:cNvPr id="56" name="Graphic 55" descr="Meeting with solid fill">
            <a:extLst>
              <a:ext uri="{FF2B5EF4-FFF2-40B4-BE49-F238E27FC236}">
                <a16:creationId xmlns:a16="http://schemas.microsoft.com/office/drawing/2014/main" id="{8CA0DB84-06C8-ADEC-034C-68B1E9518ADD}"/>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222671" y="1123352"/>
            <a:ext cx="774554" cy="774554"/>
          </a:xfrm>
          <a:prstGeom prst="rect">
            <a:avLst/>
          </a:prstGeom>
        </p:spPr>
      </p:pic>
      <p:sp>
        <p:nvSpPr>
          <p:cNvPr id="57" name="Oval 56">
            <a:extLst>
              <a:ext uri="{FF2B5EF4-FFF2-40B4-BE49-F238E27FC236}">
                <a16:creationId xmlns:a16="http://schemas.microsoft.com/office/drawing/2014/main" id="{DC8AC21E-4BBF-BBFD-CFBA-5D17A400C839}"/>
              </a:ext>
            </a:extLst>
          </p:cNvPr>
          <p:cNvSpPr/>
          <p:nvPr/>
        </p:nvSpPr>
        <p:spPr>
          <a:xfrm>
            <a:off x="6205313" y="362768"/>
            <a:ext cx="859109" cy="808279"/>
          </a:xfrm>
          <a:prstGeom prst="ellipse">
            <a:avLst/>
          </a:prstGeom>
          <a:solidFill>
            <a:schemeClr val="tx2">
              <a:lumMod val="60000"/>
              <a:lumOff val="40000"/>
            </a:schemeClr>
          </a:solidFill>
          <a:ln>
            <a:solidFill>
              <a:srgbClr val="0036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8" name="TextBox 57">
            <a:extLst>
              <a:ext uri="{FF2B5EF4-FFF2-40B4-BE49-F238E27FC236}">
                <a16:creationId xmlns:a16="http://schemas.microsoft.com/office/drawing/2014/main" id="{A3FEF5C6-B5AC-5A5A-D569-BA4C42241E95}"/>
              </a:ext>
            </a:extLst>
          </p:cNvPr>
          <p:cNvSpPr txBox="1"/>
          <p:nvPr/>
        </p:nvSpPr>
        <p:spPr>
          <a:xfrm>
            <a:off x="6074797" y="1120736"/>
            <a:ext cx="1120140" cy="276999"/>
          </a:xfrm>
          <a:prstGeom prst="rect">
            <a:avLst/>
          </a:prstGeom>
          <a:noFill/>
        </p:spPr>
        <p:txBody>
          <a:bodyPr wrap="square" rtlCol="0">
            <a:spAutoFit/>
          </a:bodyPr>
          <a:lstStyle/>
          <a:p>
            <a:pPr algn="ctr"/>
            <a:r>
              <a:rPr lang="en-GB" sz="1200"/>
              <a:t>Agriculture</a:t>
            </a:r>
          </a:p>
        </p:txBody>
      </p:sp>
      <p:pic>
        <p:nvPicPr>
          <p:cNvPr id="60" name="Graphic 59" descr="Crops with solid fill">
            <a:extLst>
              <a:ext uri="{FF2B5EF4-FFF2-40B4-BE49-F238E27FC236}">
                <a16:creationId xmlns:a16="http://schemas.microsoft.com/office/drawing/2014/main" id="{B2C8902D-3A28-713A-67FA-00B7EF377DBA}"/>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315740" y="429398"/>
            <a:ext cx="638255" cy="638255"/>
          </a:xfrm>
          <a:prstGeom prst="rect">
            <a:avLst/>
          </a:prstGeom>
        </p:spPr>
      </p:pic>
      <p:sp>
        <p:nvSpPr>
          <p:cNvPr id="61" name="Oval 60">
            <a:extLst>
              <a:ext uri="{FF2B5EF4-FFF2-40B4-BE49-F238E27FC236}">
                <a16:creationId xmlns:a16="http://schemas.microsoft.com/office/drawing/2014/main" id="{DFE1CF8B-0DB4-A63F-2511-F8C6CC621DE5}"/>
              </a:ext>
            </a:extLst>
          </p:cNvPr>
          <p:cNvSpPr/>
          <p:nvPr/>
        </p:nvSpPr>
        <p:spPr>
          <a:xfrm>
            <a:off x="7053819" y="2569848"/>
            <a:ext cx="859109" cy="808279"/>
          </a:xfrm>
          <a:prstGeom prst="ellipse">
            <a:avLst/>
          </a:prstGeom>
          <a:solidFill>
            <a:schemeClr val="tx2">
              <a:lumMod val="60000"/>
              <a:lumOff val="40000"/>
            </a:schemeClr>
          </a:solidFill>
          <a:ln>
            <a:solidFill>
              <a:srgbClr val="0036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2" name="TextBox 61">
            <a:extLst>
              <a:ext uri="{FF2B5EF4-FFF2-40B4-BE49-F238E27FC236}">
                <a16:creationId xmlns:a16="http://schemas.microsoft.com/office/drawing/2014/main" id="{3AD791F3-DE0F-8E85-9C45-3E8D5F1B9790}"/>
              </a:ext>
            </a:extLst>
          </p:cNvPr>
          <p:cNvSpPr txBox="1"/>
          <p:nvPr/>
        </p:nvSpPr>
        <p:spPr>
          <a:xfrm>
            <a:off x="6931495" y="3292717"/>
            <a:ext cx="1120140" cy="276999"/>
          </a:xfrm>
          <a:prstGeom prst="rect">
            <a:avLst/>
          </a:prstGeom>
          <a:noFill/>
        </p:spPr>
        <p:txBody>
          <a:bodyPr wrap="square" rtlCol="0">
            <a:spAutoFit/>
          </a:bodyPr>
          <a:lstStyle/>
          <a:p>
            <a:pPr algn="ctr"/>
            <a:r>
              <a:rPr lang="en-GB" sz="1200"/>
              <a:t>Sports</a:t>
            </a:r>
          </a:p>
        </p:txBody>
      </p:sp>
      <p:pic>
        <p:nvPicPr>
          <p:cNvPr id="4096" name="Graphic 4095" descr="Soccer with solid fill">
            <a:extLst>
              <a:ext uri="{FF2B5EF4-FFF2-40B4-BE49-F238E27FC236}">
                <a16:creationId xmlns:a16="http://schemas.microsoft.com/office/drawing/2014/main" id="{98FF3C1B-38D4-80EE-FD42-7450B9D1A884}"/>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7161233" y="2711517"/>
            <a:ext cx="580997" cy="580997"/>
          </a:xfrm>
          <a:prstGeom prst="rect">
            <a:avLst/>
          </a:prstGeom>
        </p:spPr>
      </p:pic>
      <p:sp>
        <p:nvSpPr>
          <p:cNvPr id="4097" name="Oval 4096">
            <a:extLst>
              <a:ext uri="{FF2B5EF4-FFF2-40B4-BE49-F238E27FC236}">
                <a16:creationId xmlns:a16="http://schemas.microsoft.com/office/drawing/2014/main" id="{D62ADB5B-2BD3-89E1-67E0-12E1B6ED1A53}"/>
              </a:ext>
            </a:extLst>
          </p:cNvPr>
          <p:cNvSpPr/>
          <p:nvPr/>
        </p:nvSpPr>
        <p:spPr>
          <a:xfrm>
            <a:off x="7018744" y="1255558"/>
            <a:ext cx="859109" cy="808279"/>
          </a:xfrm>
          <a:prstGeom prst="ellipse">
            <a:avLst/>
          </a:prstGeom>
          <a:solidFill>
            <a:schemeClr val="tx2">
              <a:lumMod val="60000"/>
              <a:lumOff val="40000"/>
            </a:schemeClr>
          </a:solidFill>
          <a:ln>
            <a:solidFill>
              <a:srgbClr val="0036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099" name="TextBox 4098">
            <a:extLst>
              <a:ext uri="{FF2B5EF4-FFF2-40B4-BE49-F238E27FC236}">
                <a16:creationId xmlns:a16="http://schemas.microsoft.com/office/drawing/2014/main" id="{4A08C296-6E7A-0175-BF46-90F4974F4629}"/>
              </a:ext>
            </a:extLst>
          </p:cNvPr>
          <p:cNvSpPr txBox="1"/>
          <p:nvPr/>
        </p:nvSpPr>
        <p:spPr>
          <a:xfrm>
            <a:off x="6888228" y="2013526"/>
            <a:ext cx="1120140" cy="276999"/>
          </a:xfrm>
          <a:prstGeom prst="rect">
            <a:avLst/>
          </a:prstGeom>
          <a:noFill/>
        </p:spPr>
        <p:txBody>
          <a:bodyPr wrap="square" rtlCol="0">
            <a:spAutoFit/>
          </a:bodyPr>
          <a:lstStyle/>
          <a:p>
            <a:pPr algn="ctr"/>
            <a:r>
              <a:rPr lang="en-GB" sz="1200"/>
              <a:t>Manufacturing</a:t>
            </a:r>
          </a:p>
        </p:txBody>
      </p:sp>
      <p:pic>
        <p:nvPicPr>
          <p:cNvPr id="4101" name="Graphic 4100" descr="Production with solid fill">
            <a:extLst>
              <a:ext uri="{FF2B5EF4-FFF2-40B4-BE49-F238E27FC236}">
                <a16:creationId xmlns:a16="http://schemas.microsoft.com/office/drawing/2014/main" id="{CEFFB1BA-B2BE-E9D8-72C4-06638D086F41}"/>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7116879" y="1278738"/>
            <a:ext cx="712843" cy="712843"/>
          </a:xfrm>
          <a:prstGeom prst="rect">
            <a:avLst/>
          </a:prstGeom>
        </p:spPr>
      </p:pic>
      <p:sp>
        <p:nvSpPr>
          <p:cNvPr id="4102" name="Oval 4101">
            <a:extLst>
              <a:ext uri="{FF2B5EF4-FFF2-40B4-BE49-F238E27FC236}">
                <a16:creationId xmlns:a16="http://schemas.microsoft.com/office/drawing/2014/main" id="{2A56E153-B929-9DFA-A0D7-D8CA81961ABE}"/>
              </a:ext>
            </a:extLst>
          </p:cNvPr>
          <p:cNvSpPr/>
          <p:nvPr/>
        </p:nvSpPr>
        <p:spPr>
          <a:xfrm>
            <a:off x="4231013" y="3433338"/>
            <a:ext cx="859109" cy="808279"/>
          </a:xfrm>
          <a:prstGeom prst="ellipse">
            <a:avLst/>
          </a:prstGeom>
          <a:solidFill>
            <a:schemeClr val="tx2">
              <a:lumMod val="60000"/>
              <a:lumOff val="40000"/>
            </a:schemeClr>
          </a:solidFill>
          <a:ln>
            <a:solidFill>
              <a:srgbClr val="0036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103" name="TextBox 4102">
            <a:extLst>
              <a:ext uri="{FF2B5EF4-FFF2-40B4-BE49-F238E27FC236}">
                <a16:creationId xmlns:a16="http://schemas.microsoft.com/office/drawing/2014/main" id="{B623B11B-85A4-7902-79EE-4F4CEB8CF53B}"/>
              </a:ext>
            </a:extLst>
          </p:cNvPr>
          <p:cNvSpPr txBox="1"/>
          <p:nvPr/>
        </p:nvSpPr>
        <p:spPr>
          <a:xfrm>
            <a:off x="4111198" y="4259397"/>
            <a:ext cx="1120140" cy="276999"/>
          </a:xfrm>
          <a:prstGeom prst="rect">
            <a:avLst/>
          </a:prstGeom>
          <a:noFill/>
        </p:spPr>
        <p:txBody>
          <a:bodyPr wrap="square" rtlCol="0">
            <a:spAutoFit/>
          </a:bodyPr>
          <a:lstStyle/>
          <a:p>
            <a:pPr algn="ctr"/>
            <a:r>
              <a:rPr lang="en-GB" sz="1200"/>
              <a:t>Data Analytics</a:t>
            </a:r>
          </a:p>
        </p:txBody>
      </p:sp>
      <p:pic>
        <p:nvPicPr>
          <p:cNvPr id="4105" name="Graphic 4104" descr="Research outline">
            <a:extLst>
              <a:ext uri="{FF2B5EF4-FFF2-40B4-BE49-F238E27FC236}">
                <a16:creationId xmlns:a16="http://schemas.microsoft.com/office/drawing/2014/main" id="{BB25D6AA-2A6B-A484-73F7-87E9D9F19979}"/>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4332204" y="3534870"/>
            <a:ext cx="646523" cy="646523"/>
          </a:xfrm>
          <a:prstGeom prst="rect">
            <a:avLst/>
          </a:prstGeom>
        </p:spPr>
      </p:pic>
      <p:sp>
        <p:nvSpPr>
          <p:cNvPr id="4106" name="Oval 4105">
            <a:extLst>
              <a:ext uri="{FF2B5EF4-FFF2-40B4-BE49-F238E27FC236}">
                <a16:creationId xmlns:a16="http://schemas.microsoft.com/office/drawing/2014/main" id="{7F1C0428-4669-68DE-DC8C-35887BFCA01D}"/>
              </a:ext>
            </a:extLst>
          </p:cNvPr>
          <p:cNvSpPr/>
          <p:nvPr/>
        </p:nvSpPr>
        <p:spPr>
          <a:xfrm>
            <a:off x="6198141" y="3599067"/>
            <a:ext cx="873222" cy="827596"/>
          </a:xfrm>
          <a:prstGeom prst="ellipse">
            <a:avLst/>
          </a:prstGeom>
          <a:solidFill>
            <a:schemeClr val="tx2">
              <a:lumMod val="60000"/>
              <a:lumOff val="40000"/>
            </a:schemeClr>
          </a:solidFill>
          <a:ln>
            <a:solidFill>
              <a:srgbClr val="0036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107" name="TextBox 4106">
            <a:extLst>
              <a:ext uri="{FF2B5EF4-FFF2-40B4-BE49-F238E27FC236}">
                <a16:creationId xmlns:a16="http://schemas.microsoft.com/office/drawing/2014/main" id="{6CB7E7A4-E3F5-3364-41FE-AA79943BA33B}"/>
              </a:ext>
            </a:extLst>
          </p:cNvPr>
          <p:cNvSpPr txBox="1"/>
          <p:nvPr/>
        </p:nvSpPr>
        <p:spPr>
          <a:xfrm>
            <a:off x="6118066" y="4374299"/>
            <a:ext cx="1120140" cy="461665"/>
          </a:xfrm>
          <a:prstGeom prst="rect">
            <a:avLst/>
          </a:prstGeom>
          <a:noFill/>
        </p:spPr>
        <p:txBody>
          <a:bodyPr wrap="square" rtlCol="0">
            <a:spAutoFit/>
          </a:bodyPr>
          <a:lstStyle/>
          <a:p>
            <a:pPr algn="ctr"/>
            <a:r>
              <a:rPr lang="en-GB" sz="1200"/>
              <a:t>Customer Service</a:t>
            </a:r>
          </a:p>
        </p:txBody>
      </p:sp>
      <p:pic>
        <p:nvPicPr>
          <p:cNvPr id="4109" name="Graphic 4108" descr="Headphones with solid fill">
            <a:extLst>
              <a:ext uri="{FF2B5EF4-FFF2-40B4-BE49-F238E27FC236}">
                <a16:creationId xmlns:a16="http://schemas.microsoft.com/office/drawing/2014/main" id="{243873FB-05CE-D025-5A85-9781AD64395A}"/>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6233835" y="3570525"/>
            <a:ext cx="803571" cy="803571"/>
          </a:xfrm>
          <a:prstGeom prst="rect">
            <a:avLst/>
          </a:prstGeom>
        </p:spPr>
      </p:pic>
      <p:sp>
        <p:nvSpPr>
          <p:cNvPr id="4110" name="Oval 4109">
            <a:extLst>
              <a:ext uri="{FF2B5EF4-FFF2-40B4-BE49-F238E27FC236}">
                <a16:creationId xmlns:a16="http://schemas.microsoft.com/office/drawing/2014/main" id="{7AC7798F-FAE8-729D-DAA9-F4B18EDFCDE2}"/>
              </a:ext>
            </a:extLst>
          </p:cNvPr>
          <p:cNvSpPr/>
          <p:nvPr/>
        </p:nvSpPr>
        <p:spPr>
          <a:xfrm>
            <a:off x="1063370" y="1803798"/>
            <a:ext cx="859109" cy="808279"/>
          </a:xfrm>
          <a:prstGeom prst="ellipse">
            <a:avLst/>
          </a:prstGeom>
          <a:solidFill>
            <a:schemeClr val="tx2">
              <a:lumMod val="60000"/>
              <a:lumOff val="40000"/>
            </a:schemeClr>
          </a:solidFill>
          <a:ln>
            <a:solidFill>
              <a:srgbClr val="0036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111" name="TextBox 4110">
            <a:extLst>
              <a:ext uri="{FF2B5EF4-FFF2-40B4-BE49-F238E27FC236}">
                <a16:creationId xmlns:a16="http://schemas.microsoft.com/office/drawing/2014/main" id="{0A00B785-EF0E-210F-1675-093C673187EE}"/>
              </a:ext>
            </a:extLst>
          </p:cNvPr>
          <p:cNvSpPr txBox="1"/>
          <p:nvPr/>
        </p:nvSpPr>
        <p:spPr>
          <a:xfrm>
            <a:off x="932854" y="2533831"/>
            <a:ext cx="1120140" cy="276999"/>
          </a:xfrm>
          <a:prstGeom prst="rect">
            <a:avLst/>
          </a:prstGeom>
          <a:noFill/>
        </p:spPr>
        <p:txBody>
          <a:bodyPr wrap="square" rtlCol="0">
            <a:spAutoFit/>
          </a:bodyPr>
          <a:lstStyle/>
          <a:p>
            <a:pPr algn="ctr"/>
            <a:r>
              <a:rPr lang="en-GB" sz="1200"/>
              <a:t>Logistics</a:t>
            </a:r>
          </a:p>
        </p:txBody>
      </p:sp>
      <p:pic>
        <p:nvPicPr>
          <p:cNvPr id="4113" name="Graphic 4112" descr="Box trolley with solid fill">
            <a:extLst>
              <a:ext uri="{FF2B5EF4-FFF2-40B4-BE49-F238E27FC236}">
                <a16:creationId xmlns:a16="http://schemas.microsoft.com/office/drawing/2014/main" id="{8D4E4ECA-B327-1573-70CD-DFA10AB20774}"/>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087677" y="1820938"/>
            <a:ext cx="772530" cy="772530"/>
          </a:xfrm>
          <a:prstGeom prst="rect">
            <a:avLst/>
          </a:prstGeom>
        </p:spPr>
      </p:pic>
      <p:sp>
        <p:nvSpPr>
          <p:cNvPr id="4114" name="Oval 4113">
            <a:extLst>
              <a:ext uri="{FF2B5EF4-FFF2-40B4-BE49-F238E27FC236}">
                <a16:creationId xmlns:a16="http://schemas.microsoft.com/office/drawing/2014/main" id="{DDE54E13-1735-771E-3E2B-88C7D0FEB729}"/>
              </a:ext>
            </a:extLst>
          </p:cNvPr>
          <p:cNvSpPr/>
          <p:nvPr/>
        </p:nvSpPr>
        <p:spPr>
          <a:xfrm>
            <a:off x="5900035" y="1979373"/>
            <a:ext cx="859109" cy="808279"/>
          </a:xfrm>
          <a:prstGeom prst="ellipse">
            <a:avLst/>
          </a:prstGeom>
          <a:solidFill>
            <a:schemeClr val="tx2">
              <a:lumMod val="60000"/>
              <a:lumOff val="40000"/>
            </a:schemeClr>
          </a:solidFill>
          <a:ln>
            <a:solidFill>
              <a:srgbClr val="0036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115" name="TextBox 4114">
            <a:extLst>
              <a:ext uri="{FF2B5EF4-FFF2-40B4-BE49-F238E27FC236}">
                <a16:creationId xmlns:a16="http://schemas.microsoft.com/office/drawing/2014/main" id="{6690FDC3-6116-480A-DD90-AF9233AB49AD}"/>
              </a:ext>
            </a:extLst>
          </p:cNvPr>
          <p:cNvSpPr txBox="1"/>
          <p:nvPr/>
        </p:nvSpPr>
        <p:spPr>
          <a:xfrm>
            <a:off x="5771518" y="2742631"/>
            <a:ext cx="1120140" cy="276999"/>
          </a:xfrm>
          <a:prstGeom prst="rect">
            <a:avLst/>
          </a:prstGeom>
          <a:noFill/>
        </p:spPr>
        <p:txBody>
          <a:bodyPr wrap="square" rtlCol="0">
            <a:spAutoFit/>
          </a:bodyPr>
          <a:lstStyle/>
          <a:p>
            <a:pPr algn="ctr"/>
            <a:r>
              <a:rPr lang="en-GB" sz="1200"/>
              <a:t>Tourism</a:t>
            </a:r>
          </a:p>
        </p:txBody>
      </p:sp>
      <p:pic>
        <p:nvPicPr>
          <p:cNvPr id="4117" name="Graphic 4116" descr="Travel with solid fill">
            <a:extLst>
              <a:ext uri="{FF2B5EF4-FFF2-40B4-BE49-F238E27FC236}">
                <a16:creationId xmlns:a16="http://schemas.microsoft.com/office/drawing/2014/main" id="{DCAE3203-2F2C-4943-70CF-87572E16273A}"/>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5981134" y="2045575"/>
            <a:ext cx="702273" cy="702273"/>
          </a:xfrm>
          <a:prstGeom prst="rect">
            <a:avLst/>
          </a:prstGeom>
        </p:spPr>
      </p:pic>
      <p:sp>
        <p:nvSpPr>
          <p:cNvPr id="17" name="TextBox 16">
            <a:extLst>
              <a:ext uri="{FF2B5EF4-FFF2-40B4-BE49-F238E27FC236}">
                <a16:creationId xmlns:a16="http://schemas.microsoft.com/office/drawing/2014/main" id="{4FEA3FFB-20FD-4EA2-D710-D370F6E7A845}"/>
              </a:ext>
            </a:extLst>
          </p:cNvPr>
          <p:cNvSpPr txBox="1"/>
          <p:nvPr/>
        </p:nvSpPr>
        <p:spPr>
          <a:xfrm>
            <a:off x="5090910" y="3579733"/>
            <a:ext cx="1120140" cy="276999"/>
          </a:xfrm>
          <a:prstGeom prst="rect">
            <a:avLst/>
          </a:prstGeom>
          <a:noFill/>
        </p:spPr>
        <p:txBody>
          <a:bodyPr wrap="square" rtlCol="0">
            <a:spAutoFit/>
          </a:bodyPr>
          <a:lstStyle/>
          <a:p>
            <a:pPr algn="ctr"/>
            <a:r>
              <a:rPr lang="en-GB" sz="1200"/>
              <a:t>Banking</a:t>
            </a:r>
          </a:p>
        </p:txBody>
      </p:sp>
      <p:sp>
        <p:nvSpPr>
          <p:cNvPr id="3" name="Text Placeholder 4">
            <a:extLst>
              <a:ext uri="{FF2B5EF4-FFF2-40B4-BE49-F238E27FC236}">
                <a16:creationId xmlns:a16="http://schemas.microsoft.com/office/drawing/2014/main" id="{E51D2B8A-A311-051F-C8B5-901962E62BD8}"/>
              </a:ext>
            </a:extLst>
          </p:cNvPr>
          <p:cNvSpPr>
            <a:spLocks noGrp="1"/>
          </p:cNvSpPr>
          <p:nvPr>
            <p:ph type="body" sz="quarter" idx="13"/>
          </p:nvPr>
        </p:nvSpPr>
        <p:spPr>
          <a:xfrm>
            <a:off x="160630" y="576315"/>
            <a:ext cx="8753475" cy="369332"/>
          </a:xfrm>
        </p:spPr>
        <p:txBody>
          <a:bodyPr/>
          <a:lstStyle/>
          <a:p>
            <a:endParaRPr lang="en-GB" dirty="0"/>
          </a:p>
        </p:txBody>
      </p:sp>
    </p:spTree>
    <p:extLst>
      <p:ext uri="{BB962C8B-B14F-4D97-AF65-F5344CB8AC3E}">
        <p14:creationId xmlns:p14="http://schemas.microsoft.com/office/powerpoint/2010/main" val="156030949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1000" fill="hold"/>
                                        <p:tgtEl>
                                          <p:spTgt spid="4121"/>
                                        </p:tgtEl>
                                      </p:cBhvr>
                                      <p:by x="25000" y="25000"/>
                                    </p:animScale>
                                  </p:childTnLst>
                                </p:cTn>
                              </p:par>
                              <p:par>
                                <p:cTn id="7" presetID="31" presetClass="entr" presetSubtype="0" fill="hold" grpId="0" nodeType="withEffect">
                                  <p:stCondLst>
                                    <p:cond delay="500"/>
                                  </p:stCondLst>
                                  <p:childTnLst>
                                    <p:set>
                                      <p:cBhvr>
                                        <p:cTn id="8" dur="1" fill="hold">
                                          <p:stCondLst>
                                            <p:cond delay="0"/>
                                          </p:stCondLst>
                                        </p:cTn>
                                        <p:tgtEl>
                                          <p:spTgt spid="8"/>
                                        </p:tgtEl>
                                        <p:attrNameLst>
                                          <p:attrName>style.visibility</p:attrName>
                                        </p:attrNameLst>
                                      </p:cBhvr>
                                      <p:to>
                                        <p:strVal val="visible"/>
                                      </p:to>
                                    </p:set>
                                    <p:anim calcmode="lin" valueType="num">
                                      <p:cBhvr>
                                        <p:cTn id="9" dur="1000" fill="hold"/>
                                        <p:tgtEl>
                                          <p:spTgt spid="8"/>
                                        </p:tgtEl>
                                        <p:attrNameLst>
                                          <p:attrName>ppt_w</p:attrName>
                                        </p:attrNameLst>
                                      </p:cBhvr>
                                      <p:tavLst>
                                        <p:tav tm="0">
                                          <p:val>
                                            <p:fltVal val="0"/>
                                          </p:val>
                                        </p:tav>
                                        <p:tav tm="100000">
                                          <p:val>
                                            <p:strVal val="#ppt_w"/>
                                          </p:val>
                                        </p:tav>
                                      </p:tavLst>
                                    </p:anim>
                                    <p:anim calcmode="lin" valueType="num">
                                      <p:cBhvr>
                                        <p:cTn id="10" dur="1000" fill="hold"/>
                                        <p:tgtEl>
                                          <p:spTgt spid="8"/>
                                        </p:tgtEl>
                                        <p:attrNameLst>
                                          <p:attrName>ppt_h</p:attrName>
                                        </p:attrNameLst>
                                      </p:cBhvr>
                                      <p:tavLst>
                                        <p:tav tm="0">
                                          <p:val>
                                            <p:fltVal val="0"/>
                                          </p:val>
                                        </p:tav>
                                        <p:tav tm="100000">
                                          <p:val>
                                            <p:strVal val="#ppt_h"/>
                                          </p:val>
                                        </p:tav>
                                      </p:tavLst>
                                    </p:anim>
                                    <p:anim calcmode="lin" valueType="num">
                                      <p:cBhvr>
                                        <p:cTn id="11" dur="1000" fill="hold"/>
                                        <p:tgtEl>
                                          <p:spTgt spid="8"/>
                                        </p:tgtEl>
                                        <p:attrNameLst>
                                          <p:attrName>style.rotation</p:attrName>
                                        </p:attrNameLst>
                                      </p:cBhvr>
                                      <p:tavLst>
                                        <p:tav tm="0">
                                          <p:val>
                                            <p:fltVal val="90"/>
                                          </p:val>
                                        </p:tav>
                                        <p:tav tm="100000">
                                          <p:val>
                                            <p:fltVal val="0"/>
                                          </p:val>
                                        </p:tav>
                                      </p:tavLst>
                                    </p:anim>
                                    <p:animEffect transition="in" filter="fade">
                                      <p:cBhvr>
                                        <p:cTn id="12" dur="1000"/>
                                        <p:tgtEl>
                                          <p:spTgt spid="8"/>
                                        </p:tgtEl>
                                      </p:cBhvr>
                                    </p:animEffect>
                                  </p:childTnLst>
                                </p:cTn>
                              </p:par>
                              <p:par>
                                <p:cTn id="13" presetID="31" presetClass="entr" presetSubtype="0" fill="hold" grpId="0" nodeType="withEffect">
                                  <p:stCondLst>
                                    <p:cond delay="500"/>
                                  </p:stCondLst>
                                  <p:childTnLst>
                                    <p:set>
                                      <p:cBhvr>
                                        <p:cTn id="14" dur="1" fill="hold">
                                          <p:stCondLst>
                                            <p:cond delay="0"/>
                                          </p:stCondLst>
                                        </p:cTn>
                                        <p:tgtEl>
                                          <p:spTgt spid="9"/>
                                        </p:tgtEl>
                                        <p:attrNameLst>
                                          <p:attrName>style.visibility</p:attrName>
                                        </p:attrNameLst>
                                      </p:cBhvr>
                                      <p:to>
                                        <p:strVal val="visible"/>
                                      </p:to>
                                    </p:set>
                                    <p:anim calcmode="lin" valueType="num">
                                      <p:cBhvr>
                                        <p:cTn id="15" dur="1000" fill="hold"/>
                                        <p:tgtEl>
                                          <p:spTgt spid="9"/>
                                        </p:tgtEl>
                                        <p:attrNameLst>
                                          <p:attrName>ppt_w</p:attrName>
                                        </p:attrNameLst>
                                      </p:cBhvr>
                                      <p:tavLst>
                                        <p:tav tm="0">
                                          <p:val>
                                            <p:fltVal val="0"/>
                                          </p:val>
                                        </p:tav>
                                        <p:tav tm="100000">
                                          <p:val>
                                            <p:strVal val="#ppt_w"/>
                                          </p:val>
                                        </p:tav>
                                      </p:tavLst>
                                    </p:anim>
                                    <p:anim calcmode="lin" valueType="num">
                                      <p:cBhvr>
                                        <p:cTn id="16" dur="1000" fill="hold"/>
                                        <p:tgtEl>
                                          <p:spTgt spid="9"/>
                                        </p:tgtEl>
                                        <p:attrNameLst>
                                          <p:attrName>ppt_h</p:attrName>
                                        </p:attrNameLst>
                                      </p:cBhvr>
                                      <p:tavLst>
                                        <p:tav tm="0">
                                          <p:val>
                                            <p:fltVal val="0"/>
                                          </p:val>
                                        </p:tav>
                                        <p:tav tm="100000">
                                          <p:val>
                                            <p:strVal val="#ppt_h"/>
                                          </p:val>
                                        </p:tav>
                                      </p:tavLst>
                                    </p:anim>
                                    <p:anim calcmode="lin" valueType="num">
                                      <p:cBhvr>
                                        <p:cTn id="17" dur="1000" fill="hold"/>
                                        <p:tgtEl>
                                          <p:spTgt spid="9"/>
                                        </p:tgtEl>
                                        <p:attrNameLst>
                                          <p:attrName>style.rotation</p:attrName>
                                        </p:attrNameLst>
                                      </p:cBhvr>
                                      <p:tavLst>
                                        <p:tav tm="0">
                                          <p:val>
                                            <p:fltVal val="90"/>
                                          </p:val>
                                        </p:tav>
                                        <p:tav tm="100000">
                                          <p:val>
                                            <p:fltVal val="0"/>
                                          </p:val>
                                        </p:tav>
                                      </p:tavLst>
                                    </p:anim>
                                    <p:animEffect transition="in" filter="fade">
                                      <p:cBhvr>
                                        <p:cTn id="18" dur="1000"/>
                                        <p:tgtEl>
                                          <p:spTgt spid="9"/>
                                        </p:tgtEl>
                                      </p:cBhvr>
                                    </p:animEffect>
                                  </p:childTnLst>
                                </p:cTn>
                              </p:par>
                              <p:par>
                                <p:cTn id="19" presetID="31" presetClass="entr" presetSubtype="0" fill="hold" nodeType="withEffect">
                                  <p:stCondLst>
                                    <p:cond delay="500"/>
                                  </p:stCondLst>
                                  <p:childTnLst>
                                    <p:set>
                                      <p:cBhvr>
                                        <p:cTn id="20" dur="1" fill="hold">
                                          <p:stCondLst>
                                            <p:cond delay="0"/>
                                          </p:stCondLst>
                                        </p:cTn>
                                        <p:tgtEl>
                                          <p:spTgt spid="11"/>
                                        </p:tgtEl>
                                        <p:attrNameLst>
                                          <p:attrName>style.visibility</p:attrName>
                                        </p:attrNameLst>
                                      </p:cBhvr>
                                      <p:to>
                                        <p:strVal val="visible"/>
                                      </p:to>
                                    </p:set>
                                    <p:anim calcmode="lin" valueType="num">
                                      <p:cBhvr>
                                        <p:cTn id="21" dur="1000" fill="hold"/>
                                        <p:tgtEl>
                                          <p:spTgt spid="11"/>
                                        </p:tgtEl>
                                        <p:attrNameLst>
                                          <p:attrName>ppt_w</p:attrName>
                                        </p:attrNameLst>
                                      </p:cBhvr>
                                      <p:tavLst>
                                        <p:tav tm="0">
                                          <p:val>
                                            <p:fltVal val="0"/>
                                          </p:val>
                                        </p:tav>
                                        <p:tav tm="100000">
                                          <p:val>
                                            <p:strVal val="#ppt_w"/>
                                          </p:val>
                                        </p:tav>
                                      </p:tavLst>
                                    </p:anim>
                                    <p:anim calcmode="lin" valueType="num">
                                      <p:cBhvr>
                                        <p:cTn id="22" dur="1000" fill="hold"/>
                                        <p:tgtEl>
                                          <p:spTgt spid="11"/>
                                        </p:tgtEl>
                                        <p:attrNameLst>
                                          <p:attrName>ppt_h</p:attrName>
                                        </p:attrNameLst>
                                      </p:cBhvr>
                                      <p:tavLst>
                                        <p:tav tm="0">
                                          <p:val>
                                            <p:fltVal val="0"/>
                                          </p:val>
                                        </p:tav>
                                        <p:tav tm="100000">
                                          <p:val>
                                            <p:strVal val="#ppt_h"/>
                                          </p:val>
                                        </p:tav>
                                      </p:tavLst>
                                    </p:anim>
                                    <p:anim calcmode="lin" valueType="num">
                                      <p:cBhvr>
                                        <p:cTn id="23" dur="1000" fill="hold"/>
                                        <p:tgtEl>
                                          <p:spTgt spid="11"/>
                                        </p:tgtEl>
                                        <p:attrNameLst>
                                          <p:attrName>style.rotation</p:attrName>
                                        </p:attrNameLst>
                                      </p:cBhvr>
                                      <p:tavLst>
                                        <p:tav tm="0">
                                          <p:val>
                                            <p:fltVal val="90"/>
                                          </p:val>
                                        </p:tav>
                                        <p:tav tm="100000">
                                          <p:val>
                                            <p:fltVal val="0"/>
                                          </p:val>
                                        </p:tav>
                                      </p:tavLst>
                                    </p:anim>
                                    <p:animEffect transition="in" filter="fade">
                                      <p:cBhvr>
                                        <p:cTn id="24" dur="1000"/>
                                        <p:tgtEl>
                                          <p:spTgt spid="11"/>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p:cTn id="27" dur="1000" fill="hold"/>
                                        <p:tgtEl>
                                          <p:spTgt spid="16"/>
                                        </p:tgtEl>
                                        <p:attrNameLst>
                                          <p:attrName>ppt_w</p:attrName>
                                        </p:attrNameLst>
                                      </p:cBhvr>
                                      <p:tavLst>
                                        <p:tav tm="0">
                                          <p:val>
                                            <p:fltVal val="0"/>
                                          </p:val>
                                        </p:tav>
                                        <p:tav tm="100000">
                                          <p:val>
                                            <p:strVal val="#ppt_w"/>
                                          </p:val>
                                        </p:tav>
                                      </p:tavLst>
                                    </p:anim>
                                    <p:anim calcmode="lin" valueType="num">
                                      <p:cBhvr>
                                        <p:cTn id="28" dur="1000" fill="hold"/>
                                        <p:tgtEl>
                                          <p:spTgt spid="16"/>
                                        </p:tgtEl>
                                        <p:attrNameLst>
                                          <p:attrName>ppt_h</p:attrName>
                                        </p:attrNameLst>
                                      </p:cBhvr>
                                      <p:tavLst>
                                        <p:tav tm="0">
                                          <p:val>
                                            <p:fltVal val="0"/>
                                          </p:val>
                                        </p:tav>
                                        <p:tav tm="100000">
                                          <p:val>
                                            <p:strVal val="#ppt_h"/>
                                          </p:val>
                                        </p:tav>
                                      </p:tavLst>
                                    </p:anim>
                                    <p:anim calcmode="lin" valueType="num">
                                      <p:cBhvr>
                                        <p:cTn id="29" dur="1000" fill="hold"/>
                                        <p:tgtEl>
                                          <p:spTgt spid="16"/>
                                        </p:tgtEl>
                                        <p:attrNameLst>
                                          <p:attrName>style.rotation</p:attrName>
                                        </p:attrNameLst>
                                      </p:cBhvr>
                                      <p:tavLst>
                                        <p:tav tm="0">
                                          <p:val>
                                            <p:fltVal val="90"/>
                                          </p:val>
                                        </p:tav>
                                        <p:tav tm="100000">
                                          <p:val>
                                            <p:fltVal val="0"/>
                                          </p:val>
                                        </p:tav>
                                      </p:tavLst>
                                    </p:anim>
                                    <p:animEffect transition="in" filter="fade">
                                      <p:cBhvr>
                                        <p:cTn id="30" dur="1000"/>
                                        <p:tgtEl>
                                          <p:spTgt spid="16"/>
                                        </p:tgtEl>
                                      </p:cBhvr>
                                    </p:animEffect>
                                  </p:childTnLst>
                                </p:cTn>
                              </p:par>
                              <p:par>
                                <p:cTn id="31" presetID="3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p:cTn id="33" dur="1000" fill="hold"/>
                                        <p:tgtEl>
                                          <p:spTgt spid="15"/>
                                        </p:tgtEl>
                                        <p:attrNameLst>
                                          <p:attrName>ppt_w</p:attrName>
                                        </p:attrNameLst>
                                      </p:cBhvr>
                                      <p:tavLst>
                                        <p:tav tm="0">
                                          <p:val>
                                            <p:fltVal val="0"/>
                                          </p:val>
                                        </p:tav>
                                        <p:tav tm="100000">
                                          <p:val>
                                            <p:strVal val="#ppt_w"/>
                                          </p:val>
                                        </p:tav>
                                      </p:tavLst>
                                    </p:anim>
                                    <p:anim calcmode="lin" valueType="num">
                                      <p:cBhvr>
                                        <p:cTn id="34" dur="1000" fill="hold"/>
                                        <p:tgtEl>
                                          <p:spTgt spid="15"/>
                                        </p:tgtEl>
                                        <p:attrNameLst>
                                          <p:attrName>ppt_h</p:attrName>
                                        </p:attrNameLst>
                                      </p:cBhvr>
                                      <p:tavLst>
                                        <p:tav tm="0">
                                          <p:val>
                                            <p:fltVal val="0"/>
                                          </p:val>
                                        </p:tav>
                                        <p:tav tm="100000">
                                          <p:val>
                                            <p:strVal val="#ppt_h"/>
                                          </p:val>
                                        </p:tav>
                                      </p:tavLst>
                                    </p:anim>
                                    <p:anim calcmode="lin" valueType="num">
                                      <p:cBhvr>
                                        <p:cTn id="35" dur="1000" fill="hold"/>
                                        <p:tgtEl>
                                          <p:spTgt spid="15"/>
                                        </p:tgtEl>
                                        <p:attrNameLst>
                                          <p:attrName>style.rotation</p:attrName>
                                        </p:attrNameLst>
                                      </p:cBhvr>
                                      <p:tavLst>
                                        <p:tav tm="0">
                                          <p:val>
                                            <p:fltVal val="90"/>
                                          </p:val>
                                        </p:tav>
                                        <p:tav tm="100000">
                                          <p:val>
                                            <p:fltVal val="0"/>
                                          </p:val>
                                        </p:tav>
                                      </p:tavLst>
                                    </p:anim>
                                    <p:animEffect transition="in" filter="fade">
                                      <p:cBhvr>
                                        <p:cTn id="36" dur="1000"/>
                                        <p:tgtEl>
                                          <p:spTgt spid="15"/>
                                        </p:tgtEl>
                                      </p:cBhvr>
                                    </p:animEffect>
                                  </p:childTnLst>
                                </p:cTn>
                              </p:par>
                              <p:par>
                                <p:cTn id="37" presetID="31" presetClass="entr" presetSubtype="0" fill="hold" grpId="0" nodeType="withEffect">
                                  <p:stCondLst>
                                    <p:cond delay="700"/>
                                  </p:stCondLst>
                                  <p:childTnLst>
                                    <p:set>
                                      <p:cBhvr>
                                        <p:cTn id="38" dur="1" fill="hold">
                                          <p:stCondLst>
                                            <p:cond delay="0"/>
                                          </p:stCondLst>
                                        </p:cTn>
                                        <p:tgtEl>
                                          <p:spTgt spid="20"/>
                                        </p:tgtEl>
                                        <p:attrNameLst>
                                          <p:attrName>style.visibility</p:attrName>
                                        </p:attrNameLst>
                                      </p:cBhvr>
                                      <p:to>
                                        <p:strVal val="visible"/>
                                      </p:to>
                                    </p:set>
                                    <p:anim calcmode="lin" valueType="num">
                                      <p:cBhvr>
                                        <p:cTn id="39" dur="1000" fill="hold"/>
                                        <p:tgtEl>
                                          <p:spTgt spid="20"/>
                                        </p:tgtEl>
                                        <p:attrNameLst>
                                          <p:attrName>ppt_w</p:attrName>
                                        </p:attrNameLst>
                                      </p:cBhvr>
                                      <p:tavLst>
                                        <p:tav tm="0">
                                          <p:val>
                                            <p:fltVal val="0"/>
                                          </p:val>
                                        </p:tav>
                                        <p:tav tm="100000">
                                          <p:val>
                                            <p:strVal val="#ppt_w"/>
                                          </p:val>
                                        </p:tav>
                                      </p:tavLst>
                                    </p:anim>
                                    <p:anim calcmode="lin" valueType="num">
                                      <p:cBhvr>
                                        <p:cTn id="40" dur="1000" fill="hold"/>
                                        <p:tgtEl>
                                          <p:spTgt spid="20"/>
                                        </p:tgtEl>
                                        <p:attrNameLst>
                                          <p:attrName>ppt_h</p:attrName>
                                        </p:attrNameLst>
                                      </p:cBhvr>
                                      <p:tavLst>
                                        <p:tav tm="0">
                                          <p:val>
                                            <p:fltVal val="0"/>
                                          </p:val>
                                        </p:tav>
                                        <p:tav tm="100000">
                                          <p:val>
                                            <p:strVal val="#ppt_h"/>
                                          </p:val>
                                        </p:tav>
                                      </p:tavLst>
                                    </p:anim>
                                    <p:anim calcmode="lin" valueType="num">
                                      <p:cBhvr>
                                        <p:cTn id="41" dur="1000" fill="hold"/>
                                        <p:tgtEl>
                                          <p:spTgt spid="20"/>
                                        </p:tgtEl>
                                        <p:attrNameLst>
                                          <p:attrName>style.rotation</p:attrName>
                                        </p:attrNameLst>
                                      </p:cBhvr>
                                      <p:tavLst>
                                        <p:tav tm="0">
                                          <p:val>
                                            <p:fltVal val="90"/>
                                          </p:val>
                                        </p:tav>
                                        <p:tav tm="100000">
                                          <p:val>
                                            <p:fltVal val="0"/>
                                          </p:val>
                                        </p:tav>
                                      </p:tavLst>
                                    </p:anim>
                                    <p:animEffect transition="in" filter="fade">
                                      <p:cBhvr>
                                        <p:cTn id="42" dur="1000"/>
                                        <p:tgtEl>
                                          <p:spTgt spid="20"/>
                                        </p:tgtEl>
                                      </p:cBhvr>
                                    </p:animEffect>
                                  </p:childTnLst>
                                </p:cTn>
                              </p:par>
                              <p:par>
                                <p:cTn id="43" presetID="31" presetClass="entr" presetSubtype="0" fill="hold" grpId="0" nodeType="withEffect">
                                  <p:stCondLst>
                                    <p:cond delay="800"/>
                                  </p:stCondLst>
                                  <p:childTnLst>
                                    <p:set>
                                      <p:cBhvr>
                                        <p:cTn id="44" dur="1" fill="hold">
                                          <p:stCondLst>
                                            <p:cond delay="0"/>
                                          </p:stCondLst>
                                        </p:cTn>
                                        <p:tgtEl>
                                          <p:spTgt spid="21"/>
                                        </p:tgtEl>
                                        <p:attrNameLst>
                                          <p:attrName>style.visibility</p:attrName>
                                        </p:attrNameLst>
                                      </p:cBhvr>
                                      <p:to>
                                        <p:strVal val="visible"/>
                                      </p:to>
                                    </p:set>
                                    <p:anim calcmode="lin" valueType="num">
                                      <p:cBhvr>
                                        <p:cTn id="45" dur="1000" fill="hold"/>
                                        <p:tgtEl>
                                          <p:spTgt spid="21"/>
                                        </p:tgtEl>
                                        <p:attrNameLst>
                                          <p:attrName>ppt_w</p:attrName>
                                        </p:attrNameLst>
                                      </p:cBhvr>
                                      <p:tavLst>
                                        <p:tav tm="0">
                                          <p:val>
                                            <p:fltVal val="0"/>
                                          </p:val>
                                        </p:tav>
                                        <p:tav tm="100000">
                                          <p:val>
                                            <p:strVal val="#ppt_w"/>
                                          </p:val>
                                        </p:tav>
                                      </p:tavLst>
                                    </p:anim>
                                    <p:anim calcmode="lin" valueType="num">
                                      <p:cBhvr>
                                        <p:cTn id="46" dur="1000" fill="hold"/>
                                        <p:tgtEl>
                                          <p:spTgt spid="21"/>
                                        </p:tgtEl>
                                        <p:attrNameLst>
                                          <p:attrName>ppt_h</p:attrName>
                                        </p:attrNameLst>
                                      </p:cBhvr>
                                      <p:tavLst>
                                        <p:tav tm="0">
                                          <p:val>
                                            <p:fltVal val="0"/>
                                          </p:val>
                                        </p:tav>
                                        <p:tav tm="100000">
                                          <p:val>
                                            <p:strVal val="#ppt_h"/>
                                          </p:val>
                                        </p:tav>
                                      </p:tavLst>
                                    </p:anim>
                                    <p:anim calcmode="lin" valueType="num">
                                      <p:cBhvr>
                                        <p:cTn id="47" dur="1000" fill="hold"/>
                                        <p:tgtEl>
                                          <p:spTgt spid="21"/>
                                        </p:tgtEl>
                                        <p:attrNameLst>
                                          <p:attrName>style.rotation</p:attrName>
                                        </p:attrNameLst>
                                      </p:cBhvr>
                                      <p:tavLst>
                                        <p:tav tm="0">
                                          <p:val>
                                            <p:fltVal val="90"/>
                                          </p:val>
                                        </p:tav>
                                        <p:tav tm="100000">
                                          <p:val>
                                            <p:fltVal val="0"/>
                                          </p:val>
                                        </p:tav>
                                      </p:tavLst>
                                    </p:anim>
                                    <p:animEffect transition="in" filter="fade">
                                      <p:cBhvr>
                                        <p:cTn id="48" dur="1000"/>
                                        <p:tgtEl>
                                          <p:spTgt spid="21"/>
                                        </p:tgtEl>
                                      </p:cBhvr>
                                    </p:animEffect>
                                  </p:childTnLst>
                                </p:cTn>
                              </p:par>
                              <p:par>
                                <p:cTn id="49" presetID="31" presetClass="entr" presetSubtype="0" fill="hold" nodeType="withEffect">
                                  <p:stCondLst>
                                    <p:cond delay="800"/>
                                  </p:stCondLst>
                                  <p:childTnLst>
                                    <p:set>
                                      <p:cBhvr>
                                        <p:cTn id="50" dur="1" fill="hold">
                                          <p:stCondLst>
                                            <p:cond delay="0"/>
                                          </p:stCondLst>
                                        </p:cTn>
                                        <p:tgtEl>
                                          <p:spTgt spid="19"/>
                                        </p:tgtEl>
                                        <p:attrNameLst>
                                          <p:attrName>style.visibility</p:attrName>
                                        </p:attrNameLst>
                                      </p:cBhvr>
                                      <p:to>
                                        <p:strVal val="visible"/>
                                      </p:to>
                                    </p:set>
                                    <p:anim calcmode="lin" valueType="num">
                                      <p:cBhvr>
                                        <p:cTn id="51" dur="1000" fill="hold"/>
                                        <p:tgtEl>
                                          <p:spTgt spid="19"/>
                                        </p:tgtEl>
                                        <p:attrNameLst>
                                          <p:attrName>ppt_w</p:attrName>
                                        </p:attrNameLst>
                                      </p:cBhvr>
                                      <p:tavLst>
                                        <p:tav tm="0">
                                          <p:val>
                                            <p:fltVal val="0"/>
                                          </p:val>
                                        </p:tav>
                                        <p:tav tm="100000">
                                          <p:val>
                                            <p:strVal val="#ppt_w"/>
                                          </p:val>
                                        </p:tav>
                                      </p:tavLst>
                                    </p:anim>
                                    <p:anim calcmode="lin" valueType="num">
                                      <p:cBhvr>
                                        <p:cTn id="52" dur="1000" fill="hold"/>
                                        <p:tgtEl>
                                          <p:spTgt spid="19"/>
                                        </p:tgtEl>
                                        <p:attrNameLst>
                                          <p:attrName>ppt_h</p:attrName>
                                        </p:attrNameLst>
                                      </p:cBhvr>
                                      <p:tavLst>
                                        <p:tav tm="0">
                                          <p:val>
                                            <p:fltVal val="0"/>
                                          </p:val>
                                        </p:tav>
                                        <p:tav tm="100000">
                                          <p:val>
                                            <p:strVal val="#ppt_h"/>
                                          </p:val>
                                        </p:tav>
                                      </p:tavLst>
                                    </p:anim>
                                    <p:anim calcmode="lin" valueType="num">
                                      <p:cBhvr>
                                        <p:cTn id="53" dur="1000" fill="hold"/>
                                        <p:tgtEl>
                                          <p:spTgt spid="19"/>
                                        </p:tgtEl>
                                        <p:attrNameLst>
                                          <p:attrName>style.rotation</p:attrName>
                                        </p:attrNameLst>
                                      </p:cBhvr>
                                      <p:tavLst>
                                        <p:tav tm="0">
                                          <p:val>
                                            <p:fltVal val="90"/>
                                          </p:val>
                                        </p:tav>
                                        <p:tav tm="100000">
                                          <p:val>
                                            <p:fltVal val="0"/>
                                          </p:val>
                                        </p:tav>
                                      </p:tavLst>
                                    </p:anim>
                                    <p:animEffect transition="in" filter="fade">
                                      <p:cBhvr>
                                        <p:cTn id="54" dur="1000"/>
                                        <p:tgtEl>
                                          <p:spTgt spid="19"/>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 calcmode="lin" valueType="num">
                                      <p:cBhvr>
                                        <p:cTn id="57" dur="1000" fill="hold"/>
                                        <p:tgtEl>
                                          <p:spTgt spid="22"/>
                                        </p:tgtEl>
                                        <p:attrNameLst>
                                          <p:attrName>ppt_w</p:attrName>
                                        </p:attrNameLst>
                                      </p:cBhvr>
                                      <p:tavLst>
                                        <p:tav tm="0">
                                          <p:val>
                                            <p:fltVal val="0"/>
                                          </p:val>
                                        </p:tav>
                                        <p:tav tm="100000">
                                          <p:val>
                                            <p:strVal val="#ppt_w"/>
                                          </p:val>
                                        </p:tav>
                                      </p:tavLst>
                                    </p:anim>
                                    <p:anim calcmode="lin" valueType="num">
                                      <p:cBhvr>
                                        <p:cTn id="58" dur="1000" fill="hold"/>
                                        <p:tgtEl>
                                          <p:spTgt spid="22"/>
                                        </p:tgtEl>
                                        <p:attrNameLst>
                                          <p:attrName>ppt_h</p:attrName>
                                        </p:attrNameLst>
                                      </p:cBhvr>
                                      <p:tavLst>
                                        <p:tav tm="0">
                                          <p:val>
                                            <p:fltVal val="0"/>
                                          </p:val>
                                        </p:tav>
                                        <p:tav tm="100000">
                                          <p:val>
                                            <p:strVal val="#ppt_h"/>
                                          </p:val>
                                        </p:tav>
                                      </p:tavLst>
                                    </p:anim>
                                    <p:anim calcmode="lin" valueType="num">
                                      <p:cBhvr>
                                        <p:cTn id="59" dur="1000" fill="hold"/>
                                        <p:tgtEl>
                                          <p:spTgt spid="22"/>
                                        </p:tgtEl>
                                        <p:attrNameLst>
                                          <p:attrName>style.rotation</p:attrName>
                                        </p:attrNameLst>
                                      </p:cBhvr>
                                      <p:tavLst>
                                        <p:tav tm="0">
                                          <p:val>
                                            <p:fltVal val="90"/>
                                          </p:val>
                                        </p:tav>
                                        <p:tav tm="100000">
                                          <p:val>
                                            <p:fltVal val="0"/>
                                          </p:val>
                                        </p:tav>
                                      </p:tavLst>
                                    </p:anim>
                                    <p:animEffect transition="in" filter="fade">
                                      <p:cBhvr>
                                        <p:cTn id="60" dur="1000"/>
                                        <p:tgtEl>
                                          <p:spTgt spid="22"/>
                                        </p:tgtEl>
                                      </p:cBhvr>
                                    </p:animEffect>
                                  </p:childTnLst>
                                </p:cTn>
                              </p:par>
                              <p:par>
                                <p:cTn id="61" presetID="31"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 calcmode="lin" valueType="num">
                                      <p:cBhvr>
                                        <p:cTn id="63" dur="1000" fill="hold"/>
                                        <p:tgtEl>
                                          <p:spTgt spid="23"/>
                                        </p:tgtEl>
                                        <p:attrNameLst>
                                          <p:attrName>ppt_w</p:attrName>
                                        </p:attrNameLst>
                                      </p:cBhvr>
                                      <p:tavLst>
                                        <p:tav tm="0">
                                          <p:val>
                                            <p:fltVal val="0"/>
                                          </p:val>
                                        </p:tav>
                                        <p:tav tm="100000">
                                          <p:val>
                                            <p:strVal val="#ppt_w"/>
                                          </p:val>
                                        </p:tav>
                                      </p:tavLst>
                                    </p:anim>
                                    <p:anim calcmode="lin" valueType="num">
                                      <p:cBhvr>
                                        <p:cTn id="64" dur="1000" fill="hold"/>
                                        <p:tgtEl>
                                          <p:spTgt spid="23"/>
                                        </p:tgtEl>
                                        <p:attrNameLst>
                                          <p:attrName>ppt_h</p:attrName>
                                        </p:attrNameLst>
                                      </p:cBhvr>
                                      <p:tavLst>
                                        <p:tav tm="0">
                                          <p:val>
                                            <p:fltVal val="0"/>
                                          </p:val>
                                        </p:tav>
                                        <p:tav tm="100000">
                                          <p:val>
                                            <p:strVal val="#ppt_h"/>
                                          </p:val>
                                        </p:tav>
                                      </p:tavLst>
                                    </p:anim>
                                    <p:anim calcmode="lin" valueType="num">
                                      <p:cBhvr>
                                        <p:cTn id="65" dur="1000" fill="hold"/>
                                        <p:tgtEl>
                                          <p:spTgt spid="23"/>
                                        </p:tgtEl>
                                        <p:attrNameLst>
                                          <p:attrName>style.rotation</p:attrName>
                                        </p:attrNameLst>
                                      </p:cBhvr>
                                      <p:tavLst>
                                        <p:tav tm="0">
                                          <p:val>
                                            <p:fltVal val="90"/>
                                          </p:val>
                                        </p:tav>
                                        <p:tav tm="100000">
                                          <p:val>
                                            <p:fltVal val="0"/>
                                          </p:val>
                                        </p:tav>
                                      </p:tavLst>
                                    </p:anim>
                                    <p:animEffect transition="in" filter="fade">
                                      <p:cBhvr>
                                        <p:cTn id="66" dur="1000"/>
                                        <p:tgtEl>
                                          <p:spTgt spid="23"/>
                                        </p:tgtEl>
                                      </p:cBhvr>
                                    </p:animEffect>
                                  </p:childTnLst>
                                </p:cTn>
                              </p:par>
                              <p:par>
                                <p:cTn id="67" presetID="31" presetClass="entr" presetSubtype="0" fill="hold" nodeType="withEffect">
                                  <p:stCondLst>
                                    <p:cond delay="0"/>
                                  </p:stCondLst>
                                  <p:childTnLst>
                                    <p:set>
                                      <p:cBhvr>
                                        <p:cTn id="68" dur="1" fill="hold">
                                          <p:stCondLst>
                                            <p:cond delay="0"/>
                                          </p:stCondLst>
                                        </p:cTn>
                                        <p:tgtEl>
                                          <p:spTgt spid="25"/>
                                        </p:tgtEl>
                                        <p:attrNameLst>
                                          <p:attrName>style.visibility</p:attrName>
                                        </p:attrNameLst>
                                      </p:cBhvr>
                                      <p:to>
                                        <p:strVal val="visible"/>
                                      </p:to>
                                    </p:set>
                                    <p:anim calcmode="lin" valueType="num">
                                      <p:cBhvr>
                                        <p:cTn id="69" dur="1000" fill="hold"/>
                                        <p:tgtEl>
                                          <p:spTgt spid="25"/>
                                        </p:tgtEl>
                                        <p:attrNameLst>
                                          <p:attrName>ppt_w</p:attrName>
                                        </p:attrNameLst>
                                      </p:cBhvr>
                                      <p:tavLst>
                                        <p:tav tm="0">
                                          <p:val>
                                            <p:fltVal val="0"/>
                                          </p:val>
                                        </p:tav>
                                        <p:tav tm="100000">
                                          <p:val>
                                            <p:strVal val="#ppt_w"/>
                                          </p:val>
                                        </p:tav>
                                      </p:tavLst>
                                    </p:anim>
                                    <p:anim calcmode="lin" valueType="num">
                                      <p:cBhvr>
                                        <p:cTn id="70" dur="1000" fill="hold"/>
                                        <p:tgtEl>
                                          <p:spTgt spid="25"/>
                                        </p:tgtEl>
                                        <p:attrNameLst>
                                          <p:attrName>ppt_h</p:attrName>
                                        </p:attrNameLst>
                                      </p:cBhvr>
                                      <p:tavLst>
                                        <p:tav tm="0">
                                          <p:val>
                                            <p:fltVal val="0"/>
                                          </p:val>
                                        </p:tav>
                                        <p:tav tm="100000">
                                          <p:val>
                                            <p:strVal val="#ppt_h"/>
                                          </p:val>
                                        </p:tav>
                                      </p:tavLst>
                                    </p:anim>
                                    <p:anim calcmode="lin" valueType="num">
                                      <p:cBhvr>
                                        <p:cTn id="71" dur="1000" fill="hold"/>
                                        <p:tgtEl>
                                          <p:spTgt spid="25"/>
                                        </p:tgtEl>
                                        <p:attrNameLst>
                                          <p:attrName>style.rotation</p:attrName>
                                        </p:attrNameLst>
                                      </p:cBhvr>
                                      <p:tavLst>
                                        <p:tav tm="0">
                                          <p:val>
                                            <p:fltVal val="90"/>
                                          </p:val>
                                        </p:tav>
                                        <p:tav tm="100000">
                                          <p:val>
                                            <p:fltVal val="0"/>
                                          </p:val>
                                        </p:tav>
                                      </p:tavLst>
                                    </p:anim>
                                    <p:animEffect transition="in" filter="fade">
                                      <p:cBhvr>
                                        <p:cTn id="72" dur="1000"/>
                                        <p:tgtEl>
                                          <p:spTgt spid="25"/>
                                        </p:tgtEl>
                                      </p:cBhvr>
                                    </p:animEffect>
                                  </p:childTnLst>
                                </p:cTn>
                              </p:par>
                              <p:par>
                                <p:cTn id="73" presetID="31"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 calcmode="lin" valueType="num">
                                      <p:cBhvr>
                                        <p:cTn id="75" dur="1000" fill="hold"/>
                                        <p:tgtEl>
                                          <p:spTgt spid="26"/>
                                        </p:tgtEl>
                                        <p:attrNameLst>
                                          <p:attrName>ppt_w</p:attrName>
                                        </p:attrNameLst>
                                      </p:cBhvr>
                                      <p:tavLst>
                                        <p:tav tm="0">
                                          <p:val>
                                            <p:fltVal val="0"/>
                                          </p:val>
                                        </p:tav>
                                        <p:tav tm="100000">
                                          <p:val>
                                            <p:strVal val="#ppt_w"/>
                                          </p:val>
                                        </p:tav>
                                      </p:tavLst>
                                    </p:anim>
                                    <p:anim calcmode="lin" valueType="num">
                                      <p:cBhvr>
                                        <p:cTn id="76" dur="1000" fill="hold"/>
                                        <p:tgtEl>
                                          <p:spTgt spid="26"/>
                                        </p:tgtEl>
                                        <p:attrNameLst>
                                          <p:attrName>ppt_h</p:attrName>
                                        </p:attrNameLst>
                                      </p:cBhvr>
                                      <p:tavLst>
                                        <p:tav tm="0">
                                          <p:val>
                                            <p:fltVal val="0"/>
                                          </p:val>
                                        </p:tav>
                                        <p:tav tm="100000">
                                          <p:val>
                                            <p:strVal val="#ppt_h"/>
                                          </p:val>
                                        </p:tav>
                                      </p:tavLst>
                                    </p:anim>
                                    <p:anim calcmode="lin" valueType="num">
                                      <p:cBhvr>
                                        <p:cTn id="77" dur="1000" fill="hold"/>
                                        <p:tgtEl>
                                          <p:spTgt spid="26"/>
                                        </p:tgtEl>
                                        <p:attrNameLst>
                                          <p:attrName>style.rotation</p:attrName>
                                        </p:attrNameLst>
                                      </p:cBhvr>
                                      <p:tavLst>
                                        <p:tav tm="0">
                                          <p:val>
                                            <p:fltVal val="90"/>
                                          </p:val>
                                        </p:tav>
                                        <p:tav tm="100000">
                                          <p:val>
                                            <p:fltVal val="0"/>
                                          </p:val>
                                        </p:tav>
                                      </p:tavLst>
                                    </p:anim>
                                    <p:animEffect transition="in" filter="fade">
                                      <p:cBhvr>
                                        <p:cTn id="78" dur="1000"/>
                                        <p:tgtEl>
                                          <p:spTgt spid="26"/>
                                        </p:tgtEl>
                                      </p:cBhvr>
                                    </p:animEffect>
                                  </p:childTnLst>
                                </p:cTn>
                              </p:par>
                              <p:par>
                                <p:cTn id="79" presetID="31"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 calcmode="lin" valueType="num">
                                      <p:cBhvr>
                                        <p:cTn id="81" dur="1000" fill="hold"/>
                                        <p:tgtEl>
                                          <p:spTgt spid="27"/>
                                        </p:tgtEl>
                                        <p:attrNameLst>
                                          <p:attrName>ppt_w</p:attrName>
                                        </p:attrNameLst>
                                      </p:cBhvr>
                                      <p:tavLst>
                                        <p:tav tm="0">
                                          <p:val>
                                            <p:fltVal val="0"/>
                                          </p:val>
                                        </p:tav>
                                        <p:tav tm="100000">
                                          <p:val>
                                            <p:strVal val="#ppt_w"/>
                                          </p:val>
                                        </p:tav>
                                      </p:tavLst>
                                    </p:anim>
                                    <p:anim calcmode="lin" valueType="num">
                                      <p:cBhvr>
                                        <p:cTn id="82" dur="1000" fill="hold"/>
                                        <p:tgtEl>
                                          <p:spTgt spid="27"/>
                                        </p:tgtEl>
                                        <p:attrNameLst>
                                          <p:attrName>ppt_h</p:attrName>
                                        </p:attrNameLst>
                                      </p:cBhvr>
                                      <p:tavLst>
                                        <p:tav tm="0">
                                          <p:val>
                                            <p:fltVal val="0"/>
                                          </p:val>
                                        </p:tav>
                                        <p:tav tm="100000">
                                          <p:val>
                                            <p:strVal val="#ppt_h"/>
                                          </p:val>
                                        </p:tav>
                                      </p:tavLst>
                                    </p:anim>
                                    <p:anim calcmode="lin" valueType="num">
                                      <p:cBhvr>
                                        <p:cTn id="83" dur="1000" fill="hold"/>
                                        <p:tgtEl>
                                          <p:spTgt spid="27"/>
                                        </p:tgtEl>
                                        <p:attrNameLst>
                                          <p:attrName>style.rotation</p:attrName>
                                        </p:attrNameLst>
                                      </p:cBhvr>
                                      <p:tavLst>
                                        <p:tav tm="0">
                                          <p:val>
                                            <p:fltVal val="90"/>
                                          </p:val>
                                        </p:tav>
                                        <p:tav tm="100000">
                                          <p:val>
                                            <p:fltVal val="0"/>
                                          </p:val>
                                        </p:tav>
                                      </p:tavLst>
                                    </p:anim>
                                    <p:animEffect transition="in" filter="fade">
                                      <p:cBhvr>
                                        <p:cTn id="84" dur="1000"/>
                                        <p:tgtEl>
                                          <p:spTgt spid="27"/>
                                        </p:tgtEl>
                                      </p:cBhvr>
                                    </p:animEffect>
                                  </p:childTnLst>
                                </p:cTn>
                              </p:par>
                              <p:par>
                                <p:cTn id="85" presetID="31" presetClass="entr" presetSubtype="0" fill="hold" nodeType="withEffect">
                                  <p:stCondLst>
                                    <p:cond delay="0"/>
                                  </p:stCondLst>
                                  <p:childTnLst>
                                    <p:set>
                                      <p:cBhvr>
                                        <p:cTn id="86" dur="1" fill="hold">
                                          <p:stCondLst>
                                            <p:cond delay="0"/>
                                          </p:stCondLst>
                                        </p:cTn>
                                        <p:tgtEl>
                                          <p:spTgt spid="29"/>
                                        </p:tgtEl>
                                        <p:attrNameLst>
                                          <p:attrName>style.visibility</p:attrName>
                                        </p:attrNameLst>
                                      </p:cBhvr>
                                      <p:to>
                                        <p:strVal val="visible"/>
                                      </p:to>
                                    </p:set>
                                    <p:anim calcmode="lin" valueType="num">
                                      <p:cBhvr>
                                        <p:cTn id="87" dur="1000" fill="hold"/>
                                        <p:tgtEl>
                                          <p:spTgt spid="29"/>
                                        </p:tgtEl>
                                        <p:attrNameLst>
                                          <p:attrName>ppt_w</p:attrName>
                                        </p:attrNameLst>
                                      </p:cBhvr>
                                      <p:tavLst>
                                        <p:tav tm="0">
                                          <p:val>
                                            <p:fltVal val="0"/>
                                          </p:val>
                                        </p:tav>
                                        <p:tav tm="100000">
                                          <p:val>
                                            <p:strVal val="#ppt_w"/>
                                          </p:val>
                                        </p:tav>
                                      </p:tavLst>
                                    </p:anim>
                                    <p:anim calcmode="lin" valueType="num">
                                      <p:cBhvr>
                                        <p:cTn id="88" dur="1000" fill="hold"/>
                                        <p:tgtEl>
                                          <p:spTgt spid="29"/>
                                        </p:tgtEl>
                                        <p:attrNameLst>
                                          <p:attrName>ppt_h</p:attrName>
                                        </p:attrNameLst>
                                      </p:cBhvr>
                                      <p:tavLst>
                                        <p:tav tm="0">
                                          <p:val>
                                            <p:fltVal val="0"/>
                                          </p:val>
                                        </p:tav>
                                        <p:tav tm="100000">
                                          <p:val>
                                            <p:strVal val="#ppt_h"/>
                                          </p:val>
                                        </p:tav>
                                      </p:tavLst>
                                    </p:anim>
                                    <p:anim calcmode="lin" valueType="num">
                                      <p:cBhvr>
                                        <p:cTn id="89" dur="1000" fill="hold"/>
                                        <p:tgtEl>
                                          <p:spTgt spid="29"/>
                                        </p:tgtEl>
                                        <p:attrNameLst>
                                          <p:attrName>style.rotation</p:attrName>
                                        </p:attrNameLst>
                                      </p:cBhvr>
                                      <p:tavLst>
                                        <p:tav tm="0">
                                          <p:val>
                                            <p:fltVal val="90"/>
                                          </p:val>
                                        </p:tav>
                                        <p:tav tm="100000">
                                          <p:val>
                                            <p:fltVal val="0"/>
                                          </p:val>
                                        </p:tav>
                                      </p:tavLst>
                                    </p:anim>
                                    <p:animEffect transition="in" filter="fade">
                                      <p:cBhvr>
                                        <p:cTn id="90" dur="1000"/>
                                        <p:tgtEl>
                                          <p:spTgt spid="29"/>
                                        </p:tgtEl>
                                      </p:cBhvr>
                                    </p:animEffect>
                                  </p:childTnLst>
                                </p:cTn>
                              </p:par>
                              <p:par>
                                <p:cTn id="91" presetID="31" presetClass="entr" presetSubtype="0" fill="hold" grpId="0" nodeType="withEffect">
                                  <p:stCondLst>
                                    <p:cond delay="0"/>
                                  </p:stCondLst>
                                  <p:childTnLst>
                                    <p:set>
                                      <p:cBhvr>
                                        <p:cTn id="92" dur="1" fill="hold">
                                          <p:stCondLst>
                                            <p:cond delay="0"/>
                                          </p:stCondLst>
                                        </p:cTn>
                                        <p:tgtEl>
                                          <p:spTgt spid="30"/>
                                        </p:tgtEl>
                                        <p:attrNameLst>
                                          <p:attrName>style.visibility</p:attrName>
                                        </p:attrNameLst>
                                      </p:cBhvr>
                                      <p:to>
                                        <p:strVal val="visible"/>
                                      </p:to>
                                    </p:set>
                                    <p:anim calcmode="lin" valueType="num">
                                      <p:cBhvr>
                                        <p:cTn id="93" dur="1000" fill="hold"/>
                                        <p:tgtEl>
                                          <p:spTgt spid="30"/>
                                        </p:tgtEl>
                                        <p:attrNameLst>
                                          <p:attrName>ppt_w</p:attrName>
                                        </p:attrNameLst>
                                      </p:cBhvr>
                                      <p:tavLst>
                                        <p:tav tm="0">
                                          <p:val>
                                            <p:fltVal val="0"/>
                                          </p:val>
                                        </p:tav>
                                        <p:tav tm="100000">
                                          <p:val>
                                            <p:strVal val="#ppt_w"/>
                                          </p:val>
                                        </p:tav>
                                      </p:tavLst>
                                    </p:anim>
                                    <p:anim calcmode="lin" valueType="num">
                                      <p:cBhvr>
                                        <p:cTn id="94" dur="1000" fill="hold"/>
                                        <p:tgtEl>
                                          <p:spTgt spid="30"/>
                                        </p:tgtEl>
                                        <p:attrNameLst>
                                          <p:attrName>ppt_h</p:attrName>
                                        </p:attrNameLst>
                                      </p:cBhvr>
                                      <p:tavLst>
                                        <p:tav tm="0">
                                          <p:val>
                                            <p:fltVal val="0"/>
                                          </p:val>
                                        </p:tav>
                                        <p:tav tm="100000">
                                          <p:val>
                                            <p:strVal val="#ppt_h"/>
                                          </p:val>
                                        </p:tav>
                                      </p:tavLst>
                                    </p:anim>
                                    <p:anim calcmode="lin" valueType="num">
                                      <p:cBhvr>
                                        <p:cTn id="95" dur="1000" fill="hold"/>
                                        <p:tgtEl>
                                          <p:spTgt spid="30"/>
                                        </p:tgtEl>
                                        <p:attrNameLst>
                                          <p:attrName>style.rotation</p:attrName>
                                        </p:attrNameLst>
                                      </p:cBhvr>
                                      <p:tavLst>
                                        <p:tav tm="0">
                                          <p:val>
                                            <p:fltVal val="90"/>
                                          </p:val>
                                        </p:tav>
                                        <p:tav tm="100000">
                                          <p:val>
                                            <p:fltVal val="0"/>
                                          </p:val>
                                        </p:tav>
                                      </p:tavLst>
                                    </p:anim>
                                    <p:animEffect transition="in" filter="fade">
                                      <p:cBhvr>
                                        <p:cTn id="96" dur="1000"/>
                                        <p:tgtEl>
                                          <p:spTgt spid="30"/>
                                        </p:tgtEl>
                                      </p:cBhvr>
                                    </p:animEffect>
                                  </p:childTnLst>
                                </p:cTn>
                              </p:par>
                              <p:par>
                                <p:cTn id="97" presetID="31"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 calcmode="lin" valueType="num">
                                      <p:cBhvr>
                                        <p:cTn id="99" dur="1000" fill="hold"/>
                                        <p:tgtEl>
                                          <p:spTgt spid="31"/>
                                        </p:tgtEl>
                                        <p:attrNameLst>
                                          <p:attrName>ppt_w</p:attrName>
                                        </p:attrNameLst>
                                      </p:cBhvr>
                                      <p:tavLst>
                                        <p:tav tm="0">
                                          <p:val>
                                            <p:fltVal val="0"/>
                                          </p:val>
                                        </p:tav>
                                        <p:tav tm="100000">
                                          <p:val>
                                            <p:strVal val="#ppt_w"/>
                                          </p:val>
                                        </p:tav>
                                      </p:tavLst>
                                    </p:anim>
                                    <p:anim calcmode="lin" valueType="num">
                                      <p:cBhvr>
                                        <p:cTn id="100" dur="1000" fill="hold"/>
                                        <p:tgtEl>
                                          <p:spTgt spid="31"/>
                                        </p:tgtEl>
                                        <p:attrNameLst>
                                          <p:attrName>ppt_h</p:attrName>
                                        </p:attrNameLst>
                                      </p:cBhvr>
                                      <p:tavLst>
                                        <p:tav tm="0">
                                          <p:val>
                                            <p:fltVal val="0"/>
                                          </p:val>
                                        </p:tav>
                                        <p:tav tm="100000">
                                          <p:val>
                                            <p:strVal val="#ppt_h"/>
                                          </p:val>
                                        </p:tav>
                                      </p:tavLst>
                                    </p:anim>
                                    <p:anim calcmode="lin" valueType="num">
                                      <p:cBhvr>
                                        <p:cTn id="101" dur="1000" fill="hold"/>
                                        <p:tgtEl>
                                          <p:spTgt spid="31"/>
                                        </p:tgtEl>
                                        <p:attrNameLst>
                                          <p:attrName>style.rotation</p:attrName>
                                        </p:attrNameLst>
                                      </p:cBhvr>
                                      <p:tavLst>
                                        <p:tav tm="0">
                                          <p:val>
                                            <p:fltVal val="90"/>
                                          </p:val>
                                        </p:tav>
                                        <p:tav tm="100000">
                                          <p:val>
                                            <p:fltVal val="0"/>
                                          </p:val>
                                        </p:tav>
                                      </p:tavLst>
                                    </p:anim>
                                    <p:animEffect transition="in" filter="fade">
                                      <p:cBhvr>
                                        <p:cTn id="102" dur="1000"/>
                                        <p:tgtEl>
                                          <p:spTgt spid="31"/>
                                        </p:tgtEl>
                                      </p:cBhvr>
                                    </p:animEffect>
                                  </p:childTnLst>
                                </p:cTn>
                              </p:par>
                              <p:par>
                                <p:cTn id="103" presetID="31" presetClass="entr" presetSubtype="0" fill="hold" nodeType="withEffect">
                                  <p:stCondLst>
                                    <p:cond delay="0"/>
                                  </p:stCondLst>
                                  <p:childTnLst>
                                    <p:set>
                                      <p:cBhvr>
                                        <p:cTn id="104" dur="1" fill="hold">
                                          <p:stCondLst>
                                            <p:cond delay="0"/>
                                          </p:stCondLst>
                                        </p:cTn>
                                        <p:tgtEl>
                                          <p:spTgt spid="33"/>
                                        </p:tgtEl>
                                        <p:attrNameLst>
                                          <p:attrName>style.visibility</p:attrName>
                                        </p:attrNameLst>
                                      </p:cBhvr>
                                      <p:to>
                                        <p:strVal val="visible"/>
                                      </p:to>
                                    </p:set>
                                    <p:anim calcmode="lin" valueType="num">
                                      <p:cBhvr>
                                        <p:cTn id="105" dur="1000" fill="hold"/>
                                        <p:tgtEl>
                                          <p:spTgt spid="33"/>
                                        </p:tgtEl>
                                        <p:attrNameLst>
                                          <p:attrName>ppt_w</p:attrName>
                                        </p:attrNameLst>
                                      </p:cBhvr>
                                      <p:tavLst>
                                        <p:tav tm="0">
                                          <p:val>
                                            <p:fltVal val="0"/>
                                          </p:val>
                                        </p:tav>
                                        <p:tav tm="100000">
                                          <p:val>
                                            <p:strVal val="#ppt_w"/>
                                          </p:val>
                                        </p:tav>
                                      </p:tavLst>
                                    </p:anim>
                                    <p:anim calcmode="lin" valueType="num">
                                      <p:cBhvr>
                                        <p:cTn id="106" dur="1000" fill="hold"/>
                                        <p:tgtEl>
                                          <p:spTgt spid="33"/>
                                        </p:tgtEl>
                                        <p:attrNameLst>
                                          <p:attrName>ppt_h</p:attrName>
                                        </p:attrNameLst>
                                      </p:cBhvr>
                                      <p:tavLst>
                                        <p:tav tm="0">
                                          <p:val>
                                            <p:fltVal val="0"/>
                                          </p:val>
                                        </p:tav>
                                        <p:tav tm="100000">
                                          <p:val>
                                            <p:strVal val="#ppt_h"/>
                                          </p:val>
                                        </p:tav>
                                      </p:tavLst>
                                    </p:anim>
                                    <p:anim calcmode="lin" valueType="num">
                                      <p:cBhvr>
                                        <p:cTn id="107" dur="1000" fill="hold"/>
                                        <p:tgtEl>
                                          <p:spTgt spid="33"/>
                                        </p:tgtEl>
                                        <p:attrNameLst>
                                          <p:attrName>style.rotation</p:attrName>
                                        </p:attrNameLst>
                                      </p:cBhvr>
                                      <p:tavLst>
                                        <p:tav tm="0">
                                          <p:val>
                                            <p:fltVal val="90"/>
                                          </p:val>
                                        </p:tav>
                                        <p:tav tm="100000">
                                          <p:val>
                                            <p:fltVal val="0"/>
                                          </p:val>
                                        </p:tav>
                                      </p:tavLst>
                                    </p:anim>
                                    <p:animEffect transition="in" filter="fade">
                                      <p:cBhvr>
                                        <p:cTn id="108" dur="1000"/>
                                        <p:tgtEl>
                                          <p:spTgt spid="33"/>
                                        </p:tgtEl>
                                      </p:cBhvr>
                                    </p:animEffect>
                                  </p:childTnLst>
                                </p:cTn>
                              </p:par>
                              <p:par>
                                <p:cTn id="109" presetID="31" presetClass="entr" presetSubtype="0" fill="hold" grpId="0" nodeType="withEffect">
                                  <p:stCondLst>
                                    <p:cond delay="0"/>
                                  </p:stCondLst>
                                  <p:childTnLst>
                                    <p:set>
                                      <p:cBhvr>
                                        <p:cTn id="110" dur="1" fill="hold">
                                          <p:stCondLst>
                                            <p:cond delay="0"/>
                                          </p:stCondLst>
                                        </p:cTn>
                                        <p:tgtEl>
                                          <p:spTgt spid="34"/>
                                        </p:tgtEl>
                                        <p:attrNameLst>
                                          <p:attrName>style.visibility</p:attrName>
                                        </p:attrNameLst>
                                      </p:cBhvr>
                                      <p:to>
                                        <p:strVal val="visible"/>
                                      </p:to>
                                    </p:set>
                                    <p:anim calcmode="lin" valueType="num">
                                      <p:cBhvr>
                                        <p:cTn id="111" dur="1000" fill="hold"/>
                                        <p:tgtEl>
                                          <p:spTgt spid="34"/>
                                        </p:tgtEl>
                                        <p:attrNameLst>
                                          <p:attrName>ppt_w</p:attrName>
                                        </p:attrNameLst>
                                      </p:cBhvr>
                                      <p:tavLst>
                                        <p:tav tm="0">
                                          <p:val>
                                            <p:fltVal val="0"/>
                                          </p:val>
                                        </p:tav>
                                        <p:tav tm="100000">
                                          <p:val>
                                            <p:strVal val="#ppt_w"/>
                                          </p:val>
                                        </p:tav>
                                      </p:tavLst>
                                    </p:anim>
                                    <p:anim calcmode="lin" valueType="num">
                                      <p:cBhvr>
                                        <p:cTn id="112" dur="1000" fill="hold"/>
                                        <p:tgtEl>
                                          <p:spTgt spid="34"/>
                                        </p:tgtEl>
                                        <p:attrNameLst>
                                          <p:attrName>ppt_h</p:attrName>
                                        </p:attrNameLst>
                                      </p:cBhvr>
                                      <p:tavLst>
                                        <p:tav tm="0">
                                          <p:val>
                                            <p:fltVal val="0"/>
                                          </p:val>
                                        </p:tav>
                                        <p:tav tm="100000">
                                          <p:val>
                                            <p:strVal val="#ppt_h"/>
                                          </p:val>
                                        </p:tav>
                                      </p:tavLst>
                                    </p:anim>
                                    <p:anim calcmode="lin" valueType="num">
                                      <p:cBhvr>
                                        <p:cTn id="113" dur="1000" fill="hold"/>
                                        <p:tgtEl>
                                          <p:spTgt spid="34"/>
                                        </p:tgtEl>
                                        <p:attrNameLst>
                                          <p:attrName>style.rotation</p:attrName>
                                        </p:attrNameLst>
                                      </p:cBhvr>
                                      <p:tavLst>
                                        <p:tav tm="0">
                                          <p:val>
                                            <p:fltVal val="90"/>
                                          </p:val>
                                        </p:tav>
                                        <p:tav tm="100000">
                                          <p:val>
                                            <p:fltVal val="0"/>
                                          </p:val>
                                        </p:tav>
                                      </p:tavLst>
                                    </p:anim>
                                    <p:animEffect transition="in" filter="fade">
                                      <p:cBhvr>
                                        <p:cTn id="114" dur="1000"/>
                                        <p:tgtEl>
                                          <p:spTgt spid="34"/>
                                        </p:tgtEl>
                                      </p:cBhvr>
                                    </p:animEffect>
                                  </p:childTnLst>
                                </p:cTn>
                              </p:par>
                              <p:par>
                                <p:cTn id="115" presetID="31" presetClass="entr" presetSubtype="0" fill="hold" grpId="0" nodeType="withEffect">
                                  <p:stCondLst>
                                    <p:cond delay="0"/>
                                  </p:stCondLst>
                                  <p:childTnLst>
                                    <p:set>
                                      <p:cBhvr>
                                        <p:cTn id="116" dur="1" fill="hold">
                                          <p:stCondLst>
                                            <p:cond delay="0"/>
                                          </p:stCondLst>
                                        </p:cTn>
                                        <p:tgtEl>
                                          <p:spTgt spid="35"/>
                                        </p:tgtEl>
                                        <p:attrNameLst>
                                          <p:attrName>style.visibility</p:attrName>
                                        </p:attrNameLst>
                                      </p:cBhvr>
                                      <p:to>
                                        <p:strVal val="visible"/>
                                      </p:to>
                                    </p:set>
                                    <p:anim calcmode="lin" valueType="num">
                                      <p:cBhvr>
                                        <p:cTn id="117" dur="1000" fill="hold"/>
                                        <p:tgtEl>
                                          <p:spTgt spid="35"/>
                                        </p:tgtEl>
                                        <p:attrNameLst>
                                          <p:attrName>ppt_w</p:attrName>
                                        </p:attrNameLst>
                                      </p:cBhvr>
                                      <p:tavLst>
                                        <p:tav tm="0">
                                          <p:val>
                                            <p:fltVal val="0"/>
                                          </p:val>
                                        </p:tav>
                                        <p:tav tm="100000">
                                          <p:val>
                                            <p:strVal val="#ppt_w"/>
                                          </p:val>
                                        </p:tav>
                                      </p:tavLst>
                                    </p:anim>
                                    <p:anim calcmode="lin" valueType="num">
                                      <p:cBhvr>
                                        <p:cTn id="118" dur="1000" fill="hold"/>
                                        <p:tgtEl>
                                          <p:spTgt spid="35"/>
                                        </p:tgtEl>
                                        <p:attrNameLst>
                                          <p:attrName>ppt_h</p:attrName>
                                        </p:attrNameLst>
                                      </p:cBhvr>
                                      <p:tavLst>
                                        <p:tav tm="0">
                                          <p:val>
                                            <p:fltVal val="0"/>
                                          </p:val>
                                        </p:tav>
                                        <p:tav tm="100000">
                                          <p:val>
                                            <p:strVal val="#ppt_h"/>
                                          </p:val>
                                        </p:tav>
                                      </p:tavLst>
                                    </p:anim>
                                    <p:anim calcmode="lin" valueType="num">
                                      <p:cBhvr>
                                        <p:cTn id="119" dur="1000" fill="hold"/>
                                        <p:tgtEl>
                                          <p:spTgt spid="35"/>
                                        </p:tgtEl>
                                        <p:attrNameLst>
                                          <p:attrName>style.rotation</p:attrName>
                                        </p:attrNameLst>
                                      </p:cBhvr>
                                      <p:tavLst>
                                        <p:tav tm="0">
                                          <p:val>
                                            <p:fltVal val="90"/>
                                          </p:val>
                                        </p:tav>
                                        <p:tav tm="100000">
                                          <p:val>
                                            <p:fltVal val="0"/>
                                          </p:val>
                                        </p:tav>
                                      </p:tavLst>
                                    </p:anim>
                                    <p:animEffect transition="in" filter="fade">
                                      <p:cBhvr>
                                        <p:cTn id="120" dur="1000"/>
                                        <p:tgtEl>
                                          <p:spTgt spid="35"/>
                                        </p:tgtEl>
                                      </p:cBhvr>
                                    </p:animEffect>
                                  </p:childTnLst>
                                </p:cTn>
                              </p:par>
                              <p:par>
                                <p:cTn id="121" presetID="31" presetClass="entr" presetSubtype="0" fill="hold" nodeType="withEffect">
                                  <p:stCondLst>
                                    <p:cond delay="0"/>
                                  </p:stCondLst>
                                  <p:childTnLst>
                                    <p:set>
                                      <p:cBhvr>
                                        <p:cTn id="122" dur="1" fill="hold">
                                          <p:stCondLst>
                                            <p:cond delay="0"/>
                                          </p:stCondLst>
                                        </p:cTn>
                                        <p:tgtEl>
                                          <p:spTgt spid="37"/>
                                        </p:tgtEl>
                                        <p:attrNameLst>
                                          <p:attrName>style.visibility</p:attrName>
                                        </p:attrNameLst>
                                      </p:cBhvr>
                                      <p:to>
                                        <p:strVal val="visible"/>
                                      </p:to>
                                    </p:set>
                                    <p:anim calcmode="lin" valueType="num">
                                      <p:cBhvr>
                                        <p:cTn id="123" dur="1000" fill="hold"/>
                                        <p:tgtEl>
                                          <p:spTgt spid="37"/>
                                        </p:tgtEl>
                                        <p:attrNameLst>
                                          <p:attrName>ppt_w</p:attrName>
                                        </p:attrNameLst>
                                      </p:cBhvr>
                                      <p:tavLst>
                                        <p:tav tm="0">
                                          <p:val>
                                            <p:fltVal val="0"/>
                                          </p:val>
                                        </p:tav>
                                        <p:tav tm="100000">
                                          <p:val>
                                            <p:strVal val="#ppt_w"/>
                                          </p:val>
                                        </p:tav>
                                      </p:tavLst>
                                    </p:anim>
                                    <p:anim calcmode="lin" valueType="num">
                                      <p:cBhvr>
                                        <p:cTn id="124" dur="1000" fill="hold"/>
                                        <p:tgtEl>
                                          <p:spTgt spid="37"/>
                                        </p:tgtEl>
                                        <p:attrNameLst>
                                          <p:attrName>ppt_h</p:attrName>
                                        </p:attrNameLst>
                                      </p:cBhvr>
                                      <p:tavLst>
                                        <p:tav tm="0">
                                          <p:val>
                                            <p:fltVal val="0"/>
                                          </p:val>
                                        </p:tav>
                                        <p:tav tm="100000">
                                          <p:val>
                                            <p:strVal val="#ppt_h"/>
                                          </p:val>
                                        </p:tav>
                                      </p:tavLst>
                                    </p:anim>
                                    <p:anim calcmode="lin" valueType="num">
                                      <p:cBhvr>
                                        <p:cTn id="125" dur="1000" fill="hold"/>
                                        <p:tgtEl>
                                          <p:spTgt spid="37"/>
                                        </p:tgtEl>
                                        <p:attrNameLst>
                                          <p:attrName>style.rotation</p:attrName>
                                        </p:attrNameLst>
                                      </p:cBhvr>
                                      <p:tavLst>
                                        <p:tav tm="0">
                                          <p:val>
                                            <p:fltVal val="90"/>
                                          </p:val>
                                        </p:tav>
                                        <p:tav tm="100000">
                                          <p:val>
                                            <p:fltVal val="0"/>
                                          </p:val>
                                        </p:tav>
                                      </p:tavLst>
                                    </p:anim>
                                    <p:animEffect transition="in" filter="fade">
                                      <p:cBhvr>
                                        <p:cTn id="126" dur="1000"/>
                                        <p:tgtEl>
                                          <p:spTgt spid="37"/>
                                        </p:tgtEl>
                                      </p:cBhvr>
                                    </p:animEffect>
                                  </p:childTnLst>
                                </p:cTn>
                              </p:par>
                              <p:par>
                                <p:cTn id="127" presetID="31" presetClass="entr" presetSubtype="0" fill="hold" grpId="0" nodeType="withEffect">
                                  <p:stCondLst>
                                    <p:cond delay="900"/>
                                  </p:stCondLst>
                                  <p:childTnLst>
                                    <p:set>
                                      <p:cBhvr>
                                        <p:cTn id="128" dur="1" fill="hold">
                                          <p:stCondLst>
                                            <p:cond delay="0"/>
                                          </p:stCondLst>
                                        </p:cTn>
                                        <p:tgtEl>
                                          <p:spTgt spid="38"/>
                                        </p:tgtEl>
                                        <p:attrNameLst>
                                          <p:attrName>style.visibility</p:attrName>
                                        </p:attrNameLst>
                                      </p:cBhvr>
                                      <p:to>
                                        <p:strVal val="visible"/>
                                      </p:to>
                                    </p:set>
                                    <p:anim calcmode="lin" valueType="num">
                                      <p:cBhvr>
                                        <p:cTn id="129" dur="1000" fill="hold"/>
                                        <p:tgtEl>
                                          <p:spTgt spid="38"/>
                                        </p:tgtEl>
                                        <p:attrNameLst>
                                          <p:attrName>ppt_w</p:attrName>
                                        </p:attrNameLst>
                                      </p:cBhvr>
                                      <p:tavLst>
                                        <p:tav tm="0">
                                          <p:val>
                                            <p:fltVal val="0"/>
                                          </p:val>
                                        </p:tav>
                                        <p:tav tm="100000">
                                          <p:val>
                                            <p:strVal val="#ppt_w"/>
                                          </p:val>
                                        </p:tav>
                                      </p:tavLst>
                                    </p:anim>
                                    <p:anim calcmode="lin" valueType="num">
                                      <p:cBhvr>
                                        <p:cTn id="130" dur="1000" fill="hold"/>
                                        <p:tgtEl>
                                          <p:spTgt spid="38"/>
                                        </p:tgtEl>
                                        <p:attrNameLst>
                                          <p:attrName>ppt_h</p:attrName>
                                        </p:attrNameLst>
                                      </p:cBhvr>
                                      <p:tavLst>
                                        <p:tav tm="0">
                                          <p:val>
                                            <p:fltVal val="0"/>
                                          </p:val>
                                        </p:tav>
                                        <p:tav tm="100000">
                                          <p:val>
                                            <p:strVal val="#ppt_h"/>
                                          </p:val>
                                        </p:tav>
                                      </p:tavLst>
                                    </p:anim>
                                    <p:anim calcmode="lin" valueType="num">
                                      <p:cBhvr>
                                        <p:cTn id="131" dur="1000" fill="hold"/>
                                        <p:tgtEl>
                                          <p:spTgt spid="38"/>
                                        </p:tgtEl>
                                        <p:attrNameLst>
                                          <p:attrName>style.rotation</p:attrName>
                                        </p:attrNameLst>
                                      </p:cBhvr>
                                      <p:tavLst>
                                        <p:tav tm="0">
                                          <p:val>
                                            <p:fltVal val="90"/>
                                          </p:val>
                                        </p:tav>
                                        <p:tav tm="100000">
                                          <p:val>
                                            <p:fltVal val="0"/>
                                          </p:val>
                                        </p:tav>
                                      </p:tavLst>
                                    </p:anim>
                                    <p:animEffect transition="in" filter="fade">
                                      <p:cBhvr>
                                        <p:cTn id="132" dur="1000"/>
                                        <p:tgtEl>
                                          <p:spTgt spid="38"/>
                                        </p:tgtEl>
                                      </p:cBhvr>
                                    </p:animEffect>
                                  </p:childTnLst>
                                </p:cTn>
                              </p:par>
                              <p:par>
                                <p:cTn id="133" presetID="31" presetClass="entr" presetSubtype="0" fill="hold" grpId="0" nodeType="withEffect">
                                  <p:stCondLst>
                                    <p:cond delay="900"/>
                                  </p:stCondLst>
                                  <p:childTnLst>
                                    <p:set>
                                      <p:cBhvr>
                                        <p:cTn id="134" dur="1" fill="hold">
                                          <p:stCondLst>
                                            <p:cond delay="0"/>
                                          </p:stCondLst>
                                        </p:cTn>
                                        <p:tgtEl>
                                          <p:spTgt spid="39"/>
                                        </p:tgtEl>
                                        <p:attrNameLst>
                                          <p:attrName>style.visibility</p:attrName>
                                        </p:attrNameLst>
                                      </p:cBhvr>
                                      <p:to>
                                        <p:strVal val="visible"/>
                                      </p:to>
                                    </p:set>
                                    <p:anim calcmode="lin" valueType="num">
                                      <p:cBhvr>
                                        <p:cTn id="135" dur="1000" fill="hold"/>
                                        <p:tgtEl>
                                          <p:spTgt spid="39"/>
                                        </p:tgtEl>
                                        <p:attrNameLst>
                                          <p:attrName>ppt_w</p:attrName>
                                        </p:attrNameLst>
                                      </p:cBhvr>
                                      <p:tavLst>
                                        <p:tav tm="0">
                                          <p:val>
                                            <p:fltVal val="0"/>
                                          </p:val>
                                        </p:tav>
                                        <p:tav tm="100000">
                                          <p:val>
                                            <p:strVal val="#ppt_w"/>
                                          </p:val>
                                        </p:tav>
                                      </p:tavLst>
                                    </p:anim>
                                    <p:anim calcmode="lin" valueType="num">
                                      <p:cBhvr>
                                        <p:cTn id="136" dur="1000" fill="hold"/>
                                        <p:tgtEl>
                                          <p:spTgt spid="39"/>
                                        </p:tgtEl>
                                        <p:attrNameLst>
                                          <p:attrName>ppt_h</p:attrName>
                                        </p:attrNameLst>
                                      </p:cBhvr>
                                      <p:tavLst>
                                        <p:tav tm="0">
                                          <p:val>
                                            <p:fltVal val="0"/>
                                          </p:val>
                                        </p:tav>
                                        <p:tav tm="100000">
                                          <p:val>
                                            <p:strVal val="#ppt_h"/>
                                          </p:val>
                                        </p:tav>
                                      </p:tavLst>
                                    </p:anim>
                                    <p:anim calcmode="lin" valueType="num">
                                      <p:cBhvr>
                                        <p:cTn id="137" dur="1000" fill="hold"/>
                                        <p:tgtEl>
                                          <p:spTgt spid="39"/>
                                        </p:tgtEl>
                                        <p:attrNameLst>
                                          <p:attrName>style.rotation</p:attrName>
                                        </p:attrNameLst>
                                      </p:cBhvr>
                                      <p:tavLst>
                                        <p:tav tm="0">
                                          <p:val>
                                            <p:fltVal val="90"/>
                                          </p:val>
                                        </p:tav>
                                        <p:tav tm="100000">
                                          <p:val>
                                            <p:fltVal val="0"/>
                                          </p:val>
                                        </p:tav>
                                      </p:tavLst>
                                    </p:anim>
                                    <p:animEffect transition="in" filter="fade">
                                      <p:cBhvr>
                                        <p:cTn id="138" dur="1000"/>
                                        <p:tgtEl>
                                          <p:spTgt spid="39"/>
                                        </p:tgtEl>
                                      </p:cBhvr>
                                    </p:animEffect>
                                  </p:childTnLst>
                                </p:cTn>
                              </p:par>
                              <p:par>
                                <p:cTn id="139" presetID="31" presetClass="entr" presetSubtype="0" fill="hold" nodeType="withEffect">
                                  <p:stCondLst>
                                    <p:cond delay="900"/>
                                  </p:stCondLst>
                                  <p:childTnLst>
                                    <p:set>
                                      <p:cBhvr>
                                        <p:cTn id="140" dur="1" fill="hold">
                                          <p:stCondLst>
                                            <p:cond delay="0"/>
                                          </p:stCondLst>
                                        </p:cTn>
                                        <p:tgtEl>
                                          <p:spTgt spid="41"/>
                                        </p:tgtEl>
                                        <p:attrNameLst>
                                          <p:attrName>style.visibility</p:attrName>
                                        </p:attrNameLst>
                                      </p:cBhvr>
                                      <p:to>
                                        <p:strVal val="visible"/>
                                      </p:to>
                                    </p:set>
                                    <p:anim calcmode="lin" valueType="num">
                                      <p:cBhvr>
                                        <p:cTn id="141" dur="1000" fill="hold"/>
                                        <p:tgtEl>
                                          <p:spTgt spid="41"/>
                                        </p:tgtEl>
                                        <p:attrNameLst>
                                          <p:attrName>ppt_w</p:attrName>
                                        </p:attrNameLst>
                                      </p:cBhvr>
                                      <p:tavLst>
                                        <p:tav tm="0">
                                          <p:val>
                                            <p:fltVal val="0"/>
                                          </p:val>
                                        </p:tav>
                                        <p:tav tm="100000">
                                          <p:val>
                                            <p:strVal val="#ppt_w"/>
                                          </p:val>
                                        </p:tav>
                                      </p:tavLst>
                                    </p:anim>
                                    <p:anim calcmode="lin" valueType="num">
                                      <p:cBhvr>
                                        <p:cTn id="142" dur="1000" fill="hold"/>
                                        <p:tgtEl>
                                          <p:spTgt spid="41"/>
                                        </p:tgtEl>
                                        <p:attrNameLst>
                                          <p:attrName>ppt_h</p:attrName>
                                        </p:attrNameLst>
                                      </p:cBhvr>
                                      <p:tavLst>
                                        <p:tav tm="0">
                                          <p:val>
                                            <p:fltVal val="0"/>
                                          </p:val>
                                        </p:tav>
                                        <p:tav tm="100000">
                                          <p:val>
                                            <p:strVal val="#ppt_h"/>
                                          </p:val>
                                        </p:tav>
                                      </p:tavLst>
                                    </p:anim>
                                    <p:anim calcmode="lin" valueType="num">
                                      <p:cBhvr>
                                        <p:cTn id="143" dur="1000" fill="hold"/>
                                        <p:tgtEl>
                                          <p:spTgt spid="41"/>
                                        </p:tgtEl>
                                        <p:attrNameLst>
                                          <p:attrName>style.rotation</p:attrName>
                                        </p:attrNameLst>
                                      </p:cBhvr>
                                      <p:tavLst>
                                        <p:tav tm="0">
                                          <p:val>
                                            <p:fltVal val="90"/>
                                          </p:val>
                                        </p:tav>
                                        <p:tav tm="100000">
                                          <p:val>
                                            <p:fltVal val="0"/>
                                          </p:val>
                                        </p:tav>
                                      </p:tavLst>
                                    </p:anim>
                                    <p:animEffect transition="in" filter="fade">
                                      <p:cBhvr>
                                        <p:cTn id="144" dur="1000"/>
                                        <p:tgtEl>
                                          <p:spTgt spid="41"/>
                                        </p:tgtEl>
                                      </p:cBhvr>
                                    </p:animEffect>
                                  </p:childTnLst>
                                </p:cTn>
                              </p:par>
                              <p:par>
                                <p:cTn id="145" presetID="31" presetClass="entr" presetSubtype="0" fill="hold" grpId="0" nodeType="withEffect">
                                  <p:stCondLst>
                                    <p:cond delay="0"/>
                                  </p:stCondLst>
                                  <p:childTnLst>
                                    <p:set>
                                      <p:cBhvr>
                                        <p:cTn id="146" dur="1" fill="hold">
                                          <p:stCondLst>
                                            <p:cond delay="0"/>
                                          </p:stCondLst>
                                        </p:cTn>
                                        <p:tgtEl>
                                          <p:spTgt spid="53"/>
                                        </p:tgtEl>
                                        <p:attrNameLst>
                                          <p:attrName>style.visibility</p:attrName>
                                        </p:attrNameLst>
                                      </p:cBhvr>
                                      <p:to>
                                        <p:strVal val="visible"/>
                                      </p:to>
                                    </p:set>
                                    <p:anim calcmode="lin" valueType="num">
                                      <p:cBhvr>
                                        <p:cTn id="147" dur="1000" fill="hold"/>
                                        <p:tgtEl>
                                          <p:spTgt spid="53"/>
                                        </p:tgtEl>
                                        <p:attrNameLst>
                                          <p:attrName>ppt_w</p:attrName>
                                        </p:attrNameLst>
                                      </p:cBhvr>
                                      <p:tavLst>
                                        <p:tav tm="0">
                                          <p:val>
                                            <p:fltVal val="0"/>
                                          </p:val>
                                        </p:tav>
                                        <p:tav tm="100000">
                                          <p:val>
                                            <p:strVal val="#ppt_w"/>
                                          </p:val>
                                        </p:tav>
                                      </p:tavLst>
                                    </p:anim>
                                    <p:anim calcmode="lin" valueType="num">
                                      <p:cBhvr>
                                        <p:cTn id="148" dur="1000" fill="hold"/>
                                        <p:tgtEl>
                                          <p:spTgt spid="53"/>
                                        </p:tgtEl>
                                        <p:attrNameLst>
                                          <p:attrName>ppt_h</p:attrName>
                                        </p:attrNameLst>
                                      </p:cBhvr>
                                      <p:tavLst>
                                        <p:tav tm="0">
                                          <p:val>
                                            <p:fltVal val="0"/>
                                          </p:val>
                                        </p:tav>
                                        <p:tav tm="100000">
                                          <p:val>
                                            <p:strVal val="#ppt_h"/>
                                          </p:val>
                                        </p:tav>
                                      </p:tavLst>
                                    </p:anim>
                                    <p:anim calcmode="lin" valueType="num">
                                      <p:cBhvr>
                                        <p:cTn id="149" dur="1000" fill="hold"/>
                                        <p:tgtEl>
                                          <p:spTgt spid="53"/>
                                        </p:tgtEl>
                                        <p:attrNameLst>
                                          <p:attrName>style.rotation</p:attrName>
                                        </p:attrNameLst>
                                      </p:cBhvr>
                                      <p:tavLst>
                                        <p:tav tm="0">
                                          <p:val>
                                            <p:fltVal val="90"/>
                                          </p:val>
                                        </p:tav>
                                        <p:tav tm="100000">
                                          <p:val>
                                            <p:fltVal val="0"/>
                                          </p:val>
                                        </p:tav>
                                      </p:tavLst>
                                    </p:anim>
                                    <p:animEffect transition="in" filter="fade">
                                      <p:cBhvr>
                                        <p:cTn id="150" dur="1000"/>
                                        <p:tgtEl>
                                          <p:spTgt spid="53"/>
                                        </p:tgtEl>
                                      </p:cBhvr>
                                    </p:animEffect>
                                  </p:childTnLst>
                                </p:cTn>
                              </p:par>
                              <p:par>
                                <p:cTn id="151" presetID="31"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 calcmode="lin" valueType="num">
                                      <p:cBhvr>
                                        <p:cTn id="153" dur="1000" fill="hold"/>
                                        <p:tgtEl>
                                          <p:spTgt spid="54"/>
                                        </p:tgtEl>
                                        <p:attrNameLst>
                                          <p:attrName>ppt_w</p:attrName>
                                        </p:attrNameLst>
                                      </p:cBhvr>
                                      <p:tavLst>
                                        <p:tav tm="0">
                                          <p:val>
                                            <p:fltVal val="0"/>
                                          </p:val>
                                        </p:tav>
                                        <p:tav tm="100000">
                                          <p:val>
                                            <p:strVal val="#ppt_w"/>
                                          </p:val>
                                        </p:tav>
                                      </p:tavLst>
                                    </p:anim>
                                    <p:anim calcmode="lin" valueType="num">
                                      <p:cBhvr>
                                        <p:cTn id="154" dur="1000" fill="hold"/>
                                        <p:tgtEl>
                                          <p:spTgt spid="54"/>
                                        </p:tgtEl>
                                        <p:attrNameLst>
                                          <p:attrName>ppt_h</p:attrName>
                                        </p:attrNameLst>
                                      </p:cBhvr>
                                      <p:tavLst>
                                        <p:tav tm="0">
                                          <p:val>
                                            <p:fltVal val="0"/>
                                          </p:val>
                                        </p:tav>
                                        <p:tav tm="100000">
                                          <p:val>
                                            <p:strVal val="#ppt_h"/>
                                          </p:val>
                                        </p:tav>
                                      </p:tavLst>
                                    </p:anim>
                                    <p:anim calcmode="lin" valueType="num">
                                      <p:cBhvr>
                                        <p:cTn id="155" dur="1000" fill="hold"/>
                                        <p:tgtEl>
                                          <p:spTgt spid="54"/>
                                        </p:tgtEl>
                                        <p:attrNameLst>
                                          <p:attrName>style.rotation</p:attrName>
                                        </p:attrNameLst>
                                      </p:cBhvr>
                                      <p:tavLst>
                                        <p:tav tm="0">
                                          <p:val>
                                            <p:fltVal val="90"/>
                                          </p:val>
                                        </p:tav>
                                        <p:tav tm="100000">
                                          <p:val>
                                            <p:fltVal val="0"/>
                                          </p:val>
                                        </p:tav>
                                      </p:tavLst>
                                    </p:anim>
                                    <p:animEffect transition="in" filter="fade">
                                      <p:cBhvr>
                                        <p:cTn id="156" dur="1000"/>
                                        <p:tgtEl>
                                          <p:spTgt spid="54"/>
                                        </p:tgtEl>
                                      </p:cBhvr>
                                    </p:animEffect>
                                  </p:childTnLst>
                                </p:cTn>
                              </p:par>
                              <p:par>
                                <p:cTn id="157" presetID="31" presetClass="entr" presetSubtype="0" fill="hold" nodeType="withEffect">
                                  <p:stCondLst>
                                    <p:cond delay="0"/>
                                  </p:stCondLst>
                                  <p:childTnLst>
                                    <p:set>
                                      <p:cBhvr>
                                        <p:cTn id="158" dur="1" fill="hold">
                                          <p:stCondLst>
                                            <p:cond delay="0"/>
                                          </p:stCondLst>
                                        </p:cTn>
                                        <p:tgtEl>
                                          <p:spTgt spid="56"/>
                                        </p:tgtEl>
                                        <p:attrNameLst>
                                          <p:attrName>style.visibility</p:attrName>
                                        </p:attrNameLst>
                                      </p:cBhvr>
                                      <p:to>
                                        <p:strVal val="visible"/>
                                      </p:to>
                                    </p:set>
                                    <p:anim calcmode="lin" valueType="num">
                                      <p:cBhvr>
                                        <p:cTn id="159" dur="1000" fill="hold"/>
                                        <p:tgtEl>
                                          <p:spTgt spid="56"/>
                                        </p:tgtEl>
                                        <p:attrNameLst>
                                          <p:attrName>ppt_w</p:attrName>
                                        </p:attrNameLst>
                                      </p:cBhvr>
                                      <p:tavLst>
                                        <p:tav tm="0">
                                          <p:val>
                                            <p:fltVal val="0"/>
                                          </p:val>
                                        </p:tav>
                                        <p:tav tm="100000">
                                          <p:val>
                                            <p:strVal val="#ppt_w"/>
                                          </p:val>
                                        </p:tav>
                                      </p:tavLst>
                                    </p:anim>
                                    <p:anim calcmode="lin" valueType="num">
                                      <p:cBhvr>
                                        <p:cTn id="160" dur="1000" fill="hold"/>
                                        <p:tgtEl>
                                          <p:spTgt spid="56"/>
                                        </p:tgtEl>
                                        <p:attrNameLst>
                                          <p:attrName>ppt_h</p:attrName>
                                        </p:attrNameLst>
                                      </p:cBhvr>
                                      <p:tavLst>
                                        <p:tav tm="0">
                                          <p:val>
                                            <p:fltVal val="0"/>
                                          </p:val>
                                        </p:tav>
                                        <p:tav tm="100000">
                                          <p:val>
                                            <p:strVal val="#ppt_h"/>
                                          </p:val>
                                        </p:tav>
                                      </p:tavLst>
                                    </p:anim>
                                    <p:anim calcmode="lin" valueType="num">
                                      <p:cBhvr>
                                        <p:cTn id="161" dur="1000" fill="hold"/>
                                        <p:tgtEl>
                                          <p:spTgt spid="56"/>
                                        </p:tgtEl>
                                        <p:attrNameLst>
                                          <p:attrName>style.rotation</p:attrName>
                                        </p:attrNameLst>
                                      </p:cBhvr>
                                      <p:tavLst>
                                        <p:tav tm="0">
                                          <p:val>
                                            <p:fltVal val="90"/>
                                          </p:val>
                                        </p:tav>
                                        <p:tav tm="100000">
                                          <p:val>
                                            <p:fltVal val="0"/>
                                          </p:val>
                                        </p:tav>
                                      </p:tavLst>
                                    </p:anim>
                                    <p:animEffect transition="in" filter="fade">
                                      <p:cBhvr>
                                        <p:cTn id="162" dur="1000"/>
                                        <p:tgtEl>
                                          <p:spTgt spid="56"/>
                                        </p:tgtEl>
                                      </p:cBhvr>
                                    </p:animEffect>
                                  </p:childTnLst>
                                </p:cTn>
                              </p:par>
                              <p:par>
                                <p:cTn id="163" presetID="31" presetClass="entr" presetSubtype="0" fill="hold" grpId="0" nodeType="withEffect">
                                  <p:stCondLst>
                                    <p:cond delay="700"/>
                                  </p:stCondLst>
                                  <p:childTnLst>
                                    <p:set>
                                      <p:cBhvr>
                                        <p:cTn id="164" dur="1" fill="hold">
                                          <p:stCondLst>
                                            <p:cond delay="0"/>
                                          </p:stCondLst>
                                        </p:cTn>
                                        <p:tgtEl>
                                          <p:spTgt spid="57"/>
                                        </p:tgtEl>
                                        <p:attrNameLst>
                                          <p:attrName>style.visibility</p:attrName>
                                        </p:attrNameLst>
                                      </p:cBhvr>
                                      <p:to>
                                        <p:strVal val="visible"/>
                                      </p:to>
                                    </p:set>
                                    <p:anim calcmode="lin" valueType="num">
                                      <p:cBhvr>
                                        <p:cTn id="165" dur="1000" fill="hold"/>
                                        <p:tgtEl>
                                          <p:spTgt spid="57"/>
                                        </p:tgtEl>
                                        <p:attrNameLst>
                                          <p:attrName>ppt_w</p:attrName>
                                        </p:attrNameLst>
                                      </p:cBhvr>
                                      <p:tavLst>
                                        <p:tav tm="0">
                                          <p:val>
                                            <p:fltVal val="0"/>
                                          </p:val>
                                        </p:tav>
                                        <p:tav tm="100000">
                                          <p:val>
                                            <p:strVal val="#ppt_w"/>
                                          </p:val>
                                        </p:tav>
                                      </p:tavLst>
                                    </p:anim>
                                    <p:anim calcmode="lin" valueType="num">
                                      <p:cBhvr>
                                        <p:cTn id="166" dur="1000" fill="hold"/>
                                        <p:tgtEl>
                                          <p:spTgt spid="57"/>
                                        </p:tgtEl>
                                        <p:attrNameLst>
                                          <p:attrName>ppt_h</p:attrName>
                                        </p:attrNameLst>
                                      </p:cBhvr>
                                      <p:tavLst>
                                        <p:tav tm="0">
                                          <p:val>
                                            <p:fltVal val="0"/>
                                          </p:val>
                                        </p:tav>
                                        <p:tav tm="100000">
                                          <p:val>
                                            <p:strVal val="#ppt_h"/>
                                          </p:val>
                                        </p:tav>
                                      </p:tavLst>
                                    </p:anim>
                                    <p:anim calcmode="lin" valueType="num">
                                      <p:cBhvr>
                                        <p:cTn id="167" dur="1000" fill="hold"/>
                                        <p:tgtEl>
                                          <p:spTgt spid="57"/>
                                        </p:tgtEl>
                                        <p:attrNameLst>
                                          <p:attrName>style.rotation</p:attrName>
                                        </p:attrNameLst>
                                      </p:cBhvr>
                                      <p:tavLst>
                                        <p:tav tm="0">
                                          <p:val>
                                            <p:fltVal val="90"/>
                                          </p:val>
                                        </p:tav>
                                        <p:tav tm="100000">
                                          <p:val>
                                            <p:fltVal val="0"/>
                                          </p:val>
                                        </p:tav>
                                      </p:tavLst>
                                    </p:anim>
                                    <p:animEffect transition="in" filter="fade">
                                      <p:cBhvr>
                                        <p:cTn id="168" dur="1000"/>
                                        <p:tgtEl>
                                          <p:spTgt spid="57"/>
                                        </p:tgtEl>
                                      </p:cBhvr>
                                    </p:animEffect>
                                  </p:childTnLst>
                                </p:cTn>
                              </p:par>
                              <p:par>
                                <p:cTn id="169" presetID="31" presetClass="entr" presetSubtype="0" fill="hold" grpId="0" nodeType="withEffect">
                                  <p:stCondLst>
                                    <p:cond delay="700"/>
                                  </p:stCondLst>
                                  <p:childTnLst>
                                    <p:set>
                                      <p:cBhvr>
                                        <p:cTn id="170" dur="1" fill="hold">
                                          <p:stCondLst>
                                            <p:cond delay="0"/>
                                          </p:stCondLst>
                                        </p:cTn>
                                        <p:tgtEl>
                                          <p:spTgt spid="58"/>
                                        </p:tgtEl>
                                        <p:attrNameLst>
                                          <p:attrName>style.visibility</p:attrName>
                                        </p:attrNameLst>
                                      </p:cBhvr>
                                      <p:to>
                                        <p:strVal val="visible"/>
                                      </p:to>
                                    </p:set>
                                    <p:anim calcmode="lin" valueType="num">
                                      <p:cBhvr>
                                        <p:cTn id="171" dur="1000" fill="hold"/>
                                        <p:tgtEl>
                                          <p:spTgt spid="58"/>
                                        </p:tgtEl>
                                        <p:attrNameLst>
                                          <p:attrName>ppt_w</p:attrName>
                                        </p:attrNameLst>
                                      </p:cBhvr>
                                      <p:tavLst>
                                        <p:tav tm="0">
                                          <p:val>
                                            <p:fltVal val="0"/>
                                          </p:val>
                                        </p:tav>
                                        <p:tav tm="100000">
                                          <p:val>
                                            <p:strVal val="#ppt_w"/>
                                          </p:val>
                                        </p:tav>
                                      </p:tavLst>
                                    </p:anim>
                                    <p:anim calcmode="lin" valueType="num">
                                      <p:cBhvr>
                                        <p:cTn id="172" dur="1000" fill="hold"/>
                                        <p:tgtEl>
                                          <p:spTgt spid="58"/>
                                        </p:tgtEl>
                                        <p:attrNameLst>
                                          <p:attrName>ppt_h</p:attrName>
                                        </p:attrNameLst>
                                      </p:cBhvr>
                                      <p:tavLst>
                                        <p:tav tm="0">
                                          <p:val>
                                            <p:fltVal val="0"/>
                                          </p:val>
                                        </p:tav>
                                        <p:tav tm="100000">
                                          <p:val>
                                            <p:strVal val="#ppt_h"/>
                                          </p:val>
                                        </p:tav>
                                      </p:tavLst>
                                    </p:anim>
                                    <p:anim calcmode="lin" valueType="num">
                                      <p:cBhvr>
                                        <p:cTn id="173" dur="1000" fill="hold"/>
                                        <p:tgtEl>
                                          <p:spTgt spid="58"/>
                                        </p:tgtEl>
                                        <p:attrNameLst>
                                          <p:attrName>style.rotation</p:attrName>
                                        </p:attrNameLst>
                                      </p:cBhvr>
                                      <p:tavLst>
                                        <p:tav tm="0">
                                          <p:val>
                                            <p:fltVal val="90"/>
                                          </p:val>
                                        </p:tav>
                                        <p:tav tm="100000">
                                          <p:val>
                                            <p:fltVal val="0"/>
                                          </p:val>
                                        </p:tav>
                                      </p:tavLst>
                                    </p:anim>
                                    <p:animEffect transition="in" filter="fade">
                                      <p:cBhvr>
                                        <p:cTn id="174" dur="1000"/>
                                        <p:tgtEl>
                                          <p:spTgt spid="58"/>
                                        </p:tgtEl>
                                      </p:cBhvr>
                                    </p:animEffect>
                                  </p:childTnLst>
                                </p:cTn>
                              </p:par>
                              <p:par>
                                <p:cTn id="175" presetID="31" presetClass="entr" presetSubtype="0" fill="hold" nodeType="withEffect">
                                  <p:stCondLst>
                                    <p:cond delay="800"/>
                                  </p:stCondLst>
                                  <p:childTnLst>
                                    <p:set>
                                      <p:cBhvr>
                                        <p:cTn id="176" dur="1" fill="hold">
                                          <p:stCondLst>
                                            <p:cond delay="0"/>
                                          </p:stCondLst>
                                        </p:cTn>
                                        <p:tgtEl>
                                          <p:spTgt spid="60"/>
                                        </p:tgtEl>
                                        <p:attrNameLst>
                                          <p:attrName>style.visibility</p:attrName>
                                        </p:attrNameLst>
                                      </p:cBhvr>
                                      <p:to>
                                        <p:strVal val="visible"/>
                                      </p:to>
                                    </p:set>
                                    <p:anim calcmode="lin" valueType="num">
                                      <p:cBhvr>
                                        <p:cTn id="177" dur="1000" fill="hold"/>
                                        <p:tgtEl>
                                          <p:spTgt spid="60"/>
                                        </p:tgtEl>
                                        <p:attrNameLst>
                                          <p:attrName>ppt_w</p:attrName>
                                        </p:attrNameLst>
                                      </p:cBhvr>
                                      <p:tavLst>
                                        <p:tav tm="0">
                                          <p:val>
                                            <p:fltVal val="0"/>
                                          </p:val>
                                        </p:tav>
                                        <p:tav tm="100000">
                                          <p:val>
                                            <p:strVal val="#ppt_w"/>
                                          </p:val>
                                        </p:tav>
                                      </p:tavLst>
                                    </p:anim>
                                    <p:anim calcmode="lin" valueType="num">
                                      <p:cBhvr>
                                        <p:cTn id="178" dur="1000" fill="hold"/>
                                        <p:tgtEl>
                                          <p:spTgt spid="60"/>
                                        </p:tgtEl>
                                        <p:attrNameLst>
                                          <p:attrName>ppt_h</p:attrName>
                                        </p:attrNameLst>
                                      </p:cBhvr>
                                      <p:tavLst>
                                        <p:tav tm="0">
                                          <p:val>
                                            <p:fltVal val="0"/>
                                          </p:val>
                                        </p:tav>
                                        <p:tav tm="100000">
                                          <p:val>
                                            <p:strVal val="#ppt_h"/>
                                          </p:val>
                                        </p:tav>
                                      </p:tavLst>
                                    </p:anim>
                                    <p:anim calcmode="lin" valueType="num">
                                      <p:cBhvr>
                                        <p:cTn id="179" dur="1000" fill="hold"/>
                                        <p:tgtEl>
                                          <p:spTgt spid="60"/>
                                        </p:tgtEl>
                                        <p:attrNameLst>
                                          <p:attrName>style.rotation</p:attrName>
                                        </p:attrNameLst>
                                      </p:cBhvr>
                                      <p:tavLst>
                                        <p:tav tm="0">
                                          <p:val>
                                            <p:fltVal val="90"/>
                                          </p:val>
                                        </p:tav>
                                        <p:tav tm="100000">
                                          <p:val>
                                            <p:fltVal val="0"/>
                                          </p:val>
                                        </p:tav>
                                      </p:tavLst>
                                    </p:anim>
                                    <p:animEffect transition="in" filter="fade">
                                      <p:cBhvr>
                                        <p:cTn id="180" dur="1000"/>
                                        <p:tgtEl>
                                          <p:spTgt spid="60"/>
                                        </p:tgtEl>
                                      </p:cBhvr>
                                    </p:animEffect>
                                  </p:childTnLst>
                                </p:cTn>
                              </p:par>
                              <p:par>
                                <p:cTn id="181" presetID="31" presetClass="entr" presetSubtype="0" fill="hold" grpId="0" nodeType="withEffect">
                                  <p:stCondLst>
                                    <p:cond delay="800"/>
                                  </p:stCondLst>
                                  <p:childTnLst>
                                    <p:set>
                                      <p:cBhvr>
                                        <p:cTn id="182" dur="1" fill="hold">
                                          <p:stCondLst>
                                            <p:cond delay="0"/>
                                          </p:stCondLst>
                                        </p:cTn>
                                        <p:tgtEl>
                                          <p:spTgt spid="61"/>
                                        </p:tgtEl>
                                        <p:attrNameLst>
                                          <p:attrName>style.visibility</p:attrName>
                                        </p:attrNameLst>
                                      </p:cBhvr>
                                      <p:to>
                                        <p:strVal val="visible"/>
                                      </p:to>
                                    </p:set>
                                    <p:anim calcmode="lin" valueType="num">
                                      <p:cBhvr>
                                        <p:cTn id="183" dur="1000" fill="hold"/>
                                        <p:tgtEl>
                                          <p:spTgt spid="61"/>
                                        </p:tgtEl>
                                        <p:attrNameLst>
                                          <p:attrName>ppt_w</p:attrName>
                                        </p:attrNameLst>
                                      </p:cBhvr>
                                      <p:tavLst>
                                        <p:tav tm="0">
                                          <p:val>
                                            <p:fltVal val="0"/>
                                          </p:val>
                                        </p:tav>
                                        <p:tav tm="100000">
                                          <p:val>
                                            <p:strVal val="#ppt_w"/>
                                          </p:val>
                                        </p:tav>
                                      </p:tavLst>
                                    </p:anim>
                                    <p:anim calcmode="lin" valueType="num">
                                      <p:cBhvr>
                                        <p:cTn id="184" dur="1000" fill="hold"/>
                                        <p:tgtEl>
                                          <p:spTgt spid="61"/>
                                        </p:tgtEl>
                                        <p:attrNameLst>
                                          <p:attrName>ppt_h</p:attrName>
                                        </p:attrNameLst>
                                      </p:cBhvr>
                                      <p:tavLst>
                                        <p:tav tm="0">
                                          <p:val>
                                            <p:fltVal val="0"/>
                                          </p:val>
                                        </p:tav>
                                        <p:tav tm="100000">
                                          <p:val>
                                            <p:strVal val="#ppt_h"/>
                                          </p:val>
                                        </p:tav>
                                      </p:tavLst>
                                    </p:anim>
                                    <p:anim calcmode="lin" valueType="num">
                                      <p:cBhvr>
                                        <p:cTn id="185" dur="1000" fill="hold"/>
                                        <p:tgtEl>
                                          <p:spTgt spid="61"/>
                                        </p:tgtEl>
                                        <p:attrNameLst>
                                          <p:attrName>style.rotation</p:attrName>
                                        </p:attrNameLst>
                                      </p:cBhvr>
                                      <p:tavLst>
                                        <p:tav tm="0">
                                          <p:val>
                                            <p:fltVal val="90"/>
                                          </p:val>
                                        </p:tav>
                                        <p:tav tm="100000">
                                          <p:val>
                                            <p:fltVal val="0"/>
                                          </p:val>
                                        </p:tav>
                                      </p:tavLst>
                                    </p:anim>
                                    <p:animEffect transition="in" filter="fade">
                                      <p:cBhvr>
                                        <p:cTn id="186" dur="1000"/>
                                        <p:tgtEl>
                                          <p:spTgt spid="61"/>
                                        </p:tgtEl>
                                      </p:cBhvr>
                                    </p:animEffect>
                                  </p:childTnLst>
                                </p:cTn>
                              </p:par>
                              <p:par>
                                <p:cTn id="187" presetID="31" presetClass="entr" presetSubtype="0" fill="hold" grpId="0" nodeType="withEffect">
                                  <p:stCondLst>
                                    <p:cond delay="800"/>
                                  </p:stCondLst>
                                  <p:childTnLst>
                                    <p:set>
                                      <p:cBhvr>
                                        <p:cTn id="188" dur="1" fill="hold">
                                          <p:stCondLst>
                                            <p:cond delay="0"/>
                                          </p:stCondLst>
                                        </p:cTn>
                                        <p:tgtEl>
                                          <p:spTgt spid="62"/>
                                        </p:tgtEl>
                                        <p:attrNameLst>
                                          <p:attrName>style.visibility</p:attrName>
                                        </p:attrNameLst>
                                      </p:cBhvr>
                                      <p:to>
                                        <p:strVal val="visible"/>
                                      </p:to>
                                    </p:set>
                                    <p:anim calcmode="lin" valueType="num">
                                      <p:cBhvr>
                                        <p:cTn id="189" dur="1000" fill="hold"/>
                                        <p:tgtEl>
                                          <p:spTgt spid="62"/>
                                        </p:tgtEl>
                                        <p:attrNameLst>
                                          <p:attrName>ppt_w</p:attrName>
                                        </p:attrNameLst>
                                      </p:cBhvr>
                                      <p:tavLst>
                                        <p:tav tm="0">
                                          <p:val>
                                            <p:fltVal val="0"/>
                                          </p:val>
                                        </p:tav>
                                        <p:tav tm="100000">
                                          <p:val>
                                            <p:strVal val="#ppt_w"/>
                                          </p:val>
                                        </p:tav>
                                      </p:tavLst>
                                    </p:anim>
                                    <p:anim calcmode="lin" valueType="num">
                                      <p:cBhvr>
                                        <p:cTn id="190" dur="1000" fill="hold"/>
                                        <p:tgtEl>
                                          <p:spTgt spid="62"/>
                                        </p:tgtEl>
                                        <p:attrNameLst>
                                          <p:attrName>ppt_h</p:attrName>
                                        </p:attrNameLst>
                                      </p:cBhvr>
                                      <p:tavLst>
                                        <p:tav tm="0">
                                          <p:val>
                                            <p:fltVal val="0"/>
                                          </p:val>
                                        </p:tav>
                                        <p:tav tm="100000">
                                          <p:val>
                                            <p:strVal val="#ppt_h"/>
                                          </p:val>
                                        </p:tav>
                                      </p:tavLst>
                                    </p:anim>
                                    <p:anim calcmode="lin" valueType="num">
                                      <p:cBhvr>
                                        <p:cTn id="191" dur="1000" fill="hold"/>
                                        <p:tgtEl>
                                          <p:spTgt spid="62"/>
                                        </p:tgtEl>
                                        <p:attrNameLst>
                                          <p:attrName>style.rotation</p:attrName>
                                        </p:attrNameLst>
                                      </p:cBhvr>
                                      <p:tavLst>
                                        <p:tav tm="0">
                                          <p:val>
                                            <p:fltVal val="90"/>
                                          </p:val>
                                        </p:tav>
                                        <p:tav tm="100000">
                                          <p:val>
                                            <p:fltVal val="0"/>
                                          </p:val>
                                        </p:tav>
                                      </p:tavLst>
                                    </p:anim>
                                    <p:animEffect transition="in" filter="fade">
                                      <p:cBhvr>
                                        <p:cTn id="192" dur="1000"/>
                                        <p:tgtEl>
                                          <p:spTgt spid="62"/>
                                        </p:tgtEl>
                                      </p:cBhvr>
                                    </p:animEffect>
                                  </p:childTnLst>
                                </p:cTn>
                              </p:par>
                              <p:par>
                                <p:cTn id="193" presetID="31" presetClass="entr" presetSubtype="0" fill="hold" nodeType="withEffect">
                                  <p:stCondLst>
                                    <p:cond delay="800"/>
                                  </p:stCondLst>
                                  <p:childTnLst>
                                    <p:set>
                                      <p:cBhvr>
                                        <p:cTn id="194" dur="1" fill="hold">
                                          <p:stCondLst>
                                            <p:cond delay="0"/>
                                          </p:stCondLst>
                                        </p:cTn>
                                        <p:tgtEl>
                                          <p:spTgt spid="4096"/>
                                        </p:tgtEl>
                                        <p:attrNameLst>
                                          <p:attrName>style.visibility</p:attrName>
                                        </p:attrNameLst>
                                      </p:cBhvr>
                                      <p:to>
                                        <p:strVal val="visible"/>
                                      </p:to>
                                    </p:set>
                                    <p:anim calcmode="lin" valueType="num">
                                      <p:cBhvr>
                                        <p:cTn id="195" dur="1000" fill="hold"/>
                                        <p:tgtEl>
                                          <p:spTgt spid="4096"/>
                                        </p:tgtEl>
                                        <p:attrNameLst>
                                          <p:attrName>ppt_w</p:attrName>
                                        </p:attrNameLst>
                                      </p:cBhvr>
                                      <p:tavLst>
                                        <p:tav tm="0">
                                          <p:val>
                                            <p:fltVal val="0"/>
                                          </p:val>
                                        </p:tav>
                                        <p:tav tm="100000">
                                          <p:val>
                                            <p:strVal val="#ppt_w"/>
                                          </p:val>
                                        </p:tav>
                                      </p:tavLst>
                                    </p:anim>
                                    <p:anim calcmode="lin" valueType="num">
                                      <p:cBhvr>
                                        <p:cTn id="196" dur="1000" fill="hold"/>
                                        <p:tgtEl>
                                          <p:spTgt spid="4096"/>
                                        </p:tgtEl>
                                        <p:attrNameLst>
                                          <p:attrName>ppt_h</p:attrName>
                                        </p:attrNameLst>
                                      </p:cBhvr>
                                      <p:tavLst>
                                        <p:tav tm="0">
                                          <p:val>
                                            <p:fltVal val="0"/>
                                          </p:val>
                                        </p:tav>
                                        <p:tav tm="100000">
                                          <p:val>
                                            <p:strVal val="#ppt_h"/>
                                          </p:val>
                                        </p:tav>
                                      </p:tavLst>
                                    </p:anim>
                                    <p:anim calcmode="lin" valueType="num">
                                      <p:cBhvr>
                                        <p:cTn id="197" dur="1000" fill="hold"/>
                                        <p:tgtEl>
                                          <p:spTgt spid="4096"/>
                                        </p:tgtEl>
                                        <p:attrNameLst>
                                          <p:attrName>style.rotation</p:attrName>
                                        </p:attrNameLst>
                                      </p:cBhvr>
                                      <p:tavLst>
                                        <p:tav tm="0">
                                          <p:val>
                                            <p:fltVal val="90"/>
                                          </p:val>
                                        </p:tav>
                                        <p:tav tm="100000">
                                          <p:val>
                                            <p:fltVal val="0"/>
                                          </p:val>
                                        </p:tav>
                                      </p:tavLst>
                                    </p:anim>
                                    <p:animEffect transition="in" filter="fade">
                                      <p:cBhvr>
                                        <p:cTn id="198" dur="1000"/>
                                        <p:tgtEl>
                                          <p:spTgt spid="4096"/>
                                        </p:tgtEl>
                                      </p:cBhvr>
                                    </p:animEffect>
                                  </p:childTnLst>
                                </p:cTn>
                              </p:par>
                              <p:par>
                                <p:cTn id="199" presetID="31" presetClass="entr" presetSubtype="0" fill="hold" grpId="0" nodeType="withEffect">
                                  <p:stCondLst>
                                    <p:cond delay="0"/>
                                  </p:stCondLst>
                                  <p:childTnLst>
                                    <p:set>
                                      <p:cBhvr>
                                        <p:cTn id="200" dur="1" fill="hold">
                                          <p:stCondLst>
                                            <p:cond delay="0"/>
                                          </p:stCondLst>
                                        </p:cTn>
                                        <p:tgtEl>
                                          <p:spTgt spid="4097"/>
                                        </p:tgtEl>
                                        <p:attrNameLst>
                                          <p:attrName>style.visibility</p:attrName>
                                        </p:attrNameLst>
                                      </p:cBhvr>
                                      <p:to>
                                        <p:strVal val="visible"/>
                                      </p:to>
                                    </p:set>
                                    <p:anim calcmode="lin" valueType="num">
                                      <p:cBhvr>
                                        <p:cTn id="201" dur="1000" fill="hold"/>
                                        <p:tgtEl>
                                          <p:spTgt spid="4097"/>
                                        </p:tgtEl>
                                        <p:attrNameLst>
                                          <p:attrName>ppt_w</p:attrName>
                                        </p:attrNameLst>
                                      </p:cBhvr>
                                      <p:tavLst>
                                        <p:tav tm="0">
                                          <p:val>
                                            <p:fltVal val="0"/>
                                          </p:val>
                                        </p:tav>
                                        <p:tav tm="100000">
                                          <p:val>
                                            <p:strVal val="#ppt_w"/>
                                          </p:val>
                                        </p:tav>
                                      </p:tavLst>
                                    </p:anim>
                                    <p:anim calcmode="lin" valueType="num">
                                      <p:cBhvr>
                                        <p:cTn id="202" dur="1000" fill="hold"/>
                                        <p:tgtEl>
                                          <p:spTgt spid="4097"/>
                                        </p:tgtEl>
                                        <p:attrNameLst>
                                          <p:attrName>ppt_h</p:attrName>
                                        </p:attrNameLst>
                                      </p:cBhvr>
                                      <p:tavLst>
                                        <p:tav tm="0">
                                          <p:val>
                                            <p:fltVal val="0"/>
                                          </p:val>
                                        </p:tav>
                                        <p:tav tm="100000">
                                          <p:val>
                                            <p:strVal val="#ppt_h"/>
                                          </p:val>
                                        </p:tav>
                                      </p:tavLst>
                                    </p:anim>
                                    <p:anim calcmode="lin" valueType="num">
                                      <p:cBhvr>
                                        <p:cTn id="203" dur="1000" fill="hold"/>
                                        <p:tgtEl>
                                          <p:spTgt spid="4097"/>
                                        </p:tgtEl>
                                        <p:attrNameLst>
                                          <p:attrName>style.rotation</p:attrName>
                                        </p:attrNameLst>
                                      </p:cBhvr>
                                      <p:tavLst>
                                        <p:tav tm="0">
                                          <p:val>
                                            <p:fltVal val="90"/>
                                          </p:val>
                                        </p:tav>
                                        <p:tav tm="100000">
                                          <p:val>
                                            <p:fltVal val="0"/>
                                          </p:val>
                                        </p:tav>
                                      </p:tavLst>
                                    </p:anim>
                                    <p:animEffect transition="in" filter="fade">
                                      <p:cBhvr>
                                        <p:cTn id="204" dur="1000"/>
                                        <p:tgtEl>
                                          <p:spTgt spid="4097"/>
                                        </p:tgtEl>
                                      </p:cBhvr>
                                    </p:animEffect>
                                  </p:childTnLst>
                                </p:cTn>
                              </p:par>
                              <p:par>
                                <p:cTn id="205" presetID="31" presetClass="entr" presetSubtype="0" fill="hold" grpId="0" nodeType="withEffect">
                                  <p:stCondLst>
                                    <p:cond delay="0"/>
                                  </p:stCondLst>
                                  <p:childTnLst>
                                    <p:set>
                                      <p:cBhvr>
                                        <p:cTn id="206" dur="1" fill="hold">
                                          <p:stCondLst>
                                            <p:cond delay="0"/>
                                          </p:stCondLst>
                                        </p:cTn>
                                        <p:tgtEl>
                                          <p:spTgt spid="4099"/>
                                        </p:tgtEl>
                                        <p:attrNameLst>
                                          <p:attrName>style.visibility</p:attrName>
                                        </p:attrNameLst>
                                      </p:cBhvr>
                                      <p:to>
                                        <p:strVal val="visible"/>
                                      </p:to>
                                    </p:set>
                                    <p:anim calcmode="lin" valueType="num">
                                      <p:cBhvr>
                                        <p:cTn id="207" dur="1000" fill="hold"/>
                                        <p:tgtEl>
                                          <p:spTgt spid="4099"/>
                                        </p:tgtEl>
                                        <p:attrNameLst>
                                          <p:attrName>ppt_w</p:attrName>
                                        </p:attrNameLst>
                                      </p:cBhvr>
                                      <p:tavLst>
                                        <p:tav tm="0">
                                          <p:val>
                                            <p:fltVal val="0"/>
                                          </p:val>
                                        </p:tav>
                                        <p:tav tm="100000">
                                          <p:val>
                                            <p:strVal val="#ppt_w"/>
                                          </p:val>
                                        </p:tav>
                                      </p:tavLst>
                                    </p:anim>
                                    <p:anim calcmode="lin" valueType="num">
                                      <p:cBhvr>
                                        <p:cTn id="208" dur="1000" fill="hold"/>
                                        <p:tgtEl>
                                          <p:spTgt spid="4099"/>
                                        </p:tgtEl>
                                        <p:attrNameLst>
                                          <p:attrName>ppt_h</p:attrName>
                                        </p:attrNameLst>
                                      </p:cBhvr>
                                      <p:tavLst>
                                        <p:tav tm="0">
                                          <p:val>
                                            <p:fltVal val="0"/>
                                          </p:val>
                                        </p:tav>
                                        <p:tav tm="100000">
                                          <p:val>
                                            <p:strVal val="#ppt_h"/>
                                          </p:val>
                                        </p:tav>
                                      </p:tavLst>
                                    </p:anim>
                                    <p:anim calcmode="lin" valueType="num">
                                      <p:cBhvr>
                                        <p:cTn id="209" dur="1000" fill="hold"/>
                                        <p:tgtEl>
                                          <p:spTgt spid="4099"/>
                                        </p:tgtEl>
                                        <p:attrNameLst>
                                          <p:attrName>style.rotation</p:attrName>
                                        </p:attrNameLst>
                                      </p:cBhvr>
                                      <p:tavLst>
                                        <p:tav tm="0">
                                          <p:val>
                                            <p:fltVal val="90"/>
                                          </p:val>
                                        </p:tav>
                                        <p:tav tm="100000">
                                          <p:val>
                                            <p:fltVal val="0"/>
                                          </p:val>
                                        </p:tav>
                                      </p:tavLst>
                                    </p:anim>
                                    <p:animEffect transition="in" filter="fade">
                                      <p:cBhvr>
                                        <p:cTn id="210" dur="1000"/>
                                        <p:tgtEl>
                                          <p:spTgt spid="4099"/>
                                        </p:tgtEl>
                                      </p:cBhvr>
                                    </p:animEffect>
                                  </p:childTnLst>
                                </p:cTn>
                              </p:par>
                              <p:par>
                                <p:cTn id="211" presetID="31" presetClass="entr" presetSubtype="0" fill="hold" nodeType="withEffect">
                                  <p:stCondLst>
                                    <p:cond delay="0"/>
                                  </p:stCondLst>
                                  <p:childTnLst>
                                    <p:set>
                                      <p:cBhvr>
                                        <p:cTn id="212" dur="1" fill="hold">
                                          <p:stCondLst>
                                            <p:cond delay="0"/>
                                          </p:stCondLst>
                                        </p:cTn>
                                        <p:tgtEl>
                                          <p:spTgt spid="4101"/>
                                        </p:tgtEl>
                                        <p:attrNameLst>
                                          <p:attrName>style.visibility</p:attrName>
                                        </p:attrNameLst>
                                      </p:cBhvr>
                                      <p:to>
                                        <p:strVal val="visible"/>
                                      </p:to>
                                    </p:set>
                                    <p:anim calcmode="lin" valueType="num">
                                      <p:cBhvr>
                                        <p:cTn id="213" dur="1000" fill="hold"/>
                                        <p:tgtEl>
                                          <p:spTgt spid="4101"/>
                                        </p:tgtEl>
                                        <p:attrNameLst>
                                          <p:attrName>ppt_w</p:attrName>
                                        </p:attrNameLst>
                                      </p:cBhvr>
                                      <p:tavLst>
                                        <p:tav tm="0">
                                          <p:val>
                                            <p:fltVal val="0"/>
                                          </p:val>
                                        </p:tav>
                                        <p:tav tm="100000">
                                          <p:val>
                                            <p:strVal val="#ppt_w"/>
                                          </p:val>
                                        </p:tav>
                                      </p:tavLst>
                                    </p:anim>
                                    <p:anim calcmode="lin" valueType="num">
                                      <p:cBhvr>
                                        <p:cTn id="214" dur="1000" fill="hold"/>
                                        <p:tgtEl>
                                          <p:spTgt spid="4101"/>
                                        </p:tgtEl>
                                        <p:attrNameLst>
                                          <p:attrName>ppt_h</p:attrName>
                                        </p:attrNameLst>
                                      </p:cBhvr>
                                      <p:tavLst>
                                        <p:tav tm="0">
                                          <p:val>
                                            <p:fltVal val="0"/>
                                          </p:val>
                                        </p:tav>
                                        <p:tav tm="100000">
                                          <p:val>
                                            <p:strVal val="#ppt_h"/>
                                          </p:val>
                                        </p:tav>
                                      </p:tavLst>
                                    </p:anim>
                                    <p:anim calcmode="lin" valueType="num">
                                      <p:cBhvr>
                                        <p:cTn id="215" dur="1000" fill="hold"/>
                                        <p:tgtEl>
                                          <p:spTgt spid="4101"/>
                                        </p:tgtEl>
                                        <p:attrNameLst>
                                          <p:attrName>style.rotation</p:attrName>
                                        </p:attrNameLst>
                                      </p:cBhvr>
                                      <p:tavLst>
                                        <p:tav tm="0">
                                          <p:val>
                                            <p:fltVal val="90"/>
                                          </p:val>
                                        </p:tav>
                                        <p:tav tm="100000">
                                          <p:val>
                                            <p:fltVal val="0"/>
                                          </p:val>
                                        </p:tav>
                                      </p:tavLst>
                                    </p:anim>
                                    <p:animEffect transition="in" filter="fade">
                                      <p:cBhvr>
                                        <p:cTn id="216" dur="1000"/>
                                        <p:tgtEl>
                                          <p:spTgt spid="4101"/>
                                        </p:tgtEl>
                                      </p:cBhvr>
                                    </p:animEffect>
                                  </p:childTnLst>
                                </p:cTn>
                              </p:par>
                              <p:par>
                                <p:cTn id="217" presetID="31" presetClass="entr" presetSubtype="0" fill="hold" grpId="0" nodeType="withEffect">
                                  <p:stCondLst>
                                    <p:cond delay="900"/>
                                  </p:stCondLst>
                                  <p:childTnLst>
                                    <p:set>
                                      <p:cBhvr>
                                        <p:cTn id="218" dur="1" fill="hold">
                                          <p:stCondLst>
                                            <p:cond delay="0"/>
                                          </p:stCondLst>
                                        </p:cTn>
                                        <p:tgtEl>
                                          <p:spTgt spid="4102"/>
                                        </p:tgtEl>
                                        <p:attrNameLst>
                                          <p:attrName>style.visibility</p:attrName>
                                        </p:attrNameLst>
                                      </p:cBhvr>
                                      <p:to>
                                        <p:strVal val="visible"/>
                                      </p:to>
                                    </p:set>
                                    <p:anim calcmode="lin" valueType="num">
                                      <p:cBhvr>
                                        <p:cTn id="219" dur="1000" fill="hold"/>
                                        <p:tgtEl>
                                          <p:spTgt spid="4102"/>
                                        </p:tgtEl>
                                        <p:attrNameLst>
                                          <p:attrName>ppt_w</p:attrName>
                                        </p:attrNameLst>
                                      </p:cBhvr>
                                      <p:tavLst>
                                        <p:tav tm="0">
                                          <p:val>
                                            <p:fltVal val="0"/>
                                          </p:val>
                                        </p:tav>
                                        <p:tav tm="100000">
                                          <p:val>
                                            <p:strVal val="#ppt_w"/>
                                          </p:val>
                                        </p:tav>
                                      </p:tavLst>
                                    </p:anim>
                                    <p:anim calcmode="lin" valueType="num">
                                      <p:cBhvr>
                                        <p:cTn id="220" dur="1000" fill="hold"/>
                                        <p:tgtEl>
                                          <p:spTgt spid="4102"/>
                                        </p:tgtEl>
                                        <p:attrNameLst>
                                          <p:attrName>ppt_h</p:attrName>
                                        </p:attrNameLst>
                                      </p:cBhvr>
                                      <p:tavLst>
                                        <p:tav tm="0">
                                          <p:val>
                                            <p:fltVal val="0"/>
                                          </p:val>
                                        </p:tav>
                                        <p:tav tm="100000">
                                          <p:val>
                                            <p:strVal val="#ppt_h"/>
                                          </p:val>
                                        </p:tav>
                                      </p:tavLst>
                                    </p:anim>
                                    <p:anim calcmode="lin" valueType="num">
                                      <p:cBhvr>
                                        <p:cTn id="221" dur="1000" fill="hold"/>
                                        <p:tgtEl>
                                          <p:spTgt spid="4102"/>
                                        </p:tgtEl>
                                        <p:attrNameLst>
                                          <p:attrName>style.rotation</p:attrName>
                                        </p:attrNameLst>
                                      </p:cBhvr>
                                      <p:tavLst>
                                        <p:tav tm="0">
                                          <p:val>
                                            <p:fltVal val="90"/>
                                          </p:val>
                                        </p:tav>
                                        <p:tav tm="100000">
                                          <p:val>
                                            <p:fltVal val="0"/>
                                          </p:val>
                                        </p:tav>
                                      </p:tavLst>
                                    </p:anim>
                                    <p:animEffect transition="in" filter="fade">
                                      <p:cBhvr>
                                        <p:cTn id="222" dur="1000"/>
                                        <p:tgtEl>
                                          <p:spTgt spid="4102"/>
                                        </p:tgtEl>
                                      </p:cBhvr>
                                    </p:animEffect>
                                  </p:childTnLst>
                                </p:cTn>
                              </p:par>
                              <p:par>
                                <p:cTn id="223" presetID="31" presetClass="entr" presetSubtype="0" fill="hold" grpId="0" nodeType="withEffect">
                                  <p:stCondLst>
                                    <p:cond delay="1000"/>
                                  </p:stCondLst>
                                  <p:childTnLst>
                                    <p:set>
                                      <p:cBhvr>
                                        <p:cTn id="224" dur="1" fill="hold">
                                          <p:stCondLst>
                                            <p:cond delay="0"/>
                                          </p:stCondLst>
                                        </p:cTn>
                                        <p:tgtEl>
                                          <p:spTgt spid="4103"/>
                                        </p:tgtEl>
                                        <p:attrNameLst>
                                          <p:attrName>style.visibility</p:attrName>
                                        </p:attrNameLst>
                                      </p:cBhvr>
                                      <p:to>
                                        <p:strVal val="visible"/>
                                      </p:to>
                                    </p:set>
                                    <p:anim calcmode="lin" valueType="num">
                                      <p:cBhvr>
                                        <p:cTn id="225" dur="1000" fill="hold"/>
                                        <p:tgtEl>
                                          <p:spTgt spid="4103"/>
                                        </p:tgtEl>
                                        <p:attrNameLst>
                                          <p:attrName>ppt_w</p:attrName>
                                        </p:attrNameLst>
                                      </p:cBhvr>
                                      <p:tavLst>
                                        <p:tav tm="0">
                                          <p:val>
                                            <p:fltVal val="0"/>
                                          </p:val>
                                        </p:tav>
                                        <p:tav tm="100000">
                                          <p:val>
                                            <p:strVal val="#ppt_w"/>
                                          </p:val>
                                        </p:tav>
                                      </p:tavLst>
                                    </p:anim>
                                    <p:anim calcmode="lin" valueType="num">
                                      <p:cBhvr>
                                        <p:cTn id="226" dur="1000" fill="hold"/>
                                        <p:tgtEl>
                                          <p:spTgt spid="4103"/>
                                        </p:tgtEl>
                                        <p:attrNameLst>
                                          <p:attrName>ppt_h</p:attrName>
                                        </p:attrNameLst>
                                      </p:cBhvr>
                                      <p:tavLst>
                                        <p:tav tm="0">
                                          <p:val>
                                            <p:fltVal val="0"/>
                                          </p:val>
                                        </p:tav>
                                        <p:tav tm="100000">
                                          <p:val>
                                            <p:strVal val="#ppt_h"/>
                                          </p:val>
                                        </p:tav>
                                      </p:tavLst>
                                    </p:anim>
                                    <p:anim calcmode="lin" valueType="num">
                                      <p:cBhvr>
                                        <p:cTn id="227" dur="1000" fill="hold"/>
                                        <p:tgtEl>
                                          <p:spTgt spid="4103"/>
                                        </p:tgtEl>
                                        <p:attrNameLst>
                                          <p:attrName>style.rotation</p:attrName>
                                        </p:attrNameLst>
                                      </p:cBhvr>
                                      <p:tavLst>
                                        <p:tav tm="0">
                                          <p:val>
                                            <p:fltVal val="90"/>
                                          </p:val>
                                        </p:tav>
                                        <p:tav tm="100000">
                                          <p:val>
                                            <p:fltVal val="0"/>
                                          </p:val>
                                        </p:tav>
                                      </p:tavLst>
                                    </p:anim>
                                    <p:animEffect transition="in" filter="fade">
                                      <p:cBhvr>
                                        <p:cTn id="228" dur="1000"/>
                                        <p:tgtEl>
                                          <p:spTgt spid="4103"/>
                                        </p:tgtEl>
                                      </p:cBhvr>
                                    </p:animEffect>
                                  </p:childTnLst>
                                </p:cTn>
                              </p:par>
                              <p:par>
                                <p:cTn id="229" presetID="31" presetClass="entr" presetSubtype="0" fill="hold" nodeType="withEffect">
                                  <p:stCondLst>
                                    <p:cond delay="1000"/>
                                  </p:stCondLst>
                                  <p:childTnLst>
                                    <p:set>
                                      <p:cBhvr>
                                        <p:cTn id="230" dur="1" fill="hold">
                                          <p:stCondLst>
                                            <p:cond delay="0"/>
                                          </p:stCondLst>
                                        </p:cTn>
                                        <p:tgtEl>
                                          <p:spTgt spid="4105"/>
                                        </p:tgtEl>
                                        <p:attrNameLst>
                                          <p:attrName>style.visibility</p:attrName>
                                        </p:attrNameLst>
                                      </p:cBhvr>
                                      <p:to>
                                        <p:strVal val="visible"/>
                                      </p:to>
                                    </p:set>
                                    <p:anim calcmode="lin" valueType="num">
                                      <p:cBhvr>
                                        <p:cTn id="231" dur="1000" fill="hold"/>
                                        <p:tgtEl>
                                          <p:spTgt spid="4105"/>
                                        </p:tgtEl>
                                        <p:attrNameLst>
                                          <p:attrName>ppt_w</p:attrName>
                                        </p:attrNameLst>
                                      </p:cBhvr>
                                      <p:tavLst>
                                        <p:tav tm="0">
                                          <p:val>
                                            <p:fltVal val="0"/>
                                          </p:val>
                                        </p:tav>
                                        <p:tav tm="100000">
                                          <p:val>
                                            <p:strVal val="#ppt_w"/>
                                          </p:val>
                                        </p:tav>
                                      </p:tavLst>
                                    </p:anim>
                                    <p:anim calcmode="lin" valueType="num">
                                      <p:cBhvr>
                                        <p:cTn id="232" dur="1000" fill="hold"/>
                                        <p:tgtEl>
                                          <p:spTgt spid="4105"/>
                                        </p:tgtEl>
                                        <p:attrNameLst>
                                          <p:attrName>ppt_h</p:attrName>
                                        </p:attrNameLst>
                                      </p:cBhvr>
                                      <p:tavLst>
                                        <p:tav tm="0">
                                          <p:val>
                                            <p:fltVal val="0"/>
                                          </p:val>
                                        </p:tav>
                                        <p:tav tm="100000">
                                          <p:val>
                                            <p:strVal val="#ppt_h"/>
                                          </p:val>
                                        </p:tav>
                                      </p:tavLst>
                                    </p:anim>
                                    <p:anim calcmode="lin" valueType="num">
                                      <p:cBhvr>
                                        <p:cTn id="233" dur="1000" fill="hold"/>
                                        <p:tgtEl>
                                          <p:spTgt spid="4105"/>
                                        </p:tgtEl>
                                        <p:attrNameLst>
                                          <p:attrName>style.rotation</p:attrName>
                                        </p:attrNameLst>
                                      </p:cBhvr>
                                      <p:tavLst>
                                        <p:tav tm="0">
                                          <p:val>
                                            <p:fltVal val="90"/>
                                          </p:val>
                                        </p:tav>
                                        <p:tav tm="100000">
                                          <p:val>
                                            <p:fltVal val="0"/>
                                          </p:val>
                                        </p:tav>
                                      </p:tavLst>
                                    </p:anim>
                                    <p:animEffect transition="in" filter="fade">
                                      <p:cBhvr>
                                        <p:cTn id="234" dur="1000"/>
                                        <p:tgtEl>
                                          <p:spTgt spid="4105"/>
                                        </p:tgtEl>
                                      </p:cBhvr>
                                    </p:animEffect>
                                  </p:childTnLst>
                                </p:cTn>
                              </p:par>
                              <p:par>
                                <p:cTn id="235" presetID="31" presetClass="entr" presetSubtype="0" fill="hold" grpId="0" nodeType="withEffect">
                                  <p:stCondLst>
                                    <p:cond delay="1500"/>
                                  </p:stCondLst>
                                  <p:childTnLst>
                                    <p:set>
                                      <p:cBhvr>
                                        <p:cTn id="236" dur="1" fill="hold">
                                          <p:stCondLst>
                                            <p:cond delay="0"/>
                                          </p:stCondLst>
                                        </p:cTn>
                                        <p:tgtEl>
                                          <p:spTgt spid="4106"/>
                                        </p:tgtEl>
                                        <p:attrNameLst>
                                          <p:attrName>style.visibility</p:attrName>
                                        </p:attrNameLst>
                                      </p:cBhvr>
                                      <p:to>
                                        <p:strVal val="visible"/>
                                      </p:to>
                                    </p:set>
                                    <p:anim calcmode="lin" valueType="num">
                                      <p:cBhvr>
                                        <p:cTn id="237" dur="1000" fill="hold"/>
                                        <p:tgtEl>
                                          <p:spTgt spid="4106"/>
                                        </p:tgtEl>
                                        <p:attrNameLst>
                                          <p:attrName>ppt_w</p:attrName>
                                        </p:attrNameLst>
                                      </p:cBhvr>
                                      <p:tavLst>
                                        <p:tav tm="0">
                                          <p:val>
                                            <p:fltVal val="0"/>
                                          </p:val>
                                        </p:tav>
                                        <p:tav tm="100000">
                                          <p:val>
                                            <p:strVal val="#ppt_w"/>
                                          </p:val>
                                        </p:tav>
                                      </p:tavLst>
                                    </p:anim>
                                    <p:anim calcmode="lin" valueType="num">
                                      <p:cBhvr>
                                        <p:cTn id="238" dur="1000" fill="hold"/>
                                        <p:tgtEl>
                                          <p:spTgt spid="4106"/>
                                        </p:tgtEl>
                                        <p:attrNameLst>
                                          <p:attrName>ppt_h</p:attrName>
                                        </p:attrNameLst>
                                      </p:cBhvr>
                                      <p:tavLst>
                                        <p:tav tm="0">
                                          <p:val>
                                            <p:fltVal val="0"/>
                                          </p:val>
                                        </p:tav>
                                        <p:tav tm="100000">
                                          <p:val>
                                            <p:strVal val="#ppt_h"/>
                                          </p:val>
                                        </p:tav>
                                      </p:tavLst>
                                    </p:anim>
                                    <p:anim calcmode="lin" valueType="num">
                                      <p:cBhvr>
                                        <p:cTn id="239" dur="1000" fill="hold"/>
                                        <p:tgtEl>
                                          <p:spTgt spid="4106"/>
                                        </p:tgtEl>
                                        <p:attrNameLst>
                                          <p:attrName>style.rotation</p:attrName>
                                        </p:attrNameLst>
                                      </p:cBhvr>
                                      <p:tavLst>
                                        <p:tav tm="0">
                                          <p:val>
                                            <p:fltVal val="90"/>
                                          </p:val>
                                        </p:tav>
                                        <p:tav tm="100000">
                                          <p:val>
                                            <p:fltVal val="0"/>
                                          </p:val>
                                        </p:tav>
                                      </p:tavLst>
                                    </p:anim>
                                    <p:animEffect transition="in" filter="fade">
                                      <p:cBhvr>
                                        <p:cTn id="240" dur="1000"/>
                                        <p:tgtEl>
                                          <p:spTgt spid="4106"/>
                                        </p:tgtEl>
                                      </p:cBhvr>
                                    </p:animEffect>
                                  </p:childTnLst>
                                </p:cTn>
                              </p:par>
                              <p:par>
                                <p:cTn id="241" presetID="31" presetClass="entr" presetSubtype="0" fill="hold" grpId="0" nodeType="withEffect">
                                  <p:stCondLst>
                                    <p:cond delay="1500"/>
                                  </p:stCondLst>
                                  <p:childTnLst>
                                    <p:set>
                                      <p:cBhvr>
                                        <p:cTn id="242" dur="1" fill="hold">
                                          <p:stCondLst>
                                            <p:cond delay="0"/>
                                          </p:stCondLst>
                                        </p:cTn>
                                        <p:tgtEl>
                                          <p:spTgt spid="4107"/>
                                        </p:tgtEl>
                                        <p:attrNameLst>
                                          <p:attrName>style.visibility</p:attrName>
                                        </p:attrNameLst>
                                      </p:cBhvr>
                                      <p:to>
                                        <p:strVal val="visible"/>
                                      </p:to>
                                    </p:set>
                                    <p:anim calcmode="lin" valueType="num">
                                      <p:cBhvr>
                                        <p:cTn id="243" dur="1000" fill="hold"/>
                                        <p:tgtEl>
                                          <p:spTgt spid="4107"/>
                                        </p:tgtEl>
                                        <p:attrNameLst>
                                          <p:attrName>ppt_w</p:attrName>
                                        </p:attrNameLst>
                                      </p:cBhvr>
                                      <p:tavLst>
                                        <p:tav tm="0">
                                          <p:val>
                                            <p:fltVal val="0"/>
                                          </p:val>
                                        </p:tav>
                                        <p:tav tm="100000">
                                          <p:val>
                                            <p:strVal val="#ppt_w"/>
                                          </p:val>
                                        </p:tav>
                                      </p:tavLst>
                                    </p:anim>
                                    <p:anim calcmode="lin" valueType="num">
                                      <p:cBhvr>
                                        <p:cTn id="244" dur="1000" fill="hold"/>
                                        <p:tgtEl>
                                          <p:spTgt spid="4107"/>
                                        </p:tgtEl>
                                        <p:attrNameLst>
                                          <p:attrName>ppt_h</p:attrName>
                                        </p:attrNameLst>
                                      </p:cBhvr>
                                      <p:tavLst>
                                        <p:tav tm="0">
                                          <p:val>
                                            <p:fltVal val="0"/>
                                          </p:val>
                                        </p:tav>
                                        <p:tav tm="100000">
                                          <p:val>
                                            <p:strVal val="#ppt_h"/>
                                          </p:val>
                                        </p:tav>
                                      </p:tavLst>
                                    </p:anim>
                                    <p:anim calcmode="lin" valueType="num">
                                      <p:cBhvr>
                                        <p:cTn id="245" dur="1000" fill="hold"/>
                                        <p:tgtEl>
                                          <p:spTgt spid="4107"/>
                                        </p:tgtEl>
                                        <p:attrNameLst>
                                          <p:attrName>style.rotation</p:attrName>
                                        </p:attrNameLst>
                                      </p:cBhvr>
                                      <p:tavLst>
                                        <p:tav tm="0">
                                          <p:val>
                                            <p:fltVal val="90"/>
                                          </p:val>
                                        </p:tav>
                                        <p:tav tm="100000">
                                          <p:val>
                                            <p:fltVal val="0"/>
                                          </p:val>
                                        </p:tav>
                                      </p:tavLst>
                                    </p:anim>
                                    <p:animEffect transition="in" filter="fade">
                                      <p:cBhvr>
                                        <p:cTn id="246" dur="1000"/>
                                        <p:tgtEl>
                                          <p:spTgt spid="4107"/>
                                        </p:tgtEl>
                                      </p:cBhvr>
                                    </p:animEffect>
                                  </p:childTnLst>
                                </p:cTn>
                              </p:par>
                              <p:par>
                                <p:cTn id="247" presetID="31" presetClass="entr" presetSubtype="0" fill="hold" nodeType="withEffect">
                                  <p:stCondLst>
                                    <p:cond delay="1500"/>
                                  </p:stCondLst>
                                  <p:childTnLst>
                                    <p:set>
                                      <p:cBhvr>
                                        <p:cTn id="248" dur="1" fill="hold">
                                          <p:stCondLst>
                                            <p:cond delay="0"/>
                                          </p:stCondLst>
                                        </p:cTn>
                                        <p:tgtEl>
                                          <p:spTgt spid="4109"/>
                                        </p:tgtEl>
                                        <p:attrNameLst>
                                          <p:attrName>style.visibility</p:attrName>
                                        </p:attrNameLst>
                                      </p:cBhvr>
                                      <p:to>
                                        <p:strVal val="visible"/>
                                      </p:to>
                                    </p:set>
                                    <p:anim calcmode="lin" valueType="num">
                                      <p:cBhvr>
                                        <p:cTn id="249" dur="1000" fill="hold"/>
                                        <p:tgtEl>
                                          <p:spTgt spid="4109"/>
                                        </p:tgtEl>
                                        <p:attrNameLst>
                                          <p:attrName>ppt_w</p:attrName>
                                        </p:attrNameLst>
                                      </p:cBhvr>
                                      <p:tavLst>
                                        <p:tav tm="0">
                                          <p:val>
                                            <p:fltVal val="0"/>
                                          </p:val>
                                        </p:tav>
                                        <p:tav tm="100000">
                                          <p:val>
                                            <p:strVal val="#ppt_w"/>
                                          </p:val>
                                        </p:tav>
                                      </p:tavLst>
                                    </p:anim>
                                    <p:anim calcmode="lin" valueType="num">
                                      <p:cBhvr>
                                        <p:cTn id="250" dur="1000" fill="hold"/>
                                        <p:tgtEl>
                                          <p:spTgt spid="4109"/>
                                        </p:tgtEl>
                                        <p:attrNameLst>
                                          <p:attrName>ppt_h</p:attrName>
                                        </p:attrNameLst>
                                      </p:cBhvr>
                                      <p:tavLst>
                                        <p:tav tm="0">
                                          <p:val>
                                            <p:fltVal val="0"/>
                                          </p:val>
                                        </p:tav>
                                        <p:tav tm="100000">
                                          <p:val>
                                            <p:strVal val="#ppt_h"/>
                                          </p:val>
                                        </p:tav>
                                      </p:tavLst>
                                    </p:anim>
                                    <p:anim calcmode="lin" valueType="num">
                                      <p:cBhvr>
                                        <p:cTn id="251" dur="1000" fill="hold"/>
                                        <p:tgtEl>
                                          <p:spTgt spid="4109"/>
                                        </p:tgtEl>
                                        <p:attrNameLst>
                                          <p:attrName>style.rotation</p:attrName>
                                        </p:attrNameLst>
                                      </p:cBhvr>
                                      <p:tavLst>
                                        <p:tav tm="0">
                                          <p:val>
                                            <p:fltVal val="90"/>
                                          </p:val>
                                        </p:tav>
                                        <p:tav tm="100000">
                                          <p:val>
                                            <p:fltVal val="0"/>
                                          </p:val>
                                        </p:tav>
                                      </p:tavLst>
                                    </p:anim>
                                    <p:animEffect transition="in" filter="fade">
                                      <p:cBhvr>
                                        <p:cTn id="252" dur="1000"/>
                                        <p:tgtEl>
                                          <p:spTgt spid="4109"/>
                                        </p:tgtEl>
                                      </p:cBhvr>
                                    </p:animEffect>
                                  </p:childTnLst>
                                </p:cTn>
                              </p:par>
                              <p:par>
                                <p:cTn id="253" presetID="31" presetClass="entr" presetSubtype="0" fill="hold" grpId="0" nodeType="withEffect">
                                  <p:stCondLst>
                                    <p:cond delay="700"/>
                                  </p:stCondLst>
                                  <p:childTnLst>
                                    <p:set>
                                      <p:cBhvr>
                                        <p:cTn id="254" dur="1" fill="hold">
                                          <p:stCondLst>
                                            <p:cond delay="0"/>
                                          </p:stCondLst>
                                        </p:cTn>
                                        <p:tgtEl>
                                          <p:spTgt spid="4110"/>
                                        </p:tgtEl>
                                        <p:attrNameLst>
                                          <p:attrName>style.visibility</p:attrName>
                                        </p:attrNameLst>
                                      </p:cBhvr>
                                      <p:to>
                                        <p:strVal val="visible"/>
                                      </p:to>
                                    </p:set>
                                    <p:anim calcmode="lin" valueType="num">
                                      <p:cBhvr>
                                        <p:cTn id="255" dur="1000" fill="hold"/>
                                        <p:tgtEl>
                                          <p:spTgt spid="4110"/>
                                        </p:tgtEl>
                                        <p:attrNameLst>
                                          <p:attrName>ppt_w</p:attrName>
                                        </p:attrNameLst>
                                      </p:cBhvr>
                                      <p:tavLst>
                                        <p:tav tm="0">
                                          <p:val>
                                            <p:fltVal val="0"/>
                                          </p:val>
                                        </p:tav>
                                        <p:tav tm="100000">
                                          <p:val>
                                            <p:strVal val="#ppt_w"/>
                                          </p:val>
                                        </p:tav>
                                      </p:tavLst>
                                    </p:anim>
                                    <p:anim calcmode="lin" valueType="num">
                                      <p:cBhvr>
                                        <p:cTn id="256" dur="1000" fill="hold"/>
                                        <p:tgtEl>
                                          <p:spTgt spid="4110"/>
                                        </p:tgtEl>
                                        <p:attrNameLst>
                                          <p:attrName>ppt_h</p:attrName>
                                        </p:attrNameLst>
                                      </p:cBhvr>
                                      <p:tavLst>
                                        <p:tav tm="0">
                                          <p:val>
                                            <p:fltVal val="0"/>
                                          </p:val>
                                        </p:tav>
                                        <p:tav tm="100000">
                                          <p:val>
                                            <p:strVal val="#ppt_h"/>
                                          </p:val>
                                        </p:tav>
                                      </p:tavLst>
                                    </p:anim>
                                    <p:anim calcmode="lin" valueType="num">
                                      <p:cBhvr>
                                        <p:cTn id="257" dur="1000" fill="hold"/>
                                        <p:tgtEl>
                                          <p:spTgt spid="4110"/>
                                        </p:tgtEl>
                                        <p:attrNameLst>
                                          <p:attrName>style.rotation</p:attrName>
                                        </p:attrNameLst>
                                      </p:cBhvr>
                                      <p:tavLst>
                                        <p:tav tm="0">
                                          <p:val>
                                            <p:fltVal val="90"/>
                                          </p:val>
                                        </p:tav>
                                        <p:tav tm="100000">
                                          <p:val>
                                            <p:fltVal val="0"/>
                                          </p:val>
                                        </p:tav>
                                      </p:tavLst>
                                    </p:anim>
                                    <p:animEffect transition="in" filter="fade">
                                      <p:cBhvr>
                                        <p:cTn id="258" dur="1000"/>
                                        <p:tgtEl>
                                          <p:spTgt spid="4110"/>
                                        </p:tgtEl>
                                      </p:cBhvr>
                                    </p:animEffect>
                                  </p:childTnLst>
                                </p:cTn>
                              </p:par>
                              <p:par>
                                <p:cTn id="259" presetID="31" presetClass="entr" presetSubtype="0" fill="hold" grpId="0" nodeType="withEffect">
                                  <p:stCondLst>
                                    <p:cond delay="700"/>
                                  </p:stCondLst>
                                  <p:childTnLst>
                                    <p:set>
                                      <p:cBhvr>
                                        <p:cTn id="260" dur="1" fill="hold">
                                          <p:stCondLst>
                                            <p:cond delay="0"/>
                                          </p:stCondLst>
                                        </p:cTn>
                                        <p:tgtEl>
                                          <p:spTgt spid="4111"/>
                                        </p:tgtEl>
                                        <p:attrNameLst>
                                          <p:attrName>style.visibility</p:attrName>
                                        </p:attrNameLst>
                                      </p:cBhvr>
                                      <p:to>
                                        <p:strVal val="visible"/>
                                      </p:to>
                                    </p:set>
                                    <p:anim calcmode="lin" valueType="num">
                                      <p:cBhvr>
                                        <p:cTn id="261" dur="1000" fill="hold"/>
                                        <p:tgtEl>
                                          <p:spTgt spid="4111"/>
                                        </p:tgtEl>
                                        <p:attrNameLst>
                                          <p:attrName>ppt_w</p:attrName>
                                        </p:attrNameLst>
                                      </p:cBhvr>
                                      <p:tavLst>
                                        <p:tav tm="0">
                                          <p:val>
                                            <p:fltVal val="0"/>
                                          </p:val>
                                        </p:tav>
                                        <p:tav tm="100000">
                                          <p:val>
                                            <p:strVal val="#ppt_w"/>
                                          </p:val>
                                        </p:tav>
                                      </p:tavLst>
                                    </p:anim>
                                    <p:anim calcmode="lin" valueType="num">
                                      <p:cBhvr>
                                        <p:cTn id="262" dur="1000" fill="hold"/>
                                        <p:tgtEl>
                                          <p:spTgt spid="4111"/>
                                        </p:tgtEl>
                                        <p:attrNameLst>
                                          <p:attrName>ppt_h</p:attrName>
                                        </p:attrNameLst>
                                      </p:cBhvr>
                                      <p:tavLst>
                                        <p:tav tm="0">
                                          <p:val>
                                            <p:fltVal val="0"/>
                                          </p:val>
                                        </p:tav>
                                        <p:tav tm="100000">
                                          <p:val>
                                            <p:strVal val="#ppt_h"/>
                                          </p:val>
                                        </p:tav>
                                      </p:tavLst>
                                    </p:anim>
                                    <p:anim calcmode="lin" valueType="num">
                                      <p:cBhvr>
                                        <p:cTn id="263" dur="1000" fill="hold"/>
                                        <p:tgtEl>
                                          <p:spTgt spid="4111"/>
                                        </p:tgtEl>
                                        <p:attrNameLst>
                                          <p:attrName>style.rotation</p:attrName>
                                        </p:attrNameLst>
                                      </p:cBhvr>
                                      <p:tavLst>
                                        <p:tav tm="0">
                                          <p:val>
                                            <p:fltVal val="90"/>
                                          </p:val>
                                        </p:tav>
                                        <p:tav tm="100000">
                                          <p:val>
                                            <p:fltVal val="0"/>
                                          </p:val>
                                        </p:tav>
                                      </p:tavLst>
                                    </p:anim>
                                    <p:animEffect transition="in" filter="fade">
                                      <p:cBhvr>
                                        <p:cTn id="264" dur="1000"/>
                                        <p:tgtEl>
                                          <p:spTgt spid="4111"/>
                                        </p:tgtEl>
                                      </p:cBhvr>
                                    </p:animEffect>
                                  </p:childTnLst>
                                </p:cTn>
                              </p:par>
                              <p:par>
                                <p:cTn id="265" presetID="31" presetClass="entr" presetSubtype="0" fill="hold" nodeType="withEffect">
                                  <p:stCondLst>
                                    <p:cond delay="700"/>
                                  </p:stCondLst>
                                  <p:childTnLst>
                                    <p:set>
                                      <p:cBhvr>
                                        <p:cTn id="266" dur="1" fill="hold">
                                          <p:stCondLst>
                                            <p:cond delay="0"/>
                                          </p:stCondLst>
                                        </p:cTn>
                                        <p:tgtEl>
                                          <p:spTgt spid="4113"/>
                                        </p:tgtEl>
                                        <p:attrNameLst>
                                          <p:attrName>style.visibility</p:attrName>
                                        </p:attrNameLst>
                                      </p:cBhvr>
                                      <p:to>
                                        <p:strVal val="visible"/>
                                      </p:to>
                                    </p:set>
                                    <p:anim calcmode="lin" valueType="num">
                                      <p:cBhvr>
                                        <p:cTn id="267" dur="1000" fill="hold"/>
                                        <p:tgtEl>
                                          <p:spTgt spid="4113"/>
                                        </p:tgtEl>
                                        <p:attrNameLst>
                                          <p:attrName>ppt_w</p:attrName>
                                        </p:attrNameLst>
                                      </p:cBhvr>
                                      <p:tavLst>
                                        <p:tav tm="0">
                                          <p:val>
                                            <p:fltVal val="0"/>
                                          </p:val>
                                        </p:tav>
                                        <p:tav tm="100000">
                                          <p:val>
                                            <p:strVal val="#ppt_w"/>
                                          </p:val>
                                        </p:tav>
                                      </p:tavLst>
                                    </p:anim>
                                    <p:anim calcmode="lin" valueType="num">
                                      <p:cBhvr>
                                        <p:cTn id="268" dur="1000" fill="hold"/>
                                        <p:tgtEl>
                                          <p:spTgt spid="4113"/>
                                        </p:tgtEl>
                                        <p:attrNameLst>
                                          <p:attrName>ppt_h</p:attrName>
                                        </p:attrNameLst>
                                      </p:cBhvr>
                                      <p:tavLst>
                                        <p:tav tm="0">
                                          <p:val>
                                            <p:fltVal val="0"/>
                                          </p:val>
                                        </p:tav>
                                        <p:tav tm="100000">
                                          <p:val>
                                            <p:strVal val="#ppt_h"/>
                                          </p:val>
                                        </p:tav>
                                      </p:tavLst>
                                    </p:anim>
                                    <p:anim calcmode="lin" valueType="num">
                                      <p:cBhvr>
                                        <p:cTn id="269" dur="1000" fill="hold"/>
                                        <p:tgtEl>
                                          <p:spTgt spid="4113"/>
                                        </p:tgtEl>
                                        <p:attrNameLst>
                                          <p:attrName>style.rotation</p:attrName>
                                        </p:attrNameLst>
                                      </p:cBhvr>
                                      <p:tavLst>
                                        <p:tav tm="0">
                                          <p:val>
                                            <p:fltVal val="90"/>
                                          </p:val>
                                        </p:tav>
                                        <p:tav tm="100000">
                                          <p:val>
                                            <p:fltVal val="0"/>
                                          </p:val>
                                        </p:tav>
                                      </p:tavLst>
                                    </p:anim>
                                    <p:animEffect transition="in" filter="fade">
                                      <p:cBhvr>
                                        <p:cTn id="270" dur="1000"/>
                                        <p:tgtEl>
                                          <p:spTgt spid="4113"/>
                                        </p:tgtEl>
                                      </p:cBhvr>
                                    </p:animEffect>
                                  </p:childTnLst>
                                </p:cTn>
                              </p:par>
                              <p:par>
                                <p:cTn id="271" presetID="31" presetClass="entr" presetSubtype="0" fill="hold" grpId="0" nodeType="withEffect">
                                  <p:stCondLst>
                                    <p:cond delay="400"/>
                                  </p:stCondLst>
                                  <p:childTnLst>
                                    <p:set>
                                      <p:cBhvr>
                                        <p:cTn id="272" dur="1" fill="hold">
                                          <p:stCondLst>
                                            <p:cond delay="0"/>
                                          </p:stCondLst>
                                        </p:cTn>
                                        <p:tgtEl>
                                          <p:spTgt spid="4114"/>
                                        </p:tgtEl>
                                        <p:attrNameLst>
                                          <p:attrName>style.visibility</p:attrName>
                                        </p:attrNameLst>
                                      </p:cBhvr>
                                      <p:to>
                                        <p:strVal val="visible"/>
                                      </p:to>
                                    </p:set>
                                    <p:anim calcmode="lin" valueType="num">
                                      <p:cBhvr>
                                        <p:cTn id="273" dur="1000" fill="hold"/>
                                        <p:tgtEl>
                                          <p:spTgt spid="4114"/>
                                        </p:tgtEl>
                                        <p:attrNameLst>
                                          <p:attrName>ppt_w</p:attrName>
                                        </p:attrNameLst>
                                      </p:cBhvr>
                                      <p:tavLst>
                                        <p:tav tm="0">
                                          <p:val>
                                            <p:fltVal val="0"/>
                                          </p:val>
                                        </p:tav>
                                        <p:tav tm="100000">
                                          <p:val>
                                            <p:strVal val="#ppt_w"/>
                                          </p:val>
                                        </p:tav>
                                      </p:tavLst>
                                    </p:anim>
                                    <p:anim calcmode="lin" valueType="num">
                                      <p:cBhvr>
                                        <p:cTn id="274" dur="1000" fill="hold"/>
                                        <p:tgtEl>
                                          <p:spTgt spid="4114"/>
                                        </p:tgtEl>
                                        <p:attrNameLst>
                                          <p:attrName>ppt_h</p:attrName>
                                        </p:attrNameLst>
                                      </p:cBhvr>
                                      <p:tavLst>
                                        <p:tav tm="0">
                                          <p:val>
                                            <p:fltVal val="0"/>
                                          </p:val>
                                        </p:tav>
                                        <p:tav tm="100000">
                                          <p:val>
                                            <p:strVal val="#ppt_h"/>
                                          </p:val>
                                        </p:tav>
                                      </p:tavLst>
                                    </p:anim>
                                    <p:anim calcmode="lin" valueType="num">
                                      <p:cBhvr>
                                        <p:cTn id="275" dur="1000" fill="hold"/>
                                        <p:tgtEl>
                                          <p:spTgt spid="4114"/>
                                        </p:tgtEl>
                                        <p:attrNameLst>
                                          <p:attrName>style.rotation</p:attrName>
                                        </p:attrNameLst>
                                      </p:cBhvr>
                                      <p:tavLst>
                                        <p:tav tm="0">
                                          <p:val>
                                            <p:fltVal val="90"/>
                                          </p:val>
                                        </p:tav>
                                        <p:tav tm="100000">
                                          <p:val>
                                            <p:fltVal val="0"/>
                                          </p:val>
                                        </p:tav>
                                      </p:tavLst>
                                    </p:anim>
                                    <p:animEffect transition="in" filter="fade">
                                      <p:cBhvr>
                                        <p:cTn id="276" dur="1000"/>
                                        <p:tgtEl>
                                          <p:spTgt spid="4114"/>
                                        </p:tgtEl>
                                      </p:cBhvr>
                                    </p:animEffect>
                                  </p:childTnLst>
                                </p:cTn>
                              </p:par>
                              <p:par>
                                <p:cTn id="277" presetID="31" presetClass="entr" presetSubtype="0" fill="hold" grpId="0" nodeType="withEffect">
                                  <p:stCondLst>
                                    <p:cond delay="400"/>
                                  </p:stCondLst>
                                  <p:childTnLst>
                                    <p:set>
                                      <p:cBhvr>
                                        <p:cTn id="278" dur="1" fill="hold">
                                          <p:stCondLst>
                                            <p:cond delay="0"/>
                                          </p:stCondLst>
                                        </p:cTn>
                                        <p:tgtEl>
                                          <p:spTgt spid="4115"/>
                                        </p:tgtEl>
                                        <p:attrNameLst>
                                          <p:attrName>style.visibility</p:attrName>
                                        </p:attrNameLst>
                                      </p:cBhvr>
                                      <p:to>
                                        <p:strVal val="visible"/>
                                      </p:to>
                                    </p:set>
                                    <p:anim calcmode="lin" valueType="num">
                                      <p:cBhvr>
                                        <p:cTn id="279" dur="1000" fill="hold"/>
                                        <p:tgtEl>
                                          <p:spTgt spid="4115"/>
                                        </p:tgtEl>
                                        <p:attrNameLst>
                                          <p:attrName>ppt_w</p:attrName>
                                        </p:attrNameLst>
                                      </p:cBhvr>
                                      <p:tavLst>
                                        <p:tav tm="0">
                                          <p:val>
                                            <p:fltVal val="0"/>
                                          </p:val>
                                        </p:tav>
                                        <p:tav tm="100000">
                                          <p:val>
                                            <p:strVal val="#ppt_w"/>
                                          </p:val>
                                        </p:tav>
                                      </p:tavLst>
                                    </p:anim>
                                    <p:anim calcmode="lin" valueType="num">
                                      <p:cBhvr>
                                        <p:cTn id="280" dur="1000" fill="hold"/>
                                        <p:tgtEl>
                                          <p:spTgt spid="4115"/>
                                        </p:tgtEl>
                                        <p:attrNameLst>
                                          <p:attrName>ppt_h</p:attrName>
                                        </p:attrNameLst>
                                      </p:cBhvr>
                                      <p:tavLst>
                                        <p:tav tm="0">
                                          <p:val>
                                            <p:fltVal val="0"/>
                                          </p:val>
                                        </p:tav>
                                        <p:tav tm="100000">
                                          <p:val>
                                            <p:strVal val="#ppt_h"/>
                                          </p:val>
                                        </p:tav>
                                      </p:tavLst>
                                    </p:anim>
                                    <p:anim calcmode="lin" valueType="num">
                                      <p:cBhvr>
                                        <p:cTn id="281" dur="1000" fill="hold"/>
                                        <p:tgtEl>
                                          <p:spTgt spid="4115"/>
                                        </p:tgtEl>
                                        <p:attrNameLst>
                                          <p:attrName>style.rotation</p:attrName>
                                        </p:attrNameLst>
                                      </p:cBhvr>
                                      <p:tavLst>
                                        <p:tav tm="0">
                                          <p:val>
                                            <p:fltVal val="90"/>
                                          </p:val>
                                        </p:tav>
                                        <p:tav tm="100000">
                                          <p:val>
                                            <p:fltVal val="0"/>
                                          </p:val>
                                        </p:tav>
                                      </p:tavLst>
                                    </p:anim>
                                    <p:animEffect transition="in" filter="fade">
                                      <p:cBhvr>
                                        <p:cTn id="282" dur="1000"/>
                                        <p:tgtEl>
                                          <p:spTgt spid="4115"/>
                                        </p:tgtEl>
                                      </p:cBhvr>
                                    </p:animEffect>
                                  </p:childTnLst>
                                </p:cTn>
                              </p:par>
                              <p:par>
                                <p:cTn id="283" presetID="31" presetClass="entr" presetSubtype="0" fill="hold" nodeType="withEffect">
                                  <p:stCondLst>
                                    <p:cond delay="500"/>
                                  </p:stCondLst>
                                  <p:childTnLst>
                                    <p:set>
                                      <p:cBhvr>
                                        <p:cTn id="284" dur="1" fill="hold">
                                          <p:stCondLst>
                                            <p:cond delay="0"/>
                                          </p:stCondLst>
                                        </p:cTn>
                                        <p:tgtEl>
                                          <p:spTgt spid="4117"/>
                                        </p:tgtEl>
                                        <p:attrNameLst>
                                          <p:attrName>style.visibility</p:attrName>
                                        </p:attrNameLst>
                                      </p:cBhvr>
                                      <p:to>
                                        <p:strVal val="visible"/>
                                      </p:to>
                                    </p:set>
                                    <p:anim calcmode="lin" valueType="num">
                                      <p:cBhvr>
                                        <p:cTn id="285" dur="1000" fill="hold"/>
                                        <p:tgtEl>
                                          <p:spTgt spid="4117"/>
                                        </p:tgtEl>
                                        <p:attrNameLst>
                                          <p:attrName>ppt_w</p:attrName>
                                        </p:attrNameLst>
                                      </p:cBhvr>
                                      <p:tavLst>
                                        <p:tav tm="0">
                                          <p:val>
                                            <p:fltVal val="0"/>
                                          </p:val>
                                        </p:tav>
                                        <p:tav tm="100000">
                                          <p:val>
                                            <p:strVal val="#ppt_w"/>
                                          </p:val>
                                        </p:tav>
                                      </p:tavLst>
                                    </p:anim>
                                    <p:anim calcmode="lin" valueType="num">
                                      <p:cBhvr>
                                        <p:cTn id="286" dur="1000" fill="hold"/>
                                        <p:tgtEl>
                                          <p:spTgt spid="4117"/>
                                        </p:tgtEl>
                                        <p:attrNameLst>
                                          <p:attrName>ppt_h</p:attrName>
                                        </p:attrNameLst>
                                      </p:cBhvr>
                                      <p:tavLst>
                                        <p:tav tm="0">
                                          <p:val>
                                            <p:fltVal val="0"/>
                                          </p:val>
                                        </p:tav>
                                        <p:tav tm="100000">
                                          <p:val>
                                            <p:strVal val="#ppt_h"/>
                                          </p:val>
                                        </p:tav>
                                      </p:tavLst>
                                    </p:anim>
                                    <p:anim calcmode="lin" valueType="num">
                                      <p:cBhvr>
                                        <p:cTn id="287" dur="1000" fill="hold"/>
                                        <p:tgtEl>
                                          <p:spTgt spid="4117"/>
                                        </p:tgtEl>
                                        <p:attrNameLst>
                                          <p:attrName>style.rotation</p:attrName>
                                        </p:attrNameLst>
                                      </p:cBhvr>
                                      <p:tavLst>
                                        <p:tav tm="0">
                                          <p:val>
                                            <p:fltVal val="90"/>
                                          </p:val>
                                        </p:tav>
                                        <p:tav tm="100000">
                                          <p:val>
                                            <p:fltVal val="0"/>
                                          </p:val>
                                        </p:tav>
                                      </p:tavLst>
                                    </p:anim>
                                    <p:animEffect transition="in" filter="fade">
                                      <p:cBhvr>
                                        <p:cTn id="288" dur="1000"/>
                                        <p:tgtEl>
                                          <p:spTgt spid="4117"/>
                                        </p:tgtEl>
                                      </p:cBhvr>
                                    </p:animEffect>
                                  </p:childTnLst>
                                </p:cTn>
                              </p:par>
                              <p:par>
                                <p:cTn id="289" presetID="31" presetClass="entr" presetSubtype="0" fill="hold" grpId="0" nodeType="withEffect">
                                  <p:stCondLst>
                                    <p:cond delay="0"/>
                                  </p:stCondLst>
                                  <p:childTnLst>
                                    <p:set>
                                      <p:cBhvr>
                                        <p:cTn id="290" dur="1" fill="hold">
                                          <p:stCondLst>
                                            <p:cond delay="0"/>
                                          </p:stCondLst>
                                        </p:cTn>
                                        <p:tgtEl>
                                          <p:spTgt spid="17"/>
                                        </p:tgtEl>
                                        <p:attrNameLst>
                                          <p:attrName>style.visibility</p:attrName>
                                        </p:attrNameLst>
                                      </p:cBhvr>
                                      <p:to>
                                        <p:strVal val="visible"/>
                                      </p:to>
                                    </p:set>
                                    <p:anim calcmode="lin" valueType="num">
                                      <p:cBhvr>
                                        <p:cTn id="291" dur="1000" fill="hold"/>
                                        <p:tgtEl>
                                          <p:spTgt spid="17"/>
                                        </p:tgtEl>
                                        <p:attrNameLst>
                                          <p:attrName>ppt_w</p:attrName>
                                        </p:attrNameLst>
                                      </p:cBhvr>
                                      <p:tavLst>
                                        <p:tav tm="0">
                                          <p:val>
                                            <p:fltVal val="0"/>
                                          </p:val>
                                        </p:tav>
                                        <p:tav tm="100000">
                                          <p:val>
                                            <p:strVal val="#ppt_w"/>
                                          </p:val>
                                        </p:tav>
                                      </p:tavLst>
                                    </p:anim>
                                    <p:anim calcmode="lin" valueType="num">
                                      <p:cBhvr>
                                        <p:cTn id="292" dur="1000" fill="hold"/>
                                        <p:tgtEl>
                                          <p:spTgt spid="17"/>
                                        </p:tgtEl>
                                        <p:attrNameLst>
                                          <p:attrName>ppt_h</p:attrName>
                                        </p:attrNameLst>
                                      </p:cBhvr>
                                      <p:tavLst>
                                        <p:tav tm="0">
                                          <p:val>
                                            <p:fltVal val="0"/>
                                          </p:val>
                                        </p:tav>
                                        <p:tav tm="100000">
                                          <p:val>
                                            <p:strVal val="#ppt_h"/>
                                          </p:val>
                                        </p:tav>
                                      </p:tavLst>
                                    </p:anim>
                                    <p:anim calcmode="lin" valueType="num">
                                      <p:cBhvr>
                                        <p:cTn id="293" dur="1000" fill="hold"/>
                                        <p:tgtEl>
                                          <p:spTgt spid="17"/>
                                        </p:tgtEl>
                                        <p:attrNameLst>
                                          <p:attrName>style.rotation</p:attrName>
                                        </p:attrNameLst>
                                      </p:cBhvr>
                                      <p:tavLst>
                                        <p:tav tm="0">
                                          <p:val>
                                            <p:fltVal val="90"/>
                                          </p:val>
                                        </p:tav>
                                        <p:tav tm="100000">
                                          <p:val>
                                            <p:fltVal val="0"/>
                                          </p:val>
                                        </p:tav>
                                      </p:tavLst>
                                    </p:anim>
                                    <p:animEffect transition="in" filter="fade">
                                      <p:cBhvr>
                                        <p:cTn id="294"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6" grpId="0" animBg="1"/>
      <p:bldP spid="20" grpId="0" animBg="1"/>
      <p:bldP spid="21" grpId="0"/>
      <p:bldP spid="22" grpId="0" animBg="1"/>
      <p:bldP spid="23" grpId="0"/>
      <p:bldP spid="26" grpId="0" animBg="1"/>
      <p:bldP spid="27" grpId="0"/>
      <p:bldP spid="30" grpId="0" animBg="1"/>
      <p:bldP spid="31" grpId="0"/>
      <p:bldP spid="34" grpId="0" animBg="1"/>
      <p:bldP spid="35" grpId="0"/>
      <p:bldP spid="38" grpId="0" animBg="1"/>
      <p:bldP spid="39" grpId="0"/>
      <p:bldP spid="53" grpId="0" animBg="1"/>
      <p:bldP spid="54" grpId="0"/>
      <p:bldP spid="57" grpId="0" animBg="1"/>
      <p:bldP spid="58" grpId="0"/>
      <p:bldP spid="61" grpId="0" animBg="1"/>
      <p:bldP spid="62" grpId="0"/>
      <p:bldP spid="4097" grpId="0" animBg="1"/>
      <p:bldP spid="4099" grpId="0"/>
      <p:bldP spid="4102" grpId="0" animBg="1"/>
      <p:bldP spid="4103" grpId="0"/>
      <p:bldP spid="4106" grpId="0" animBg="1"/>
      <p:bldP spid="4107" grpId="0"/>
      <p:bldP spid="4110" grpId="0" animBg="1"/>
      <p:bldP spid="4111" grpId="0"/>
      <p:bldP spid="4114" grpId="0" animBg="1"/>
      <p:bldP spid="4115"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C9BB9-EE3B-B0B9-30DC-6D29AEC0459C}"/>
              </a:ext>
            </a:extLst>
          </p:cNvPr>
          <p:cNvSpPr>
            <a:spLocks noGrp="1"/>
          </p:cNvSpPr>
          <p:nvPr>
            <p:ph type="title"/>
          </p:nvPr>
        </p:nvSpPr>
        <p:spPr>
          <a:xfrm>
            <a:off x="160631" y="206094"/>
            <a:ext cx="8753475" cy="461665"/>
          </a:xfrm>
        </p:spPr>
        <p:txBody>
          <a:bodyPr/>
          <a:lstStyle/>
          <a:p>
            <a:r>
              <a:rPr lang="en-US">
                <a:latin typeface="Gill Sans MT"/>
                <a:cs typeface="Gill Sans"/>
              </a:rPr>
              <a:t>A</a:t>
            </a:r>
            <a:r>
              <a:rPr lang="en-GB">
                <a:latin typeface="Gill Sans MT"/>
                <a:cs typeface="Gill Sans"/>
              </a:rPr>
              <a:t>I is Everywhere</a:t>
            </a:r>
            <a:endParaRPr lang="en-GB">
              <a:solidFill>
                <a:srgbClr val="000000"/>
              </a:solidFill>
              <a:latin typeface="Gill Sans MT"/>
              <a:cs typeface="Gill Sans"/>
            </a:endParaRPr>
          </a:p>
        </p:txBody>
      </p:sp>
      <p:sp>
        <p:nvSpPr>
          <p:cNvPr id="4" name="Slide Number Placeholder 3">
            <a:extLst>
              <a:ext uri="{FF2B5EF4-FFF2-40B4-BE49-F238E27FC236}">
                <a16:creationId xmlns:a16="http://schemas.microsoft.com/office/drawing/2014/main" id="{1618D709-340C-4ED5-38F1-B1081861E393}"/>
              </a:ext>
            </a:extLst>
          </p:cNvPr>
          <p:cNvSpPr>
            <a:spLocks noGrp="1"/>
          </p:cNvSpPr>
          <p:nvPr>
            <p:ph type="sldNum" sz="quarter" idx="12"/>
          </p:nvPr>
        </p:nvSpPr>
        <p:spPr/>
        <p:txBody>
          <a:bodyPr/>
          <a:lstStyle/>
          <a:p>
            <a:fld id="{8836216C-5BC3-7C44-80F8-E30864FFC228}" type="slidenum">
              <a:rPr lang="en-US" smtClean="0"/>
              <a:t>3</a:t>
            </a:fld>
            <a:endParaRPr lang="en-US"/>
          </a:p>
        </p:txBody>
      </p:sp>
      <p:sp>
        <p:nvSpPr>
          <p:cNvPr id="5" name="Text Placeholder 4">
            <a:extLst>
              <a:ext uri="{FF2B5EF4-FFF2-40B4-BE49-F238E27FC236}">
                <a16:creationId xmlns:a16="http://schemas.microsoft.com/office/drawing/2014/main" id="{4386DBA7-0169-A388-561A-A37FFA9F6E75}"/>
              </a:ext>
            </a:extLst>
          </p:cNvPr>
          <p:cNvSpPr>
            <a:spLocks noGrp="1"/>
          </p:cNvSpPr>
          <p:nvPr>
            <p:ph type="body" sz="quarter" idx="13"/>
          </p:nvPr>
        </p:nvSpPr>
        <p:spPr/>
        <p:txBody>
          <a:bodyPr/>
          <a:lstStyle/>
          <a:p>
            <a:r>
              <a:rPr lang="en-US" dirty="0"/>
              <a:t>The Edge Computing Challenge</a:t>
            </a:r>
            <a:endParaRPr lang="en-GB" dirty="0"/>
          </a:p>
        </p:txBody>
      </p:sp>
      <p:pic>
        <p:nvPicPr>
          <p:cNvPr id="9" name="Picture 8" descr="A graph with numbers and letters&#10;&#10;Description automatically generated">
            <a:extLst>
              <a:ext uri="{FF2B5EF4-FFF2-40B4-BE49-F238E27FC236}">
                <a16:creationId xmlns:a16="http://schemas.microsoft.com/office/drawing/2014/main" id="{68892B7B-4C67-96D5-5660-B5AAF45F2639}"/>
              </a:ext>
            </a:extLst>
          </p:cNvPr>
          <p:cNvPicPr>
            <a:picLocks noChangeAspect="1"/>
          </p:cNvPicPr>
          <p:nvPr/>
        </p:nvPicPr>
        <p:blipFill>
          <a:blip r:embed="rId3"/>
          <a:stretch>
            <a:fillRect/>
          </a:stretch>
        </p:blipFill>
        <p:spPr>
          <a:xfrm>
            <a:off x="5887528" y="944338"/>
            <a:ext cx="2660710" cy="1962690"/>
          </a:xfrm>
          <a:prstGeom prst="rect">
            <a:avLst/>
          </a:prstGeom>
        </p:spPr>
      </p:pic>
      <p:pic>
        <p:nvPicPr>
          <p:cNvPr id="11" name="Picture 10" descr="A graph with red and blue dots&#10;&#10;AI-generated content may be incorrect.">
            <a:extLst>
              <a:ext uri="{FF2B5EF4-FFF2-40B4-BE49-F238E27FC236}">
                <a16:creationId xmlns:a16="http://schemas.microsoft.com/office/drawing/2014/main" id="{72B2E324-17A4-B10C-0FBC-53D59DEE534A}"/>
              </a:ext>
            </a:extLst>
          </p:cNvPr>
          <p:cNvPicPr>
            <a:picLocks noChangeAspect="1"/>
          </p:cNvPicPr>
          <p:nvPr/>
        </p:nvPicPr>
        <p:blipFill>
          <a:blip r:embed="rId4"/>
          <a:stretch>
            <a:fillRect/>
          </a:stretch>
        </p:blipFill>
        <p:spPr>
          <a:xfrm>
            <a:off x="5928821" y="3076154"/>
            <a:ext cx="2717323" cy="1276477"/>
          </a:xfrm>
          <a:prstGeom prst="rect">
            <a:avLst/>
          </a:prstGeom>
        </p:spPr>
      </p:pic>
      <p:sp>
        <p:nvSpPr>
          <p:cNvPr id="12" name="TextBox 11">
            <a:extLst>
              <a:ext uri="{FF2B5EF4-FFF2-40B4-BE49-F238E27FC236}">
                <a16:creationId xmlns:a16="http://schemas.microsoft.com/office/drawing/2014/main" id="{B717473A-7430-BF24-46F4-28497A2858B5}"/>
              </a:ext>
            </a:extLst>
          </p:cNvPr>
          <p:cNvSpPr txBox="1"/>
          <p:nvPr/>
        </p:nvSpPr>
        <p:spPr>
          <a:xfrm>
            <a:off x="285335" y="1288748"/>
            <a:ext cx="4879730" cy="29854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600" b="1" dirty="0">
                <a:ea typeface="+mn-lt"/>
                <a:cs typeface="+mn-lt"/>
              </a:rPr>
              <a:t>AI models are scaling exponentially</a:t>
            </a:r>
            <a:endParaRPr lang="en-US" dirty="0"/>
          </a:p>
          <a:p>
            <a:pPr marL="697230" lvl="1" indent="-285750">
              <a:buFont typeface="Arial"/>
              <a:buChar char="•"/>
            </a:pPr>
            <a:r>
              <a:rPr lang="en-GB" sz="1600" dirty="0">
                <a:ea typeface="+mn-lt"/>
                <a:cs typeface="+mn-lt"/>
              </a:rPr>
              <a:t>From millions to billions of parameters in just over a decade</a:t>
            </a:r>
          </a:p>
          <a:p>
            <a:pPr marL="285750" indent="-285750">
              <a:buFont typeface="Arial"/>
              <a:buChar char="•"/>
            </a:pPr>
            <a:endParaRPr lang="en-GB" sz="1600" dirty="0"/>
          </a:p>
          <a:p>
            <a:pPr marL="285750" indent="-285750">
              <a:buFont typeface="Arial"/>
              <a:buChar char="•"/>
            </a:pPr>
            <a:r>
              <a:rPr lang="en-GB" sz="1600" b="1" dirty="0">
                <a:ea typeface="+mn-lt"/>
                <a:cs typeface="+mn-lt"/>
              </a:rPr>
              <a:t>Energy consumption follows the same trend</a:t>
            </a:r>
          </a:p>
          <a:p>
            <a:pPr marL="697230" lvl="1" indent="-285750">
              <a:buFont typeface="Arial"/>
              <a:buChar char="•"/>
            </a:pPr>
            <a:r>
              <a:rPr lang="en-GB" sz="1600" dirty="0">
                <a:ea typeface="+mn-lt"/>
                <a:cs typeface="+mn-lt"/>
              </a:rPr>
              <a:t>Red AI Era" - absolute energy costs rising with model scale</a:t>
            </a:r>
            <a:endParaRPr lang="en-GB" sz="1600" dirty="0"/>
          </a:p>
          <a:p>
            <a:pPr marL="285750" indent="-285750">
              <a:buFont typeface="Arial"/>
              <a:buChar char="•"/>
            </a:pPr>
            <a:endParaRPr lang="en-GB" sz="1600" dirty="0"/>
          </a:p>
          <a:p>
            <a:pPr marL="285750" indent="-285750">
              <a:buFont typeface="Arial"/>
              <a:buChar char="•"/>
            </a:pPr>
            <a:r>
              <a:rPr lang="en-GB" sz="1600" b="1" dirty="0">
                <a:ea typeface="+mn-lt"/>
                <a:cs typeface="+mn-lt"/>
              </a:rPr>
              <a:t>Harsh resource constraints on edge hardware</a:t>
            </a:r>
          </a:p>
          <a:p>
            <a:pPr marL="697230" lvl="1" indent="-285750">
              <a:buFont typeface="Arial"/>
              <a:buChar char="•"/>
            </a:pPr>
            <a:r>
              <a:rPr lang="en-GB" sz="1600" dirty="0">
                <a:ea typeface="+mn-lt"/>
                <a:cs typeface="+mn-lt"/>
              </a:rPr>
              <a:t>Bottleneck at memory, energy, processing power [1]</a:t>
            </a:r>
            <a:endParaRPr lang="en-GB" sz="1600" dirty="0"/>
          </a:p>
          <a:p>
            <a:endParaRPr lang="en-GB" sz="1200" b="1" dirty="0"/>
          </a:p>
        </p:txBody>
      </p:sp>
      <p:sp>
        <p:nvSpPr>
          <p:cNvPr id="6" name="TextBox 5">
            <a:extLst>
              <a:ext uri="{FF2B5EF4-FFF2-40B4-BE49-F238E27FC236}">
                <a16:creationId xmlns:a16="http://schemas.microsoft.com/office/drawing/2014/main" id="{B433C1AE-F778-EEC7-4F3A-AA9F1FFECEDB}"/>
              </a:ext>
            </a:extLst>
          </p:cNvPr>
          <p:cNvSpPr txBox="1"/>
          <p:nvPr/>
        </p:nvSpPr>
        <p:spPr>
          <a:xfrm>
            <a:off x="104017" y="4352631"/>
            <a:ext cx="8444221" cy="584775"/>
          </a:xfrm>
          <a:prstGeom prst="rect">
            <a:avLst/>
          </a:prstGeom>
          <a:noFill/>
        </p:spPr>
        <p:txBody>
          <a:bodyPr wrap="square" rtlCol="0">
            <a:spAutoFit/>
          </a:bodyPr>
          <a:lstStyle/>
          <a:p>
            <a:r>
              <a:rPr lang="en-US" sz="800" dirty="0">
                <a:solidFill>
                  <a:schemeClr val="bg2">
                    <a:lumMod val="60000"/>
                    <a:lumOff val="40000"/>
                  </a:schemeClr>
                </a:solidFill>
              </a:rPr>
              <a:t>[1] </a:t>
            </a:r>
            <a:r>
              <a:rPr lang="en-US" sz="800" b="1" dirty="0" err="1">
                <a:solidFill>
                  <a:schemeClr val="bg2">
                    <a:lumMod val="60000"/>
                    <a:lumOff val="40000"/>
                  </a:schemeClr>
                </a:solidFill>
              </a:rPr>
              <a:t>Alsamhi</a:t>
            </a:r>
            <a:r>
              <a:rPr lang="en-US" sz="800" b="1" dirty="0">
                <a:solidFill>
                  <a:schemeClr val="bg2">
                    <a:lumMod val="60000"/>
                    <a:lumOff val="40000"/>
                  </a:schemeClr>
                </a:solidFill>
              </a:rPr>
              <a:t>, S. H., et al. (2025).</a:t>
            </a:r>
            <a:r>
              <a:rPr lang="en-US" sz="800" dirty="0">
                <a:solidFill>
                  <a:schemeClr val="bg2">
                    <a:lumMod val="60000"/>
                    <a:lumOff val="40000"/>
                  </a:schemeClr>
                </a:solidFill>
              </a:rPr>
              <a:t> "Optimizing Edge AI: A Comprehensive Survey on Data, Model, and System Strategies.</a:t>
            </a:r>
            <a:br>
              <a:rPr lang="en-US" sz="800" dirty="0">
                <a:solidFill>
                  <a:schemeClr val="bg2">
                    <a:lumMod val="60000"/>
                    <a:lumOff val="40000"/>
                  </a:schemeClr>
                </a:solidFill>
              </a:rPr>
            </a:br>
            <a:r>
              <a:rPr lang="en-US" sz="800" dirty="0">
                <a:solidFill>
                  <a:schemeClr val="bg2">
                    <a:lumMod val="60000"/>
                    <a:lumOff val="40000"/>
                  </a:schemeClr>
                </a:solidFill>
              </a:rPr>
              <a:t>[2] </a:t>
            </a:r>
            <a:r>
              <a:rPr lang="en-GB" sz="800" dirty="0">
                <a:solidFill>
                  <a:schemeClr val="bg2">
                    <a:lumMod val="60000"/>
                    <a:lumOff val="40000"/>
                  </a:schemeClr>
                </a:solidFill>
                <a:ea typeface="+mn-lt"/>
                <a:cs typeface="+mn-lt"/>
              </a:rPr>
              <a:t>Epoch AI (2024)</a:t>
            </a:r>
            <a:br>
              <a:rPr lang="en-GB" sz="800" dirty="0">
                <a:solidFill>
                  <a:schemeClr val="bg2">
                    <a:lumMod val="60000"/>
                    <a:lumOff val="40000"/>
                  </a:schemeClr>
                </a:solidFill>
                <a:ea typeface="+mn-lt"/>
                <a:cs typeface="+mn-lt"/>
              </a:rPr>
            </a:br>
            <a:r>
              <a:rPr lang="en-GB" sz="800" dirty="0">
                <a:solidFill>
                  <a:schemeClr val="bg2">
                    <a:lumMod val="60000"/>
                    <a:lumOff val="40000"/>
                  </a:schemeClr>
                </a:solidFill>
                <a:ea typeface="+mn-lt"/>
                <a:cs typeface="+mn-lt"/>
              </a:rPr>
              <a:t>[3] Brownlee et al. (2024)</a:t>
            </a:r>
            <a:br>
              <a:rPr lang="en-GB" sz="700" dirty="0">
                <a:ea typeface="+mn-lt"/>
                <a:cs typeface="+mn-lt"/>
              </a:rPr>
            </a:br>
            <a:endParaRPr lang="en-NL" sz="800" dirty="0">
              <a:solidFill>
                <a:schemeClr val="bg2">
                  <a:lumMod val="60000"/>
                  <a:lumOff val="40000"/>
                </a:schemeClr>
              </a:solidFill>
            </a:endParaRPr>
          </a:p>
        </p:txBody>
      </p:sp>
    </p:spTree>
    <p:extLst>
      <p:ext uri="{BB962C8B-B14F-4D97-AF65-F5344CB8AC3E}">
        <p14:creationId xmlns:p14="http://schemas.microsoft.com/office/powerpoint/2010/main" val="23940461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2">
                                            <p:txEl>
                                              <p:pRg st="0" end="0"/>
                                            </p:txEl>
                                          </p:spTgt>
                                        </p:tgtEl>
                                        <p:attrNameLst>
                                          <p:attrName>style.visibility</p:attrName>
                                        </p:attrNameLst>
                                      </p:cBhvr>
                                      <p:to>
                                        <p:strVal val="visible"/>
                                      </p:to>
                                    </p:set>
                                    <p:animEffect transition="in" filter="fade">
                                      <p:cBhvr>
                                        <p:cTn id="14" dur="500"/>
                                        <p:tgtEl>
                                          <p:spTgt spid="1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animEffect transition="in" filter="fade">
                                      <p:cBhvr>
                                        <p:cTn id="19" dur="500"/>
                                        <p:tgtEl>
                                          <p:spTgt spid="12">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2">
                                            <p:txEl>
                                              <p:pRg st="3" end="3"/>
                                            </p:txEl>
                                          </p:spTgt>
                                        </p:tgtEl>
                                        <p:attrNameLst>
                                          <p:attrName>style.visibility</p:attrName>
                                        </p:attrNameLst>
                                      </p:cBhvr>
                                      <p:to>
                                        <p:strVal val="visible"/>
                                      </p:to>
                                    </p:set>
                                    <p:animEffect transition="in" filter="fade">
                                      <p:cBhvr>
                                        <p:cTn id="31" dur="500"/>
                                        <p:tgtEl>
                                          <p:spTgt spid="12">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2">
                                            <p:txEl>
                                              <p:pRg st="4" end="4"/>
                                            </p:txEl>
                                          </p:spTgt>
                                        </p:tgtEl>
                                        <p:attrNameLst>
                                          <p:attrName>style.visibility</p:attrName>
                                        </p:attrNameLst>
                                      </p:cBhvr>
                                      <p:to>
                                        <p:strVal val="visible"/>
                                      </p:to>
                                    </p:set>
                                    <p:animEffect transition="in" filter="fade">
                                      <p:cBhvr>
                                        <p:cTn id="36" dur="500"/>
                                        <p:tgtEl>
                                          <p:spTgt spid="12">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2">
                                            <p:txEl>
                                              <p:pRg st="6" end="6"/>
                                            </p:txEl>
                                          </p:spTgt>
                                        </p:tgtEl>
                                        <p:attrNameLst>
                                          <p:attrName>style.visibility</p:attrName>
                                        </p:attrNameLst>
                                      </p:cBhvr>
                                      <p:to>
                                        <p:strVal val="visible"/>
                                      </p:to>
                                    </p:set>
                                    <p:animEffect transition="in" filter="fade">
                                      <p:cBhvr>
                                        <p:cTn id="41" dur="500"/>
                                        <p:tgtEl>
                                          <p:spTgt spid="12">
                                            <p:txEl>
                                              <p:pRg st="6" end="6"/>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2">
                                            <p:txEl>
                                              <p:pRg st="7" end="7"/>
                                            </p:txEl>
                                          </p:spTgt>
                                        </p:tgtEl>
                                        <p:attrNameLst>
                                          <p:attrName>style.visibility</p:attrName>
                                        </p:attrNameLst>
                                      </p:cBhvr>
                                      <p:to>
                                        <p:strVal val="visible"/>
                                      </p:to>
                                    </p:set>
                                    <p:animEffect transition="in" filter="fade">
                                      <p:cBhvr>
                                        <p:cTn id="44" dur="500"/>
                                        <p:tgtEl>
                                          <p:spTgt spid="1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6FFB5-1D0E-1A16-B8CE-167D09B94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FE0F7C-1935-F439-D435-D45C82644A9C}"/>
              </a:ext>
            </a:extLst>
          </p:cNvPr>
          <p:cNvSpPr>
            <a:spLocks noGrp="1"/>
          </p:cNvSpPr>
          <p:nvPr>
            <p:ph type="title"/>
          </p:nvPr>
        </p:nvSpPr>
        <p:spPr/>
        <p:txBody>
          <a:bodyPr/>
          <a:lstStyle/>
          <a:p>
            <a:r>
              <a:rPr lang="en-US"/>
              <a:t>A</a:t>
            </a:r>
            <a:r>
              <a:rPr lang="en-GB"/>
              <a:t>I is Everywhere</a:t>
            </a:r>
          </a:p>
        </p:txBody>
      </p:sp>
      <p:sp>
        <p:nvSpPr>
          <p:cNvPr id="4" name="Slide Number Placeholder 3">
            <a:extLst>
              <a:ext uri="{FF2B5EF4-FFF2-40B4-BE49-F238E27FC236}">
                <a16:creationId xmlns:a16="http://schemas.microsoft.com/office/drawing/2014/main" id="{2F98113A-8864-0ED6-4AE7-F20CDA60A60F}"/>
              </a:ext>
            </a:extLst>
          </p:cNvPr>
          <p:cNvSpPr>
            <a:spLocks noGrp="1"/>
          </p:cNvSpPr>
          <p:nvPr>
            <p:ph type="sldNum" sz="quarter" idx="12"/>
          </p:nvPr>
        </p:nvSpPr>
        <p:spPr/>
        <p:txBody>
          <a:bodyPr/>
          <a:lstStyle/>
          <a:p>
            <a:fld id="{8836216C-5BC3-7C44-80F8-E30864FFC228}" type="slidenum">
              <a:rPr lang="en-US" smtClean="0"/>
              <a:t>4</a:t>
            </a:fld>
            <a:endParaRPr lang="en-US"/>
          </a:p>
        </p:txBody>
      </p:sp>
      <p:sp>
        <p:nvSpPr>
          <p:cNvPr id="5" name="Text Placeholder 4">
            <a:extLst>
              <a:ext uri="{FF2B5EF4-FFF2-40B4-BE49-F238E27FC236}">
                <a16:creationId xmlns:a16="http://schemas.microsoft.com/office/drawing/2014/main" id="{5EA5E4A0-020B-F8FE-7A48-5CB9E1A6B0D1}"/>
              </a:ext>
            </a:extLst>
          </p:cNvPr>
          <p:cNvSpPr>
            <a:spLocks noGrp="1"/>
          </p:cNvSpPr>
          <p:nvPr>
            <p:ph type="body" sz="quarter" idx="13"/>
          </p:nvPr>
        </p:nvSpPr>
        <p:spPr/>
        <p:txBody>
          <a:bodyPr/>
          <a:lstStyle/>
          <a:p>
            <a:r>
              <a:rPr lang="en-GB">
                <a:latin typeface="Gill Sans MT"/>
                <a:cs typeface="Gill Sans"/>
              </a:rPr>
              <a:t>Is there a solution?</a:t>
            </a:r>
          </a:p>
        </p:txBody>
      </p:sp>
      <p:pic>
        <p:nvPicPr>
          <p:cNvPr id="9" name="Picture 8" descr="A skull with red and white parts&#10;&#10;Description automatically generated">
            <a:extLst>
              <a:ext uri="{FF2B5EF4-FFF2-40B4-BE49-F238E27FC236}">
                <a16:creationId xmlns:a16="http://schemas.microsoft.com/office/drawing/2014/main" id="{4CB28681-859D-7C1B-7949-F88E08B797BE}"/>
              </a:ext>
            </a:extLst>
          </p:cNvPr>
          <p:cNvPicPr>
            <a:picLocks noChangeAspect="1"/>
          </p:cNvPicPr>
          <p:nvPr/>
        </p:nvPicPr>
        <p:blipFill>
          <a:blip r:embed="rId3"/>
          <a:stretch>
            <a:fillRect/>
          </a:stretch>
        </p:blipFill>
        <p:spPr>
          <a:xfrm>
            <a:off x="1027826" y="1233784"/>
            <a:ext cx="1428750" cy="1428750"/>
          </a:xfrm>
          <a:prstGeom prst="rect">
            <a:avLst/>
          </a:prstGeom>
        </p:spPr>
      </p:pic>
      <p:pic>
        <p:nvPicPr>
          <p:cNvPr id="8" name="Content Placeholder 18" descr="A close-up of a computer screen&#10;&#10;Description automatically generated">
            <a:extLst>
              <a:ext uri="{FF2B5EF4-FFF2-40B4-BE49-F238E27FC236}">
                <a16:creationId xmlns:a16="http://schemas.microsoft.com/office/drawing/2014/main" id="{3D891D61-8BBB-6E2B-6732-A9A69490861F}"/>
              </a:ext>
            </a:extLst>
          </p:cNvPr>
          <p:cNvPicPr>
            <a:picLocks noGrp="1" noChangeAspect="1"/>
          </p:cNvPicPr>
          <p:nvPr>
            <p:ph idx="1"/>
          </p:nvPr>
        </p:nvPicPr>
        <p:blipFill>
          <a:blip r:embed="rId4"/>
          <a:stretch>
            <a:fillRect/>
          </a:stretch>
        </p:blipFill>
        <p:spPr>
          <a:xfrm>
            <a:off x="3655981" y="1425092"/>
            <a:ext cx="4898168" cy="1378851"/>
          </a:xfrm>
        </p:spPr>
      </p:pic>
      <p:pic>
        <p:nvPicPr>
          <p:cNvPr id="13" name="Picture 12" descr="A close-up of a card&#10;&#10;Description automatically generated">
            <a:extLst>
              <a:ext uri="{FF2B5EF4-FFF2-40B4-BE49-F238E27FC236}">
                <a16:creationId xmlns:a16="http://schemas.microsoft.com/office/drawing/2014/main" id="{ABBBA6CB-CF10-B60A-BC6D-798976F2F068}"/>
              </a:ext>
            </a:extLst>
          </p:cNvPr>
          <p:cNvPicPr>
            <a:picLocks noChangeAspect="1"/>
          </p:cNvPicPr>
          <p:nvPr/>
        </p:nvPicPr>
        <p:blipFill>
          <a:blip r:embed="rId5"/>
          <a:stretch>
            <a:fillRect/>
          </a:stretch>
        </p:blipFill>
        <p:spPr>
          <a:xfrm>
            <a:off x="3641171" y="1418996"/>
            <a:ext cx="4920598" cy="1385164"/>
          </a:xfrm>
          <a:prstGeom prst="rect">
            <a:avLst/>
          </a:prstGeom>
        </p:spPr>
      </p:pic>
      <p:sp>
        <p:nvSpPr>
          <p:cNvPr id="15" name="Rectangle 14">
            <a:extLst>
              <a:ext uri="{FF2B5EF4-FFF2-40B4-BE49-F238E27FC236}">
                <a16:creationId xmlns:a16="http://schemas.microsoft.com/office/drawing/2014/main" id="{A453085F-FE60-C6CA-6057-0981207AC7F8}"/>
              </a:ext>
            </a:extLst>
          </p:cNvPr>
          <p:cNvSpPr/>
          <p:nvPr/>
        </p:nvSpPr>
        <p:spPr>
          <a:xfrm>
            <a:off x="3132078" y="3668106"/>
            <a:ext cx="1070517" cy="61703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Analog</a:t>
            </a:r>
          </a:p>
          <a:p>
            <a:pPr algn="ctr"/>
            <a:r>
              <a:rPr lang="en-US" sz="1400" dirty="0"/>
              <a:t>Circuits</a:t>
            </a:r>
            <a:endParaRPr lang="en-GB" sz="1400" dirty="0"/>
          </a:p>
        </p:txBody>
      </p:sp>
      <p:sp>
        <p:nvSpPr>
          <p:cNvPr id="16" name="Rectangle 15">
            <a:extLst>
              <a:ext uri="{FF2B5EF4-FFF2-40B4-BE49-F238E27FC236}">
                <a16:creationId xmlns:a16="http://schemas.microsoft.com/office/drawing/2014/main" id="{79576502-ECAA-5EFA-C220-A340D96D130F}"/>
              </a:ext>
            </a:extLst>
          </p:cNvPr>
          <p:cNvSpPr/>
          <p:nvPr/>
        </p:nvSpPr>
        <p:spPr>
          <a:xfrm>
            <a:off x="1574623" y="3668106"/>
            <a:ext cx="1290234" cy="61703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Asynchronous</a:t>
            </a:r>
            <a:endParaRPr lang="en-GB" sz="1400" dirty="0"/>
          </a:p>
        </p:txBody>
      </p:sp>
      <p:sp>
        <p:nvSpPr>
          <p:cNvPr id="17" name="Rectangle 16">
            <a:extLst>
              <a:ext uri="{FF2B5EF4-FFF2-40B4-BE49-F238E27FC236}">
                <a16:creationId xmlns:a16="http://schemas.microsoft.com/office/drawing/2014/main" id="{BD338A0D-9FBA-28B2-5106-7C2D16F094FF}"/>
              </a:ext>
            </a:extLst>
          </p:cNvPr>
          <p:cNvSpPr/>
          <p:nvPr/>
        </p:nvSpPr>
        <p:spPr>
          <a:xfrm>
            <a:off x="4411502" y="3668106"/>
            <a:ext cx="1184595" cy="61703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t>Event driven</a:t>
            </a:r>
            <a:endParaRPr lang="en-GB" sz="1400"/>
          </a:p>
        </p:txBody>
      </p:sp>
      <p:sp>
        <p:nvSpPr>
          <p:cNvPr id="18" name="Rectangle 17">
            <a:extLst>
              <a:ext uri="{FF2B5EF4-FFF2-40B4-BE49-F238E27FC236}">
                <a16:creationId xmlns:a16="http://schemas.microsoft.com/office/drawing/2014/main" id="{27567A13-930E-0487-89B5-AAFCADBCD09D}"/>
              </a:ext>
            </a:extLst>
          </p:cNvPr>
          <p:cNvSpPr/>
          <p:nvPr/>
        </p:nvSpPr>
        <p:spPr>
          <a:xfrm>
            <a:off x="5805004" y="3668106"/>
            <a:ext cx="1406118" cy="61703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t>Co-located processing and memory</a:t>
            </a:r>
            <a:endParaRPr lang="en-GB" sz="1400"/>
          </a:p>
        </p:txBody>
      </p:sp>
      <p:sp>
        <p:nvSpPr>
          <p:cNvPr id="23" name="Rectangle 22">
            <a:extLst>
              <a:ext uri="{FF2B5EF4-FFF2-40B4-BE49-F238E27FC236}">
                <a16:creationId xmlns:a16="http://schemas.microsoft.com/office/drawing/2014/main" id="{2DA1C5AF-F10D-ADFB-9A06-6250DC3D418A}"/>
              </a:ext>
            </a:extLst>
          </p:cNvPr>
          <p:cNvSpPr/>
          <p:nvPr/>
        </p:nvSpPr>
        <p:spPr>
          <a:xfrm>
            <a:off x="1574623" y="3277509"/>
            <a:ext cx="7227405" cy="2901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t>Bio inspired Techniques</a:t>
            </a:r>
            <a:endParaRPr lang="en-GB" sz="1400"/>
          </a:p>
        </p:txBody>
      </p:sp>
      <p:sp>
        <p:nvSpPr>
          <p:cNvPr id="24" name="Rectangle 23">
            <a:extLst>
              <a:ext uri="{FF2B5EF4-FFF2-40B4-BE49-F238E27FC236}">
                <a16:creationId xmlns:a16="http://schemas.microsoft.com/office/drawing/2014/main" id="{97F8E544-28DD-9B3E-3527-C252E4978409}"/>
              </a:ext>
            </a:extLst>
          </p:cNvPr>
          <p:cNvSpPr/>
          <p:nvPr/>
        </p:nvSpPr>
        <p:spPr>
          <a:xfrm>
            <a:off x="7420029" y="3668106"/>
            <a:ext cx="1406118" cy="61703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t>Spiking Neural Networks</a:t>
            </a:r>
            <a:endParaRPr lang="en-GB" sz="1400"/>
          </a:p>
        </p:txBody>
      </p:sp>
      <p:sp>
        <p:nvSpPr>
          <p:cNvPr id="3" name="TextBox 2">
            <a:extLst>
              <a:ext uri="{FF2B5EF4-FFF2-40B4-BE49-F238E27FC236}">
                <a16:creationId xmlns:a16="http://schemas.microsoft.com/office/drawing/2014/main" id="{17B33E1F-E6C7-9FFE-2387-06D9EEB98AE9}"/>
              </a:ext>
            </a:extLst>
          </p:cNvPr>
          <p:cNvSpPr txBox="1"/>
          <p:nvPr/>
        </p:nvSpPr>
        <p:spPr>
          <a:xfrm>
            <a:off x="160629" y="4628114"/>
            <a:ext cx="8217653" cy="230832"/>
          </a:xfrm>
          <a:prstGeom prst="rect">
            <a:avLst/>
          </a:prstGeom>
          <a:noFill/>
        </p:spPr>
        <p:txBody>
          <a:bodyPr wrap="square" rtlCol="0">
            <a:spAutoFit/>
          </a:bodyPr>
          <a:lstStyle/>
          <a:p>
            <a:r>
              <a:rPr lang="en-GB" sz="900">
                <a:solidFill>
                  <a:schemeClr val="tx1">
                    <a:lumMod val="40000"/>
                    <a:lumOff val="60000"/>
                  </a:schemeClr>
                </a:solidFill>
              </a:rPr>
              <a:t>https://www.frontiersin.org/journals/neuroscience/articles/10.3389/fnins.2023.1153985/full</a:t>
            </a:r>
          </a:p>
        </p:txBody>
      </p:sp>
      <p:sp>
        <p:nvSpPr>
          <p:cNvPr id="6" name="Rectangle 5">
            <a:extLst>
              <a:ext uri="{FF2B5EF4-FFF2-40B4-BE49-F238E27FC236}">
                <a16:creationId xmlns:a16="http://schemas.microsoft.com/office/drawing/2014/main" id="{3F5D5A78-4099-7747-C85A-AB70EFB3883B}"/>
              </a:ext>
            </a:extLst>
          </p:cNvPr>
          <p:cNvSpPr/>
          <p:nvPr/>
        </p:nvSpPr>
        <p:spPr>
          <a:xfrm>
            <a:off x="1559225" y="4346635"/>
            <a:ext cx="5658927" cy="278202"/>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t>Hardware</a:t>
            </a:r>
          </a:p>
        </p:txBody>
      </p:sp>
      <p:sp>
        <p:nvSpPr>
          <p:cNvPr id="7" name="Rectangle 6">
            <a:extLst>
              <a:ext uri="{FF2B5EF4-FFF2-40B4-BE49-F238E27FC236}">
                <a16:creationId xmlns:a16="http://schemas.microsoft.com/office/drawing/2014/main" id="{EE74BFCD-08A1-F74E-BBA0-D954A686C221}"/>
              </a:ext>
            </a:extLst>
          </p:cNvPr>
          <p:cNvSpPr/>
          <p:nvPr/>
        </p:nvSpPr>
        <p:spPr>
          <a:xfrm>
            <a:off x="7403621" y="4357418"/>
            <a:ext cx="1421200" cy="267419"/>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t>Software</a:t>
            </a:r>
          </a:p>
        </p:txBody>
      </p:sp>
    </p:spTree>
    <p:extLst>
      <p:ext uri="{BB962C8B-B14F-4D97-AF65-F5344CB8AC3E}">
        <p14:creationId xmlns:p14="http://schemas.microsoft.com/office/powerpoint/2010/main" val="66753780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1"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additive="base">
                                        <p:cTn id="21" dur="500" fill="hold"/>
                                        <p:tgtEl>
                                          <p:spTgt spid="23"/>
                                        </p:tgtEl>
                                        <p:attrNameLst>
                                          <p:attrName>ppt_x</p:attrName>
                                        </p:attrNameLst>
                                      </p:cBhvr>
                                      <p:tavLst>
                                        <p:tav tm="0">
                                          <p:val>
                                            <p:strVal val="#ppt_x"/>
                                          </p:val>
                                        </p:tav>
                                        <p:tav tm="100000">
                                          <p:val>
                                            <p:strVal val="#ppt_x"/>
                                          </p:val>
                                        </p:tav>
                                      </p:tavLst>
                                    </p:anim>
                                    <p:anim calcmode="lin" valueType="num">
                                      <p:cBhvr additive="base">
                                        <p:cTn id="22" dur="500" fill="hold"/>
                                        <p:tgtEl>
                                          <p:spTgt spid="23"/>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par>
                                <p:cTn id="33" presetID="2" presetClass="entr" presetSubtype="1"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0-#ppt_h/2"/>
                                          </p:val>
                                        </p:tav>
                                        <p:tav tm="100000">
                                          <p:val>
                                            <p:strVal val="#ppt_y"/>
                                          </p:val>
                                        </p:tav>
                                      </p:tavLst>
                                    </p:anim>
                                  </p:childTnLst>
                                </p:cTn>
                              </p:par>
                              <p:par>
                                <p:cTn id="37" presetID="2" presetClass="entr" presetSubtype="1"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ppt_x"/>
                                          </p:val>
                                        </p:tav>
                                        <p:tav tm="100000">
                                          <p:val>
                                            <p:strVal val="#ppt_x"/>
                                          </p:val>
                                        </p:tav>
                                      </p:tavLst>
                                    </p:anim>
                                    <p:anim calcmode="lin" valueType="num">
                                      <p:cBhvr additive="base">
                                        <p:cTn id="40" dur="500" fill="hold"/>
                                        <p:tgtEl>
                                          <p:spTgt spid="18"/>
                                        </p:tgtEl>
                                        <p:attrNameLst>
                                          <p:attrName>ppt_y</p:attrName>
                                        </p:attrNameLst>
                                      </p:cBhvr>
                                      <p:tavLst>
                                        <p:tav tm="0">
                                          <p:val>
                                            <p:strVal val="0-#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ppt_x"/>
                                          </p:val>
                                        </p:tav>
                                        <p:tav tm="100000">
                                          <p:val>
                                            <p:strVal val="#ppt_x"/>
                                          </p:val>
                                        </p:tav>
                                      </p:tavLst>
                                    </p:anim>
                                    <p:anim calcmode="lin" valueType="num">
                                      <p:cBhvr additive="base">
                                        <p:cTn id="4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barn(inVertical)">
                                      <p:cBhvr>
                                        <p:cTn id="49" dur="500"/>
                                        <p:tgtEl>
                                          <p:spTgt spid="6"/>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barn(inVertical)">
                                      <p:cBhvr>
                                        <p:cTn id="5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23" grpId="0" animBg="1"/>
      <p:bldP spid="24" grpId="0" animBg="1"/>
      <p:bldP spid="6"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28E31-69B4-6F2A-B41D-6C2EC4071468}"/>
              </a:ext>
            </a:extLst>
          </p:cNvPr>
          <p:cNvSpPr>
            <a:spLocks noGrp="1"/>
          </p:cNvSpPr>
          <p:nvPr>
            <p:ph type="title"/>
          </p:nvPr>
        </p:nvSpPr>
        <p:spPr>
          <a:xfrm>
            <a:off x="160631" y="206094"/>
            <a:ext cx="8753475" cy="461665"/>
          </a:xfrm>
        </p:spPr>
        <p:txBody>
          <a:bodyPr/>
          <a:lstStyle/>
          <a:p>
            <a:r>
              <a:rPr lang="en-GB"/>
              <a:t>Event Driven Paradigm</a:t>
            </a:r>
            <a:endParaRPr lang="en-GB">
              <a:latin typeface="Gill Sans MT"/>
              <a:cs typeface="Gill Sans"/>
            </a:endParaRPr>
          </a:p>
        </p:txBody>
      </p:sp>
      <p:sp>
        <p:nvSpPr>
          <p:cNvPr id="4" name="Slide Number Placeholder 3">
            <a:extLst>
              <a:ext uri="{FF2B5EF4-FFF2-40B4-BE49-F238E27FC236}">
                <a16:creationId xmlns:a16="http://schemas.microsoft.com/office/drawing/2014/main" id="{66B573D0-A41D-0F3B-0916-9A979CD3DCF8}"/>
              </a:ext>
            </a:extLst>
          </p:cNvPr>
          <p:cNvSpPr>
            <a:spLocks noGrp="1"/>
          </p:cNvSpPr>
          <p:nvPr>
            <p:ph type="sldNum" sz="quarter" idx="12"/>
          </p:nvPr>
        </p:nvSpPr>
        <p:spPr/>
        <p:txBody>
          <a:bodyPr/>
          <a:lstStyle/>
          <a:p>
            <a:fld id="{8836216C-5BC3-7C44-80F8-E30864FFC228}" type="slidenum">
              <a:rPr lang="en-US" smtClean="0"/>
              <a:t>5</a:t>
            </a:fld>
            <a:endParaRPr lang="en-US"/>
          </a:p>
        </p:txBody>
      </p:sp>
      <p:sp>
        <p:nvSpPr>
          <p:cNvPr id="5" name="Text Placeholder 4">
            <a:extLst>
              <a:ext uri="{FF2B5EF4-FFF2-40B4-BE49-F238E27FC236}">
                <a16:creationId xmlns:a16="http://schemas.microsoft.com/office/drawing/2014/main" id="{02601821-BDBB-D88B-2CE3-1130BFE590EF}"/>
              </a:ext>
            </a:extLst>
          </p:cNvPr>
          <p:cNvSpPr>
            <a:spLocks noGrp="1"/>
          </p:cNvSpPr>
          <p:nvPr>
            <p:ph type="body" sz="quarter" idx="13"/>
          </p:nvPr>
        </p:nvSpPr>
        <p:spPr/>
        <p:txBody>
          <a:bodyPr/>
          <a:lstStyle/>
          <a:p>
            <a:r>
              <a:rPr lang="en-US" dirty="0"/>
              <a:t>Paradigm Shift from Frame-Based to Event-Based Processing</a:t>
            </a:r>
            <a:endParaRPr lang="en-GB" dirty="0"/>
          </a:p>
        </p:txBody>
      </p:sp>
      <p:pic>
        <p:nvPicPr>
          <p:cNvPr id="6" name="Picture 5" descr="A diagram of a camera&#10;&#10;Description automatically generated">
            <a:extLst>
              <a:ext uri="{FF2B5EF4-FFF2-40B4-BE49-F238E27FC236}">
                <a16:creationId xmlns:a16="http://schemas.microsoft.com/office/drawing/2014/main" id="{C3D28B1F-1182-2432-4AAF-49A66C002039}"/>
              </a:ext>
            </a:extLst>
          </p:cNvPr>
          <p:cNvPicPr>
            <a:picLocks noChangeAspect="1"/>
          </p:cNvPicPr>
          <p:nvPr/>
        </p:nvPicPr>
        <p:blipFill>
          <a:blip r:embed="rId3"/>
          <a:stretch>
            <a:fillRect/>
          </a:stretch>
        </p:blipFill>
        <p:spPr>
          <a:xfrm>
            <a:off x="5404757" y="1602412"/>
            <a:ext cx="3409963" cy="1959363"/>
          </a:xfrm>
          <a:prstGeom prst="rect">
            <a:avLst/>
          </a:prstGeom>
        </p:spPr>
      </p:pic>
      <p:sp>
        <p:nvSpPr>
          <p:cNvPr id="3" name="TextBox 2">
            <a:extLst>
              <a:ext uri="{FF2B5EF4-FFF2-40B4-BE49-F238E27FC236}">
                <a16:creationId xmlns:a16="http://schemas.microsoft.com/office/drawing/2014/main" id="{6CCBB12E-4D2A-0E2E-C2E9-0FF9627DB16F}"/>
              </a:ext>
            </a:extLst>
          </p:cNvPr>
          <p:cNvSpPr txBox="1"/>
          <p:nvPr/>
        </p:nvSpPr>
        <p:spPr>
          <a:xfrm>
            <a:off x="227865" y="1027823"/>
            <a:ext cx="5068137"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GB" sz="1400" b="1" dirty="0">
                <a:ea typeface="+mn-lt"/>
                <a:cs typeface="+mn-lt"/>
              </a:rPr>
              <a:t>Traditional Frame-Based Computing</a:t>
            </a:r>
            <a:r>
              <a:rPr lang="en-GB" sz="1400" dirty="0">
                <a:ea typeface="+mn-lt"/>
                <a:cs typeface="+mn-lt"/>
              </a:rPr>
              <a:t> </a:t>
            </a:r>
            <a:endParaRPr lang="en-US" sz="1400" dirty="0">
              <a:ea typeface="+mn-lt"/>
              <a:cs typeface="+mn-lt"/>
            </a:endParaRPr>
          </a:p>
          <a:p>
            <a:pPr marL="582930" lvl="1" indent="-171450">
              <a:buFont typeface="Courier New"/>
              <a:buChar char="o"/>
            </a:pPr>
            <a:r>
              <a:rPr lang="en-GB" sz="1400" dirty="0">
                <a:ea typeface="+mn-lt"/>
                <a:cs typeface="+mn-lt"/>
              </a:rPr>
              <a:t>Processes whole data frames continuously</a:t>
            </a:r>
            <a:endParaRPr lang="en-US" sz="1400" dirty="0">
              <a:ea typeface="+mn-lt"/>
              <a:cs typeface="+mn-lt"/>
            </a:endParaRPr>
          </a:p>
          <a:p>
            <a:pPr marL="582930" lvl="1" indent="-171450">
              <a:buFont typeface="Courier New"/>
              <a:buChar char="o"/>
            </a:pPr>
            <a:r>
              <a:rPr lang="en-GB" sz="1400" dirty="0">
                <a:ea typeface="+mn-lt"/>
                <a:cs typeface="+mn-lt"/>
              </a:rPr>
              <a:t>16.7ms temporal resolution (60fps standard)</a:t>
            </a:r>
            <a:endParaRPr lang="en-US" sz="1400" dirty="0">
              <a:ea typeface="+mn-lt"/>
              <a:cs typeface="+mn-lt"/>
            </a:endParaRPr>
          </a:p>
          <a:p>
            <a:pPr marL="582930" lvl="1" indent="-171450">
              <a:buFont typeface="Courier New"/>
              <a:buChar char="o"/>
            </a:pPr>
            <a:r>
              <a:rPr lang="en-GB" sz="1400" dirty="0">
                <a:ea typeface="+mn-lt"/>
                <a:cs typeface="+mn-lt"/>
              </a:rPr>
              <a:t>High bandwidth requirements (184 </a:t>
            </a:r>
            <a:r>
              <a:rPr lang="en-GB" sz="1400" dirty="0" err="1">
                <a:ea typeface="+mn-lt"/>
                <a:cs typeface="+mn-lt"/>
              </a:rPr>
              <a:t>Mpix</a:t>
            </a:r>
            <a:r>
              <a:rPr lang="en-GB" sz="1400" dirty="0">
                <a:ea typeface="+mn-lt"/>
                <a:cs typeface="+mn-lt"/>
              </a:rPr>
              <a:t>/s data stream)[1] </a:t>
            </a:r>
            <a:endParaRPr lang="en-US" sz="1400" dirty="0">
              <a:ea typeface="+mn-lt"/>
              <a:cs typeface="+mn-lt"/>
            </a:endParaRPr>
          </a:p>
          <a:p>
            <a:pPr marL="171450" indent="-171450">
              <a:buFont typeface="Arial"/>
              <a:buChar char="•"/>
            </a:pPr>
            <a:endParaRPr lang="en-GB" sz="1400" dirty="0">
              <a:ea typeface="+mn-lt"/>
              <a:cs typeface="+mn-lt"/>
            </a:endParaRPr>
          </a:p>
          <a:p>
            <a:pPr marL="171450" indent="-171450">
              <a:buFont typeface="Arial"/>
              <a:buChar char="•"/>
            </a:pPr>
            <a:r>
              <a:rPr lang="en-GB" sz="1400" b="1" dirty="0">
                <a:ea typeface="+mn-lt"/>
                <a:cs typeface="+mn-lt"/>
              </a:rPr>
              <a:t>Event-Driven Computing Paradigm</a:t>
            </a:r>
            <a:endParaRPr lang="en-GB" sz="1400" dirty="0">
              <a:ea typeface="+mn-lt"/>
              <a:cs typeface="+mn-lt"/>
            </a:endParaRPr>
          </a:p>
          <a:p>
            <a:pPr marL="582930" lvl="1" indent="-171450">
              <a:buFont typeface="Courier New"/>
              <a:buChar char="o"/>
            </a:pPr>
            <a:r>
              <a:rPr lang="en-GB" sz="1400" dirty="0">
                <a:ea typeface="+mn-lt"/>
                <a:cs typeface="+mn-lt"/>
              </a:rPr>
              <a:t>Only processes changes when they occur</a:t>
            </a:r>
          </a:p>
          <a:p>
            <a:pPr marL="582930" lvl="1" indent="-171450">
              <a:buFont typeface="Courier New,monospace"/>
              <a:buChar char="o"/>
            </a:pPr>
            <a:r>
              <a:rPr lang="en-GB" sz="1400" dirty="0">
                <a:ea typeface="+mn-lt"/>
                <a:cs typeface="+mn-lt"/>
              </a:rPr>
              <a:t>~1µs latency [2]</a:t>
            </a:r>
          </a:p>
          <a:p>
            <a:pPr marL="582930" lvl="1" indent="-171450">
              <a:buFont typeface="Courier New"/>
              <a:buChar char="o"/>
            </a:pPr>
            <a:r>
              <a:rPr lang="en-GB" sz="1400" dirty="0">
                <a:ea typeface="+mn-lt"/>
                <a:cs typeface="+mn-lt"/>
              </a:rPr>
              <a:t>Sparse data: 1-10 MEPS typical (vs 30 MEPS max)[3]</a:t>
            </a:r>
          </a:p>
          <a:p>
            <a:endParaRPr lang="en-GB" sz="1400" b="1" dirty="0">
              <a:ea typeface="+mn-lt"/>
              <a:cs typeface="+mn-lt"/>
            </a:endParaRPr>
          </a:p>
          <a:p>
            <a:pPr marL="171450" indent="-171450">
              <a:buFont typeface="Arial"/>
              <a:buChar char="•"/>
            </a:pPr>
            <a:r>
              <a:rPr lang="en-GB" sz="1400" b="1" dirty="0">
                <a:ea typeface="+mn-lt"/>
                <a:cs typeface="+mn-lt"/>
              </a:rPr>
              <a:t>The advantage </a:t>
            </a:r>
          </a:p>
          <a:p>
            <a:pPr marL="582930" lvl="1" indent="-171450">
              <a:buFont typeface="Courier New"/>
              <a:buChar char="o"/>
            </a:pPr>
            <a:r>
              <a:rPr lang="en-GB" sz="1400" dirty="0">
                <a:ea typeface="+mn-lt"/>
                <a:cs typeface="+mn-lt"/>
              </a:rPr>
              <a:t>500mW → 3mW sensor power (150× reduction)[4] </a:t>
            </a:r>
          </a:p>
          <a:p>
            <a:pPr marL="582930" lvl="1" indent="-171450">
              <a:buFont typeface="Courier New"/>
              <a:buChar char="o"/>
            </a:pPr>
            <a:r>
              <a:rPr lang="en-GB" sz="1400" dirty="0">
                <a:ea typeface="+mn-lt"/>
                <a:cs typeface="+mn-lt"/>
              </a:rPr>
              <a:t>Perfect for edge application</a:t>
            </a:r>
            <a:endParaRPr lang="en-GB" sz="1400" dirty="0"/>
          </a:p>
          <a:p>
            <a:pPr algn="l"/>
            <a:endParaRPr lang="en-GB" sz="1400" dirty="0"/>
          </a:p>
        </p:txBody>
      </p:sp>
      <p:sp>
        <p:nvSpPr>
          <p:cNvPr id="7" name="TextBox 6">
            <a:extLst>
              <a:ext uri="{FF2B5EF4-FFF2-40B4-BE49-F238E27FC236}">
                <a16:creationId xmlns:a16="http://schemas.microsoft.com/office/drawing/2014/main" id="{15D95F1C-EF6D-F7DE-DE65-77EF943F324F}"/>
              </a:ext>
            </a:extLst>
          </p:cNvPr>
          <p:cNvSpPr txBox="1"/>
          <p:nvPr/>
        </p:nvSpPr>
        <p:spPr>
          <a:xfrm>
            <a:off x="153865" y="4190999"/>
            <a:ext cx="8762999" cy="7232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800">
                <a:solidFill>
                  <a:schemeClr val="bg2">
                    <a:lumMod val="60000"/>
                    <a:lumOff val="40000"/>
                  </a:schemeClr>
                </a:solidFill>
                <a:ea typeface="+mn-lt"/>
                <a:cs typeface="+mn-lt"/>
              </a:rPr>
              <a:t>[1] DS-CAM-600 datasheet (</a:t>
            </a:r>
            <a:r>
              <a:rPr lang="en-GB" sz="800" err="1">
                <a:solidFill>
                  <a:schemeClr val="bg2">
                    <a:lumMod val="60000"/>
                    <a:lumOff val="40000"/>
                  </a:schemeClr>
                </a:solidFill>
                <a:ea typeface="+mn-lt"/>
                <a:cs typeface="+mn-lt"/>
              </a:rPr>
              <a:t>DeWESoft</a:t>
            </a:r>
            <a:r>
              <a:rPr lang="en-GB" sz="800">
                <a:solidFill>
                  <a:schemeClr val="bg2">
                    <a:lumMod val="60000"/>
                    <a:lumOff val="40000"/>
                  </a:schemeClr>
                </a:solidFill>
                <a:ea typeface="+mn-lt"/>
                <a:cs typeface="+mn-lt"/>
              </a:rPr>
              <a:t>, 2020) </a:t>
            </a:r>
            <a:br>
              <a:rPr lang="en-GB" sz="800">
                <a:solidFill>
                  <a:schemeClr val="bg2">
                    <a:lumMod val="60000"/>
                    <a:lumOff val="40000"/>
                  </a:schemeClr>
                </a:solidFill>
                <a:ea typeface="+mn-lt"/>
                <a:cs typeface="+mn-lt"/>
              </a:rPr>
            </a:br>
            <a:r>
              <a:rPr lang="en-GB" sz="800">
                <a:solidFill>
                  <a:schemeClr val="bg2">
                    <a:lumMod val="60000"/>
                    <a:lumOff val="40000"/>
                  </a:schemeClr>
                </a:solidFill>
                <a:ea typeface="+mn-lt"/>
                <a:cs typeface="+mn-lt"/>
              </a:rPr>
              <a:t>[2] Event camera latency review (zlthinker.github.io) </a:t>
            </a:r>
            <a:endParaRPr lang="en-US" sz="800">
              <a:solidFill>
                <a:schemeClr val="bg2">
                  <a:lumMod val="60000"/>
                  <a:lumOff val="40000"/>
                </a:schemeClr>
              </a:solidFill>
              <a:ea typeface="+mn-lt"/>
              <a:cs typeface="+mn-lt"/>
            </a:endParaRPr>
          </a:p>
          <a:p>
            <a:r>
              <a:rPr lang="en-GB" sz="800">
                <a:solidFill>
                  <a:schemeClr val="bg2">
                    <a:lumMod val="60000"/>
                    <a:lumOff val="40000"/>
                  </a:schemeClr>
                </a:solidFill>
                <a:ea typeface="+mn-lt"/>
                <a:cs typeface="+mn-lt"/>
              </a:rPr>
              <a:t>[3] DAVIS-240C specifications (</a:t>
            </a:r>
            <a:r>
              <a:rPr lang="en-GB" sz="800" err="1">
                <a:solidFill>
                  <a:schemeClr val="bg2">
                    <a:lumMod val="60000"/>
                    <a:lumOff val="40000"/>
                  </a:schemeClr>
                </a:solidFill>
                <a:ea typeface="+mn-lt"/>
                <a:cs typeface="+mn-lt"/>
              </a:rPr>
              <a:t>iniVation</a:t>
            </a:r>
            <a:r>
              <a:rPr lang="en-GB" sz="800">
                <a:solidFill>
                  <a:schemeClr val="bg2">
                    <a:lumMod val="60000"/>
                    <a:lumOff val="40000"/>
                  </a:schemeClr>
                </a:solidFill>
                <a:ea typeface="+mn-lt"/>
                <a:cs typeface="+mn-lt"/>
              </a:rPr>
              <a:t>, 2019) </a:t>
            </a:r>
            <a:br>
              <a:rPr lang="en-GB" sz="800">
                <a:solidFill>
                  <a:schemeClr val="bg2">
                    <a:lumMod val="60000"/>
                    <a:lumOff val="40000"/>
                  </a:schemeClr>
                </a:solidFill>
                <a:ea typeface="+mn-lt"/>
                <a:cs typeface="+mn-lt"/>
              </a:rPr>
            </a:br>
            <a:r>
              <a:rPr lang="en-GB" sz="800">
                <a:solidFill>
                  <a:schemeClr val="bg2">
                    <a:lumMod val="60000"/>
                    <a:lumOff val="40000"/>
                  </a:schemeClr>
                </a:solidFill>
                <a:ea typeface="+mn-lt"/>
                <a:cs typeface="+mn-lt"/>
              </a:rPr>
              <a:t>[4] </a:t>
            </a:r>
            <a:r>
              <a:rPr lang="en-GB" sz="800" err="1">
                <a:solidFill>
                  <a:schemeClr val="bg2">
                    <a:lumMod val="60000"/>
                    <a:lumOff val="40000"/>
                  </a:schemeClr>
                </a:solidFill>
                <a:ea typeface="+mn-lt"/>
                <a:cs typeface="+mn-lt"/>
              </a:rPr>
              <a:t>Prophesee</a:t>
            </a:r>
            <a:r>
              <a:rPr lang="en-GB" sz="800">
                <a:solidFill>
                  <a:schemeClr val="bg2">
                    <a:lumMod val="60000"/>
                    <a:lumOff val="40000"/>
                  </a:schemeClr>
                </a:solidFill>
                <a:ea typeface="+mn-lt"/>
                <a:cs typeface="+mn-lt"/>
              </a:rPr>
              <a:t> GenX320 specifications (</a:t>
            </a:r>
            <a:r>
              <a:rPr lang="en-GB" sz="800" err="1">
                <a:solidFill>
                  <a:schemeClr val="bg2">
                    <a:lumMod val="60000"/>
                    <a:lumOff val="40000"/>
                  </a:schemeClr>
                </a:solidFill>
                <a:ea typeface="+mn-lt"/>
                <a:cs typeface="+mn-lt"/>
              </a:rPr>
              <a:t>Prophesee</a:t>
            </a:r>
            <a:r>
              <a:rPr lang="en-GB" sz="800">
                <a:solidFill>
                  <a:schemeClr val="bg2">
                    <a:lumMod val="60000"/>
                    <a:lumOff val="40000"/>
                  </a:schemeClr>
                </a:solidFill>
                <a:ea typeface="+mn-lt"/>
                <a:cs typeface="+mn-lt"/>
              </a:rPr>
              <a:t>, 2024</a:t>
            </a:r>
            <a:r>
              <a:rPr lang="en-GB" sz="800">
                <a:ea typeface="+mn-lt"/>
                <a:cs typeface="+mn-lt"/>
              </a:rPr>
              <a:t>)</a:t>
            </a:r>
            <a:br>
              <a:rPr lang="en-GB" sz="800">
                <a:ea typeface="+mn-lt"/>
                <a:cs typeface="+mn-lt"/>
              </a:rPr>
            </a:br>
            <a:r>
              <a:rPr lang="en-GB" sz="800">
                <a:solidFill>
                  <a:schemeClr val="bg2">
                    <a:lumMod val="60000"/>
                    <a:lumOff val="40000"/>
                  </a:schemeClr>
                </a:solidFill>
                <a:ea typeface="+mn-lt"/>
                <a:cs typeface="+mn-lt"/>
              </a:rPr>
              <a:t>[5] </a:t>
            </a:r>
            <a:r>
              <a:rPr lang="en-GB" sz="800">
                <a:solidFill>
                  <a:schemeClr val="tx1">
                    <a:lumMod val="40000"/>
                    <a:lumOff val="60000"/>
                  </a:schemeClr>
                </a:solidFill>
              </a:rPr>
              <a:t>https://prg.cs.umd.edu/EVDodgeNet</a:t>
            </a:r>
            <a:endParaRPr lang="en-US" sz="800"/>
          </a:p>
        </p:txBody>
      </p:sp>
    </p:spTree>
    <p:extLst>
      <p:ext uri="{BB962C8B-B14F-4D97-AF65-F5344CB8AC3E}">
        <p14:creationId xmlns:p14="http://schemas.microsoft.com/office/powerpoint/2010/main" val="38194395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fade">
                                      <p:cBhvr>
                                        <p:cTn id="42" dur="500"/>
                                        <p:tgtEl>
                                          <p:spTgt spid="3">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5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B483-044D-8721-59B8-758983FD0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7CC5C-E1C3-12CC-7D18-42D8A1BCADDC}"/>
              </a:ext>
            </a:extLst>
          </p:cNvPr>
          <p:cNvSpPr>
            <a:spLocks noGrp="1"/>
          </p:cNvSpPr>
          <p:nvPr>
            <p:ph type="title"/>
          </p:nvPr>
        </p:nvSpPr>
        <p:spPr>
          <a:xfrm>
            <a:off x="160631" y="206094"/>
            <a:ext cx="8753475" cy="461665"/>
          </a:xfrm>
        </p:spPr>
        <p:txBody>
          <a:bodyPr/>
          <a:lstStyle/>
          <a:p>
            <a:r>
              <a:rPr lang="en-US" dirty="0"/>
              <a:t>Neuromorphic Architecture Landscape</a:t>
            </a:r>
            <a:endParaRPr lang="en-GB" dirty="0">
              <a:solidFill>
                <a:srgbClr val="000000"/>
              </a:solidFill>
              <a:latin typeface="Gill Sans MT"/>
            </a:endParaRPr>
          </a:p>
        </p:txBody>
      </p:sp>
      <p:sp>
        <p:nvSpPr>
          <p:cNvPr id="4" name="Slide Number Placeholder 3">
            <a:extLst>
              <a:ext uri="{FF2B5EF4-FFF2-40B4-BE49-F238E27FC236}">
                <a16:creationId xmlns:a16="http://schemas.microsoft.com/office/drawing/2014/main" id="{41ED222E-60E0-FFC7-B5A8-0C0858EED70A}"/>
              </a:ext>
            </a:extLst>
          </p:cNvPr>
          <p:cNvSpPr>
            <a:spLocks noGrp="1"/>
          </p:cNvSpPr>
          <p:nvPr>
            <p:ph type="sldNum" sz="quarter" idx="12"/>
          </p:nvPr>
        </p:nvSpPr>
        <p:spPr/>
        <p:txBody>
          <a:bodyPr/>
          <a:lstStyle/>
          <a:p>
            <a:fld id="{8836216C-5BC3-7C44-80F8-E30864FFC228}" type="slidenum">
              <a:rPr lang="en-US" smtClean="0"/>
              <a:t>6</a:t>
            </a:fld>
            <a:endParaRPr lang="en-US"/>
          </a:p>
        </p:txBody>
      </p:sp>
      <p:sp>
        <p:nvSpPr>
          <p:cNvPr id="5" name="Text Placeholder 4">
            <a:extLst>
              <a:ext uri="{FF2B5EF4-FFF2-40B4-BE49-F238E27FC236}">
                <a16:creationId xmlns:a16="http://schemas.microsoft.com/office/drawing/2014/main" id="{7CCD6A9D-0A77-C1D9-10F1-121591DAB51E}"/>
              </a:ext>
            </a:extLst>
          </p:cNvPr>
          <p:cNvSpPr>
            <a:spLocks noGrp="1"/>
          </p:cNvSpPr>
          <p:nvPr>
            <p:ph type="body" sz="quarter" idx="13"/>
          </p:nvPr>
        </p:nvSpPr>
        <p:spPr/>
        <p:txBody>
          <a:bodyPr/>
          <a:lstStyle/>
          <a:p>
            <a:r>
              <a:rPr lang="en-GB" dirty="0"/>
              <a:t>Every accelerator architecture is unique </a:t>
            </a:r>
            <a:endParaRPr lang="en-IN" dirty="0"/>
          </a:p>
        </p:txBody>
      </p:sp>
      <p:pic>
        <p:nvPicPr>
          <p:cNvPr id="1026" name="Picture 2" descr="Intel Loihi 2 Cover On Pinky Finger">
            <a:extLst>
              <a:ext uri="{FF2B5EF4-FFF2-40B4-BE49-F238E27FC236}">
                <a16:creationId xmlns:a16="http://schemas.microsoft.com/office/drawing/2014/main" id="{812FC539-8D10-95D8-B9F0-AB108AFFDA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9" y="1350296"/>
            <a:ext cx="3076641" cy="243790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A51D3B16-5F42-839A-D62D-97FDE9903301}"/>
              </a:ext>
            </a:extLst>
          </p:cNvPr>
          <p:cNvPicPr>
            <a:picLocks noChangeAspect="1"/>
          </p:cNvPicPr>
          <p:nvPr/>
        </p:nvPicPr>
        <p:blipFill>
          <a:blip r:embed="rId4"/>
          <a:stretch>
            <a:fillRect/>
          </a:stretch>
        </p:blipFill>
        <p:spPr>
          <a:xfrm>
            <a:off x="6396283" y="1305970"/>
            <a:ext cx="2517822" cy="2535986"/>
          </a:xfrm>
          <a:prstGeom prst="rect">
            <a:avLst/>
          </a:prstGeom>
        </p:spPr>
      </p:pic>
      <p:pic>
        <p:nvPicPr>
          <p:cNvPr id="12" name="Picture 11">
            <a:extLst>
              <a:ext uri="{FF2B5EF4-FFF2-40B4-BE49-F238E27FC236}">
                <a16:creationId xmlns:a16="http://schemas.microsoft.com/office/drawing/2014/main" id="{B0DCF047-E0B8-A5D6-5556-49A02A8DECAF}"/>
              </a:ext>
            </a:extLst>
          </p:cNvPr>
          <p:cNvPicPr>
            <a:picLocks noChangeAspect="1"/>
          </p:cNvPicPr>
          <p:nvPr/>
        </p:nvPicPr>
        <p:blipFill>
          <a:blip r:embed="rId5"/>
          <a:stretch>
            <a:fillRect/>
          </a:stretch>
        </p:blipFill>
        <p:spPr>
          <a:xfrm>
            <a:off x="3323517" y="1315868"/>
            <a:ext cx="2986519" cy="2526088"/>
          </a:xfrm>
          <a:prstGeom prst="rect">
            <a:avLst/>
          </a:prstGeom>
        </p:spPr>
      </p:pic>
      <p:sp>
        <p:nvSpPr>
          <p:cNvPr id="13" name="Rectangle 12">
            <a:extLst>
              <a:ext uri="{FF2B5EF4-FFF2-40B4-BE49-F238E27FC236}">
                <a16:creationId xmlns:a16="http://schemas.microsoft.com/office/drawing/2014/main" id="{1930BBBF-F55F-FC44-D68E-57602C92164E}"/>
              </a:ext>
            </a:extLst>
          </p:cNvPr>
          <p:cNvSpPr/>
          <p:nvPr/>
        </p:nvSpPr>
        <p:spPr>
          <a:xfrm>
            <a:off x="870155" y="3915697"/>
            <a:ext cx="1629697" cy="276999"/>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t>Intel Loihi</a:t>
            </a:r>
            <a:endParaRPr lang="en-IN" sz="1400"/>
          </a:p>
        </p:txBody>
      </p:sp>
      <p:sp>
        <p:nvSpPr>
          <p:cNvPr id="14" name="Rectangle 13">
            <a:extLst>
              <a:ext uri="{FF2B5EF4-FFF2-40B4-BE49-F238E27FC236}">
                <a16:creationId xmlns:a16="http://schemas.microsoft.com/office/drawing/2014/main" id="{2257E84C-943D-654B-4407-AA214D89F718}"/>
              </a:ext>
            </a:extLst>
          </p:cNvPr>
          <p:cNvSpPr/>
          <p:nvPr/>
        </p:nvSpPr>
        <p:spPr>
          <a:xfrm>
            <a:off x="4001927" y="3917521"/>
            <a:ext cx="1629697" cy="276999"/>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t>IMEC Seneca</a:t>
            </a:r>
            <a:endParaRPr lang="en-IN" sz="1400"/>
          </a:p>
        </p:txBody>
      </p:sp>
      <p:sp>
        <p:nvSpPr>
          <p:cNvPr id="15" name="Rectangle 14">
            <a:extLst>
              <a:ext uri="{FF2B5EF4-FFF2-40B4-BE49-F238E27FC236}">
                <a16:creationId xmlns:a16="http://schemas.microsoft.com/office/drawing/2014/main" id="{69456D8B-644F-A589-E1A8-CC50B4146E37}"/>
              </a:ext>
            </a:extLst>
          </p:cNvPr>
          <p:cNvSpPr/>
          <p:nvPr/>
        </p:nvSpPr>
        <p:spPr>
          <a:xfrm>
            <a:off x="6840345" y="3915696"/>
            <a:ext cx="1629697" cy="276999"/>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t>IBM </a:t>
            </a:r>
            <a:r>
              <a:rPr lang="en-GB" sz="1400" err="1"/>
              <a:t>Northpole</a:t>
            </a:r>
            <a:endParaRPr lang="en-IN" sz="1400"/>
          </a:p>
        </p:txBody>
      </p:sp>
      <p:sp>
        <p:nvSpPr>
          <p:cNvPr id="3" name="Rectangle 2">
            <a:extLst>
              <a:ext uri="{FF2B5EF4-FFF2-40B4-BE49-F238E27FC236}">
                <a16:creationId xmlns:a16="http://schemas.microsoft.com/office/drawing/2014/main" id="{DC0BF9C3-AC1F-2D1A-B620-4D19B97EBBDD}"/>
              </a:ext>
            </a:extLst>
          </p:cNvPr>
          <p:cNvSpPr/>
          <p:nvPr/>
        </p:nvSpPr>
        <p:spPr>
          <a:xfrm>
            <a:off x="1319269" y="1563707"/>
            <a:ext cx="652750" cy="928170"/>
          </a:xfrm>
          <a:prstGeom prst="rect">
            <a:avLst/>
          </a:prstGeom>
          <a:solidFill>
            <a:srgbClr val="B1B1B0">
              <a:alpha val="74000"/>
            </a:srgb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00">
                <a:solidFill>
                  <a:schemeClr val="tx1"/>
                </a:solidFill>
              </a:rPr>
              <a:t>PE &amp; Memory elements</a:t>
            </a:r>
          </a:p>
        </p:txBody>
      </p:sp>
      <p:sp>
        <p:nvSpPr>
          <p:cNvPr id="7" name="Rectangle 6">
            <a:extLst>
              <a:ext uri="{FF2B5EF4-FFF2-40B4-BE49-F238E27FC236}">
                <a16:creationId xmlns:a16="http://schemas.microsoft.com/office/drawing/2014/main" id="{2B436FDB-D555-0BBF-C96E-CB5E22257C83}"/>
              </a:ext>
            </a:extLst>
          </p:cNvPr>
          <p:cNvSpPr/>
          <p:nvPr/>
        </p:nvSpPr>
        <p:spPr>
          <a:xfrm>
            <a:off x="5140745" y="2176520"/>
            <a:ext cx="501269" cy="1527211"/>
          </a:xfrm>
          <a:prstGeom prst="rect">
            <a:avLst/>
          </a:prstGeom>
          <a:solidFill>
            <a:srgbClr val="B1B1B0">
              <a:alpha val="82000"/>
            </a:srgb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chemeClr val="tx1"/>
                </a:solidFill>
              </a:rPr>
              <a:t>PE</a:t>
            </a:r>
          </a:p>
        </p:txBody>
      </p:sp>
      <p:sp>
        <p:nvSpPr>
          <p:cNvPr id="8" name="Rectangle 7">
            <a:extLst>
              <a:ext uri="{FF2B5EF4-FFF2-40B4-BE49-F238E27FC236}">
                <a16:creationId xmlns:a16="http://schemas.microsoft.com/office/drawing/2014/main" id="{4B862BAA-3BBD-0B0C-C314-A8EEFC2F76ED}"/>
              </a:ext>
            </a:extLst>
          </p:cNvPr>
          <p:cNvSpPr/>
          <p:nvPr/>
        </p:nvSpPr>
        <p:spPr>
          <a:xfrm>
            <a:off x="3756751" y="2176520"/>
            <a:ext cx="1189823" cy="1527211"/>
          </a:xfrm>
          <a:prstGeom prst="rect">
            <a:avLst/>
          </a:prstGeom>
          <a:solidFill>
            <a:srgbClr val="B1B1B0">
              <a:alpha val="79000"/>
            </a:srgb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chemeClr val="tx1"/>
                </a:solidFill>
              </a:rPr>
              <a:t>Memory elements</a:t>
            </a:r>
          </a:p>
        </p:txBody>
      </p:sp>
      <p:sp>
        <p:nvSpPr>
          <p:cNvPr id="9" name="Rectangle 8">
            <a:extLst>
              <a:ext uri="{FF2B5EF4-FFF2-40B4-BE49-F238E27FC236}">
                <a16:creationId xmlns:a16="http://schemas.microsoft.com/office/drawing/2014/main" id="{4135B270-38BD-7901-5877-A31C35EEC787}"/>
              </a:ext>
            </a:extLst>
          </p:cNvPr>
          <p:cNvSpPr/>
          <p:nvPr/>
        </p:nvSpPr>
        <p:spPr>
          <a:xfrm>
            <a:off x="6393913" y="1660104"/>
            <a:ext cx="2525618" cy="2174451"/>
          </a:xfrm>
          <a:prstGeom prst="rect">
            <a:avLst/>
          </a:prstGeom>
          <a:solidFill>
            <a:srgbClr val="B1B1B0">
              <a:alpha val="86000"/>
            </a:srgb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chemeClr val="tx1"/>
                </a:solidFill>
              </a:rPr>
              <a:t>PE</a:t>
            </a:r>
          </a:p>
        </p:txBody>
      </p:sp>
      <p:sp>
        <p:nvSpPr>
          <p:cNvPr id="11" name="Rectangle 10">
            <a:extLst>
              <a:ext uri="{FF2B5EF4-FFF2-40B4-BE49-F238E27FC236}">
                <a16:creationId xmlns:a16="http://schemas.microsoft.com/office/drawing/2014/main" id="{CA513234-2DFC-F875-59A5-1238BCD7329A}"/>
              </a:ext>
            </a:extLst>
          </p:cNvPr>
          <p:cNvSpPr/>
          <p:nvPr/>
        </p:nvSpPr>
        <p:spPr>
          <a:xfrm>
            <a:off x="6393913" y="1501737"/>
            <a:ext cx="2525618" cy="156988"/>
          </a:xfrm>
          <a:prstGeom prst="rect">
            <a:avLst/>
          </a:prstGeom>
          <a:solidFill>
            <a:srgbClr val="B1B1B0">
              <a:alpha val="82000"/>
            </a:srgb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chemeClr val="tx1"/>
                </a:solidFill>
              </a:rPr>
              <a:t>Memory elements</a:t>
            </a:r>
          </a:p>
        </p:txBody>
      </p:sp>
      <p:sp>
        <p:nvSpPr>
          <p:cNvPr id="16" name="Rectangle 15">
            <a:extLst>
              <a:ext uri="{FF2B5EF4-FFF2-40B4-BE49-F238E27FC236}">
                <a16:creationId xmlns:a16="http://schemas.microsoft.com/office/drawing/2014/main" id="{0657AF76-1086-8D3A-B157-823F7BE85B90}"/>
              </a:ext>
            </a:extLst>
          </p:cNvPr>
          <p:cNvSpPr/>
          <p:nvPr/>
        </p:nvSpPr>
        <p:spPr>
          <a:xfrm>
            <a:off x="3541090" y="2176520"/>
            <a:ext cx="111522" cy="1527211"/>
          </a:xfrm>
          <a:prstGeom prst="rect">
            <a:avLst/>
          </a:prstGeom>
          <a:solidFill>
            <a:srgbClr val="B1B1B0">
              <a:alpha val="79000"/>
            </a:srgb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600">
                <a:solidFill>
                  <a:schemeClr val="tx1"/>
                </a:solidFill>
              </a:rPr>
              <a:t>Memory elements</a:t>
            </a:r>
          </a:p>
        </p:txBody>
      </p:sp>
      <p:sp>
        <p:nvSpPr>
          <p:cNvPr id="17" name="Rectangle 16">
            <a:extLst>
              <a:ext uri="{FF2B5EF4-FFF2-40B4-BE49-F238E27FC236}">
                <a16:creationId xmlns:a16="http://schemas.microsoft.com/office/drawing/2014/main" id="{8C292221-99D5-80DB-4030-1AE3495F200F}"/>
              </a:ext>
            </a:extLst>
          </p:cNvPr>
          <p:cNvSpPr/>
          <p:nvPr/>
        </p:nvSpPr>
        <p:spPr>
          <a:xfrm>
            <a:off x="3541090" y="1410925"/>
            <a:ext cx="532059" cy="308731"/>
          </a:xfrm>
          <a:prstGeom prst="rect">
            <a:avLst/>
          </a:prstGeom>
          <a:solidFill>
            <a:srgbClr val="B1B1B0">
              <a:alpha val="79000"/>
            </a:srgb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600">
                <a:solidFill>
                  <a:schemeClr val="tx1"/>
                </a:solidFill>
              </a:rPr>
              <a:t>Memory elements</a:t>
            </a:r>
          </a:p>
        </p:txBody>
      </p:sp>
      <p:sp>
        <p:nvSpPr>
          <p:cNvPr id="18" name="Rectangle 17">
            <a:extLst>
              <a:ext uri="{FF2B5EF4-FFF2-40B4-BE49-F238E27FC236}">
                <a16:creationId xmlns:a16="http://schemas.microsoft.com/office/drawing/2014/main" id="{F143FF93-EC41-6E25-143D-F763D4E3D719}"/>
              </a:ext>
            </a:extLst>
          </p:cNvPr>
          <p:cNvSpPr/>
          <p:nvPr/>
        </p:nvSpPr>
        <p:spPr>
          <a:xfrm>
            <a:off x="5956486" y="1820680"/>
            <a:ext cx="197786" cy="1883050"/>
          </a:xfrm>
          <a:prstGeom prst="rect">
            <a:avLst/>
          </a:prstGeom>
          <a:solidFill>
            <a:srgbClr val="B1B1B0">
              <a:alpha val="79000"/>
            </a:srgb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800">
                <a:solidFill>
                  <a:schemeClr val="tx1"/>
                </a:solidFill>
              </a:rPr>
              <a:t>Interconnect s</a:t>
            </a:r>
          </a:p>
        </p:txBody>
      </p:sp>
      <p:sp>
        <p:nvSpPr>
          <p:cNvPr id="19" name="Rectangle 18">
            <a:extLst>
              <a:ext uri="{FF2B5EF4-FFF2-40B4-BE49-F238E27FC236}">
                <a16:creationId xmlns:a16="http://schemas.microsoft.com/office/drawing/2014/main" id="{3873D08A-611F-3042-A6D4-958D85DDD15B}"/>
              </a:ext>
            </a:extLst>
          </p:cNvPr>
          <p:cNvSpPr/>
          <p:nvPr/>
        </p:nvSpPr>
        <p:spPr>
          <a:xfrm>
            <a:off x="5751608" y="1820680"/>
            <a:ext cx="197786" cy="1883050"/>
          </a:xfrm>
          <a:prstGeom prst="rect">
            <a:avLst/>
          </a:prstGeom>
          <a:solidFill>
            <a:srgbClr val="B1B1B0">
              <a:alpha val="79000"/>
            </a:srgb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600">
                <a:solidFill>
                  <a:schemeClr val="tx1"/>
                </a:solidFill>
              </a:rPr>
              <a:t>Packets</a:t>
            </a:r>
          </a:p>
          <a:p>
            <a:pPr algn="ctr"/>
            <a:r>
              <a:rPr lang="en-GB" sz="600">
                <a:solidFill>
                  <a:schemeClr val="tx1"/>
                </a:solidFill>
              </a:rPr>
              <a:t>generated</a:t>
            </a:r>
          </a:p>
        </p:txBody>
      </p:sp>
      <p:sp>
        <p:nvSpPr>
          <p:cNvPr id="20" name="Rectangle 19">
            <a:extLst>
              <a:ext uri="{FF2B5EF4-FFF2-40B4-BE49-F238E27FC236}">
                <a16:creationId xmlns:a16="http://schemas.microsoft.com/office/drawing/2014/main" id="{51888A49-C648-CB4D-F208-25AE53E1A30D}"/>
              </a:ext>
            </a:extLst>
          </p:cNvPr>
          <p:cNvSpPr/>
          <p:nvPr/>
        </p:nvSpPr>
        <p:spPr>
          <a:xfrm>
            <a:off x="1977552" y="2715670"/>
            <a:ext cx="305616" cy="448909"/>
          </a:xfrm>
          <a:prstGeom prst="rect">
            <a:avLst/>
          </a:prstGeom>
          <a:solidFill>
            <a:srgbClr val="B1B1B0">
              <a:alpha val="79000"/>
            </a:srgb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600">
                <a:solidFill>
                  <a:schemeClr val="tx1"/>
                </a:solidFill>
              </a:rPr>
              <a:t>Interconnects</a:t>
            </a:r>
          </a:p>
        </p:txBody>
      </p:sp>
      <p:sp>
        <p:nvSpPr>
          <p:cNvPr id="21" name="Rectangle 20">
            <a:extLst>
              <a:ext uri="{FF2B5EF4-FFF2-40B4-BE49-F238E27FC236}">
                <a16:creationId xmlns:a16="http://schemas.microsoft.com/office/drawing/2014/main" id="{4E770C36-4F3D-9BFF-7368-F92342C62480}"/>
              </a:ext>
            </a:extLst>
          </p:cNvPr>
          <p:cNvSpPr/>
          <p:nvPr/>
        </p:nvSpPr>
        <p:spPr>
          <a:xfrm>
            <a:off x="1977552" y="1960858"/>
            <a:ext cx="305616" cy="448909"/>
          </a:xfrm>
          <a:prstGeom prst="rect">
            <a:avLst/>
          </a:prstGeom>
          <a:solidFill>
            <a:srgbClr val="B1B1B0">
              <a:alpha val="79000"/>
            </a:srgb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600">
                <a:solidFill>
                  <a:schemeClr val="tx1"/>
                </a:solidFill>
              </a:rPr>
              <a:t>Interconnects</a:t>
            </a:r>
          </a:p>
        </p:txBody>
      </p:sp>
      <p:sp>
        <p:nvSpPr>
          <p:cNvPr id="22" name="Rectangle 21">
            <a:extLst>
              <a:ext uri="{FF2B5EF4-FFF2-40B4-BE49-F238E27FC236}">
                <a16:creationId xmlns:a16="http://schemas.microsoft.com/office/drawing/2014/main" id="{939CB553-CFBC-6EC5-8B35-8E075FD8B615}"/>
              </a:ext>
            </a:extLst>
          </p:cNvPr>
          <p:cNvSpPr/>
          <p:nvPr/>
        </p:nvSpPr>
        <p:spPr>
          <a:xfrm>
            <a:off x="1007080" y="1960858"/>
            <a:ext cx="305616" cy="448909"/>
          </a:xfrm>
          <a:prstGeom prst="rect">
            <a:avLst/>
          </a:prstGeom>
          <a:solidFill>
            <a:srgbClr val="B1B1B0">
              <a:alpha val="79000"/>
            </a:srgb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600">
                <a:solidFill>
                  <a:schemeClr val="tx1"/>
                </a:solidFill>
              </a:rPr>
              <a:t>Interconnects</a:t>
            </a:r>
          </a:p>
        </p:txBody>
      </p:sp>
      <p:sp>
        <p:nvSpPr>
          <p:cNvPr id="23" name="Rectangle 22">
            <a:extLst>
              <a:ext uri="{FF2B5EF4-FFF2-40B4-BE49-F238E27FC236}">
                <a16:creationId xmlns:a16="http://schemas.microsoft.com/office/drawing/2014/main" id="{1F8420E8-A7D9-AD6D-D570-27E9029F34C4}"/>
              </a:ext>
            </a:extLst>
          </p:cNvPr>
          <p:cNvSpPr/>
          <p:nvPr/>
        </p:nvSpPr>
        <p:spPr>
          <a:xfrm>
            <a:off x="1007080" y="2715669"/>
            <a:ext cx="305616" cy="448909"/>
          </a:xfrm>
          <a:prstGeom prst="rect">
            <a:avLst/>
          </a:prstGeom>
          <a:solidFill>
            <a:srgbClr val="B1B1B0">
              <a:alpha val="79000"/>
            </a:srgb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600">
                <a:solidFill>
                  <a:schemeClr val="tx1"/>
                </a:solidFill>
              </a:rPr>
              <a:t>Interconnects</a:t>
            </a:r>
          </a:p>
        </p:txBody>
      </p:sp>
      <p:sp>
        <p:nvSpPr>
          <p:cNvPr id="24" name="Rectangle 23">
            <a:extLst>
              <a:ext uri="{FF2B5EF4-FFF2-40B4-BE49-F238E27FC236}">
                <a16:creationId xmlns:a16="http://schemas.microsoft.com/office/drawing/2014/main" id="{21B074FE-A937-9210-5147-92A88E456BFA}"/>
              </a:ext>
            </a:extLst>
          </p:cNvPr>
          <p:cNvSpPr/>
          <p:nvPr/>
        </p:nvSpPr>
        <p:spPr>
          <a:xfrm>
            <a:off x="0" y="2061023"/>
            <a:ext cx="9144000" cy="1021454"/>
          </a:xfrm>
          <a:prstGeom prst="rect">
            <a:avLst/>
          </a:prstGeom>
          <a:gradFill>
            <a:gsLst>
              <a:gs pos="0">
                <a:schemeClr val="accent6"/>
              </a:gs>
              <a:gs pos="60000">
                <a:schemeClr val="tx2"/>
              </a:gs>
            </a:gsLst>
            <a:lin ang="2700000" scaled="0"/>
          </a:gra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600" dirty="0">
                <a:solidFill>
                  <a:schemeClr val="tx1"/>
                </a:solidFill>
              </a:rPr>
              <a:t>Each architecture has many Design Space exploration points........</a:t>
            </a:r>
            <a:endParaRPr lang="en-IN" sz="1600" dirty="0">
              <a:solidFill>
                <a:schemeClr val="tx1"/>
              </a:solidFill>
            </a:endParaRPr>
          </a:p>
        </p:txBody>
      </p:sp>
      <p:sp>
        <p:nvSpPr>
          <p:cNvPr id="25" name="TextBox 24">
            <a:extLst>
              <a:ext uri="{FF2B5EF4-FFF2-40B4-BE49-F238E27FC236}">
                <a16:creationId xmlns:a16="http://schemas.microsoft.com/office/drawing/2014/main" id="{800B546A-EC8D-F226-5FAA-059AF7598DE3}"/>
              </a:ext>
            </a:extLst>
          </p:cNvPr>
          <p:cNvSpPr txBox="1"/>
          <p:nvPr/>
        </p:nvSpPr>
        <p:spPr>
          <a:xfrm>
            <a:off x="82627" y="4366715"/>
            <a:ext cx="890453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800" dirty="0">
                <a:solidFill>
                  <a:schemeClr val="bg2">
                    <a:lumMod val="60000"/>
                    <a:lumOff val="40000"/>
                  </a:schemeClr>
                </a:solidFill>
              </a:rPr>
              <a:t>[1] https://www.servethehome.com/intel-loihi-2-neuromorphic-compute-tile-on-intel-4/intel-loihi-2-chip-architecture/</a:t>
            </a:r>
          </a:p>
          <a:p>
            <a:r>
              <a:rPr lang="en-GB" sz="800" dirty="0">
                <a:solidFill>
                  <a:schemeClr val="bg2">
                    <a:lumMod val="60000"/>
                    <a:lumOff val="40000"/>
                  </a:schemeClr>
                </a:solidFill>
              </a:rPr>
              <a:t>[2]SENECA: building a fully digital neuromorphic processor, design </a:t>
            </a:r>
            <a:r>
              <a:rPr lang="en-GB" sz="800" dirty="0" err="1">
                <a:solidFill>
                  <a:schemeClr val="bg2">
                    <a:lumMod val="60000"/>
                    <a:lumOff val="40000"/>
                  </a:schemeClr>
                </a:solidFill>
              </a:rPr>
              <a:t>tradeo</a:t>
            </a:r>
            <a:r>
              <a:rPr lang="en-GB" sz="800" dirty="0">
                <a:solidFill>
                  <a:schemeClr val="bg2">
                    <a:lumMod val="60000"/>
                    <a:lumOff val="40000"/>
                  </a:schemeClr>
                </a:solidFill>
              </a:rPr>
              <a:t> </a:t>
            </a:r>
            <a:r>
              <a:rPr lang="en-GB" sz="800" dirty="0" err="1">
                <a:solidFill>
                  <a:schemeClr val="bg2">
                    <a:lumMod val="60000"/>
                    <a:lumOff val="40000"/>
                  </a:schemeClr>
                </a:solidFill>
              </a:rPr>
              <a:t>sandchallenges</a:t>
            </a:r>
            <a:endParaRPr lang="en-GB" sz="800" dirty="0">
              <a:solidFill>
                <a:schemeClr val="bg2">
                  <a:lumMod val="60000"/>
                  <a:lumOff val="40000"/>
                </a:schemeClr>
              </a:solidFill>
            </a:endParaRPr>
          </a:p>
          <a:p>
            <a:r>
              <a:rPr lang="en-GB" sz="800" dirty="0">
                <a:solidFill>
                  <a:schemeClr val="bg2">
                    <a:lumMod val="60000"/>
                    <a:lumOff val="40000"/>
                  </a:schemeClr>
                </a:solidFill>
              </a:rPr>
              <a:t>[3]4 IBM </a:t>
            </a:r>
            <a:r>
              <a:rPr lang="en-GB" sz="800" dirty="0" err="1">
                <a:solidFill>
                  <a:schemeClr val="bg2">
                    <a:lumMod val="60000"/>
                    <a:lumOff val="40000"/>
                  </a:schemeClr>
                </a:solidFill>
              </a:rPr>
              <a:t>NorthPole</a:t>
            </a:r>
            <a:r>
              <a:rPr lang="en-GB" sz="800" dirty="0">
                <a:solidFill>
                  <a:schemeClr val="bg2">
                    <a:lumMod val="60000"/>
                    <a:lumOff val="40000"/>
                  </a:schemeClr>
                </a:solidFill>
              </a:rPr>
              <a:t>: An Architecture for Neural Network Inference with a 12nm Chip </a:t>
            </a:r>
          </a:p>
        </p:txBody>
      </p:sp>
    </p:spTree>
    <p:extLst>
      <p:ext uri="{BB962C8B-B14F-4D97-AF65-F5344CB8AC3E}">
        <p14:creationId xmlns:p14="http://schemas.microsoft.com/office/powerpoint/2010/main" val="16695712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barn(inVertical)">
                                      <p:cBhvr>
                                        <p:cTn id="5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P spid="9" grpId="0" animBg="1"/>
      <p:bldP spid="11"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84AAD-A2EE-C28A-0F63-AC63BA2CA727}"/>
              </a:ext>
            </a:extLst>
          </p:cNvPr>
          <p:cNvSpPr>
            <a:spLocks noGrp="1"/>
          </p:cNvSpPr>
          <p:nvPr>
            <p:ph type="title"/>
          </p:nvPr>
        </p:nvSpPr>
        <p:spPr>
          <a:xfrm>
            <a:off x="189206" y="2342075"/>
            <a:ext cx="8753475" cy="461665"/>
          </a:xfrm>
        </p:spPr>
        <p:txBody>
          <a:bodyPr/>
          <a:lstStyle/>
          <a:p>
            <a:pPr algn="ctr"/>
            <a:r>
              <a:rPr lang="en-GB" dirty="0">
                <a:latin typeface="Gill Sans MT"/>
                <a:cs typeface="Gill Sans"/>
              </a:rPr>
              <a:t>Exploration should be Science based not an Art</a:t>
            </a:r>
            <a:endParaRPr lang="en-GB" dirty="0"/>
          </a:p>
        </p:txBody>
      </p:sp>
      <p:sp>
        <p:nvSpPr>
          <p:cNvPr id="4" name="Slide Number Placeholder 3">
            <a:extLst>
              <a:ext uri="{FF2B5EF4-FFF2-40B4-BE49-F238E27FC236}">
                <a16:creationId xmlns:a16="http://schemas.microsoft.com/office/drawing/2014/main" id="{09339B65-516A-DE21-C172-93DA5366EB59}"/>
              </a:ext>
            </a:extLst>
          </p:cNvPr>
          <p:cNvSpPr>
            <a:spLocks noGrp="1"/>
          </p:cNvSpPr>
          <p:nvPr>
            <p:ph type="sldNum" sz="quarter" idx="12"/>
          </p:nvPr>
        </p:nvSpPr>
        <p:spPr/>
        <p:txBody>
          <a:bodyPr/>
          <a:lstStyle/>
          <a:p>
            <a:fld id="{8836216C-5BC3-7C44-80F8-E30864FFC228}" type="slidenum">
              <a:rPr lang="en-US" smtClean="0"/>
              <a:t>7</a:t>
            </a:fld>
            <a:endParaRPr lang="en-US"/>
          </a:p>
        </p:txBody>
      </p:sp>
    </p:spTree>
    <p:extLst>
      <p:ext uri="{BB962C8B-B14F-4D97-AF65-F5344CB8AC3E}">
        <p14:creationId xmlns:p14="http://schemas.microsoft.com/office/powerpoint/2010/main" val="1273679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2EB65-1FFE-B0C4-EEC2-EC75A282A88F}"/>
              </a:ext>
            </a:extLst>
          </p:cNvPr>
          <p:cNvSpPr>
            <a:spLocks noGrp="1"/>
          </p:cNvSpPr>
          <p:nvPr>
            <p:ph type="title"/>
          </p:nvPr>
        </p:nvSpPr>
        <p:spPr/>
        <p:txBody>
          <a:bodyPr/>
          <a:lstStyle/>
          <a:p>
            <a:r>
              <a:rPr lang="en-GB">
                <a:latin typeface="Gill Sans MT"/>
                <a:cs typeface="Gill Sans"/>
              </a:rPr>
              <a:t>Scope of Research</a:t>
            </a:r>
            <a:endParaRPr lang="en-GB"/>
          </a:p>
        </p:txBody>
      </p:sp>
      <p:sp>
        <p:nvSpPr>
          <p:cNvPr id="3" name="Content Placeholder 2">
            <a:extLst>
              <a:ext uri="{FF2B5EF4-FFF2-40B4-BE49-F238E27FC236}">
                <a16:creationId xmlns:a16="http://schemas.microsoft.com/office/drawing/2014/main" id="{6510D04E-DD7B-47D6-2511-F3E1E2845F15}"/>
              </a:ext>
            </a:extLst>
          </p:cNvPr>
          <p:cNvSpPr>
            <a:spLocks noGrp="1"/>
          </p:cNvSpPr>
          <p:nvPr>
            <p:ph idx="1"/>
          </p:nvPr>
        </p:nvSpPr>
        <p:spPr>
          <a:xfrm>
            <a:off x="160631" y="663892"/>
            <a:ext cx="2374107" cy="366713"/>
          </a:xfrm>
        </p:spPr>
        <p:txBody>
          <a:bodyPr vert="horz" lIns="91440" tIns="45720" rIns="91440" bIns="45720" rtlCol="0" anchor="t">
            <a:normAutofit/>
          </a:bodyPr>
          <a:lstStyle/>
          <a:p>
            <a:pPr marL="0" indent="0">
              <a:buNone/>
            </a:pPr>
            <a:r>
              <a:rPr lang="en-GB" b="1" dirty="0">
                <a:latin typeface="Gill Sans MT"/>
                <a:cs typeface="Gill Sans"/>
              </a:rPr>
              <a:t>Problem Statement</a:t>
            </a:r>
          </a:p>
          <a:p>
            <a:pPr marL="0" indent="0">
              <a:buNone/>
            </a:pPr>
            <a:endParaRPr lang="en-GB" b="1" dirty="0"/>
          </a:p>
          <a:p>
            <a:pPr marL="0" indent="0">
              <a:buNone/>
            </a:pPr>
            <a:endParaRPr lang="en-GB" b="1" dirty="0"/>
          </a:p>
        </p:txBody>
      </p:sp>
      <p:sp>
        <p:nvSpPr>
          <p:cNvPr id="4" name="Slide Number Placeholder 3">
            <a:extLst>
              <a:ext uri="{FF2B5EF4-FFF2-40B4-BE49-F238E27FC236}">
                <a16:creationId xmlns:a16="http://schemas.microsoft.com/office/drawing/2014/main" id="{53764F7A-2981-6508-F8D9-8C8ABE41E2AF}"/>
              </a:ext>
            </a:extLst>
          </p:cNvPr>
          <p:cNvSpPr>
            <a:spLocks noGrp="1"/>
          </p:cNvSpPr>
          <p:nvPr>
            <p:ph type="sldNum" sz="quarter" idx="12"/>
          </p:nvPr>
        </p:nvSpPr>
        <p:spPr/>
        <p:txBody>
          <a:bodyPr/>
          <a:lstStyle/>
          <a:p>
            <a:fld id="{8836216C-5BC3-7C44-80F8-E30864FFC228}" type="slidenum">
              <a:rPr lang="en-US" smtClean="0"/>
              <a:t>8</a:t>
            </a:fld>
            <a:endParaRPr lang="en-US"/>
          </a:p>
        </p:txBody>
      </p:sp>
      <p:sp>
        <p:nvSpPr>
          <p:cNvPr id="6" name="TextBox 5">
            <a:extLst>
              <a:ext uri="{FF2B5EF4-FFF2-40B4-BE49-F238E27FC236}">
                <a16:creationId xmlns:a16="http://schemas.microsoft.com/office/drawing/2014/main" id="{7FC8C518-7EC7-AB7A-9143-999C10713EBC}"/>
              </a:ext>
            </a:extLst>
          </p:cNvPr>
          <p:cNvSpPr txBox="1"/>
          <p:nvPr/>
        </p:nvSpPr>
        <p:spPr>
          <a:xfrm>
            <a:off x="160254" y="949408"/>
            <a:ext cx="871750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solidFill>
                  <a:schemeClr val="tx1">
                    <a:lumMod val="49000"/>
                  </a:schemeClr>
                </a:solidFill>
                <a:ea typeface="+mn-lt"/>
                <a:cs typeface="+mn-lt"/>
              </a:rPr>
              <a:t>Mapping Exploration tools designed for synchronous accelerators are inefficient for event-driven architectures.</a:t>
            </a:r>
            <a:endParaRPr lang="en-US" dirty="0">
              <a:solidFill>
                <a:schemeClr val="tx1">
                  <a:lumMod val="49000"/>
                </a:schemeClr>
              </a:solidFill>
              <a:ea typeface="+mn-lt"/>
              <a:cs typeface="+mn-lt"/>
            </a:endParaRPr>
          </a:p>
        </p:txBody>
      </p:sp>
      <p:sp>
        <p:nvSpPr>
          <p:cNvPr id="8" name="Content Placeholder 2">
            <a:extLst>
              <a:ext uri="{FF2B5EF4-FFF2-40B4-BE49-F238E27FC236}">
                <a16:creationId xmlns:a16="http://schemas.microsoft.com/office/drawing/2014/main" id="{A98B855B-0841-AA8A-B7A0-7E09A6902711}"/>
              </a:ext>
            </a:extLst>
          </p:cNvPr>
          <p:cNvSpPr txBox="1">
            <a:spLocks/>
          </p:cNvSpPr>
          <p:nvPr/>
        </p:nvSpPr>
        <p:spPr>
          <a:xfrm>
            <a:off x="160254" y="1488403"/>
            <a:ext cx="1666875" cy="366713"/>
          </a:xfrm>
          <a:prstGeom prst="rect">
            <a:avLst/>
          </a:prstGeom>
        </p:spPr>
        <p:txBody>
          <a:bodyPr vert="horz" lIns="91440" tIns="45720" rIns="91440" bIns="45720" rtlCol="0" anchor="t">
            <a:normAutofit/>
          </a:bodyPr>
          <a:lstStyle>
            <a:lvl1pPr marL="308610" indent="-308610" algn="l" defTabSz="411480" rtl="0" eaLnBrk="1" latinLnBrk="0" hangingPunct="1">
              <a:spcBef>
                <a:spcPct val="20000"/>
              </a:spcBef>
              <a:buClr>
                <a:schemeClr val="tx2"/>
              </a:buClr>
              <a:buSzPct val="100000"/>
              <a:buFont typeface="Wingdings" charset="2"/>
              <a:buChar char="§"/>
              <a:defRPr sz="1800" b="0" i="0" kern="1200">
                <a:solidFill>
                  <a:srgbClr val="000000"/>
                </a:solidFill>
                <a:latin typeface="Gill Sans MT" panose="020B0502020104020203" pitchFamily="34" charset="77"/>
                <a:ea typeface="+mn-ea"/>
                <a:cs typeface="Gill Sans" panose="020B0502020104020203" pitchFamily="34" charset="-79"/>
              </a:defRPr>
            </a:lvl1pPr>
            <a:lvl2pPr marL="668655" indent="-257175" algn="l" defTabSz="411480" rtl="0" eaLnBrk="1" latinLnBrk="0" hangingPunct="1">
              <a:spcBef>
                <a:spcPct val="20000"/>
              </a:spcBef>
              <a:buClr>
                <a:schemeClr val="tx1"/>
              </a:buClr>
              <a:buSzPct val="100000"/>
              <a:buFont typeface="Wingdings" charset="2"/>
              <a:buChar char="§"/>
              <a:defRPr sz="1620" b="0" i="0" kern="1200">
                <a:solidFill>
                  <a:srgbClr val="000000"/>
                </a:solidFill>
                <a:latin typeface="Gill Sans MT" panose="020B0502020104020203" pitchFamily="34" charset="77"/>
                <a:ea typeface="+mn-ea"/>
                <a:cs typeface="Gill Sans" panose="020B0502020104020203" pitchFamily="34" charset="-79"/>
              </a:defRPr>
            </a:lvl2pPr>
            <a:lvl3pPr marL="102870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3pPr>
            <a:lvl4pPr marL="1440180" indent="-205740" algn="l" defTabSz="411480" rtl="0" eaLnBrk="1" latinLnBrk="0" hangingPunct="1">
              <a:spcBef>
                <a:spcPct val="20000"/>
              </a:spcBef>
              <a:buClr>
                <a:schemeClr val="tx1"/>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4pPr>
            <a:lvl5pPr marL="185166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GB" b="1">
                <a:latin typeface="Gill Sans MT"/>
                <a:cs typeface="Gill Sans"/>
              </a:rPr>
              <a:t>Research Gap</a:t>
            </a:r>
            <a:endParaRPr lang="en-GB" b="1"/>
          </a:p>
        </p:txBody>
      </p:sp>
      <p:sp>
        <p:nvSpPr>
          <p:cNvPr id="9" name="TextBox 8">
            <a:extLst>
              <a:ext uri="{FF2B5EF4-FFF2-40B4-BE49-F238E27FC236}">
                <a16:creationId xmlns:a16="http://schemas.microsoft.com/office/drawing/2014/main" id="{0BFB90D2-5EB9-7103-3100-A0C312333A27}"/>
              </a:ext>
            </a:extLst>
          </p:cNvPr>
          <p:cNvSpPr txBox="1"/>
          <p:nvPr/>
        </p:nvSpPr>
        <p:spPr>
          <a:xfrm>
            <a:off x="160254" y="1842524"/>
            <a:ext cx="887773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000000"/>
                </a:solidFill>
                <a:latin typeface="Aptos"/>
              </a:rPr>
              <a:t>No End-to-End Event driven Exploration tool</a:t>
            </a:r>
          </a:p>
        </p:txBody>
      </p:sp>
      <p:sp>
        <p:nvSpPr>
          <p:cNvPr id="10" name="Content Placeholder 2">
            <a:extLst>
              <a:ext uri="{FF2B5EF4-FFF2-40B4-BE49-F238E27FC236}">
                <a16:creationId xmlns:a16="http://schemas.microsoft.com/office/drawing/2014/main" id="{C516E321-6150-7181-857C-25D6BE4BB99F}"/>
              </a:ext>
            </a:extLst>
          </p:cNvPr>
          <p:cNvSpPr txBox="1">
            <a:spLocks/>
          </p:cNvSpPr>
          <p:nvPr/>
        </p:nvSpPr>
        <p:spPr>
          <a:xfrm>
            <a:off x="163012" y="2205820"/>
            <a:ext cx="2381250" cy="366713"/>
          </a:xfrm>
          <a:prstGeom prst="rect">
            <a:avLst/>
          </a:prstGeom>
        </p:spPr>
        <p:txBody>
          <a:bodyPr vert="horz" lIns="91440" tIns="45720" rIns="91440" bIns="45720" rtlCol="0" anchor="t">
            <a:normAutofit/>
          </a:bodyPr>
          <a:lstStyle>
            <a:lvl1pPr marL="308610" indent="-308610" algn="l" defTabSz="411480" rtl="0" eaLnBrk="1" latinLnBrk="0" hangingPunct="1">
              <a:spcBef>
                <a:spcPct val="20000"/>
              </a:spcBef>
              <a:buClr>
                <a:schemeClr val="tx2"/>
              </a:buClr>
              <a:buSzPct val="100000"/>
              <a:buFont typeface="Wingdings" charset="2"/>
              <a:buChar char="§"/>
              <a:defRPr sz="1800" b="0" i="0" kern="1200">
                <a:solidFill>
                  <a:srgbClr val="000000"/>
                </a:solidFill>
                <a:latin typeface="Gill Sans MT" panose="020B0502020104020203" pitchFamily="34" charset="77"/>
                <a:ea typeface="+mn-ea"/>
                <a:cs typeface="Gill Sans" panose="020B0502020104020203" pitchFamily="34" charset="-79"/>
              </a:defRPr>
            </a:lvl1pPr>
            <a:lvl2pPr marL="668655" indent="-257175" algn="l" defTabSz="411480" rtl="0" eaLnBrk="1" latinLnBrk="0" hangingPunct="1">
              <a:spcBef>
                <a:spcPct val="20000"/>
              </a:spcBef>
              <a:buClr>
                <a:schemeClr val="tx1"/>
              </a:buClr>
              <a:buSzPct val="100000"/>
              <a:buFont typeface="Wingdings" charset="2"/>
              <a:buChar char="§"/>
              <a:defRPr sz="1620" b="0" i="0" kern="1200">
                <a:solidFill>
                  <a:srgbClr val="000000"/>
                </a:solidFill>
                <a:latin typeface="Gill Sans MT" panose="020B0502020104020203" pitchFamily="34" charset="77"/>
                <a:ea typeface="+mn-ea"/>
                <a:cs typeface="Gill Sans" panose="020B0502020104020203" pitchFamily="34" charset="-79"/>
              </a:defRPr>
            </a:lvl2pPr>
            <a:lvl3pPr marL="102870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3pPr>
            <a:lvl4pPr marL="1440180" indent="-205740" algn="l" defTabSz="411480" rtl="0" eaLnBrk="1" latinLnBrk="0" hangingPunct="1">
              <a:spcBef>
                <a:spcPct val="20000"/>
              </a:spcBef>
              <a:buClr>
                <a:schemeClr val="tx1"/>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4pPr>
            <a:lvl5pPr marL="185166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GB" b="1">
                <a:latin typeface="Gill Sans MT"/>
                <a:cs typeface="Gill Sans"/>
              </a:rPr>
              <a:t>My Contributions</a:t>
            </a:r>
            <a:endParaRPr lang="en-GB" b="1"/>
          </a:p>
        </p:txBody>
      </p:sp>
      <p:sp>
        <p:nvSpPr>
          <p:cNvPr id="12" name="TextBox 11">
            <a:extLst>
              <a:ext uri="{FF2B5EF4-FFF2-40B4-BE49-F238E27FC236}">
                <a16:creationId xmlns:a16="http://schemas.microsoft.com/office/drawing/2014/main" id="{3A33D0A7-7DAB-1E32-02E3-9195EE923272}"/>
              </a:ext>
            </a:extLst>
          </p:cNvPr>
          <p:cNvSpPr txBox="1"/>
          <p:nvPr/>
        </p:nvSpPr>
        <p:spPr>
          <a:xfrm>
            <a:off x="191367" y="2573049"/>
            <a:ext cx="8753041" cy="15204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000000"/>
                </a:solidFill>
              </a:rPr>
              <a:t>An Exploration tool which performs the following:</a:t>
            </a:r>
          </a:p>
          <a:p>
            <a:pPr marL="342900" indent="-342900">
              <a:spcBef>
                <a:spcPct val="20000"/>
              </a:spcBef>
              <a:buAutoNum type="arabicPeriod"/>
            </a:pPr>
            <a:r>
              <a:rPr lang="en-US" sz="1600" dirty="0">
                <a:solidFill>
                  <a:srgbClr val="000000"/>
                </a:solidFill>
              </a:rPr>
              <a:t>Event driven intra-core spatial and temporal mapping exploration</a:t>
            </a:r>
            <a:endParaRPr lang="en-US" sz="1600" dirty="0">
              <a:solidFill>
                <a:srgbClr val="3C3C3B"/>
              </a:solidFill>
            </a:endParaRPr>
          </a:p>
          <a:p>
            <a:pPr marL="342900" indent="-342900">
              <a:spcBef>
                <a:spcPct val="20000"/>
              </a:spcBef>
              <a:buAutoNum type="arabicPeriod"/>
            </a:pPr>
            <a:r>
              <a:rPr lang="en-US" sz="1600" dirty="0">
                <a:solidFill>
                  <a:srgbClr val="000000"/>
                </a:solidFill>
              </a:rPr>
              <a:t>Design Space exploration of Event driven architectures</a:t>
            </a:r>
            <a:endParaRPr lang="en-US" sz="1600" dirty="0"/>
          </a:p>
          <a:p>
            <a:pPr marL="754380" lvl="1" indent="-342900">
              <a:spcBef>
                <a:spcPct val="20000"/>
              </a:spcBef>
              <a:buFont typeface="Courier New"/>
              <a:buChar char="o"/>
            </a:pPr>
            <a:r>
              <a:rPr lang="en-US" sz="1600" dirty="0">
                <a:solidFill>
                  <a:srgbClr val="000000"/>
                </a:solidFill>
              </a:rPr>
              <a:t>Different memory configuration</a:t>
            </a:r>
          </a:p>
          <a:p>
            <a:pPr marL="754380" lvl="1" indent="-342900">
              <a:spcBef>
                <a:spcPct val="20000"/>
              </a:spcBef>
              <a:buFont typeface="Courier New"/>
              <a:buChar char="o"/>
            </a:pPr>
            <a:r>
              <a:rPr lang="en-US" sz="1600" dirty="0">
                <a:solidFill>
                  <a:srgbClr val="000000"/>
                </a:solidFill>
              </a:rPr>
              <a:t>Different PE arrangements</a:t>
            </a:r>
          </a:p>
        </p:txBody>
      </p:sp>
    </p:spTree>
    <p:extLst>
      <p:ext uri="{BB962C8B-B14F-4D97-AF65-F5344CB8AC3E}">
        <p14:creationId xmlns:p14="http://schemas.microsoft.com/office/powerpoint/2010/main" val="137014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8" grpId="0"/>
      <p:bldP spid="9" grpId="0"/>
      <p:bldP spid="10" grpId="0"/>
      <p:bldP spid="12" grpId="0"/>
    </p:bldLst>
  </p:timing>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D741C-AF7E-FEE9-0734-859C73D32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C0ED0-A6A9-5A79-B486-FB995422E90C}"/>
              </a:ext>
            </a:extLst>
          </p:cNvPr>
          <p:cNvSpPr>
            <a:spLocks noGrp="1"/>
          </p:cNvSpPr>
          <p:nvPr>
            <p:ph type="title"/>
          </p:nvPr>
        </p:nvSpPr>
        <p:spPr>
          <a:xfrm>
            <a:off x="160631" y="395585"/>
            <a:ext cx="8753475" cy="461665"/>
          </a:xfrm>
        </p:spPr>
        <p:txBody>
          <a:bodyPr/>
          <a:lstStyle/>
          <a:p>
            <a:r>
              <a:rPr lang="en-GB" dirty="0"/>
              <a:t>Outline</a:t>
            </a:r>
          </a:p>
        </p:txBody>
      </p:sp>
      <p:sp>
        <p:nvSpPr>
          <p:cNvPr id="4" name="Slide Number Placeholder 3">
            <a:extLst>
              <a:ext uri="{FF2B5EF4-FFF2-40B4-BE49-F238E27FC236}">
                <a16:creationId xmlns:a16="http://schemas.microsoft.com/office/drawing/2014/main" id="{04EF260E-445A-5B58-D97D-24FF052C2F6B}"/>
              </a:ext>
            </a:extLst>
          </p:cNvPr>
          <p:cNvSpPr>
            <a:spLocks noGrp="1"/>
          </p:cNvSpPr>
          <p:nvPr>
            <p:ph type="sldNum" sz="quarter" idx="12"/>
          </p:nvPr>
        </p:nvSpPr>
        <p:spPr/>
        <p:txBody>
          <a:bodyPr/>
          <a:lstStyle/>
          <a:p>
            <a:fld id="{8836216C-5BC3-7C44-80F8-E30864FFC228}" type="slidenum">
              <a:rPr lang="en-US" smtClean="0"/>
              <a:t>9</a:t>
            </a:fld>
            <a:endParaRPr lang="en-US"/>
          </a:p>
        </p:txBody>
      </p:sp>
      <p:sp>
        <p:nvSpPr>
          <p:cNvPr id="7" name="TextBox 6">
            <a:extLst>
              <a:ext uri="{FF2B5EF4-FFF2-40B4-BE49-F238E27FC236}">
                <a16:creationId xmlns:a16="http://schemas.microsoft.com/office/drawing/2014/main" id="{2B4C75AB-071C-D119-83DF-66045E57C9E2}"/>
              </a:ext>
            </a:extLst>
          </p:cNvPr>
          <p:cNvSpPr txBox="1"/>
          <p:nvPr/>
        </p:nvSpPr>
        <p:spPr>
          <a:xfrm>
            <a:off x="272374" y="857250"/>
            <a:ext cx="8641732" cy="2554545"/>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000" dirty="0">
                <a:solidFill>
                  <a:schemeClr val="bg2">
                    <a:lumMod val="60000"/>
                    <a:lumOff val="40000"/>
                  </a:schemeClr>
                </a:solidFill>
              </a:rPr>
              <a:t>Introduction</a:t>
            </a:r>
          </a:p>
          <a:p>
            <a:pPr marL="457200" indent="-457200">
              <a:buFont typeface="Arial" panose="020B0604020202020204" pitchFamily="34" charset="0"/>
              <a:buChar char="•"/>
            </a:pPr>
            <a:r>
              <a:rPr lang="en-US" sz="2000" dirty="0"/>
              <a:t>Background</a:t>
            </a:r>
          </a:p>
          <a:p>
            <a:pPr marL="868680" lvl="1" indent="-457200">
              <a:buFont typeface="Courier New" panose="020B0604020202020204" pitchFamily="34" charset="0"/>
              <a:buChar char="o"/>
            </a:pPr>
            <a:r>
              <a:rPr lang="en-US" sz="2000" dirty="0"/>
              <a:t>Exploration process</a:t>
            </a:r>
          </a:p>
          <a:p>
            <a:pPr marL="868680" lvl="1" indent="-457200">
              <a:buFont typeface="Courier New" panose="020B0604020202020204" pitchFamily="34" charset="0"/>
              <a:buChar char="o"/>
            </a:pPr>
            <a:r>
              <a:rPr lang="en-US" sz="2000" dirty="0"/>
              <a:t>Different dataflow strategies</a:t>
            </a:r>
          </a:p>
          <a:p>
            <a:pPr marL="457200" indent="-457200">
              <a:buFont typeface="Arial" panose="020B0604020202020204" pitchFamily="34" charset="0"/>
              <a:buChar char="•"/>
            </a:pPr>
            <a:r>
              <a:rPr lang="en-US" sz="2000" dirty="0">
                <a:solidFill>
                  <a:schemeClr val="bg2">
                    <a:lumMod val="60000"/>
                    <a:lumOff val="40000"/>
                  </a:schemeClr>
                </a:solidFill>
              </a:rPr>
              <a:t>Related work</a:t>
            </a:r>
          </a:p>
          <a:p>
            <a:pPr marL="457200" indent="-457200">
              <a:buFont typeface="Arial" panose="020B0604020202020204" pitchFamily="34" charset="0"/>
              <a:buChar char="•"/>
            </a:pPr>
            <a:r>
              <a:rPr lang="en-US" sz="2000" dirty="0">
                <a:solidFill>
                  <a:schemeClr val="bg2">
                    <a:lumMod val="60000"/>
                    <a:lumOff val="40000"/>
                  </a:schemeClr>
                </a:solidFill>
              </a:rPr>
              <a:t>Thesis Contribution &amp; Proposed AeDAM framework </a:t>
            </a:r>
          </a:p>
          <a:p>
            <a:pPr marL="457200" indent="-457200">
              <a:buFont typeface="Arial" panose="020B0604020202020204" pitchFamily="34" charset="0"/>
              <a:buChar char="•"/>
            </a:pPr>
            <a:r>
              <a:rPr lang="en-US" sz="2000" dirty="0">
                <a:solidFill>
                  <a:schemeClr val="bg2">
                    <a:lumMod val="60000"/>
                    <a:lumOff val="40000"/>
                  </a:schemeClr>
                </a:solidFill>
              </a:rPr>
              <a:t>Results </a:t>
            </a:r>
          </a:p>
          <a:p>
            <a:pPr marL="457200" indent="-457200">
              <a:buFont typeface="Arial" panose="020B0604020202020204" pitchFamily="34" charset="0"/>
              <a:buChar char="•"/>
            </a:pPr>
            <a:r>
              <a:rPr lang="en-US" sz="2000" dirty="0">
                <a:solidFill>
                  <a:schemeClr val="bg2">
                    <a:lumMod val="60000"/>
                    <a:lumOff val="40000"/>
                  </a:schemeClr>
                </a:solidFill>
              </a:rPr>
              <a:t>Conclusion and Future Work</a:t>
            </a:r>
            <a:r>
              <a:rPr lang="en-US" sz="2000" dirty="0"/>
              <a:t> </a:t>
            </a:r>
          </a:p>
        </p:txBody>
      </p:sp>
    </p:spTree>
    <p:extLst>
      <p:ext uri="{BB962C8B-B14F-4D97-AF65-F5344CB8AC3E}">
        <p14:creationId xmlns:p14="http://schemas.microsoft.com/office/powerpoint/2010/main" val="3004975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684F7-B25F-6587-6F60-67EC5AB68D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67580B-57B2-87B1-E999-02408AE8C03D}"/>
              </a:ext>
            </a:extLst>
          </p:cNvPr>
          <p:cNvSpPr>
            <a:spLocks noGrp="1"/>
          </p:cNvSpPr>
          <p:nvPr>
            <p:ph type="title"/>
          </p:nvPr>
        </p:nvSpPr>
        <p:spPr/>
        <p:txBody>
          <a:bodyPr/>
          <a:lstStyle/>
          <a:p>
            <a:r>
              <a:rPr lang="en-GB" dirty="0">
                <a:latin typeface="Gill Sans MT"/>
                <a:cs typeface="Gill Sans"/>
              </a:rPr>
              <a:t>Mapping CNNs to Hardware: Spatial &amp; Temporal Unrolling</a:t>
            </a:r>
            <a:endParaRPr lang="en-US" dirty="0"/>
          </a:p>
        </p:txBody>
      </p:sp>
      <p:sp>
        <p:nvSpPr>
          <p:cNvPr id="4" name="Slide Number Placeholder 3">
            <a:extLst>
              <a:ext uri="{FF2B5EF4-FFF2-40B4-BE49-F238E27FC236}">
                <a16:creationId xmlns:a16="http://schemas.microsoft.com/office/drawing/2014/main" id="{73461CD7-61B6-5497-6B79-E09A67F2E05D}"/>
              </a:ext>
            </a:extLst>
          </p:cNvPr>
          <p:cNvSpPr>
            <a:spLocks noGrp="1"/>
          </p:cNvSpPr>
          <p:nvPr>
            <p:ph type="sldNum" sz="quarter" idx="12"/>
          </p:nvPr>
        </p:nvSpPr>
        <p:spPr/>
        <p:txBody>
          <a:bodyPr/>
          <a:lstStyle/>
          <a:p>
            <a:fld id="{8836216C-5BC3-7C44-80F8-E30864FFC228}" type="slidenum">
              <a:rPr lang="en-US" smtClean="0"/>
              <a:t>10</a:t>
            </a:fld>
            <a:endParaRPr lang="en-US"/>
          </a:p>
        </p:txBody>
      </p:sp>
      <p:sp>
        <p:nvSpPr>
          <p:cNvPr id="5" name="Text Placeholder 4">
            <a:extLst>
              <a:ext uri="{FF2B5EF4-FFF2-40B4-BE49-F238E27FC236}">
                <a16:creationId xmlns:a16="http://schemas.microsoft.com/office/drawing/2014/main" id="{BBB62CB4-9A24-0A81-EE59-731928A7271B}"/>
              </a:ext>
            </a:extLst>
          </p:cNvPr>
          <p:cNvSpPr>
            <a:spLocks noGrp="1"/>
          </p:cNvSpPr>
          <p:nvPr>
            <p:ph type="body" sz="quarter" idx="13"/>
          </p:nvPr>
        </p:nvSpPr>
        <p:spPr>
          <a:xfrm>
            <a:off x="160630" y="576315"/>
            <a:ext cx="8753475" cy="369332"/>
          </a:xfrm>
        </p:spPr>
        <p:txBody>
          <a:bodyPr/>
          <a:lstStyle/>
          <a:p>
            <a:r>
              <a:rPr lang="en-GB">
                <a:latin typeface="Gill Sans MT"/>
                <a:cs typeface="Gill Sans"/>
              </a:rPr>
              <a:t>Hardware Mapping: Spatial &amp; Temporal Unrolling</a:t>
            </a:r>
            <a:endParaRPr lang="en-US"/>
          </a:p>
        </p:txBody>
      </p:sp>
      <p:sp>
        <p:nvSpPr>
          <p:cNvPr id="3" name="Cube 2">
            <a:extLst>
              <a:ext uri="{FF2B5EF4-FFF2-40B4-BE49-F238E27FC236}">
                <a16:creationId xmlns:a16="http://schemas.microsoft.com/office/drawing/2014/main" id="{B2E69F1C-FF0F-70D8-059D-624A66631844}"/>
              </a:ext>
            </a:extLst>
          </p:cNvPr>
          <p:cNvSpPr/>
          <p:nvPr/>
        </p:nvSpPr>
        <p:spPr>
          <a:xfrm>
            <a:off x="521152" y="1991216"/>
            <a:ext cx="458743" cy="451857"/>
          </a:xfrm>
          <a:prstGeom prst="cub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 name="Cube 8">
            <a:extLst>
              <a:ext uri="{FF2B5EF4-FFF2-40B4-BE49-F238E27FC236}">
                <a16:creationId xmlns:a16="http://schemas.microsoft.com/office/drawing/2014/main" id="{129DB730-5AAB-1916-9093-6988CDD20509}"/>
              </a:ext>
            </a:extLst>
          </p:cNvPr>
          <p:cNvSpPr/>
          <p:nvPr/>
        </p:nvSpPr>
        <p:spPr>
          <a:xfrm>
            <a:off x="521152" y="2445661"/>
            <a:ext cx="458743" cy="451857"/>
          </a:xfrm>
          <a:prstGeom prst="cub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 name="Cube 9">
            <a:extLst>
              <a:ext uri="{FF2B5EF4-FFF2-40B4-BE49-F238E27FC236}">
                <a16:creationId xmlns:a16="http://schemas.microsoft.com/office/drawing/2014/main" id="{2429758A-3D01-DB32-802F-CFC7A79D70DB}"/>
              </a:ext>
            </a:extLst>
          </p:cNvPr>
          <p:cNvSpPr/>
          <p:nvPr/>
        </p:nvSpPr>
        <p:spPr>
          <a:xfrm>
            <a:off x="521152" y="2900106"/>
            <a:ext cx="458743" cy="451857"/>
          </a:xfrm>
          <a:prstGeom prst="cub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cxnSp>
        <p:nvCxnSpPr>
          <p:cNvPr id="11" name="Straight Arrow Connector 10">
            <a:extLst>
              <a:ext uri="{FF2B5EF4-FFF2-40B4-BE49-F238E27FC236}">
                <a16:creationId xmlns:a16="http://schemas.microsoft.com/office/drawing/2014/main" id="{CB1ED0F2-56A8-8B59-2836-FA5092A0F433}"/>
              </a:ext>
            </a:extLst>
          </p:cNvPr>
          <p:cNvCxnSpPr/>
          <p:nvPr/>
        </p:nvCxnSpPr>
        <p:spPr>
          <a:xfrm>
            <a:off x="360458" y="2099058"/>
            <a:ext cx="12394" cy="1251791"/>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1CC61144-ECC7-EB54-3F12-8A1C30453BB0}"/>
              </a:ext>
            </a:extLst>
          </p:cNvPr>
          <p:cNvSpPr txBox="1"/>
          <p:nvPr/>
        </p:nvSpPr>
        <p:spPr>
          <a:xfrm>
            <a:off x="246826" y="2612957"/>
            <a:ext cx="83881" cy="222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K</a:t>
            </a:r>
          </a:p>
        </p:txBody>
      </p:sp>
      <p:cxnSp>
        <p:nvCxnSpPr>
          <p:cNvPr id="13" name="Straight Arrow Connector 12">
            <a:extLst>
              <a:ext uri="{FF2B5EF4-FFF2-40B4-BE49-F238E27FC236}">
                <a16:creationId xmlns:a16="http://schemas.microsoft.com/office/drawing/2014/main" id="{831F3776-446E-F057-6AF1-46A3A06B4A99}"/>
              </a:ext>
            </a:extLst>
          </p:cNvPr>
          <p:cNvCxnSpPr/>
          <p:nvPr/>
        </p:nvCxnSpPr>
        <p:spPr>
          <a:xfrm flipH="1">
            <a:off x="390066" y="1882162"/>
            <a:ext cx="201058" cy="191418"/>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B193CC2F-D3FA-B964-61BF-20C314211249}"/>
              </a:ext>
            </a:extLst>
          </p:cNvPr>
          <p:cNvSpPr txBox="1"/>
          <p:nvPr/>
        </p:nvSpPr>
        <p:spPr>
          <a:xfrm>
            <a:off x="368131" y="1837302"/>
            <a:ext cx="79995"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C</a:t>
            </a:r>
          </a:p>
        </p:txBody>
      </p:sp>
      <p:sp>
        <p:nvSpPr>
          <p:cNvPr id="15" name="Cube 14">
            <a:extLst>
              <a:ext uri="{FF2B5EF4-FFF2-40B4-BE49-F238E27FC236}">
                <a16:creationId xmlns:a16="http://schemas.microsoft.com/office/drawing/2014/main" id="{36D5D3F5-DEE4-52BA-A5D4-1D6FDE75D1EA}"/>
              </a:ext>
            </a:extLst>
          </p:cNvPr>
          <p:cNvSpPr/>
          <p:nvPr/>
        </p:nvSpPr>
        <p:spPr>
          <a:xfrm>
            <a:off x="1201099" y="1941295"/>
            <a:ext cx="851219" cy="782363"/>
          </a:xfrm>
          <a:prstGeom prst="cube">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6" name="Cube 15">
            <a:extLst>
              <a:ext uri="{FF2B5EF4-FFF2-40B4-BE49-F238E27FC236}">
                <a16:creationId xmlns:a16="http://schemas.microsoft.com/office/drawing/2014/main" id="{00BC4DCC-EFD1-6119-A8E1-34CBE33A8648}"/>
              </a:ext>
            </a:extLst>
          </p:cNvPr>
          <p:cNvSpPr/>
          <p:nvPr/>
        </p:nvSpPr>
        <p:spPr>
          <a:xfrm>
            <a:off x="1201099" y="2767560"/>
            <a:ext cx="851219" cy="782363"/>
          </a:xfrm>
          <a:prstGeom prst="cube">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cxnSp>
        <p:nvCxnSpPr>
          <p:cNvPr id="17" name="Straight Arrow Connector 16">
            <a:extLst>
              <a:ext uri="{FF2B5EF4-FFF2-40B4-BE49-F238E27FC236}">
                <a16:creationId xmlns:a16="http://schemas.microsoft.com/office/drawing/2014/main" id="{F447F58D-24A5-81D7-5B3F-D0CE50BD7559}"/>
              </a:ext>
            </a:extLst>
          </p:cNvPr>
          <p:cNvCxnSpPr/>
          <p:nvPr/>
        </p:nvCxnSpPr>
        <p:spPr>
          <a:xfrm flipV="1">
            <a:off x="523989" y="3452411"/>
            <a:ext cx="336016" cy="1376"/>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F50A4930-F32C-3E85-C4EF-EB424DC9A23E}"/>
              </a:ext>
            </a:extLst>
          </p:cNvPr>
          <p:cNvSpPr txBox="1"/>
          <p:nvPr/>
        </p:nvSpPr>
        <p:spPr>
          <a:xfrm>
            <a:off x="528120" y="3414775"/>
            <a:ext cx="33652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FX</a:t>
            </a:r>
          </a:p>
        </p:txBody>
      </p:sp>
      <p:sp>
        <p:nvSpPr>
          <p:cNvPr id="19" name="Cube 18">
            <a:extLst>
              <a:ext uri="{FF2B5EF4-FFF2-40B4-BE49-F238E27FC236}">
                <a16:creationId xmlns:a16="http://schemas.microsoft.com/office/drawing/2014/main" id="{3E077E06-68AB-DC87-0376-5281BC83A56D}"/>
              </a:ext>
            </a:extLst>
          </p:cNvPr>
          <p:cNvSpPr/>
          <p:nvPr/>
        </p:nvSpPr>
        <p:spPr>
          <a:xfrm>
            <a:off x="2325165" y="1943016"/>
            <a:ext cx="630881" cy="610225"/>
          </a:xfrm>
          <a:prstGeom prst="cub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0" name="Cube 19">
            <a:extLst>
              <a:ext uri="{FF2B5EF4-FFF2-40B4-BE49-F238E27FC236}">
                <a16:creationId xmlns:a16="http://schemas.microsoft.com/office/drawing/2014/main" id="{D139C680-DDEC-5DB5-CB92-F976C3F50D8C}"/>
              </a:ext>
            </a:extLst>
          </p:cNvPr>
          <p:cNvSpPr/>
          <p:nvPr/>
        </p:nvSpPr>
        <p:spPr>
          <a:xfrm>
            <a:off x="2325165" y="2590257"/>
            <a:ext cx="630881" cy="610225"/>
          </a:xfrm>
          <a:prstGeom prst="cub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cxnSp>
        <p:nvCxnSpPr>
          <p:cNvPr id="21" name="Straight Arrow Connector 20">
            <a:extLst>
              <a:ext uri="{FF2B5EF4-FFF2-40B4-BE49-F238E27FC236}">
                <a16:creationId xmlns:a16="http://schemas.microsoft.com/office/drawing/2014/main" id="{9E79BD86-2FDF-0F07-0B6C-A05D8F917259}"/>
              </a:ext>
            </a:extLst>
          </p:cNvPr>
          <p:cNvCxnSpPr/>
          <p:nvPr/>
        </p:nvCxnSpPr>
        <p:spPr>
          <a:xfrm flipV="1">
            <a:off x="1200494" y="3626270"/>
            <a:ext cx="645865" cy="1376"/>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44D60202-FB5F-7717-4E50-1A6B3B6FF84B}"/>
              </a:ext>
            </a:extLst>
          </p:cNvPr>
          <p:cNvSpPr txBox="1"/>
          <p:nvPr/>
        </p:nvSpPr>
        <p:spPr>
          <a:xfrm>
            <a:off x="1381927" y="3593798"/>
            <a:ext cx="281436"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IX</a:t>
            </a:r>
          </a:p>
        </p:txBody>
      </p:sp>
      <p:cxnSp>
        <p:nvCxnSpPr>
          <p:cNvPr id="23" name="Straight Arrow Connector 22">
            <a:extLst>
              <a:ext uri="{FF2B5EF4-FFF2-40B4-BE49-F238E27FC236}">
                <a16:creationId xmlns:a16="http://schemas.microsoft.com/office/drawing/2014/main" id="{C25D1B36-68C6-B56F-9F2B-2F09797D5F1F}"/>
              </a:ext>
            </a:extLst>
          </p:cNvPr>
          <p:cNvCxnSpPr/>
          <p:nvPr/>
        </p:nvCxnSpPr>
        <p:spPr>
          <a:xfrm flipH="1">
            <a:off x="2085631" y="2765233"/>
            <a:ext cx="1376" cy="597665"/>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4A3A18A3-2125-028C-4734-16321BCC39A2}"/>
              </a:ext>
            </a:extLst>
          </p:cNvPr>
          <p:cNvSpPr txBox="1"/>
          <p:nvPr/>
        </p:nvSpPr>
        <p:spPr>
          <a:xfrm>
            <a:off x="2049822" y="2987870"/>
            <a:ext cx="274551"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IY</a:t>
            </a:r>
          </a:p>
        </p:txBody>
      </p:sp>
      <p:cxnSp>
        <p:nvCxnSpPr>
          <p:cNvPr id="25" name="Straight Arrow Connector 24">
            <a:extLst>
              <a:ext uri="{FF2B5EF4-FFF2-40B4-BE49-F238E27FC236}">
                <a16:creationId xmlns:a16="http://schemas.microsoft.com/office/drawing/2014/main" id="{777EA1D9-CC34-EE22-14CC-EDE94C4520F6}"/>
              </a:ext>
            </a:extLst>
          </p:cNvPr>
          <p:cNvCxnSpPr/>
          <p:nvPr/>
        </p:nvCxnSpPr>
        <p:spPr>
          <a:xfrm flipH="1">
            <a:off x="1161247" y="2095615"/>
            <a:ext cx="1376" cy="1458356"/>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1BF229A1-5EDC-D4E5-4EB9-26BD5DBEBE61}"/>
              </a:ext>
            </a:extLst>
          </p:cNvPr>
          <p:cNvSpPr txBox="1"/>
          <p:nvPr/>
        </p:nvSpPr>
        <p:spPr>
          <a:xfrm>
            <a:off x="1010106" y="2719333"/>
            <a:ext cx="33652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B</a:t>
            </a:r>
          </a:p>
        </p:txBody>
      </p:sp>
      <p:cxnSp>
        <p:nvCxnSpPr>
          <p:cNvPr id="27" name="Straight Arrow Connector 26">
            <a:extLst>
              <a:ext uri="{FF2B5EF4-FFF2-40B4-BE49-F238E27FC236}">
                <a16:creationId xmlns:a16="http://schemas.microsoft.com/office/drawing/2014/main" id="{284BF58F-44D2-D5D3-B36D-EF9C5EDE1401}"/>
              </a:ext>
            </a:extLst>
          </p:cNvPr>
          <p:cNvCxnSpPr>
            <a:cxnSpLocks/>
          </p:cNvCxnSpPr>
          <p:nvPr/>
        </p:nvCxnSpPr>
        <p:spPr>
          <a:xfrm flipH="1">
            <a:off x="1009766" y="2901224"/>
            <a:ext cx="1376" cy="370440"/>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B8838650-FB0A-D065-643A-249EB0988190}"/>
              </a:ext>
            </a:extLst>
          </p:cNvPr>
          <p:cNvSpPr txBox="1"/>
          <p:nvPr/>
        </p:nvSpPr>
        <p:spPr>
          <a:xfrm>
            <a:off x="955020" y="2987870"/>
            <a:ext cx="336521"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FY</a:t>
            </a:r>
          </a:p>
        </p:txBody>
      </p:sp>
      <p:cxnSp>
        <p:nvCxnSpPr>
          <p:cNvPr id="29" name="Straight Arrow Connector 28">
            <a:extLst>
              <a:ext uri="{FF2B5EF4-FFF2-40B4-BE49-F238E27FC236}">
                <a16:creationId xmlns:a16="http://schemas.microsoft.com/office/drawing/2014/main" id="{7D2DA1E9-DAE3-33C2-4083-E2D3685D60A3}"/>
              </a:ext>
            </a:extLst>
          </p:cNvPr>
          <p:cNvCxnSpPr>
            <a:cxnSpLocks/>
          </p:cNvCxnSpPr>
          <p:nvPr/>
        </p:nvCxnSpPr>
        <p:spPr>
          <a:xfrm flipH="1">
            <a:off x="1161247" y="1895933"/>
            <a:ext cx="201058" cy="184533"/>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9ADC46A5-0D33-B7DB-F158-697BA2A94365}"/>
              </a:ext>
            </a:extLst>
          </p:cNvPr>
          <p:cNvSpPr txBox="1"/>
          <p:nvPr/>
        </p:nvSpPr>
        <p:spPr>
          <a:xfrm>
            <a:off x="1139311" y="1844187"/>
            <a:ext cx="79995"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C</a:t>
            </a:r>
          </a:p>
        </p:txBody>
      </p:sp>
      <p:cxnSp>
        <p:nvCxnSpPr>
          <p:cNvPr id="31" name="Straight Arrow Connector 30">
            <a:extLst>
              <a:ext uri="{FF2B5EF4-FFF2-40B4-BE49-F238E27FC236}">
                <a16:creationId xmlns:a16="http://schemas.microsoft.com/office/drawing/2014/main" id="{1C70BFB7-64BD-2708-9E9A-3752062F6BE7}"/>
              </a:ext>
            </a:extLst>
          </p:cNvPr>
          <p:cNvCxnSpPr>
            <a:cxnSpLocks/>
          </p:cNvCxnSpPr>
          <p:nvPr/>
        </p:nvCxnSpPr>
        <p:spPr>
          <a:xfrm flipH="1">
            <a:off x="2276704" y="2095615"/>
            <a:ext cx="1376" cy="1107194"/>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2CB8F20B-1B37-CA4D-FF5B-293AD502797D}"/>
              </a:ext>
            </a:extLst>
          </p:cNvPr>
          <p:cNvSpPr txBox="1"/>
          <p:nvPr/>
        </p:nvSpPr>
        <p:spPr>
          <a:xfrm>
            <a:off x="2153105" y="2554079"/>
            <a:ext cx="123068"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B</a:t>
            </a:r>
          </a:p>
        </p:txBody>
      </p:sp>
      <p:cxnSp>
        <p:nvCxnSpPr>
          <p:cNvPr id="33" name="Straight Arrow Connector 32">
            <a:extLst>
              <a:ext uri="{FF2B5EF4-FFF2-40B4-BE49-F238E27FC236}">
                <a16:creationId xmlns:a16="http://schemas.microsoft.com/office/drawing/2014/main" id="{6A19AD9A-923F-332C-AA38-1CEFAD0355C0}"/>
              </a:ext>
            </a:extLst>
          </p:cNvPr>
          <p:cNvCxnSpPr>
            <a:cxnSpLocks/>
          </p:cNvCxnSpPr>
          <p:nvPr/>
        </p:nvCxnSpPr>
        <p:spPr>
          <a:xfrm flipH="1">
            <a:off x="2276704" y="1889048"/>
            <a:ext cx="173516" cy="184532"/>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483FB875-E05B-2827-9C6D-01567B417D98}"/>
              </a:ext>
            </a:extLst>
          </p:cNvPr>
          <p:cNvSpPr txBox="1"/>
          <p:nvPr/>
        </p:nvSpPr>
        <p:spPr>
          <a:xfrm>
            <a:off x="2254769" y="1851073"/>
            <a:ext cx="79995"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K</a:t>
            </a:r>
          </a:p>
        </p:txBody>
      </p:sp>
      <p:cxnSp>
        <p:nvCxnSpPr>
          <p:cNvPr id="35" name="Straight Arrow Connector 34">
            <a:extLst>
              <a:ext uri="{FF2B5EF4-FFF2-40B4-BE49-F238E27FC236}">
                <a16:creationId xmlns:a16="http://schemas.microsoft.com/office/drawing/2014/main" id="{05DF7FC5-8276-9525-BE0C-A22E9B42AE03}"/>
              </a:ext>
            </a:extLst>
          </p:cNvPr>
          <p:cNvCxnSpPr>
            <a:cxnSpLocks/>
          </p:cNvCxnSpPr>
          <p:nvPr/>
        </p:nvCxnSpPr>
        <p:spPr>
          <a:xfrm flipH="1">
            <a:off x="2994523" y="2593093"/>
            <a:ext cx="1376" cy="473726"/>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339FCD43-1358-CC9F-8012-8193D6347DC0}"/>
              </a:ext>
            </a:extLst>
          </p:cNvPr>
          <p:cNvSpPr txBox="1"/>
          <p:nvPr/>
        </p:nvSpPr>
        <p:spPr>
          <a:xfrm>
            <a:off x="2951828" y="2733105"/>
            <a:ext cx="350291"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dirty="0"/>
              <a:t>OY</a:t>
            </a:r>
          </a:p>
        </p:txBody>
      </p:sp>
      <p:cxnSp>
        <p:nvCxnSpPr>
          <p:cNvPr id="37" name="Straight Arrow Connector 36">
            <a:extLst>
              <a:ext uri="{FF2B5EF4-FFF2-40B4-BE49-F238E27FC236}">
                <a16:creationId xmlns:a16="http://schemas.microsoft.com/office/drawing/2014/main" id="{73AE4CB1-D411-62BC-294C-398DAD71A6F9}"/>
              </a:ext>
            </a:extLst>
          </p:cNvPr>
          <p:cNvCxnSpPr>
            <a:cxnSpLocks/>
          </p:cNvCxnSpPr>
          <p:nvPr/>
        </p:nvCxnSpPr>
        <p:spPr>
          <a:xfrm flipV="1">
            <a:off x="2309066" y="3240680"/>
            <a:ext cx="508154" cy="1376"/>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6309C1FC-5286-2FAE-C866-E0F241C6CED0}"/>
              </a:ext>
            </a:extLst>
          </p:cNvPr>
          <p:cNvSpPr txBox="1"/>
          <p:nvPr/>
        </p:nvSpPr>
        <p:spPr>
          <a:xfrm>
            <a:off x="2366559" y="3201322"/>
            <a:ext cx="39849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OX</a:t>
            </a:r>
          </a:p>
        </p:txBody>
      </p:sp>
      <p:sp>
        <p:nvSpPr>
          <p:cNvPr id="39" name="Rectangle 38">
            <a:extLst>
              <a:ext uri="{FF2B5EF4-FFF2-40B4-BE49-F238E27FC236}">
                <a16:creationId xmlns:a16="http://schemas.microsoft.com/office/drawing/2014/main" id="{C699B429-A53B-C282-98FA-154D49F3DB2C}"/>
              </a:ext>
            </a:extLst>
          </p:cNvPr>
          <p:cNvSpPr/>
          <p:nvPr/>
        </p:nvSpPr>
        <p:spPr>
          <a:xfrm>
            <a:off x="655756" y="4093966"/>
            <a:ext cx="1733778" cy="353281"/>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Convolution Layer</a:t>
            </a:r>
          </a:p>
        </p:txBody>
      </p:sp>
      <p:sp>
        <p:nvSpPr>
          <p:cNvPr id="40" name="Arrow: Up-Down 39">
            <a:extLst>
              <a:ext uri="{FF2B5EF4-FFF2-40B4-BE49-F238E27FC236}">
                <a16:creationId xmlns:a16="http://schemas.microsoft.com/office/drawing/2014/main" id="{BFB8C85F-3579-1FC1-C0D3-BC99F77A0658}"/>
              </a:ext>
            </a:extLst>
          </p:cNvPr>
          <p:cNvSpPr/>
          <p:nvPr/>
        </p:nvSpPr>
        <p:spPr>
          <a:xfrm rot="16200000">
            <a:off x="3678999" y="2425094"/>
            <a:ext cx="256125" cy="749917"/>
          </a:xfrm>
          <a:prstGeom prst="upDown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pic>
        <p:nvPicPr>
          <p:cNvPr id="6" name="Picture 5" descr="A screenshot of a computer program&#10;&#10;AI-generated content may be incorrect.">
            <a:extLst>
              <a:ext uri="{FF2B5EF4-FFF2-40B4-BE49-F238E27FC236}">
                <a16:creationId xmlns:a16="http://schemas.microsoft.com/office/drawing/2014/main" id="{DCEA097C-3AFE-588B-6227-21D88D2C2AE9}"/>
              </a:ext>
            </a:extLst>
          </p:cNvPr>
          <p:cNvPicPr>
            <a:picLocks noChangeAspect="1"/>
          </p:cNvPicPr>
          <p:nvPr/>
        </p:nvPicPr>
        <p:blipFill>
          <a:blip r:embed="rId3"/>
          <a:stretch>
            <a:fillRect/>
          </a:stretch>
        </p:blipFill>
        <p:spPr>
          <a:xfrm>
            <a:off x="4454075" y="1793081"/>
            <a:ext cx="2255341" cy="1941147"/>
          </a:xfrm>
          <a:prstGeom prst="rect">
            <a:avLst/>
          </a:prstGeom>
          <a:ln>
            <a:solidFill>
              <a:schemeClr val="tx1"/>
            </a:solidFill>
          </a:ln>
        </p:spPr>
      </p:pic>
      <p:sp>
        <p:nvSpPr>
          <p:cNvPr id="7" name="Rectangle 6">
            <a:extLst>
              <a:ext uri="{FF2B5EF4-FFF2-40B4-BE49-F238E27FC236}">
                <a16:creationId xmlns:a16="http://schemas.microsoft.com/office/drawing/2014/main" id="{8EA99C9A-040A-2D3C-530F-98A7C24DBF82}"/>
              </a:ext>
            </a:extLst>
          </p:cNvPr>
          <p:cNvSpPr/>
          <p:nvPr/>
        </p:nvSpPr>
        <p:spPr>
          <a:xfrm>
            <a:off x="4464466" y="1779816"/>
            <a:ext cx="1706158" cy="95329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sz="1400"/>
          </a:p>
        </p:txBody>
      </p:sp>
      <p:sp>
        <p:nvSpPr>
          <p:cNvPr id="41" name="Rectangle 40">
            <a:extLst>
              <a:ext uri="{FF2B5EF4-FFF2-40B4-BE49-F238E27FC236}">
                <a16:creationId xmlns:a16="http://schemas.microsoft.com/office/drawing/2014/main" id="{50865C9E-DF5A-EAD3-846E-279BF66D2387}"/>
              </a:ext>
            </a:extLst>
          </p:cNvPr>
          <p:cNvSpPr/>
          <p:nvPr/>
        </p:nvSpPr>
        <p:spPr>
          <a:xfrm>
            <a:off x="4628721" y="2794714"/>
            <a:ext cx="1537870" cy="272366"/>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sz="1400"/>
          </a:p>
        </p:txBody>
      </p:sp>
      <p:sp>
        <p:nvSpPr>
          <p:cNvPr id="44" name="TextBox 43">
            <a:extLst>
              <a:ext uri="{FF2B5EF4-FFF2-40B4-BE49-F238E27FC236}">
                <a16:creationId xmlns:a16="http://schemas.microsoft.com/office/drawing/2014/main" id="{316D2470-2C2B-4F03-ACC7-F691B15A98F5}"/>
              </a:ext>
            </a:extLst>
          </p:cNvPr>
          <p:cNvSpPr txBox="1"/>
          <p:nvPr/>
        </p:nvSpPr>
        <p:spPr>
          <a:xfrm>
            <a:off x="7140870" y="1779816"/>
            <a:ext cx="1400791" cy="523220"/>
          </a:xfrm>
          <a:prstGeom prst="rect">
            <a:avLst/>
          </a:prstGeom>
          <a:noFill/>
          <a:ln>
            <a:solidFill>
              <a:schemeClr val="tx1"/>
            </a:solidFill>
          </a:ln>
        </p:spPr>
        <p:txBody>
          <a:bodyPr wrap="square" rtlCol="0">
            <a:spAutoFit/>
          </a:bodyPr>
          <a:lstStyle/>
          <a:p>
            <a:pPr algn="ctr"/>
            <a:r>
              <a:rPr lang="en-US" sz="1400" dirty="0"/>
              <a:t>Temporal unrolling</a:t>
            </a:r>
            <a:endParaRPr lang="en-NL" sz="1400" dirty="0"/>
          </a:p>
        </p:txBody>
      </p:sp>
      <p:sp>
        <p:nvSpPr>
          <p:cNvPr id="45" name="TextBox 44">
            <a:extLst>
              <a:ext uri="{FF2B5EF4-FFF2-40B4-BE49-F238E27FC236}">
                <a16:creationId xmlns:a16="http://schemas.microsoft.com/office/drawing/2014/main" id="{67F55076-9426-1664-D0FD-BC21741DA0B9}"/>
              </a:ext>
            </a:extLst>
          </p:cNvPr>
          <p:cNvSpPr txBox="1"/>
          <p:nvPr/>
        </p:nvSpPr>
        <p:spPr>
          <a:xfrm>
            <a:off x="7094178" y="2960086"/>
            <a:ext cx="1400791" cy="307777"/>
          </a:xfrm>
          <a:prstGeom prst="rect">
            <a:avLst/>
          </a:prstGeom>
          <a:noFill/>
          <a:ln>
            <a:solidFill>
              <a:schemeClr val="tx1"/>
            </a:solidFill>
          </a:ln>
        </p:spPr>
        <p:txBody>
          <a:bodyPr wrap="square" rtlCol="0">
            <a:spAutoFit/>
          </a:bodyPr>
          <a:lstStyle/>
          <a:p>
            <a:pPr algn="ctr"/>
            <a:r>
              <a:rPr lang="en-US" sz="1400" dirty="0"/>
              <a:t>Spatial unrolling</a:t>
            </a:r>
            <a:endParaRPr lang="en-NL" sz="1400" dirty="0"/>
          </a:p>
        </p:txBody>
      </p:sp>
      <p:cxnSp>
        <p:nvCxnSpPr>
          <p:cNvPr id="47" name="Straight Arrow Connector 46">
            <a:extLst>
              <a:ext uri="{FF2B5EF4-FFF2-40B4-BE49-F238E27FC236}">
                <a16:creationId xmlns:a16="http://schemas.microsoft.com/office/drawing/2014/main" id="{6B6BA93D-E062-7486-3BC5-D5CA52F8B979}"/>
              </a:ext>
            </a:extLst>
          </p:cNvPr>
          <p:cNvCxnSpPr>
            <a:cxnSpLocks/>
            <a:stCxn id="7" idx="3"/>
            <a:endCxn id="44" idx="1"/>
          </p:cNvCxnSpPr>
          <p:nvPr/>
        </p:nvCxnSpPr>
        <p:spPr>
          <a:xfrm flipV="1">
            <a:off x="6170624" y="2041426"/>
            <a:ext cx="970246" cy="2150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9A1A0934-72AB-DF17-F776-B51A3E76F3DB}"/>
              </a:ext>
            </a:extLst>
          </p:cNvPr>
          <p:cNvCxnSpPr>
            <a:cxnSpLocks/>
            <a:stCxn id="41" idx="3"/>
            <a:endCxn id="45" idx="1"/>
          </p:cNvCxnSpPr>
          <p:nvPr/>
        </p:nvCxnSpPr>
        <p:spPr>
          <a:xfrm>
            <a:off x="6166591" y="2930897"/>
            <a:ext cx="927587" cy="1830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4EC6E9F0-9F43-5A41-E10E-9A1A0E6F2074}"/>
              </a:ext>
            </a:extLst>
          </p:cNvPr>
          <p:cNvSpPr/>
          <p:nvPr/>
        </p:nvSpPr>
        <p:spPr>
          <a:xfrm>
            <a:off x="5276553" y="4099519"/>
            <a:ext cx="2564712" cy="353281"/>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cs typeface="Gill Sans"/>
              </a:rPr>
              <a:t>Convolution to Nested loops</a:t>
            </a:r>
            <a:endParaRPr lang="en-GB" sz="1400" dirty="0"/>
          </a:p>
        </p:txBody>
      </p:sp>
      <p:sp>
        <p:nvSpPr>
          <p:cNvPr id="48" name="Arrow: Right 47">
            <a:extLst>
              <a:ext uri="{FF2B5EF4-FFF2-40B4-BE49-F238E27FC236}">
                <a16:creationId xmlns:a16="http://schemas.microsoft.com/office/drawing/2014/main" id="{446852E4-E3A8-4881-D915-141536B89474}"/>
              </a:ext>
            </a:extLst>
          </p:cNvPr>
          <p:cNvSpPr/>
          <p:nvPr/>
        </p:nvSpPr>
        <p:spPr>
          <a:xfrm>
            <a:off x="8541661" y="2670481"/>
            <a:ext cx="1604991" cy="264296"/>
          </a:xfrm>
          <a:prstGeom prst="right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Tree>
    <p:extLst>
      <p:ext uri="{BB962C8B-B14F-4D97-AF65-F5344CB8AC3E}">
        <p14:creationId xmlns:p14="http://schemas.microsoft.com/office/powerpoint/2010/main" val="17375651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par>
                                <p:cTn id="44" presetID="10" presetClass="entr" presetSubtype="0" fill="hold"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10" presetClass="entr" presetSubtype="0" fill="hold"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par>
                                <p:cTn id="56" presetID="10" presetClass="entr" presetSubtype="0" fill="hold"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par>
                                <p:cTn id="62" presetID="10" presetClass="entr" presetSubtype="0" fill="hold"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500"/>
                                        <p:tgtEl>
                                          <p:spTgt spid="2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par>
                                <p:cTn id="68" presetID="10" presetClass="entr" presetSubtype="0" fill="hold"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500"/>
                                        <p:tgtEl>
                                          <p:spTgt spid="30"/>
                                        </p:tgtEl>
                                      </p:cBhvr>
                                    </p:animEffect>
                                  </p:childTnLst>
                                </p:cTn>
                              </p:par>
                              <p:par>
                                <p:cTn id="74" presetID="10" presetClass="entr" presetSubtype="0" fill="hold"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500"/>
                                        <p:tgtEl>
                                          <p:spTgt spid="3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500"/>
                                        <p:tgtEl>
                                          <p:spTgt spid="32"/>
                                        </p:tgtEl>
                                      </p:cBhvr>
                                    </p:animEffect>
                                  </p:childTnLst>
                                </p:cTn>
                              </p:par>
                              <p:par>
                                <p:cTn id="80" presetID="10" presetClass="entr" presetSubtype="0" fill="hold"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500"/>
                                        <p:tgtEl>
                                          <p:spTgt spid="33"/>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500"/>
                                        <p:tgtEl>
                                          <p:spTgt spid="34"/>
                                        </p:tgtEl>
                                      </p:cBhvr>
                                    </p:animEffect>
                                  </p:childTnLst>
                                </p:cTn>
                              </p:par>
                              <p:par>
                                <p:cTn id="86" presetID="10" presetClass="entr" presetSubtype="0" fill="hold"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500"/>
                                        <p:tgtEl>
                                          <p:spTgt spid="35"/>
                                        </p:tgtEl>
                                      </p:cBhvr>
                                    </p:animEffect>
                                  </p:childTnLst>
                                </p:cTn>
                              </p:par>
                              <p:par>
                                <p:cTn id="89" presetID="10" presetClass="entr" presetSubtype="0" fill="hold" nodeType="withEffect">
                                  <p:stCondLst>
                                    <p:cond delay="0"/>
                                  </p:stCondLst>
                                  <p:childTnLst>
                                    <p:set>
                                      <p:cBhvr>
                                        <p:cTn id="90" dur="1" fill="hold">
                                          <p:stCondLst>
                                            <p:cond delay="0"/>
                                          </p:stCondLst>
                                        </p:cTn>
                                        <p:tgtEl>
                                          <p:spTgt spid="37"/>
                                        </p:tgtEl>
                                        <p:attrNameLst>
                                          <p:attrName>style.visibility</p:attrName>
                                        </p:attrNameLst>
                                      </p:cBhvr>
                                      <p:to>
                                        <p:strVal val="visible"/>
                                      </p:to>
                                    </p:set>
                                    <p:animEffect transition="in" filter="fade">
                                      <p:cBhvr>
                                        <p:cTn id="91" dur="500"/>
                                        <p:tgtEl>
                                          <p:spTgt spid="37"/>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8"/>
                                        </p:tgtEl>
                                        <p:attrNameLst>
                                          <p:attrName>style.visibility</p:attrName>
                                        </p:attrNameLst>
                                      </p:cBhvr>
                                      <p:to>
                                        <p:strVal val="visible"/>
                                      </p:to>
                                    </p:set>
                                    <p:animEffect transition="in" filter="fade">
                                      <p:cBhvr>
                                        <p:cTn id="94" dur="500"/>
                                        <p:tgtEl>
                                          <p:spTgt spid="38"/>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5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9"/>
                                        </p:tgtEl>
                                        <p:attrNameLst>
                                          <p:attrName>style.visibility</p:attrName>
                                        </p:attrNameLst>
                                      </p:cBhvr>
                                      <p:to>
                                        <p:strVal val="visible"/>
                                      </p:to>
                                    </p:set>
                                    <p:animEffect transition="in" filter="fade">
                                      <p:cBhvr>
                                        <p:cTn id="100" dur="500"/>
                                        <p:tgtEl>
                                          <p:spTgt spid="39"/>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5" dur="500"/>
                                        <p:tgtEl>
                                          <p:spTgt spid="40"/>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nodeType="clickEffect">
                                  <p:stCondLst>
                                    <p:cond delay="0"/>
                                  </p:stCondLst>
                                  <p:childTnLst>
                                    <p:set>
                                      <p:cBhvr>
                                        <p:cTn id="109" dur="1" fill="hold">
                                          <p:stCondLst>
                                            <p:cond delay="0"/>
                                          </p:stCondLst>
                                        </p:cTn>
                                        <p:tgtEl>
                                          <p:spTgt spid="6"/>
                                        </p:tgtEl>
                                        <p:attrNameLst>
                                          <p:attrName>style.visibility</p:attrName>
                                        </p:attrNameLst>
                                      </p:cBhvr>
                                      <p:to>
                                        <p:strVal val="visible"/>
                                      </p:to>
                                    </p:set>
                                    <p:animEffect transition="in" filter="fade">
                                      <p:cBhvr>
                                        <p:cTn id="110" dur="500"/>
                                        <p:tgtEl>
                                          <p:spTgt spid="6"/>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500"/>
                                        <p:tgtEl>
                                          <p:spTgt spid="8"/>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7"/>
                                        </p:tgtEl>
                                        <p:attrNameLst>
                                          <p:attrName>style.visibility</p:attrName>
                                        </p:attrNameLst>
                                      </p:cBhvr>
                                      <p:to>
                                        <p:strVal val="visible"/>
                                      </p:to>
                                    </p:set>
                                    <p:animEffect transition="in" filter="fade">
                                      <p:cBhvr>
                                        <p:cTn id="120" dur="500"/>
                                        <p:tgtEl>
                                          <p:spTgt spid="7"/>
                                        </p:tgtEl>
                                      </p:cBhvr>
                                    </p:animEffect>
                                  </p:childTnLst>
                                </p:cTn>
                              </p:par>
                              <p:par>
                                <p:cTn id="121" presetID="10" presetClass="entr" presetSubtype="0" fill="hold" nodeType="withEffect">
                                  <p:stCondLst>
                                    <p:cond delay="0"/>
                                  </p:stCondLst>
                                  <p:childTnLst>
                                    <p:set>
                                      <p:cBhvr>
                                        <p:cTn id="122" dur="1" fill="hold">
                                          <p:stCondLst>
                                            <p:cond delay="0"/>
                                          </p:stCondLst>
                                        </p:cTn>
                                        <p:tgtEl>
                                          <p:spTgt spid="47"/>
                                        </p:tgtEl>
                                        <p:attrNameLst>
                                          <p:attrName>style.visibility</p:attrName>
                                        </p:attrNameLst>
                                      </p:cBhvr>
                                      <p:to>
                                        <p:strVal val="visible"/>
                                      </p:to>
                                    </p:set>
                                    <p:animEffect transition="in" filter="fade">
                                      <p:cBhvr>
                                        <p:cTn id="123" dur="500"/>
                                        <p:tgtEl>
                                          <p:spTgt spid="47"/>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4"/>
                                        </p:tgtEl>
                                        <p:attrNameLst>
                                          <p:attrName>style.visibility</p:attrName>
                                        </p:attrNameLst>
                                      </p:cBhvr>
                                      <p:to>
                                        <p:strVal val="visible"/>
                                      </p:to>
                                    </p:set>
                                    <p:animEffect transition="in" filter="fade">
                                      <p:cBhvr>
                                        <p:cTn id="126" dur="500"/>
                                        <p:tgtEl>
                                          <p:spTgt spid="44"/>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31" dur="500"/>
                                        <p:tgtEl>
                                          <p:spTgt spid="41"/>
                                        </p:tgtEl>
                                      </p:cBhvr>
                                    </p:animEffect>
                                  </p:childTnLst>
                                </p:cTn>
                              </p:par>
                              <p:par>
                                <p:cTn id="132" presetID="10" presetClass="entr" presetSubtype="0" fill="hold" nodeType="withEffect">
                                  <p:stCondLst>
                                    <p:cond delay="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4" dur="500"/>
                                        <p:tgtEl>
                                          <p:spTgt spid="49"/>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45"/>
                                        </p:tgtEl>
                                        <p:attrNameLst>
                                          <p:attrName>style.visibility</p:attrName>
                                        </p:attrNameLst>
                                      </p:cBhvr>
                                      <p:to>
                                        <p:strVal val="visible"/>
                                      </p:to>
                                    </p:set>
                                    <p:animEffect transition="in" filter="fade">
                                      <p:cBhvr>
                                        <p:cTn id="137" dur="500"/>
                                        <p:tgtEl>
                                          <p:spTgt spid="45"/>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48"/>
                                        </p:tgtEl>
                                        <p:attrNameLst>
                                          <p:attrName>style.visibility</p:attrName>
                                        </p:attrNameLst>
                                      </p:cBhvr>
                                      <p:to>
                                        <p:strVal val="visible"/>
                                      </p:to>
                                    </p:set>
                                    <p:animEffect transition="in" filter="fade">
                                      <p:cBhvr>
                                        <p:cTn id="14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P spid="12" grpId="0"/>
      <p:bldP spid="14" grpId="0"/>
      <p:bldP spid="15" grpId="0" animBg="1"/>
      <p:bldP spid="16" grpId="0" animBg="1"/>
      <p:bldP spid="18" grpId="0"/>
      <p:bldP spid="19" grpId="0" animBg="1"/>
      <p:bldP spid="20" grpId="0" animBg="1"/>
      <p:bldP spid="22" grpId="0"/>
      <p:bldP spid="24" grpId="0"/>
      <p:bldP spid="26" grpId="0"/>
      <p:bldP spid="28" grpId="0"/>
      <p:bldP spid="30" grpId="0"/>
      <p:bldP spid="32" grpId="0"/>
      <p:bldP spid="34" grpId="0"/>
      <p:bldP spid="36" grpId="0"/>
      <p:bldP spid="38" grpId="0"/>
      <p:bldP spid="39" grpId="0" animBg="1"/>
      <p:bldP spid="40" grpId="0" animBg="1"/>
      <p:bldP spid="7" grpId="0" animBg="1"/>
      <p:bldP spid="41" grpId="0" animBg="1"/>
      <p:bldP spid="44" grpId="0" animBg="1"/>
      <p:bldP spid="45" grpId="0" animBg="1"/>
      <p:bldP spid="8" grpId="0" animBg="1"/>
      <p:bldP spid="4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A7C82-7791-BD86-D965-31430B0C7005}"/>
              </a:ext>
            </a:extLst>
          </p:cNvPr>
          <p:cNvSpPr>
            <a:spLocks noGrp="1"/>
          </p:cNvSpPr>
          <p:nvPr>
            <p:ph type="title"/>
          </p:nvPr>
        </p:nvSpPr>
        <p:spPr>
          <a:xfrm>
            <a:off x="160631" y="206094"/>
            <a:ext cx="8753475" cy="461665"/>
          </a:xfrm>
        </p:spPr>
        <p:txBody>
          <a:bodyPr/>
          <a:lstStyle/>
          <a:p>
            <a:r>
              <a:rPr lang="en-GB"/>
              <a:t>What is Exploration ?</a:t>
            </a:r>
            <a:endParaRPr lang="en-GB">
              <a:solidFill>
                <a:srgbClr val="000000"/>
              </a:solidFill>
            </a:endParaRPr>
          </a:p>
        </p:txBody>
      </p:sp>
      <p:sp>
        <p:nvSpPr>
          <p:cNvPr id="4" name="Slide Number Placeholder 3">
            <a:extLst>
              <a:ext uri="{FF2B5EF4-FFF2-40B4-BE49-F238E27FC236}">
                <a16:creationId xmlns:a16="http://schemas.microsoft.com/office/drawing/2014/main" id="{DF345576-6305-DDF8-C022-2C50D31A4224}"/>
              </a:ext>
            </a:extLst>
          </p:cNvPr>
          <p:cNvSpPr>
            <a:spLocks noGrp="1"/>
          </p:cNvSpPr>
          <p:nvPr>
            <p:ph type="sldNum" sz="quarter" idx="12"/>
          </p:nvPr>
        </p:nvSpPr>
        <p:spPr/>
        <p:txBody>
          <a:bodyPr/>
          <a:lstStyle/>
          <a:p>
            <a:fld id="{8836216C-5BC3-7C44-80F8-E30864FFC228}" type="slidenum">
              <a:rPr lang="en-US" smtClean="0"/>
              <a:t>11</a:t>
            </a:fld>
            <a:endParaRPr lang="en-US"/>
          </a:p>
        </p:txBody>
      </p:sp>
      <p:sp>
        <p:nvSpPr>
          <p:cNvPr id="5" name="Text Placeholder 4">
            <a:extLst>
              <a:ext uri="{FF2B5EF4-FFF2-40B4-BE49-F238E27FC236}">
                <a16:creationId xmlns:a16="http://schemas.microsoft.com/office/drawing/2014/main" id="{C3C5D624-98E6-9EC5-33CC-A3EEA4AFD6C3}"/>
              </a:ext>
            </a:extLst>
          </p:cNvPr>
          <p:cNvSpPr>
            <a:spLocks noGrp="1"/>
          </p:cNvSpPr>
          <p:nvPr>
            <p:ph type="body" sz="quarter" idx="13"/>
          </p:nvPr>
        </p:nvSpPr>
        <p:spPr/>
        <p:txBody>
          <a:bodyPr/>
          <a:lstStyle/>
          <a:p>
            <a:r>
              <a:rPr lang="en-GB">
                <a:latin typeface="Gill Sans MT"/>
                <a:cs typeface="Gill Sans"/>
              </a:rPr>
              <a:t>Execution of the Workload on the Accelerator</a:t>
            </a:r>
            <a:endParaRPr lang="en-GB"/>
          </a:p>
        </p:txBody>
      </p:sp>
      <p:sp>
        <p:nvSpPr>
          <p:cNvPr id="7" name="Arrow: Right 6">
            <a:extLst>
              <a:ext uri="{FF2B5EF4-FFF2-40B4-BE49-F238E27FC236}">
                <a16:creationId xmlns:a16="http://schemas.microsoft.com/office/drawing/2014/main" id="{B5A8C906-C264-60DC-4BAD-3FBD8A8CD092}"/>
              </a:ext>
            </a:extLst>
          </p:cNvPr>
          <p:cNvSpPr/>
          <p:nvPr/>
        </p:nvSpPr>
        <p:spPr>
          <a:xfrm>
            <a:off x="-1033163" y="2439602"/>
            <a:ext cx="1604991" cy="264296"/>
          </a:xfrm>
          <a:prstGeom prst="rightArrow">
            <a:avLst/>
          </a:prstGeom>
          <a:solidFill>
            <a:schemeClr val="tx2"/>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 name="Rectangle 5">
            <a:extLst>
              <a:ext uri="{FF2B5EF4-FFF2-40B4-BE49-F238E27FC236}">
                <a16:creationId xmlns:a16="http://schemas.microsoft.com/office/drawing/2014/main" id="{A611F9F0-6D18-7C60-F417-2228A7F4E2B0}"/>
              </a:ext>
            </a:extLst>
          </p:cNvPr>
          <p:cNvSpPr/>
          <p:nvPr/>
        </p:nvSpPr>
        <p:spPr>
          <a:xfrm>
            <a:off x="3095739" y="4359236"/>
            <a:ext cx="2890550" cy="32224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t>Output reuse mapping</a:t>
            </a:r>
          </a:p>
        </p:txBody>
      </p:sp>
      <p:pic>
        <p:nvPicPr>
          <p:cNvPr id="3" name="Picture 2" descr="A screenshot of a computer&#10;&#10;AI-generated content may be incorrect.">
            <a:extLst>
              <a:ext uri="{FF2B5EF4-FFF2-40B4-BE49-F238E27FC236}">
                <a16:creationId xmlns:a16="http://schemas.microsoft.com/office/drawing/2014/main" id="{9CC86E7C-B0D8-4648-B2CD-28A24F062B6D}"/>
              </a:ext>
            </a:extLst>
          </p:cNvPr>
          <p:cNvPicPr>
            <a:picLocks noChangeAspect="1"/>
          </p:cNvPicPr>
          <p:nvPr/>
        </p:nvPicPr>
        <p:blipFill>
          <a:blip r:embed="rId3"/>
          <a:stretch>
            <a:fillRect/>
          </a:stretch>
        </p:blipFill>
        <p:spPr>
          <a:xfrm>
            <a:off x="1035169" y="1165900"/>
            <a:ext cx="7084444" cy="3092059"/>
          </a:xfrm>
          <a:prstGeom prst="rect">
            <a:avLst/>
          </a:prstGeom>
        </p:spPr>
      </p:pic>
      <p:sp>
        <p:nvSpPr>
          <p:cNvPr id="8" name="Rectangle 7">
            <a:extLst>
              <a:ext uri="{FF2B5EF4-FFF2-40B4-BE49-F238E27FC236}">
                <a16:creationId xmlns:a16="http://schemas.microsoft.com/office/drawing/2014/main" id="{54C86864-BAC6-0D2C-B3DA-27CCC2BBED11}"/>
              </a:ext>
            </a:extLst>
          </p:cNvPr>
          <p:cNvSpPr/>
          <p:nvPr/>
        </p:nvSpPr>
        <p:spPr>
          <a:xfrm>
            <a:off x="-5507" y="2209068"/>
            <a:ext cx="9149507" cy="1005722"/>
          </a:xfrm>
          <a:prstGeom prst="rect">
            <a:avLst/>
          </a:prstGeom>
          <a:gradFill>
            <a:gsLst>
              <a:gs pos="0">
                <a:schemeClr val="accent6"/>
              </a:gs>
              <a:gs pos="60000">
                <a:schemeClr val="tx2"/>
              </a:gs>
            </a:gsLst>
            <a:lin ang="2700000" scaled="0"/>
          </a:gra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marL="0" algn="l" defTabSz="411480" rtl="0" eaLnBrk="1" latinLnBrk="0" hangingPunct="1">
              <a:defRPr sz="1620" kern="1200">
                <a:solidFill>
                  <a:schemeClr val="lt1"/>
                </a:solidFill>
                <a:latin typeface="+mn-lt"/>
                <a:ea typeface="+mn-ea"/>
                <a:cs typeface="+mn-cs"/>
              </a:defRPr>
            </a:lvl1pPr>
            <a:lvl2pPr marL="411480" algn="l" defTabSz="411480" rtl="0" eaLnBrk="1" latinLnBrk="0" hangingPunct="1">
              <a:defRPr sz="1620" kern="1200">
                <a:solidFill>
                  <a:schemeClr val="lt1"/>
                </a:solidFill>
                <a:latin typeface="+mn-lt"/>
                <a:ea typeface="+mn-ea"/>
                <a:cs typeface="+mn-cs"/>
              </a:defRPr>
            </a:lvl2pPr>
            <a:lvl3pPr marL="822960" algn="l" defTabSz="411480" rtl="0" eaLnBrk="1" latinLnBrk="0" hangingPunct="1">
              <a:defRPr sz="1620" kern="1200">
                <a:solidFill>
                  <a:schemeClr val="lt1"/>
                </a:solidFill>
                <a:latin typeface="+mn-lt"/>
                <a:ea typeface="+mn-ea"/>
                <a:cs typeface="+mn-cs"/>
              </a:defRPr>
            </a:lvl3pPr>
            <a:lvl4pPr marL="1234440" algn="l" defTabSz="411480" rtl="0" eaLnBrk="1" latinLnBrk="0" hangingPunct="1">
              <a:defRPr sz="1620" kern="1200">
                <a:solidFill>
                  <a:schemeClr val="lt1"/>
                </a:solidFill>
                <a:latin typeface="+mn-lt"/>
                <a:ea typeface="+mn-ea"/>
                <a:cs typeface="+mn-cs"/>
              </a:defRPr>
            </a:lvl4pPr>
            <a:lvl5pPr marL="1645920" algn="l" defTabSz="411480" rtl="0" eaLnBrk="1" latinLnBrk="0" hangingPunct="1">
              <a:defRPr sz="1620" kern="1200">
                <a:solidFill>
                  <a:schemeClr val="lt1"/>
                </a:solidFill>
                <a:latin typeface="+mn-lt"/>
                <a:ea typeface="+mn-ea"/>
                <a:cs typeface="+mn-cs"/>
              </a:defRPr>
            </a:lvl5pPr>
            <a:lvl6pPr marL="2057400" algn="l" defTabSz="411480" rtl="0" eaLnBrk="1" latinLnBrk="0" hangingPunct="1">
              <a:defRPr sz="1620" kern="1200">
                <a:solidFill>
                  <a:schemeClr val="lt1"/>
                </a:solidFill>
                <a:latin typeface="+mn-lt"/>
                <a:ea typeface="+mn-ea"/>
                <a:cs typeface="+mn-cs"/>
              </a:defRPr>
            </a:lvl6pPr>
            <a:lvl7pPr marL="2468880" algn="l" defTabSz="411480" rtl="0" eaLnBrk="1" latinLnBrk="0" hangingPunct="1">
              <a:defRPr sz="1620" kern="1200">
                <a:solidFill>
                  <a:schemeClr val="lt1"/>
                </a:solidFill>
                <a:latin typeface="+mn-lt"/>
                <a:ea typeface="+mn-ea"/>
                <a:cs typeface="+mn-cs"/>
              </a:defRPr>
            </a:lvl7pPr>
            <a:lvl8pPr marL="2880360" algn="l" defTabSz="411480" rtl="0" eaLnBrk="1" latinLnBrk="0" hangingPunct="1">
              <a:defRPr sz="1620" kern="1200">
                <a:solidFill>
                  <a:schemeClr val="lt1"/>
                </a:solidFill>
                <a:latin typeface="+mn-lt"/>
                <a:ea typeface="+mn-ea"/>
                <a:cs typeface="+mn-cs"/>
              </a:defRPr>
            </a:lvl8pPr>
            <a:lvl9pPr marL="3291840" algn="l" defTabSz="411480" rtl="0" eaLnBrk="1" latinLnBrk="0" hangingPunct="1">
              <a:defRPr sz="1620" kern="1200">
                <a:solidFill>
                  <a:schemeClr val="lt1"/>
                </a:solidFill>
                <a:latin typeface="+mn-lt"/>
                <a:ea typeface="+mn-ea"/>
                <a:cs typeface="+mn-cs"/>
              </a:defRPr>
            </a:lvl9pPr>
          </a:lstStyle>
          <a:p>
            <a:pPr algn="ctr"/>
            <a:r>
              <a:rPr lang="en-GB" sz="1600" dirty="0">
                <a:solidFill>
                  <a:schemeClr val="tx1"/>
                </a:solidFill>
              </a:rPr>
              <a:t>Many more combinations are possible ….</a:t>
            </a:r>
          </a:p>
        </p:txBody>
      </p:sp>
    </p:spTree>
    <p:extLst>
      <p:ext uri="{BB962C8B-B14F-4D97-AF65-F5344CB8AC3E}">
        <p14:creationId xmlns:p14="http://schemas.microsoft.com/office/powerpoint/2010/main" val="10051048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arn(inVertical)">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AF7B6-2114-D490-A8D0-D08196119081}"/>
            </a:ext>
          </a:extLst>
        </p:cNvPr>
        <p:cNvGrpSpPr/>
        <p:nvPr/>
      </p:nvGrpSpPr>
      <p:grpSpPr>
        <a:xfrm>
          <a:off x="0" y="0"/>
          <a:ext cx="0" cy="0"/>
          <a:chOff x="0" y="0"/>
          <a:chExt cx="0" cy="0"/>
        </a:xfrm>
      </p:grpSpPr>
      <p:pic>
        <p:nvPicPr>
          <p:cNvPr id="7" name="Picture 6" descr="A diagram of different colored cubes&#10;&#10;AI-generated content may be incorrect.">
            <a:extLst>
              <a:ext uri="{FF2B5EF4-FFF2-40B4-BE49-F238E27FC236}">
                <a16:creationId xmlns:a16="http://schemas.microsoft.com/office/drawing/2014/main" id="{C5D84722-5E64-2D52-CB74-F32660A4296F}"/>
              </a:ext>
            </a:extLst>
          </p:cNvPr>
          <p:cNvPicPr>
            <a:picLocks noChangeAspect="1"/>
          </p:cNvPicPr>
          <p:nvPr/>
        </p:nvPicPr>
        <p:blipFill>
          <a:blip r:embed="rId3"/>
          <a:stretch>
            <a:fillRect/>
          </a:stretch>
        </p:blipFill>
        <p:spPr>
          <a:xfrm>
            <a:off x="246597" y="1543050"/>
            <a:ext cx="2017697" cy="2815228"/>
          </a:xfrm>
          <a:prstGeom prst="rect">
            <a:avLst/>
          </a:prstGeom>
        </p:spPr>
      </p:pic>
      <p:sp>
        <p:nvSpPr>
          <p:cNvPr id="2" name="Title 1">
            <a:extLst>
              <a:ext uri="{FF2B5EF4-FFF2-40B4-BE49-F238E27FC236}">
                <a16:creationId xmlns:a16="http://schemas.microsoft.com/office/drawing/2014/main" id="{46C68CE8-777F-AA7B-2471-D111FBA93BDB}"/>
              </a:ext>
            </a:extLst>
          </p:cNvPr>
          <p:cNvSpPr>
            <a:spLocks noGrp="1"/>
          </p:cNvSpPr>
          <p:nvPr>
            <p:ph type="title"/>
          </p:nvPr>
        </p:nvSpPr>
        <p:spPr/>
        <p:txBody>
          <a:bodyPr/>
          <a:lstStyle/>
          <a:p>
            <a:r>
              <a:rPr lang="en-GB">
                <a:latin typeface="Gill Sans MT"/>
                <a:cs typeface="Gill Sans"/>
              </a:rPr>
              <a:t>Different Dataflow strategies</a:t>
            </a:r>
            <a:endParaRPr lang="en-GB"/>
          </a:p>
        </p:txBody>
      </p:sp>
      <p:sp>
        <p:nvSpPr>
          <p:cNvPr id="4" name="Slide Number Placeholder 3">
            <a:extLst>
              <a:ext uri="{FF2B5EF4-FFF2-40B4-BE49-F238E27FC236}">
                <a16:creationId xmlns:a16="http://schemas.microsoft.com/office/drawing/2014/main" id="{4D75288F-5AEA-ED51-7D29-6F23B2AD1DFC}"/>
              </a:ext>
            </a:extLst>
          </p:cNvPr>
          <p:cNvSpPr>
            <a:spLocks noGrp="1"/>
          </p:cNvSpPr>
          <p:nvPr>
            <p:ph type="sldNum" sz="quarter" idx="12"/>
          </p:nvPr>
        </p:nvSpPr>
        <p:spPr/>
        <p:txBody>
          <a:bodyPr/>
          <a:lstStyle/>
          <a:p>
            <a:fld id="{8836216C-5BC3-7C44-80F8-E30864FFC228}" type="slidenum">
              <a:rPr lang="en-US" smtClean="0"/>
              <a:t>12</a:t>
            </a:fld>
            <a:endParaRPr lang="en-US"/>
          </a:p>
        </p:txBody>
      </p:sp>
      <p:sp>
        <p:nvSpPr>
          <p:cNvPr id="5" name="Text Placeholder 4">
            <a:extLst>
              <a:ext uri="{FF2B5EF4-FFF2-40B4-BE49-F238E27FC236}">
                <a16:creationId xmlns:a16="http://schemas.microsoft.com/office/drawing/2014/main" id="{31629AA1-A674-E713-B57F-7A1C849D521D}"/>
              </a:ext>
            </a:extLst>
          </p:cNvPr>
          <p:cNvSpPr>
            <a:spLocks noGrp="1"/>
          </p:cNvSpPr>
          <p:nvPr>
            <p:ph type="body" sz="quarter" idx="13"/>
          </p:nvPr>
        </p:nvSpPr>
        <p:spPr>
          <a:xfrm>
            <a:off x="194749" y="567785"/>
            <a:ext cx="8753475" cy="369332"/>
          </a:xfrm>
        </p:spPr>
        <p:txBody>
          <a:bodyPr/>
          <a:lstStyle/>
          <a:p>
            <a:r>
              <a:rPr lang="en-US" dirty="0"/>
              <a:t>From Traditional Approaches to Event-Driven Execution</a:t>
            </a:r>
            <a:endParaRPr lang="en-GB" dirty="0"/>
          </a:p>
        </p:txBody>
      </p:sp>
      <p:sp>
        <p:nvSpPr>
          <p:cNvPr id="9" name="Rectangle 8">
            <a:extLst>
              <a:ext uri="{FF2B5EF4-FFF2-40B4-BE49-F238E27FC236}">
                <a16:creationId xmlns:a16="http://schemas.microsoft.com/office/drawing/2014/main" id="{810C82BE-C7E4-827B-3998-64F8FBE0422D}"/>
              </a:ext>
            </a:extLst>
          </p:cNvPr>
          <p:cNvSpPr/>
          <p:nvPr/>
        </p:nvSpPr>
        <p:spPr>
          <a:xfrm>
            <a:off x="235668" y="4418841"/>
            <a:ext cx="2021327" cy="413093"/>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t>Output Stationary</a:t>
            </a:r>
          </a:p>
        </p:txBody>
      </p:sp>
      <p:sp>
        <p:nvSpPr>
          <p:cNvPr id="3" name="Rectangle 2">
            <a:extLst>
              <a:ext uri="{FF2B5EF4-FFF2-40B4-BE49-F238E27FC236}">
                <a16:creationId xmlns:a16="http://schemas.microsoft.com/office/drawing/2014/main" id="{493C4B83-FA87-21FA-92BB-6836CCD4600D}"/>
              </a:ext>
            </a:extLst>
          </p:cNvPr>
          <p:cNvSpPr/>
          <p:nvPr/>
        </p:nvSpPr>
        <p:spPr>
          <a:xfrm>
            <a:off x="2386442" y="4418841"/>
            <a:ext cx="2135525" cy="413093"/>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t>Weight Stationary</a:t>
            </a:r>
          </a:p>
        </p:txBody>
      </p:sp>
      <p:pic>
        <p:nvPicPr>
          <p:cNvPr id="6" name="Picture 5" descr="A diagram of different colored cubes&#10;&#10;AI-generated content may be incorrect.">
            <a:extLst>
              <a:ext uri="{FF2B5EF4-FFF2-40B4-BE49-F238E27FC236}">
                <a16:creationId xmlns:a16="http://schemas.microsoft.com/office/drawing/2014/main" id="{2CAD82BF-923D-67EF-5D3E-D3790190C289}"/>
              </a:ext>
            </a:extLst>
          </p:cNvPr>
          <p:cNvPicPr>
            <a:picLocks noChangeAspect="1"/>
          </p:cNvPicPr>
          <p:nvPr/>
        </p:nvPicPr>
        <p:blipFill>
          <a:blip r:embed="rId4"/>
          <a:stretch>
            <a:fillRect/>
          </a:stretch>
        </p:blipFill>
        <p:spPr>
          <a:xfrm>
            <a:off x="2405589" y="1465624"/>
            <a:ext cx="2116378" cy="2930491"/>
          </a:xfrm>
          <a:prstGeom prst="rect">
            <a:avLst/>
          </a:prstGeom>
        </p:spPr>
      </p:pic>
      <p:pic>
        <p:nvPicPr>
          <p:cNvPr id="8" name="Picture 7" descr="A diagram of a diagram of a diagram&#10;&#10;AI-generated content may be incorrect.">
            <a:extLst>
              <a:ext uri="{FF2B5EF4-FFF2-40B4-BE49-F238E27FC236}">
                <a16:creationId xmlns:a16="http://schemas.microsoft.com/office/drawing/2014/main" id="{7270BE8F-C74C-7BD2-8F01-2FAF7CB17D3F}"/>
              </a:ext>
            </a:extLst>
          </p:cNvPr>
          <p:cNvPicPr>
            <a:picLocks noChangeAspect="1"/>
          </p:cNvPicPr>
          <p:nvPr/>
        </p:nvPicPr>
        <p:blipFill>
          <a:blip r:embed="rId5"/>
          <a:stretch>
            <a:fillRect/>
          </a:stretch>
        </p:blipFill>
        <p:spPr>
          <a:xfrm>
            <a:off x="4622034" y="1465624"/>
            <a:ext cx="2254629" cy="2994110"/>
          </a:xfrm>
          <a:prstGeom prst="rect">
            <a:avLst/>
          </a:prstGeom>
        </p:spPr>
      </p:pic>
      <p:sp>
        <p:nvSpPr>
          <p:cNvPr id="10" name="Rectangle 9">
            <a:extLst>
              <a:ext uri="{FF2B5EF4-FFF2-40B4-BE49-F238E27FC236}">
                <a16:creationId xmlns:a16="http://schemas.microsoft.com/office/drawing/2014/main" id="{04047F70-947D-1CBB-6556-F0832FC43E6E}"/>
              </a:ext>
            </a:extLst>
          </p:cNvPr>
          <p:cNvSpPr/>
          <p:nvPr/>
        </p:nvSpPr>
        <p:spPr>
          <a:xfrm>
            <a:off x="4663183" y="4396116"/>
            <a:ext cx="2213480" cy="435818"/>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t>Input Stationary</a:t>
            </a:r>
          </a:p>
        </p:txBody>
      </p:sp>
      <p:pic>
        <p:nvPicPr>
          <p:cNvPr id="12" name="Picture 11" descr="A diagram of a diagram of a diagram&#10;&#10;AI-generated content may be incorrect.">
            <a:extLst>
              <a:ext uri="{FF2B5EF4-FFF2-40B4-BE49-F238E27FC236}">
                <a16:creationId xmlns:a16="http://schemas.microsoft.com/office/drawing/2014/main" id="{D8272B14-ED82-9550-EFBA-B59DCF8EA3C9}"/>
              </a:ext>
            </a:extLst>
          </p:cNvPr>
          <p:cNvPicPr>
            <a:picLocks noChangeAspect="1"/>
          </p:cNvPicPr>
          <p:nvPr/>
        </p:nvPicPr>
        <p:blipFill>
          <a:blip r:embed="rId6"/>
          <a:stretch>
            <a:fillRect/>
          </a:stretch>
        </p:blipFill>
        <p:spPr>
          <a:xfrm>
            <a:off x="6963811" y="1465624"/>
            <a:ext cx="1957009" cy="2842890"/>
          </a:xfrm>
          <a:prstGeom prst="rect">
            <a:avLst/>
          </a:prstGeom>
        </p:spPr>
      </p:pic>
      <p:sp>
        <p:nvSpPr>
          <p:cNvPr id="13" name="Rectangle 12">
            <a:extLst>
              <a:ext uri="{FF2B5EF4-FFF2-40B4-BE49-F238E27FC236}">
                <a16:creationId xmlns:a16="http://schemas.microsoft.com/office/drawing/2014/main" id="{20605BB2-98D8-2E3C-8CB9-5D9D4730DF23}"/>
              </a:ext>
            </a:extLst>
          </p:cNvPr>
          <p:cNvSpPr/>
          <p:nvPr/>
        </p:nvSpPr>
        <p:spPr>
          <a:xfrm>
            <a:off x="6965412" y="4387676"/>
            <a:ext cx="1993135" cy="444257"/>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dirty="0"/>
              <a:t>Event driven</a:t>
            </a:r>
          </a:p>
        </p:txBody>
      </p:sp>
      <p:sp>
        <p:nvSpPr>
          <p:cNvPr id="15" name="TextBox 14">
            <a:extLst>
              <a:ext uri="{FF2B5EF4-FFF2-40B4-BE49-F238E27FC236}">
                <a16:creationId xmlns:a16="http://schemas.microsoft.com/office/drawing/2014/main" id="{E1298D45-1B3C-86D4-C22C-BE3CDF84F007}"/>
              </a:ext>
            </a:extLst>
          </p:cNvPr>
          <p:cNvSpPr txBox="1"/>
          <p:nvPr/>
        </p:nvSpPr>
        <p:spPr>
          <a:xfrm>
            <a:off x="241132" y="922186"/>
            <a:ext cx="2028626" cy="523220"/>
          </a:xfrm>
          <a:prstGeom prst="rect">
            <a:avLst/>
          </a:prstGeom>
          <a:solidFill>
            <a:schemeClr val="bg2">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0"/>
              </a:spcBef>
            </a:pPr>
            <a:r>
              <a:rPr lang="en-GB" sz="1400" b="1" dirty="0"/>
              <a:t>Stationary element</a:t>
            </a:r>
            <a:r>
              <a:rPr lang="en-GB" sz="1400" dirty="0"/>
              <a:t>: </a:t>
            </a:r>
            <a:r>
              <a:rPr lang="en-GB" sz="1400" dirty="0">
                <a:solidFill>
                  <a:srgbClr val="1B1C1D"/>
                </a:solidFill>
                <a:ea typeface="+mn-lt"/>
                <a:cs typeface="+mn-lt"/>
              </a:rPr>
              <a:t>Partial Sums</a:t>
            </a:r>
            <a:endParaRPr lang="en-US" sz="1400" dirty="0"/>
          </a:p>
        </p:txBody>
      </p:sp>
      <p:sp>
        <p:nvSpPr>
          <p:cNvPr id="17" name="TextBox 16">
            <a:extLst>
              <a:ext uri="{FF2B5EF4-FFF2-40B4-BE49-F238E27FC236}">
                <a16:creationId xmlns:a16="http://schemas.microsoft.com/office/drawing/2014/main" id="{1E21F272-9F14-247B-4DA3-2ACB054865F8}"/>
              </a:ext>
            </a:extLst>
          </p:cNvPr>
          <p:cNvSpPr txBox="1"/>
          <p:nvPr/>
        </p:nvSpPr>
        <p:spPr>
          <a:xfrm>
            <a:off x="2386441" y="910343"/>
            <a:ext cx="2111122" cy="523220"/>
          </a:xfrm>
          <a:prstGeom prst="rect">
            <a:avLst/>
          </a:prstGeom>
          <a:solidFill>
            <a:schemeClr val="bg2">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0"/>
              </a:spcBef>
            </a:pPr>
            <a:r>
              <a:rPr lang="en-GB" sz="1400" b="1" dirty="0"/>
              <a:t>Stationary element</a:t>
            </a:r>
            <a:r>
              <a:rPr lang="en-GB" sz="1400" dirty="0"/>
              <a:t>: </a:t>
            </a:r>
            <a:r>
              <a:rPr lang="en-GB" sz="1400" dirty="0">
                <a:ea typeface="+mn-lt"/>
                <a:cs typeface="+mn-lt"/>
              </a:rPr>
              <a:t>Filter weights</a:t>
            </a:r>
            <a:endParaRPr lang="en-GB" sz="1400" dirty="0"/>
          </a:p>
        </p:txBody>
      </p:sp>
      <p:sp>
        <p:nvSpPr>
          <p:cNvPr id="19" name="TextBox 18">
            <a:extLst>
              <a:ext uri="{FF2B5EF4-FFF2-40B4-BE49-F238E27FC236}">
                <a16:creationId xmlns:a16="http://schemas.microsoft.com/office/drawing/2014/main" id="{B35E4EFB-3FD0-857E-8A49-FD048E7821F2}"/>
              </a:ext>
            </a:extLst>
          </p:cNvPr>
          <p:cNvSpPr txBox="1"/>
          <p:nvPr/>
        </p:nvSpPr>
        <p:spPr>
          <a:xfrm>
            <a:off x="4614246" y="917122"/>
            <a:ext cx="2293122" cy="523220"/>
          </a:xfrm>
          <a:prstGeom prst="rect">
            <a:avLst/>
          </a:prstGeom>
          <a:solidFill>
            <a:schemeClr val="bg2">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0"/>
              </a:spcBef>
            </a:pPr>
            <a:r>
              <a:rPr lang="en-GB" sz="1400" b="1" dirty="0"/>
              <a:t>Stationary element</a:t>
            </a:r>
            <a:r>
              <a:rPr lang="en-GB" sz="1400" dirty="0"/>
              <a:t>: </a:t>
            </a:r>
            <a:r>
              <a:rPr lang="en-GB" sz="1400" dirty="0">
                <a:solidFill>
                  <a:srgbClr val="1B1C1D"/>
                </a:solidFill>
                <a:ea typeface="+mn-lt"/>
                <a:cs typeface="+mn-lt"/>
              </a:rPr>
              <a:t>Input Activations</a:t>
            </a:r>
            <a:endParaRPr lang="en-GB" sz="1400" dirty="0">
              <a:ea typeface="+mn-lt"/>
              <a:cs typeface="+mn-lt"/>
            </a:endParaRPr>
          </a:p>
        </p:txBody>
      </p:sp>
      <p:sp>
        <p:nvSpPr>
          <p:cNvPr id="21" name="TextBox 20">
            <a:extLst>
              <a:ext uri="{FF2B5EF4-FFF2-40B4-BE49-F238E27FC236}">
                <a16:creationId xmlns:a16="http://schemas.microsoft.com/office/drawing/2014/main" id="{DFF5052E-3CD8-AF82-4E6B-AA88D03C34B6}"/>
              </a:ext>
            </a:extLst>
          </p:cNvPr>
          <p:cNvSpPr txBox="1"/>
          <p:nvPr/>
        </p:nvSpPr>
        <p:spPr>
          <a:xfrm>
            <a:off x="6955089" y="904936"/>
            <a:ext cx="1993135" cy="523220"/>
          </a:xfrm>
          <a:prstGeom prst="rect">
            <a:avLst/>
          </a:prstGeom>
          <a:solidFill>
            <a:schemeClr val="bg2">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0"/>
              </a:spcBef>
            </a:pPr>
            <a:r>
              <a:rPr lang="en-GB" sz="1400" b="1" dirty="0"/>
              <a:t>Stationary element</a:t>
            </a:r>
            <a:r>
              <a:rPr lang="en-GB" sz="1400" dirty="0"/>
              <a:t>: </a:t>
            </a:r>
            <a:r>
              <a:rPr lang="en-GB" sz="1400" dirty="0">
                <a:ea typeface="+mn-lt"/>
                <a:cs typeface="+mn-lt"/>
              </a:rPr>
              <a:t>Non zero activation</a:t>
            </a:r>
            <a:endParaRPr lang="en-GB" sz="1400" dirty="0"/>
          </a:p>
        </p:txBody>
      </p:sp>
    </p:spTree>
    <p:extLst>
      <p:ext uri="{BB962C8B-B14F-4D97-AF65-F5344CB8AC3E}">
        <p14:creationId xmlns:p14="http://schemas.microsoft.com/office/powerpoint/2010/main" val="5204207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arn(inVertical)">
                                      <p:cBhvr>
                                        <p:cTn id="21" dur="500"/>
                                        <p:tgtEl>
                                          <p:spTgt spid="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arn(inVertical)">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barn(inVertical)">
                                      <p:cBhvr>
                                        <p:cTn id="43" dur="50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animBg="1"/>
      <p:bldP spid="10" grpId="0" animBg="1"/>
      <p:bldP spid="13" grpId="0" animBg="1"/>
      <p:bldP spid="15" grpId="0" animBg="1"/>
      <p:bldP spid="17" grpId="0" animBg="1"/>
      <p:bldP spid="19" grpId="0" animBg="1"/>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E3715-C605-8200-9896-5CEA39046E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52506-4F86-927C-C774-2F2BF1F307E6}"/>
              </a:ext>
            </a:extLst>
          </p:cNvPr>
          <p:cNvSpPr>
            <a:spLocks noGrp="1"/>
          </p:cNvSpPr>
          <p:nvPr>
            <p:ph type="title"/>
          </p:nvPr>
        </p:nvSpPr>
        <p:spPr>
          <a:xfrm>
            <a:off x="160631" y="395585"/>
            <a:ext cx="8753475" cy="461665"/>
          </a:xfrm>
        </p:spPr>
        <p:txBody>
          <a:bodyPr/>
          <a:lstStyle/>
          <a:p>
            <a:r>
              <a:rPr lang="en-GB" dirty="0"/>
              <a:t>Outline</a:t>
            </a:r>
          </a:p>
        </p:txBody>
      </p:sp>
      <p:sp>
        <p:nvSpPr>
          <p:cNvPr id="4" name="Slide Number Placeholder 3">
            <a:extLst>
              <a:ext uri="{FF2B5EF4-FFF2-40B4-BE49-F238E27FC236}">
                <a16:creationId xmlns:a16="http://schemas.microsoft.com/office/drawing/2014/main" id="{2DE7E606-22C5-1712-71A6-AE33F6C07DC1}"/>
              </a:ext>
            </a:extLst>
          </p:cNvPr>
          <p:cNvSpPr>
            <a:spLocks noGrp="1"/>
          </p:cNvSpPr>
          <p:nvPr>
            <p:ph type="sldNum" sz="quarter" idx="12"/>
          </p:nvPr>
        </p:nvSpPr>
        <p:spPr/>
        <p:txBody>
          <a:bodyPr/>
          <a:lstStyle/>
          <a:p>
            <a:fld id="{8836216C-5BC3-7C44-80F8-E30864FFC228}" type="slidenum">
              <a:rPr lang="en-US" smtClean="0"/>
              <a:t>13</a:t>
            </a:fld>
            <a:endParaRPr lang="en-US"/>
          </a:p>
        </p:txBody>
      </p:sp>
      <p:sp>
        <p:nvSpPr>
          <p:cNvPr id="7" name="TextBox 6">
            <a:extLst>
              <a:ext uri="{FF2B5EF4-FFF2-40B4-BE49-F238E27FC236}">
                <a16:creationId xmlns:a16="http://schemas.microsoft.com/office/drawing/2014/main" id="{5353D0A1-2057-A727-248C-29E5FAFE3BF4}"/>
              </a:ext>
            </a:extLst>
          </p:cNvPr>
          <p:cNvSpPr txBox="1"/>
          <p:nvPr/>
        </p:nvSpPr>
        <p:spPr>
          <a:xfrm>
            <a:off x="272374" y="857250"/>
            <a:ext cx="8641732" cy="2554545"/>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000" dirty="0">
                <a:solidFill>
                  <a:schemeClr val="bg2">
                    <a:lumMod val="60000"/>
                    <a:lumOff val="40000"/>
                  </a:schemeClr>
                </a:solidFill>
              </a:rPr>
              <a:t>Introduction</a:t>
            </a:r>
          </a:p>
          <a:p>
            <a:pPr marL="457200" indent="-457200">
              <a:buFont typeface="Arial" panose="020B0604020202020204" pitchFamily="34" charset="0"/>
              <a:buChar char="•"/>
            </a:pPr>
            <a:r>
              <a:rPr lang="en-US" sz="2000" dirty="0">
                <a:solidFill>
                  <a:schemeClr val="bg2">
                    <a:lumMod val="60000"/>
                    <a:lumOff val="40000"/>
                  </a:schemeClr>
                </a:solidFill>
              </a:rPr>
              <a:t>Background</a:t>
            </a:r>
          </a:p>
          <a:p>
            <a:pPr marL="868680" lvl="1" indent="-457200">
              <a:buFont typeface="Courier New" panose="020B0604020202020204" pitchFamily="34" charset="0"/>
              <a:buChar char="o"/>
            </a:pPr>
            <a:r>
              <a:rPr lang="en-US" sz="2000" dirty="0">
                <a:solidFill>
                  <a:schemeClr val="bg2">
                    <a:lumMod val="60000"/>
                    <a:lumOff val="40000"/>
                  </a:schemeClr>
                </a:solidFill>
              </a:rPr>
              <a:t>Exploration process</a:t>
            </a:r>
          </a:p>
          <a:p>
            <a:pPr marL="868680" lvl="1" indent="-457200">
              <a:buFont typeface="Courier New" panose="020B0604020202020204" pitchFamily="34" charset="0"/>
              <a:buChar char="o"/>
            </a:pPr>
            <a:r>
              <a:rPr lang="en-US" sz="2000" dirty="0">
                <a:solidFill>
                  <a:schemeClr val="bg2">
                    <a:lumMod val="60000"/>
                    <a:lumOff val="40000"/>
                  </a:schemeClr>
                </a:solidFill>
              </a:rPr>
              <a:t>Different dataflow strategies</a:t>
            </a:r>
          </a:p>
          <a:p>
            <a:pPr marL="457200" indent="-457200">
              <a:buFont typeface="Arial" panose="020B0604020202020204" pitchFamily="34" charset="0"/>
              <a:buChar char="•"/>
            </a:pPr>
            <a:r>
              <a:rPr lang="en-US" sz="2000" dirty="0"/>
              <a:t>Related work</a:t>
            </a:r>
          </a:p>
          <a:p>
            <a:pPr marL="457200" indent="-457200">
              <a:buFont typeface="Arial" panose="020B0604020202020204" pitchFamily="34" charset="0"/>
              <a:buChar char="•"/>
            </a:pPr>
            <a:r>
              <a:rPr lang="en-US" sz="2000" dirty="0">
                <a:solidFill>
                  <a:schemeClr val="bg2">
                    <a:lumMod val="60000"/>
                    <a:lumOff val="40000"/>
                  </a:schemeClr>
                </a:solidFill>
              </a:rPr>
              <a:t>Thesis Contribution &amp; Proposed AeDAM framework </a:t>
            </a:r>
          </a:p>
          <a:p>
            <a:pPr marL="457200" indent="-457200">
              <a:buFont typeface="Arial" panose="020B0604020202020204" pitchFamily="34" charset="0"/>
              <a:buChar char="•"/>
            </a:pPr>
            <a:r>
              <a:rPr lang="en-US" sz="2000" dirty="0">
                <a:solidFill>
                  <a:schemeClr val="bg2">
                    <a:lumMod val="60000"/>
                    <a:lumOff val="40000"/>
                  </a:schemeClr>
                </a:solidFill>
              </a:rPr>
              <a:t>Results </a:t>
            </a:r>
          </a:p>
          <a:p>
            <a:pPr marL="457200" indent="-457200">
              <a:buFont typeface="Arial" panose="020B0604020202020204" pitchFamily="34" charset="0"/>
              <a:buChar char="•"/>
            </a:pPr>
            <a:r>
              <a:rPr lang="en-US" sz="2000" dirty="0">
                <a:solidFill>
                  <a:schemeClr val="bg2">
                    <a:lumMod val="60000"/>
                    <a:lumOff val="40000"/>
                  </a:schemeClr>
                </a:solidFill>
              </a:rPr>
              <a:t>Conclusion and Future Work</a:t>
            </a:r>
            <a:r>
              <a:rPr lang="en-US" sz="2000" dirty="0"/>
              <a:t> </a:t>
            </a:r>
          </a:p>
        </p:txBody>
      </p:sp>
    </p:spTree>
    <p:extLst>
      <p:ext uri="{BB962C8B-B14F-4D97-AF65-F5344CB8AC3E}">
        <p14:creationId xmlns:p14="http://schemas.microsoft.com/office/powerpoint/2010/main" val="3070695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77D2B-B756-FBB8-BB43-FBF087848A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B86AC0-807B-28C6-931D-69F96EE181DA}"/>
              </a:ext>
            </a:extLst>
          </p:cNvPr>
          <p:cNvSpPr>
            <a:spLocks noGrp="1"/>
          </p:cNvSpPr>
          <p:nvPr>
            <p:ph type="title"/>
          </p:nvPr>
        </p:nvSpPr>
        <p:spPr/>
        <p:txBody>
          <a:bodyPr/>
          <a:lstStyle/>
          <a:p>
            <a:r>
              <a:rPr lang="en-GB">
                <a:latin typeface="Gill Sans MT"/>
                <a:cs typeface="Gill Sans"/>
              </a:rPr>
              <a:t>Related works</a:t>
            </a:r>
            <a:endParaRPr lang="en-GB"/>
          </a:p>
        </p:txBody>
      </p:sp>
      <p:sp>
        <p:nvSpPr>
          <p:cNvPr id="4" name="Slide Number Placeholder 3">
            <a:extLst>
              <a:ext uri="{FF2B5EF4-FFF2-40B4-BE49-F238E27FC236}">
                <a16:creationId xmlns:a16="http://schemas.microsoft.com/office/drawing/2014/main" id="{09F4232C-F71B-2000-533C-875DBD92266E}"/>
              </a:ext>
            </a:extLst>
          </p:cNvPr>
          <p:cNvSpPr>
            <a:spLocks noGrp="1"/>
          </p:cNvSpPr>
          <p:nvPr>
            <p:ph type="sldNum" sz="quarter" idx="12"/>
          </p:nvPr>
        </p:nvSpPr>
        <p:spPr/>
        <p:txBody>
          <a:bodyPr/>
          <a:lstStyle/>
          <a:p>
            <a:fld id="{8836216C-5BC3-7C44-80F8-E30864FFC228}" type="slidenum">
              <a:rPr lang="en-US" smtClean="0"/>
              <a:t>14</a:t>
            </a:fld>
            <a:endParaRPr lang="en-US"/>
          </a:p>
        </p:txBody>
      </p:sp>
      <p:sp>
        <p:nvSpPr>
          <p:cNvPr id="5" name="Text Placeholder 4">
            <a:extLst>
              <a:ext uri="{FF2B5EF4-FFF2-40B4-BE49-F238E27FC236}">
                <a16:creationId xmlns:a16="http://schemas.microsoft.com/office/drawing/2014/main" id="{040950EF-AFD3-7B03-B23E-416474DB1EDB}"/>
              </a:ext>
            </a:extLst>
          </p:cNvPr>
          <p:cNvSpPr>
            <a:spLocks noGrp="1"/>
          </p:cNvSpPr>
          <p:nvPr>
            <p:ph type="body" sz="quarter" idx="13"/>
          </p:nvPr>
        </p:nvSpPr>
        <p:spPr/>
        <p:txBody>
          <a:bodyPr/>
          <a:lstStyle/>
          <a:p>
            <a:r>
              <a:rPr lang="en-US" dirty="0"/>
              <a:t>Capabilities and Limitations Analysis</a:t>
            </a:r>
            <a:endParaRPr lang="en-GB" dirty="0"/>
          </a:p>
        </p:txBody>
      </p:sp>
      <p:graphicFrame>
        <p:nvGraphicFramePr>
          <p:cNvPr id="7" name="Table 6">
            <a:extLst>
              <a:ext uri="{FF2B5EF4-FFF2-40B4-BE49-F238E27FC236}">
                <a16:creationId xmlns:a16="http://schemas.microsoft.com/office/drawing/2014/main" id="{FF658F63-3367-287D-9364-9B6881533B7F}"/>
              </a:ext>
            </a:extLst>
          </p:cNvPr>
          <p:cNvGraphicFramePr>
            <a:graphicFrameLocks noGrp="1"/>
          </p:cNvGraphicFramePr>
          <p:nvPr>
            <p:extLst>
              <p:ext uri="{D42A27DB-BD31-4B8C-83A1-F6EECF244321}">
                <p14:modId xmlns:p14="http://schemas.microsoft.com/office/powerpoint/2010/main" val="330035720"/>
              </p:ext>
            </p:extLst>
          </p:nvPr>
        </p:nvGraphicFramePr>
        <p:xfrm>
          <a:off x="656457" y="1013769"/>
          <a:ext cx="7831086" cy="3115962"/>
        </p:xfrm>
        <a:graphic>
          <a:graphicData uri="http://schemas.openxmlformats.org/drawingml/2006/table">
            <a:tbl>
              <a:tblPr firstRow="1" bandRow="1">
                <a:tableStyleId>{5C22544A-7EE6-4342-B048-85BDC9FD1C3A}</a:tableStyleId>
              </a:tblPr>
              <a:tblGrid>
                <a:gridCol w="1312905">
                  <a:extLst>
                    <a:ext uri="{9D8B030D-6E8A-4147-A177-3AD203B41FA5}">
                      <a16:colId xmlns:a16="http://schemas.microsoft.com/office/drawing/2014/main" val="2147442814"/>
                    </a:ext>
                  </a:extLst>
                </a:gridCol>
                <a:gridCol w="1590931">
                  <a:extLst>
                    <a:ext uri="{9D8B030D-6E8A-4147-A177-3AD203B41FA5}">
                      <a16:colId xmlns:a16="http://schemas.microsoft.com/office/drawing/2014/main" val="3555934751"/>
                    </a:ext>
                  </a:extLst>
                </a:gridCol>
                <a:gridCol w="1243398">
                  <a:extLst>
                    <a:ext uri="{9D8B030D-6E8A-4147-A177-3AD203B41FA5}">
                      <a16:colId xmlns:a16="http://schemas.microsoft.com/office/drawing/2014/main" val="1993135393"/>
                    </a:ext>
                  </a:extLst>
                </a:gridCol>
                <a:gridCol w="1065768">
                  <a:extLst>
                    <a:ext uri="{9D8B030D-6E8A-4147-A177-3AD203B41FA5}">
                      <a16:colId xmlns:a16="http://schemas.microsoft.com/office/drawing/2014/main" val="2383395271"/>
                    </a:ext>
                  </a:extLst>
                </a:gridCol>
                <a:gridCol w="1312903">
                  <a:extLst>
                    <a:ext uri="{9D8B030D-6E8A-4147-A177-3AD203B41FA5}">
                      <a16:colId xmlns:a16="http://schemas.microsoft.com/office/drawing/2014/main" val="2634017457"/>
                    </a:ext>
                  </a:extLst>
                </a:gridCol>
                <a:gridCol w="1305181">
                  <a:extLst>
                    <a:ext uri="{9D8B030D-6E8A-4147-A177-3AD203B41FA5}">
                      <a16:colId xmlns:a16="http://schemas.microsoft.com/office/drawing/2014/main" val="189872776"/>
                    </a:ext>
                  </a:extLst>
                </a:gridCol>
              </a:tblGrid>
              <a:tr h="525162">
                <a:tc>
                  <a:txBody>
                    <a:bodyPr/>
                    <a:lstStyle/>
                    <a:p>
                      <a:pPr algn="ctr"/>
                      <a:r>
                        <a:rPr lang="en-GB" sz="1400" b="1"/>
                        <a:t>Framework</a:t>
                      </a:r>
                    </a:p>
                  </a:txBody>
                  <a:tcPr/>
                </a:tc>
                <a:tc>
                  <a:txBody>
                    <a:bodyPr/>
                    <a:lstStyle/>
                    <a:p>
                      <a:pPr lvl="0" algn="ctr">
                        <a:buNone/>
                      </a:pPr>
                      <a:r>
                        <a:rPr lang="en-GB" sz="1400" b="1" i="0" u="none" strike="noStrike" noProof="0">
                          <a:latin typeface="Gill Sans MT"/>
                        </a:rPr>
                        <a:t>Primary Focus</a:t>
                      </a:r>
                    </a:p>
                  </a:txBody>
                  <a:tcPr/>
                </a:tc>
                <a:tc>
                  <a:txBody>
                    <a:bodyPr/>
                    <a:lstStyle/>
                    <a:p>
                      <a:pPr lvl="0" algn="ctr">
                        <a:buNone/>
                      </a:pPr>
                      <a:r>
                        <a:rPr lang="en-GB" sz="1400" b="1" i="0" u="none" strike="noStrike" noProof="0">
                          <a:latin typeface="Gill Sans MT"/>
                        </a:rPr>
                        <a:t>Event-driven Capabilities</a:t>
                      </a:r>
                      <a:endParaRPr lang="en-GB" sz="1400" b="1"/>
                    </a:p>
                  </a:txBody>
                  <a:tcPr/>
                </a:tc>
                <a:tc>
                  <a:txBody>
                    <a:bodyPr/>
                    <a:lstStyle/>
                    <a:p>
                      <a:pPr lvl="0" algn="ctr">
                        <a:buNone/>
                      </a:pPr>
                      <a:r>
                        <a:rPr lang="en-GB" sz="1400" b="1" i="0" u="none" strike="noStrike" noProof="0">
                          <a:latin typeface="Gill Sans MT"/>
                        </a:rPr>
                        <a:t>Multi-core Support</a:t>
                      </a:r>
                      <a:endParaRPr lang="en-GB" sz="1400" b="1"/>
                    </a:p>
                  </a:txBody>
                  <a:tcPr/>
                </a:tc>
                <a:tc>
                  <a:txBody>
                    <a:bodyPr/>
                    <a:lstStyle/>
                    <a:p>
                      <a:pPr lvl="0" algn="ctr">
                        <a:buNone/>
                      </a:pPr>
                      <a:r>
                        <a:rPr lang="en-GB" sz="1400" b="1" i="0" u="none" strike="noStrike" noProof="0">
                          <a:latin typeface="Gill Sans MT"/>
                        </a:rPr>
                        <a:t>Sparsity Support</a:t>
                      </a:r>
                      <a:endParaRPr lang="en-GB" sz="1400" b="1"/>
                    </a:p>
                  </a:txBody>
                  <a:tcPr/>
                </a:tc>
                <a:tc>
                  <a:txBody>
                    <a:bodyPr/>
                    <a:lstStyle/>
                    <a:p>
                      <a:pPr lvl="0" algn="ctr">
                        <a:buNone/>
                      </a:pPr>
                      <a:r>
                        <a:rPr lang="en-GB" sz="1400" b="1" i="0" u="none" strike="noStrike" noProof="0">
                          <a:latin typeface="Gill Sans MT"/>
                        </a:rPr>
                        <a:t>Framework relationship</a:t>
                      </a:r>
                    </a:p>
                  </a:txBody>
                  <a:tcPr/>
                </a:tc>
                <a:extLst>
                  <a:ext uri="{0D108BD9-81ED-4DB2-BD59-A6C34878D82A}">
                    <a16:rowId xmlns:a16="http://schemas.microsoft.com/office/drawing/2014/main" val="1358492920"/>
                  </a:ext>
                </a:extLst>
              </a:tr>
              <a:tr h="466578">
                <a:tc>
                  <a:txBody>
                    <a:bodyPr/>
                    <a:lstStyle/>
                    <a:p>
                      <a:pPr algn="l"/>
                      <a:r>
                        <a:rPr lang="en-GB" sz="1400" b="0" dirty="0" err="1"/>
                        <a:t>Timeloop</a:t>
                      </a:r>
                      <a:endParaRPr lang="en-GB" sz="1400" b="0" dirty="0"/>
                    </a:p>
                  </a:txBody>
                  <a:tcPr/>
                </a:tc>
                <a:tc>
                  <a:txBody>
                    <a:bodyPr/>
                    <a:lstStyle/>
                    <a:p>
                      <a:pPr algn="ctr"/>
                      <a:r>
                        <a:rPr lang="en-GB" sz="1400" dirty="0"/>
                        <a:t>Dense tensor modelling</a:t>
                      </a:r>
                    </a:p>
                  </a:txBody>
                  <a:tcPr/>
                </a:tc>
                <a:tc>
                  <a:txBody>
                    <a:bodyPr/>
                    <a:lstStyle/>
                    <a:p>
                      <a:pPr marL="0" indent="0" algn="ctr">
                        <a:buNone/>
                      </a:pPr>
                      <a:r>
                        <a:rPr lang="en-GB" sz="1400"/>
                        <a:t>Traditional </a:t>
                      </a:r>
                    </a:p>
                  </a:txBody>
                  <a:tcPr/>
                </a:tc>
                <a:tc>
                  <a:txBody>
                    <a:bodyPr/>
                    <a:lstStyle/>
                    <a:p>
                      <a:pPr algn="ctr"/>
                      <a:r>
                        <a:rPr lang="en-GB" sz="1400"/>
                        <a:t>Single core</a:t>
                      </a:r>
                    </a:p>
                  </a:txBody>
                  <a:tcPr/>
                </a:tc>
                <a:tc>
                  <a:txBody>
                    <a:bodyPr/>
                    <a:lstStyle/>
                    <a:p>
                      <a:pPr algn="ctr"/>
                      <a:r>
                        <a:rPr lang="en-GB" sz="1400"/>
                        <a:t>None</a:t>
                      </a:r>
                    </a:p>
                  </a:txBody>
                  <a:tcPr/>
                </a:tc>
                <a:tc>
                  <a:txBody>
                    <a:bodyPr/>
                    <a:lstStyle/>
                    <a:p>
                      <a:pPr lvl="0" algn="ctr">
                        <a:buNone/>
                      </a:pPr>
                      <a:r>
                        <a:rPr lang="en-GB" sz="1400"/>
                        <a:t>Foundation</a:t>
                      </a:r>
                    </a:p>
                  </a:txBody>
                  <a:tcPr/>
                </a:tc>
                <a:extLst>
                  <a:ext uri="{0D108BD9-81ED-4DB2-BD59-A6C34878D82A}">
                    <a16:rowId xmlns:a16="http://schemas.microsoft.com/office/drawing/2014/main" val="455053848"/>
                  </a:ext>
                </a:extLst>
              </a:tr>
              <a:tr h="466578">
                <a:tc>
                  <a:txBody>
                    <a:bodyPr/>
                    <a:lstStyle/>
                    <a:p>
                      <a:pPr algn="l"/>
                      <a:r>
                        <a:rPr lang="en-GB" sz="1400" b="0"/>
                        <a:t>Zigzag</a:t>
                      </a:r>
                    </a:p>
                  </a:txBody>
                  <a:tcPr/>
                </a:tc>
                <a:tc>
                  <a:txBody>
                    <a:bodyPr/>
                    <a:lstStyle/>
                    <a:p>
                      <a:pPr algn="ctr"/>
                      <a:r>
                        <a:rPr lang="en-GB" sz="1400" dirty="0"/>
                        <a:t>Memory centric DSE</a:t>
                      </a:r>
                    </a:p>
                  </a:txBody>
                  <a:tcPr/>
                </a:tc>
                <a:tc>
                  <a:txBody>
                    <a:bodyPr/>
                    <a:lstStyle/>
                    <a:p>
                      <a:pPr lvl="0" algn="ctr">
                        <a:buNone/>
                      </a:pPr>
                      <a:r>
                        <a:rPr lang="en-GB" sz="1400" b="0" i="0" u="none" strike="noStrike" noProof="0" dirty="0">
                          <a:solidFill>
                            <a:srgbClr val="3C3C3B"/>
                          </a:solidFill>
                          <a:latin typeface="Gill Sans MT"/>
                        </a:rPr>
                        <a:t>Traditional</a:t>
                      </a:r>
                      <a:endParaRPr lang="en-US" dirty="0"/>
                    </a:p>
                  </a:txBody>
                  <a:tcPr/>
                </a:tc>
                <a:tc>
                  <a:txBody>
                    <a:bodyPr/>
                    <a:lstStyle/>
                    <a:p>
                      <a:pPr algn="ctr"/>
                      <a:r>
                        <a:rPr lang="en-GB" sz="1400"/>
                        <a:t>Single core</a:t>
                      </a:r>
                    </a:p>
                  </a:txBody>
                  <a:tcPr/>
                </a:tc>
                <a:tc>
                  <a:txBody>
                    <a:bodyPr/>
                    <a:lstStyle/>
                    <a:p>
                      <a:pPr algn="ctr"/>
                      <a:r>
                        <a:rPr lang="en-GB" sz="1400"/>
                        <a:t>None</a:t>
                      </a:r>
                    </a:p>
                  </a:txBody>
                  <a:tcPr/>
                </a:tc>
                <a:tc>
                  <a:txBody>
                    <a:bodyPr/>
                    <a:lstStyle/>
                    <a:p>
                      <a:pPr lvl="0" algn="ctr">
                        <a:buNone/>
                      </a:pPr>
                      <a:r>
                        <a:rPr lang="en-GB" sz="1400"/>
                        <a:t>Foundation</a:t>
                      </a:r>
                    </a:p>
                  </a:txBody>
                  <a:tcPr/>
                </a:tc>
                <a:extLst>
                  <a:ext uri="{0D108BD9-81ED-4DB2-BD59-A6C34878D82A}">
                    <a16:rowId xmlns:a16="http://schemas.microsoft.com/office/drawing/2014/main" val="11335066"/>
                  </a:ext>
                </a:extLst>
              </a:tr>
              <a:tr h="466578">
                <a:tc>
                  <a:txBody>
                    <a:bodyPr/>
                    <a:lstStyle/>
                    <a:p>
                      <a:pPr algn="l"/>
                      <a:r>
                        <a:rPr lang="en-GB" sz="1400" b="0" err="1"/>
                        <a:t>Convfusion</a:t>
                      </a:r>
                      <a:endParaRPr lang="en-GB" sz="1400" b="0"/>
                    </a:p>
                  </a:txBody>
                  <a:tcPr/>
                </a:tc>
                <a:tc>
                  <a:txBody>
                    <a:bodyPr/>
                    <a:lstStyle/>
                    <a:p>
                      <a:pPr algn="ctr"/>
                      <a:r>
                        <a:rPr lang="en-GB" sz="1400"/>
                        <a:t>Layer fusion optimisation</a:t>
                      </a:r>
                    </a:p>
                  </a:txBody>
                  <a:tcPr/>
                </a:tc>
                <a:tc>
                  <a:txBody>
                    <a:bodyPr/>
                    <a:lstStyle/>
                    <a:p>
                      <a:pPr lvl="0" algn="ctr">
                        <a:buNone/>
                      </a:pPr>
                      <a:r>
                        <a:rPr lang="en-GB" sz="1400" b="0" i="0" u="none" strike="noStrike" noProof="0" dirty="0">
                          <a:solidFill>
                            <a:srgbClr val="3C3C3B"/>
                          </a:solidFill>
                          <a:latin typeface="Gill Sans MT"/>
                        </a:rPr>
                        <a:t>Traditional</a:t>
                      </a:r>
                      <a:endParaRPr lang="en-US" dirty="0"/>
                    </a:p>
                  </a:txBody>
                  <a:tcPr/>
                </a:tc>
                <a:tc>
                  <a:txBody>
                    <a:bodyPr/>
                    <a:lstStyle/>
                    <a:p>
                      <a:pPr algn="ctr"/>
                      <a:r>
                        <a:rPr lang="en-GB" sz="1400" dirty="0"/>
                        <a:t>Single core</a:t>
                      </a:r>
                    </a:p>
                  </a:txBody>
                  <a:tcPr/>
                </a:tc>
                <a:tc>
                  <a:txBody>
                    <a:bodyPr/>
                    <a:lstStyle/>
                    <a:p>
                      <a:pPr algn="ctr"/>
                      <a:r>
                        <a:rPr lang="en-GB" sz="1400"/>
                        <a:t>None</a:t>
                      </a:r>
                    </a:p>
                  </a:txBody>
                  <a:tcPr/>
                </a:tc>
                <a:tc>
                  <a:txBody>
                    <a:bodyPr/>
                    <a:lstStyle/>
                    <a:p>
                      <a:pPr lvl="0" algn="ctr">
                        <a:buNone/>
                      </a:pPr>
                      <a:r>
                        <a:rPr lang="en-GB" sz="1400"/>
                        <a:t>Foundation</a:t>
                      </a:r>
                    </a:p>
                  </a:txBody>
                  <a:tcPr/>
                </a:tc>
                <a:extLst>
                  <a:ext uri="{0D108BD9-81ED-4DB2-BD59-A6C34878D82A}">
                    <a16:rowId xmlns:a16="http://schemas.microsoft.com/office/drawing/2014/main" val="3792455241"/>
                  </a:ext>
                </a:extLst>
              </a:tr>
              <a:tr h="466578">
                <a:tc>
                  <a:txBody>
                    <a:bodyPr/>
                    <a:lstStyle/>
                    <a:p>
                      <a:pPr algn="l"/>
                      <a:r>
                        <a:rPr lang="en-GB" sz="1400" b="0"/>
                        <a:t>Stream</a:t>
                      </a:r>
                    </a:p>
                  </a:txBody>
                  <a:tcPr/>
                </a:tc>
                <a:tc>
                  <a:txBody>
                    <a:bodyPr/>
                    <a:lstStyle/>
                    <a:p>
                      <a:pPr algn="ctr"/>
                      <a:r>
                        <a:rPr lang="en-GB" sz="1400"/>
                        <a:t>Multi-core exploration</a:t>
                      </a:r>
                    </a:p>
                  </a:txBody>
                  <a:tcPr/>
                </a:tc>
                <a:tc>
                  <a:txBody>
                    <a:bodyPr/>
                    <a:lstStyle/>
                    <a:p>
                      <a:pPr lvl="0" algn="ctr">
                        <a:buNone/>
                      </a:pPr>
                      <a:r>
                        <a:rPr lang="en-GB" sz="1400" b="0" i="0" u="none" strike="noStrike" noProof="0">
                          <a:solidFill>
                            <a:srgbClr val="3C3C3B"/>
                          </a:solidFill>
                          <a:latin typeface="Gill Sans MT"/>
                        </a:rPr>
                        <a:t>Traditional</a:t>
                      </a:r>
                      <a:endParaRPr lang="en-US"/>
                    </a:p>
                  </a:txBody>
                  <a:tcPr/>
                </a:tc>
                <a:tc>
                  <a:txBody>
                    <a:bodyPr/>
                    <a:lstStyle/>
                    <a:p>
                      <a:pPr algn="ctr"/>
                      <a:r>
                        <a:rPr lang="en-GB" sz="1400" dirty="0"/>
                        <a:t>Yes</a:t>
                      </a:r>
                    </a:p>
                  </a:txBody>
                  <a:tcPr/>
                </a:tc>
                <a:tc>
                  <a:txBody>
                    <a:bodyPr/>
                    <a:lstStyle/>
                    <a:p>
                      <a:pPr algn="ctr"/>
                      <a:r>
                        <a:rPr lang="en-GB" sz="1400" dirty="0"/>
                        <a:t>None</a:t>
                      </a:r>
                    </a:p>
                  </a:txBody>
                  <a:tcPr/>
                </a:tc>
                <a:tc>
                  <a:txBody>
                    <a:bodyPr/>
                    <a:lstStyle/>
                    <a:p>
                      <a:pPr lvl="0" algn="ctr">
                        <a:buNone/>
                      </a:pPr>
                      <a:r>
                        <a:rPr lang="en-GB" sz="1400"/>
                        <a:t>Built on Zigzag</a:t>
                      </a:r>
                    </a:p>
                  </a:txBody>
                  <a:tcPr/>
                </a:tc>
                <a:extLst>
                  <a:ext uri="{0D108BD9-81ED-4DB2-BD59-A6C34878D82A}">
                    <a16:rowId xmlns:a16="http://schemas.microsoft.com/office/drawing/2014/main" val="3485801249"/>
                  </a:ext>
                </a:extLst>
              </a:tr>
              <a:tr h="466578">
                <a:tc>
                  <a:txBody>
                    <a:bodyPr/>
                    <a:lstStyle/>
                    <a:p>
                      <a:pPr algn="l"/>
                      <a:r>
                        <a:rPr lang="en-GB" sz="1400" b="0" err="1"/>
                        <a:t>Sparseloop</a:t>
                      </a:r>
                      <a:endParaRPr lang="en-GB" sz="1400" b="0"/>
                    </a:p>
                  </a:txBody>
                  <a:tcPr/>
                </a:tc>
                <a:tc>
                  <a:txBody>
                    <a:bodyPr/>
                    <a:lstStyle/>
                    <a:p>
                      <a:pPr lvl="0" algn="ctr">
                        <a:buNone/>
                      </a:pPr>
                      <a:r>
                        <a:rPr lang="en-GB" sz="1400" b="0" i="0" u="none" strike="noStrike" noProof="0">
                          <a:solidFill>
                            <a:srgbClr val="3C3C3B"/>
                          </a:solidFill>
                          <a:latin typeface="Gill Sans MT"/>
                        </a:rPr>
                        <a:t>Sparse tensor modelling</a:t>
                      </a:r>
                      <a:endParaRPr lang="en-US"/>
                    </a:p>
                  </a:txBody>
                  <a:tcPr/>
                </a:tc>
                <a:tc>
                  <a:txBody>
                    <a:bodyPr/>
                    <a:lstStyle/>
                    <a:p>
                      <a:pPr lvl="0" algn="ctr">
                        <a:buNone/>
                      </a:pPr>
                      <a:r>
                        <a:rPr lang="en-GB" sz="1400" b="0" i="0" u="none" strike="noStrike" noProof="0">
                          <a:solidFill>
                            <a:srgbClr val="3C3C3B"/>
                          </a:solidFill>
                          <a:latin typeface="Gill Sans MT"/>
                        </a:rPr>
                        <a:t>Traditional</a:t>
                      </a:r>
                      <a:endParaRPr lang="en-US"/>
                    </a:p>
                  </a:txBody>
                  <a:tcPr/>
                </a:tc>
                <a:tc>
                  <a:txBody>
                    <a:bodyPr/>
                    <a:lstStyle/>
                    <a:p>
                      <a:pPr algn="ctr"/>
                      <a:r>
                        <a:rPr lang="en-GB" sz="1400"/>
                        <a:t>Single core</a:t>
                      </a:r>
                    </a:p>
                  </a:txBody>
                  <a:tcPr/>
                </a:tc>
                <a:tc>
                  <a:txBody>
                    <a:bodyPr/>
                    <a:lstStyle/>
                    <a:p>
                      <a:pPr algn="ctr"/>
                      <a:r>
                        <a:rPr lang="en-GB" sz="1400" dirty="0"/>
                        <a:t>Weight and input sparsity</a:t>
                      </a:r>
                    </a:p>
                  </a:txBody>
                  <a:tcPr/>
                </a:tc>
                <a:tc>
                  <a:txBody>
                    <a:bodyPr/>
                    <a:lstStyle/>
                    <a:p>
                      <a:pPr lvl="0" algn="ctr">
                        <a:buNone/>
                      </a:pPr>
                      <a:r>
                        <a:rPr lang="en-GB" sz="1400" dirty="0"/>
                        <a:t>Built on </a:t>
                      </a:r>
                      <a:r>
                        <a:rPr lang="en-GB" sz="1400" dirty="0" err="1"/>
                        <a:t>Timeloop</a:t>
                      </a:r>
                      <a:endParaRPr lang="en-GB" sz="1400" dirty="0"/>
                    </a:p>
                  </a:txBody>
                  <a:tcPr/>
                </a:tc>
                <a:extLst>
                  <a:ext uri="{0D108BD9-81ED-4DB2-BD59-A6C34878D82A}">
                    <a16:rowId xmlns:a16="http://schemas.microsoft.com/office/drawing/2014/main" val="1223267966"/>
                  </a:ext>
                </a:extLst>
              </a:tr>
            </a:tbl>
          </a:graphicData>
        </a:graphic>
      </p:graphicFrame>
      <p:sp>
        <p:nvSpPr>
          <p:cNvPr id="6" name="Rectangle 5">
            <a:extLst>
              <a:ext uri="{FF2B5EF4-FFF2-40B4-BE49-F238E27FC236}">
                <a16:creationId xmlns:a16="http://schemas.microsoft.com/office/drawing/2014/main" id="{3E4BE009-D50F-D4CB-1010-D4D33313BC34}"/>
              </a:ext>
            </a:extLst>
          </p:cNvPr>
          <p:cNvSpPr/>
          <p:nvPr/>
        </p:nvSpPr>
        <p:spPr>
          <a:xfrm>
            <a:off x="3615505" y="1577275"/>
            <a:ext cx="1157288" cy="2478882"/>
          </a:xfrm>
          <a:prstGeom prst="rect">
            <a:avLst/>
          </a:prstGeom>
          <a:solidFill>
            <a:schemeClr val="accent5">
              <a:lumMod val="20000"/>
              <a:lumOff val="8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b="1">
                <a:solidFill>
                  <a:schemeClr val="tx1"/>
                </a:solidFill>
              </a:rPr>
              <a:t>Frame based dataflow architecture model</a:t>
            </a:r>
          </a:p>
        </p:txBody>
      </p:sp>
      <p:sp>
        <p:nvSpPr>
          <p:cNvPr id="3" name="Rectangle 2">
            <a:extLst>
              <a:ext uri="{FF2B5EF4-FFF2-40B4-BE49-F238E27FC236}">
                <a16:creationId xmlns:a16="http://schemas.microsoft.com/office/drawing/2014/main" id="{B7AF4782-7B39-3634-F646-F9F1ADF77378}"/>
              </a:ext>
            </a:extLst>
          </p:cNvPr>
          <p:cNvSpPr/>
          <p:nvPr/>
        </p:nvSpPr>
        <p:spPr>
          <a:xfrm>
            <a:off x="4819582" y="3129066"/>
            <a:ext cx="1007269" cy="471489"/>
          </a:xfrm>
          <a:prstGeom prst="rect">
            <a:avLst/>
          </a:prstGeom>
          <a:solidFill>
            <a:schemeClr val="accent5">
              <a:lumMod val="20000"/>
              <a:lumOff val="8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b="1">
                <a:solidFill>
                  <a:schemeClr val="tx1"/>
                </a:solidFill>
              </a:rPr>
              <a:t>Multi core frame based dataflow</a:t>
            </a:r>
          </a:p>
        </p:txBody>
      </p:sp>
      <p:sp>
        <p:nvSpPr>
          <p:cNvPr id="8" name="Rectangle 7">
            <a:extLst>
              <a:ext uri="{FF2B5EF4-FFF2-40B4-BE49-F238E27FC236}">
                <a16:creationId xmlns:a16="http://schemas.microsoft.com/office/drawing/2014/main" id="{12C94856-3CC9-A1AC-333E-AC219A778905}"/>
              </a:ext>
            </a:extLst>
          </p:cNvPr>
          <p:cNvSpPr/>
          <p:nvPr/>
        </p:nvSpPr>
        <p:spPr>
          <a:xfrm>
            <a:off x="0" y="2076672"/>
            <a:ext cx="9144001" cy="1319657"/>
          </a:xfrm>
          <a:prstGeom prst="rect">
            <a:avLst/>
          </a:prstGeom>
          <a:gradFill>
            <a:gsLst>
              <a:gs pos="0">
                <a:schemeClr val="accent6"/>
              </a:gs>
              <a:gs pos="60000">
                <a:schemeClr val="tx2"/>
              </a:gs>
            </a:gsLst>
            <a:lin ang="2700000" scaled="0"/>
          </a:gra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marL="0" algn="l" defTabSz="411480" rtl="0" eaLnBrk="1" latinLnBrk="0" hangingPunct="1">
              <a:defRPr sz="1620" kern="1200">
                <a:solidFill>
                  <a:schemeClr val="lt1"/>
                </a:solidFill>
                <a:latin typeface="+mn-lt"/>
                <a:ea typeface="+mn-ea"/>
                <a:cs typeface="+mn-cs"/>
              </a:defRPr>
            </a:lvl1pPr>
            <a:lvl2pPr marL="411480" algn="l" defTabSz="411480" rtl="0" eaLnBrk="1" latinLnBrk="0" hangingPunct="1">
              <a:defRPr sz="1620" kern="1200">
                <a:solidFill>
                  <a:schemeClr val="lt1"/>
                </a:solidFill>
                <a:latin typeface="+mn-lt"/>
                <a:ea typeface="+mn-ea"/>
                <a:cs typeface="+mn-cs"/>
              </a:defRPr>
            </a:lvl2pPr>
            <a:lvl3pPr marL="822960" algn="l" defTabSz="411480" rtl="0" eaLnBrk="1" latinLnBrk="0" hangingPunct="1">
              <a:defRPr sz="1620" kern="1200">
                <a:solidFill>
                  <a:schemeClr val="lt1"/>
                </a:solidFill>
                <a:latin typeface="+mn-lt"/>
                <a:ea typeface="+mn-ea"/>
                <a:cs typeface="+mn-cs"/>
              </a:defRPr>
            </a:lvl3pPr>
            <a:lvl4pPr marL="1234440" algn="l" defTabSz="411480" rtl="0" eaLnBrk="1" latinLnBrk="0" hangingPunct="1">
              <a:defRPr sz="1620" kern="1200">
                <a:solidFill>
                  <a:schemeClr val="lt1"/>
                </a:solidFill>
                <a:latin typeface="+mn-lt"/>
                <a:ea typeface="+mn-ea"/>
                <a:cs typeface="+mn-cs"/>
              </a:defRPr>
            </a:lvl4pPr>
            <a:lvl5pPr marL="1645920" algn="l" defTabSz="411480" rtl="0" eaLnBrk="1" latinLnBrk="0" hangingPunct="1">
              <a:defRPr sz="1620" kern="1200">
                <a:solidFill>
                  <a:schemeClr val="lt1"/>
                </a:solidFill>
                <a:latin typeface="+mn-lt"/>
                <a:ea typeface="+mn-ea"/>
                <a:cs typeface="+mn-cs"/>
              </a:defRPr>
            </a:lvl5pPr>
            <a:lvl6pPr marL="2057400" algn="l" defTabSz="411480" rtl="0" eaLnBrk="1" latinLnBrk="0" hangingPunct="1">
              <a:defRPr sz="1620" kern="1200">
                <a:solidFill>
                  <a:schemeClr val="lt1"/>
                </a:solidFill>
                <a:latin typeface="+mn-lt"/>
                <a:ea typeface="+mn-ea"/>
                <a:cs typeface="+mn-cs"/>
              </a:defRPr>
            </a:lvl6pPr>
            <a:lvl7pPr marL="2468880" algn="l" defTabSz="411480" rtl="0" eaLnBrk="1" latinLnBrk="0" hangingPunct="1">
              <a:defRPr sz="1620" kern="1200">
                <a:solidFill>
                  <a:schemeClr val="lt1"/>
                </a:solidFill>
                <a:latin typeface="+mn-lt"/>
                <a:ea typeface="+mn-ea"/>
                <a:cs typeface="+mn-cs"/>
              </a:defRPr>
            </a:lvl7pPr>
            <a:lvl8pPr marL="2880360" algn="l" defTabSz="411480" rtl="0" eaLnBrk="1" latinLnBrk="0" hangingPunct="1">
              <a:defRPr sz="1620" kern="1200">
                <a:solidFill>
                  <a:schemeClr val="lt1"/>
                </a:solidFill>
                <a:latin typeface="+mn-lt"/>
                <a:ea typeface="+mn-ea"/>
                <a:cs typeface="+mn-cs"/>
              </a:defRPr>
            </a:lvl8pPr>
            <a:lvl9pPr marL="3291840" algn="l" defTabSz="411480" rtl="0" eaLnBrk="1" latinLnBrk="0" hangingPunct="1">
              <a:defRPr sz="1620" kern="1200">
                <a:solidFill>
                  <a:schemeClr val="lt1"/>
                </a:solidFill>
                <a:latin typeface="+mn-lt"/>
                <a:ea typeface="+mn-ea"/>
                <a:cs typeface="+mn-cs"/>
              </a:defRPr>
            </a:lvl9pPr>
          </a:lstStyle>
          <a:p>
            <a:pPr algn="ctr"/>
            <a:r>
              <a:rPr lang="en-US" sz="1600" b="1" dirty="0">
                <a:solidFill>
                  <a:schemeClr val="tx1"/>
                </a:solidFill>
              </a:rPr>
              <a:t>Our goal: </a:t>
            </a:r>
            <a:r>
              <a:rPr lang="en-US" sz="1600" b="1" dirty="0">
                <a:solidFill>
                  <a:schemeClr val="tx1"/>
                </a:solidFill>
                <a:ea typeface="+mn-lt"/>
                <a:cs typeface="+mn-lt"/>
              </a:rPr>
              <a:t> A sparsity-aware, event-driven mapping exploration tool for single-core and multicore design space optimization</a:t>
            </a:r>
            <a:endParaRPr lang="en-US" sz="1600" b="1" dirty="0">
              <a:solidFill>
                <a:schemeClr val="tx1"/>
              </a:solidFill>
            </a:endParaRPr>
          </a:p>
          <a:p>
            <a:pPr marL="285750" indent="-285750" algn="ctr">
              <a:buAutoNum type="arabicPeriod"/>
            </a:pPr>
            <a:endParaRPr lang="en-US" sz="1400" dirty="0"/>
          </a:p>
        </p:txBody>
      </p:sp>
      <p:sp>
        <p:nvSpPr>
          <p:cNvPr id="9" name="TextBox 8">
            <a:extLst>
              <a:ext uri="{FF2B5EF4-FFF2-40B4-BE49-F238E27FC236}">
                <a16:creationId xmlns:a16="http://schemas.microsoft.com/office/drawing/2014/main" id="{20647C3B-D89D-AF61-B843-6CA011FF5FB0}"/>
              </a:ext>
            </a:extLst>
          </p:cNvPr>
          <p:cNvSpPr txBox="1"/>
          <p:nvPr/>
        </p:nvSpPr>
        <p:spPr>
          <a:xfrm>
            <a:off x="195262" y="4266425"/>
            <a:ext cx="8753475" cy="553998"/>
          </a:xfrm>
          <a:prstGeom prst="rect">
            <a:avLst/>
          </a:prstGeom>
          <a:noFill/>
        </p:spPr>
        <p:txBody>
          <a:bodyPr wrap="square" rtlCol="0">
            <a:spAutoFit/>
          </a:bodyPr>
          <a:lstStyle/>
          <a:p>
            <a:r>
              <a:rPr lang="en-GB" sz="600" dirty="0">
                <a:solidFill>
                  <a:schemeClr val="bg2">
                    <a:lumMod val="60000"/>
                    <a:lumOff val="40000"/>
                  </a:schemeClr>
                </a:solidFill>
              </a:rPr>
              <a:t>[1] </a:t>
            </a:r>
            <a:r>
              <a:rPr lang="en-US" sz="600" dirty="0">
                <a:solidFill>
                  <a:schemeClr val="bg2">
                    <a:lumMod val="60000"/>
                    <a:lumOff val="40000"/>
                  </a:schemeClr>
                </a:solidFill>
              </a:rPr>
              <a:t>Parashar et al., "</a:t>
            </a:r>
            <a:r>
              <a:rPr lang="en-US" sz="600" dirty="0" err="1">
                <a:solidFill>
                  <a:schemeClr val="bg2">
                    <a:lumMod val="60000"/>
                    <a:lumOff val="40000"/>
                  </a:schemeClr>
                </a:solidFill>
              </a:rPr>
              <a:t>Timeloop</a:t>
            </a:r>
            <a:r>
              <a:rPr lang="en-US" sz="600" dirty="0">
                <a:solidFill>
                  <a:schemeClr val="bg2">
                    <a:lumMod val="60000"/>
                    <a:lumOff val="40000"/>
                  </a:schemeClr>
                </a:solidFill>
              </a:rPr>
              <a:t>: A Systematic Approach to DNN Accelerator Evaluation," ISPASS 2019</a:t>
            </a:r>
            <a:br>
              <a:rPr lang="en-US" sz="600" dirty="0">
                <a:solidFill>
                  <a:schemeClr val="bg2">
                    <a:lumMod val="60000"/>
                    <a:lumOff val="40000"/>
                  </a:schemeClr>
                </a:solidFill>
              </a:rPr>
            </a:br>
            <a:r>
              <a:rPr lang="en-US" sz="600" dirty="0">
                <a:solidFill>
                  <a:schemeClr val="bg2">
                    <a:lumMod val="60000"/>
                    <a:lumOff val="40000"/>
                  </a:schemeClr>
                </a:solidFill>
              </a:rPr>
              <a:t>[2] Mei et al., "</a:t>
            </a:r>
            <a:r>
              <a:rPr lang="en-US" sz="600" dirty="0" err="1">
                <a:solidFill>
                  <a:schemeClr val="bg2">
                    <a:lumMod val="60000"/>
                    <a:lumOff val="40000"/>
                  </a:schemeClr>
                </a:solidFill>
              </a:rPr>
              <a:t>ZigZag</a:t>
            </a:r>
            <a:r>
              <a:rPr lang="en-US" sz="600" dirty="0">
                <a:solidFill>
                  <a:schemeClr val="bg2">
                    <a:lumMod val="60000"/>
                    <a:lumOff val="40000"/>
                  </a:schemeClr>
                </a:solidFill>
              </a:rPr>
              <a:t>: Enlarging Joint Architecture-Mapping Design Space Exploration for DNN Accelerators," IEEE Trans. Computers 2021</a:t>
            </a:r>
            <a:br>
              <a:rPr lang="en-US" sz="600" dirty="0">
                <a:solidFill>
                  <a:schemeClr val="bg2">
                    <a:lumMod val="60000"/>
                    <a:lumOff val="40000"/>
                  </a:schemeClr>
                </a:solidFill>
              </a:rPr>
            </a:br>
            <a:r>
              <a:rPr lang="en-US" sz="600" dirty="0">
                <a:solidFill>
                  <a:schemeClr val="bg2">
                    <a:lumMod val="60000"/>
                    <a:lumOff val="40000"/>
                  </a:schemeClr>
                </a:solidFill>
              </a:rPr>
              <a:t>[3] </a:t>
            </a:r>
            <a:r>
              <a:rPr lang="en-US" sz="600" dirty="0" err="1">
                <a:solidFill>
                  <a:schemeClr val="bg2">
                    <a:lumMod val="60000"/>
                    <a:lumOff val="40000"/>
                  </a:schemeClr>
                </a:solidFill>
              </a:rPr>
              <a:t>Waeijen</a:t>
            </a:r>
            <a:r>
              <a:rPr lang="en-US" sz="600" dirty="0">
                <a:solidFill>
                  <a:schemeClr val="bg2">
                    <a:lumMod val="60000"/>
                    <a:lumOff val="40000"/>
                  </a:schemeClr>
                </a:solidFill>
              </a:rPr>
              <a:t> et al., "</a:t>
            </a:r>
            <a:r>
              <a:rPr lang="en-US" sz="600" dirty="0" err="1">
                <a:solidFill>
                  <a:schemeClr val="bg2">
                    <a:lumMod val="60000"/>
                    <a:lumOff val="40000"/>
                  </a:schemeClr>
                </a:solidFill>
              </a:rPr>
              <a:t>ConvFusion</a:t>
            </a:r>
            <a:r>
              <a:rPr lang="en-US" sz="600" dirty="0">
                <a:solidFill>
                  <a:schemeClr val="bg2">
                    <a:lumMod val="60000"/>
                    <a:lumOff val="40000"/>
                  </a:schemeClr>
                </a:solidFill>
              </a:rPr>
              <a:t>: A Model for Layer Fusion in Convolutional Neural Networks," IEEE Access 2021</a:t>
            </a:r>
          </a:p>
          <a:p>
            <a:r>
              <a:rPr lang="en-US" sz="600" dirty="0">
                <a:solidFill>
                  <a:schemeClr val="bg2">
                    <a:lumMod val="60000"/>
                    <a:lumOff val="40000"/>
                  </a:schemeClr>
                </a:solidFill>
              </a:rPr>
              <a:t>[4] Symons et al., "Towards Heterogeneous Multi-core Accelerators Exploiting Fine-grained Scheduling of Layer-Fused Deep Neural Networks," </a:t>
            </a:r>
            <a:r>
              <a:rPr lang="en-US" sz="600" dirty="0" err="1">
                <a:solidFill>
                  <a:schemeClr val="bg2">
                    <a:lumMod val="60000"/>
                    <a:lumOff val="40000"/>
                  </a:schemeClr>
                </a:solidFill>
              </a:rPr>
              <a:t>arXiv</a:t>
            </a:r>
            <a:r>
              <a:rPr lang="en-US" sz="600" dirty="0">
                <a:solidFill>
                  <a:schemeClr val="bg2">
                    <a:lumMod val="60000"/>
                    <a:lumOff val="40000"/>
                  </a:schemeClr>
                </a:solidFill>
              </a:rPr>
              <a:t> 2022</a:t>
            </a:r>
            <a:br>
              <a:rPr lang="en-US" sz="600" dirty="0">
                <a:solidFill>
                  <a:schemeClr val="bg2">
                    <a:lumMod val="60000"/>
                    <a:lumOff val="40000"/>
                  </a:schemeClr>
                </a:solidFill>
              </a:rPr>
            </a:br>
            <a:r>
              <a:rPr lang="en-US" sz="600" dirty="0">
                <a:solidFill>
                  <a:schemeClr val="bg2">
                    <a:lumMod val="60000"/>
                    <a:lumOff val="40000"/>
                  </a:schemeClr>
                </a:solidFill>
              </a:rPr>
              <a:t>[5] Wu et al., "</a:t>
            </a:r>
            <a:r>
              <a:rPr lang="en-US" sz="600" dirty="0" err="1">
                <a:solidFill>
                  <a:schemeClr val="bg2">
                    <a:lumMod val="60000"/>
                    <a:lumOff val="40000"/>
                  </a:schemeClr>
                </a:solidFill>
              </a:rPr>
              <a:t>Sparseloop</a:t>
            </a:r>
            <a:r>
              <a:rPr lang="en-US" sz="600" dirty="0">
                <a:solidFill>
                  <a:schemeClr val="bg2">
                    <a:lumMod val="60000"/>
                    <a:lumOff val="40000"/>
                  </a:schemeClr>
                </a:solidFill>
              </a:rPr>
              <a:t>: An Analytical Approach to Sparse Tensor Accelerator Modeling," MICRO 2022</a:t>
            </a:r>
          </a:p>
        </p:txBody>
      </p:sp>
    </p:spTree>
    <p:extLst>
      <p:ext uri="{BB962C8B-B14F-4D97-AF65-F5344CB8AC3E}">
        <p14:creationId xmlns:p14="http://schemas.microsoft.com/office/powerpoint/2010/main" val="818261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arn(inVertical)">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2AB60-9F02-3473-A74C-38B377F0D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5EEAC-D559-26A0-1BE4-4DE3A37E880D}"/>
              </a:ext>
            </a:extLst>
          </p:cNvPr>
          <p:cNvSpPr>
            <a:spLocks noGrp="1"/>
          </p:cNvSpPr>
          <p:nvPr>
            <p:ph type="title"/>
          </p:nvPr>
        </p:nvSpPr>
        <p:spPr>
          <a:xfrm>
            <a:off x="160631" y="395585"/>
            <a:ext cx="8753475" cy="461665"/>
          </a:xfrm>
        </p:spPr>
        <p:txBody>
          <a:bodyPr/>
          <a:lstStyle/>
          <a:p>
            <a:r>
              <a:rPr lang="en-GB" dirty="0"/>
              <a:t>Outline</a:t>
            </a:r>
          </a:p>
        </p:txBody>
      </p:sp>
      <p:sp>
        <p:nvSpPr>
          <p:cNvPr id="4" name="Slide Number Placeholder 3">
            <a:extLst>
              <a:ext uri="{FF2B5EF4-FFF2-40B4-BE49-F238E27FC236}">
                <a16:creationId xmlns:a16="http://schemas.microsoft.com/office/drawing/2014/main" id="{E9427172-1A84-3E8D-DF2D-F4B25ABA26D0}"/>
              </a:ext>
            </a:extLst>
          </p:cNvPr>
          <p:cNvSpPr>
            <a:spLocks noGrp="1"/>
          </p:cNvSpPr>
          <p:nvPr>
            <p:ph type="sldNum" sz="quarter" idx="12"/>
          </p:nvPr>
        </p:nvSpPr>
        <p:spPr/>
        <p:txBody>
          <a:bodyPr/>
          <a:lstStyle/>
          <a:p>
            <a:fld id="{8836216C-5BC3-7C44-80F8-E30864FFC228}" type="slidenum">
              <a:rPr lang="en-US" smtClean="0"/>
              <a:t>15</a:t>
            </a:fld>
            <a:endParaRPr lang="en-US"/>
          </a:p>
        </p:txBody>
      </p:sp>
      <p:sp>
        <p:nvSpPr>
          <p:cNvPr id="7" name="TextBox 6">
            <a:extLst>
              <a:ext uri="{FF2B5EF4-FFF2-40B4-BE49-F238E27FC236}">
                <a16:creationId xmlns:a16="http://schemas.microsoft.com/office/drawing/2014/main" id="{3C767DE7-E102-4DE5-16D2-616AE90E1B52}"/>
              </a:ext>
            </a:extLst>
          </p:cNvPr>
          <p:cNvSpPr txBox="1"/>
          <p:nvPr/>
        </p:nvSpPr>
        <p:spPr>
          <a:xfrm>
            <a:off x="272374" y="857250"/>
            <a:ext cx="8641732" cy="2554545"/>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000">
                <a:solidFill>
                  <a:schemeClr val="bg2">
                    <a:lumMod val="60000"/>
                    <a:lumOff val="40000"/>
                  </a:schemeClr>
                </a:solidFill>
              </a:rPr>
              <a:t>Introduction</a:t>
            </a:r>
          </a:p>
          <a:p>
            <a:pPr marL="457200" indent="-457200">
              <a:buFont typeface="Arial" panose="020B0604020202020204" pitchFamily="34" charset="0"/>
              <a:buChar char="•"/>
            </a:pPr>
            <a:r>
              <a:rPr lang="en-US" sz="2000">
                <a:solidFill>
                  <a:schemeClr val="bg2">
                    <a:lumMod val="60000"/>
                    <a:lumOff val="40000"/>
                  </a:schemeClr>
                </a:solidFill>
              </a:rPr>
              <a:t>Background</a:t>
            </a:r>
          </a:p>
          <a:p>
            <a:pPr marL="868680" lvl="1" indent="-457200">
              <a:buFont typeface="Courier New" panose="020B0604020202020204" pitchFamily="34" charset="0"/>
              <a:buChar char="o"/>
            </a:pPr>
            <a:r>
              <a:rPr lang="en-US" sz="2000">
                <a:solidFill>
                  <a:schemeClr val="bg2">
                    <a:lumMod val="60000"/>
                    <a:lumOff val="40000"/>
                  </a:schemeClr>
                </a:solidFill>
              </a:rPr>
              <a:t>Exploration process</a:t>
            </a:r>
          </a:p>
          <a:p>
            <a:pPr marL="868680" lvl="1" indent="-457200">
              <a:buFont typeface="Courier New" panose="020B0604020202020204" pitchFamily="34" charset="0"/>
              <a:buChar char="o"/>
            </a:pPr>
            <a:r>
              <a:rPr lang="en-US" sz="2000">
                <a:solidFill>
                  <a:schemeClr val="bg2">
                    <a:lumMod val="60000"/>
                    <a:lumOff val="40000"/>
                  </a:schemeClr>
                </a:solidFill>
              </a:rPr>
              <a:t>Different dataflow strategies</a:t>
            </a:r>
          </a:p>
          <a:p>
            <a:pPr marL="457200" indent="-457200">
              <a:buFont typeface="Arial" panose="020B0604020202020204" pitchFamily="34" charset="0"/>
              <a:buChar char="•"/>
            </a:pPr>
            <a:r>
              <a:rPr lang="en-US" sz="2000">
                <a:solidFill>
                  <a:schemeClr val="bg2">
                    <a:lumMod val="60000"/>
                    <a:lumOff val="40000"/>
                  </a:schemeClr>
                </a:solidFill>
              </a:rPr>
              <a:t>Related work</a:t>
            </a:r>
          </a:p>
          <a:p>
            <a:pPr marL="457200" indent="-457200">
              <a:buFont typeface="Arial" panose="020B0604020202020204" pitchFamily="34" charset="0"/>
              <a:buChar char="•"/>
            </a:pPr>
            <a:r>
              <a:rPr lang="en-US" sz="2000"/>
              <a:t>Thesis Contribution &amp; Proposed AeDAM framework</a:t>
            </a:r>
            <a:r>
              <a:rPr lang="en-US" sz="2000">
                <a:solidFill>
                  <a:schemeClr val="bg2">
                    <a:lumMod val="60000"/>
                    <a:lumOff val="40000"/>
                  </a:schemeClr>
                </a:solidFill>
              </a:rPr>
              <a:t> </a:t>
            </a:r>
          </a:p>
          <a:p>
            <a:pPr marL="457200" indent="-457200">
              <a:buFont typeface="Arial" panose="020B0604020202020204" pitchFamily="34" charset="0"/>
              <a:buChar char="•"/>
            </a:pPr>
            <a:r>
              <a:rPr lang="en-US" sz="2000">
                <a:solidFill>
                  <a:schemeClr val="bg2">
                    <a:lumMod val="60000"/>
                    <a:lumOff val="40000"/>
                  </a:schemeClr>
                </a:solidFill>
              </a:rPr>
              <a:t>Results </a:t>
            </a:r>
          </a:p>
          <a:p>
            <a:pPr marL="457200" indent="-457200">
              <a:buFont typeface="Arial" panose="020B0604020202020204" pitchFamily="34" charset="0"/>
              <a:buChar char="•"/>
            </a:pPr>
            <a:r>
              <a:rPr lang="en-US" sz="2000">
                <a:solidFill>
                  <a:schemeClr val="bg2">
                    <a:lumMod val="60000"/>
                    <a:lumOff val="40000"/>
                  </a:schemeClr>
                </a:solidFill>
              </a:rPr>
              <a:t>Conclusion and Future Work</a:t>
            </a:r>
            <a:r>
              <a:rPr lang="en-US" sz="2000"/>
              <a:t> </a:t>
            </a:r>
          </a:p>
        </p:txBody>
      </p:sp>
    </p:spTree>
    <p:extLst>
      <p:ext uri="{BB962C8B-B14F-4D97-AF65-F5344CB8AC3E}">
        <p14:creationId xmlns:p14="http://schemas.microsoft.com/office/powerpoint/2010/main" val="501043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DA781-F4C5-6476-B90C-481429408E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26748-D225-F631-CF46-0FC3F44B2B2D}"/>
              </a:ext>
            </a:extLst>
          </p:cNvPr>
          <p:cNvSpPr>
            <a:spLocks noGrp="1"/>
          </p:cNvSpPr>
          <p:nvPr>
            <p:ph type="title"/>
          </p:nvPr>
        </p:nvSpPr>
        <p:spPr/>
        <p:txBody>
          <a:bodyPr/>
          <a:lstStyle/>
          <a:p>
            <a:r>
              <a:rPr lang="en-GB"/>
              <a:t>Thesis Contributions: Overview</a:t>
            </a:r>
            <a:endParaRPr lang="en-IN"/>
          </a:p>
        </p:txBody>
      </p:sp>
      <p:sp>
        <p:nvSpPr>
          <p:cNvPr id="4" name="Slide Number Placeholder 3">
            <a:extLst>
              <a:ext uri="{FF2B5EF4-FFF2-40B4-BE49-F238E27FC236}">
                <a16:creationId xmlns:a16="http://schemas.microsoft.com/office/drawing/2014/main" id="{28440AED-70BC-8FD9-27F6-3CB0FED1843A}"/>
              </a:ext>
            </a:extLst>
          </p:cNvPr>
          <p:cNvSpPr>
            <a:spLocks noGrp="1"/>
          </p:cNvSpPr>
          <p:nvPr>
            <p:ph type="sldNum" sz="quarter" idx="12"/>
          </p:nvPr>
        </p:nvSpPr>
        <p:spPr/>
        <p:txBody>
          <a:bodyPr/>
          <a:lstStyle/>
          <a:p>
            <a:fld id="{8836216C-5BC3-7C44-80F8-E30864FFC228}" type="slidenum">
              <a:rPr lang="en-US" smtClean="0"/>
              <a:t>16</a:t>
            </a:fld>
            <a:endParaRPr lang="en-US"/>
          </a:p>
        </p:txBody>
      </p:sp>
      <p:sp>
        <p:nvSpPr>
          <p:cNvPr id="6" name="Rectangle: Rounded Corners 5">
            <a:extLst>
              <a:ext uri="{FF2B5EF4-FFF2-40B4-BE49-F238E27FC236}">
                <a16:creationId xmlns:a16="http://schemas.microsoft.com/office/drawing/2014/main" id="{EFFCBE83-635E-1941-26E3-122F26C756DE}"/>
              </a:ext>
            </a:extLst>
          </p:cNvPr>
          <p:cNvSpPr/>
          <p:nvPr/>
        </p:nvSpPr>
        <p:spPr>
          <a:xfrm>
            <a:off x="221158" y="1196863"/>
            <a:ext cx="2023124" cy="757382"/>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7" name="Rectangle: Rounded Corners 6">
            <a:extLst>
              <a:ext uri="{FF2B5EF4-FFF2-40B4-BE49-F238E27FC236}">
                <a16:creationId xmlns:a16="http://schemas.microsoft.com/office/drawing/2014/main" id="{48440A83-EB7E-F534-855C-C3F63F4C8FAE}"/>
              </a:ext>
            </a:extLst>
          </p:cNvPr>
          <p:cNvSpPr/>
          <p:nvPr/>
        </p:nvSpPr>
        <p:spPr>
          <a:xfrm>
            <a:off x="221158" y="2085989"/>
            <a:ext cx="2023124" cy="702299"/>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8" name="Rectangle: Rounded Corners 7">
            <a:extLst>
              <a:ext uri="{FF2B5EF4-FFF2-40B4-BE49-F238E27FC236}">
                <a16:creationId xmlns:a16="http://schemas.microsoft.com/office/drawing/2014/main" id="{78AED525-7303-958A-6735-6FDD31EEAB7C}"/>
              </a:ext>
            </a:extLst>
          </p:cNvPr>
          <p:cNvSpPr/>
          <p:nvPr/>
        </p:nvSpPr>
        <p:spPr>
          <a:xfrm>
            <a:off x="221157" y="2988886"/>
            <a:ext cx="2023127" cy="750496"/>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9" name="Rectangle 8">
            <a:extLst>
              <a:ext uri="{FF2B5EF4-FFF2-40B4-BE49-F238E27FC236}">
                <a16:creationId xmlns:a16="http://schemas.microsoft.com/office/drawing/2014/main" id="{F83E861F-ECCB-43CB-F125-ED1E2E512BD8}"/>
              </a:ext>
            </a:extLst>
          </p:cNvPr>
          <p:cNvSpPr/>
          <p:nvPr/>
        </p:nvSpPr>
        <p:spPr>
          <a:xfrm>
            <a:off x="2662381" y="1951986"/>
            <a:ext cx="4045527" cy="1025375"/>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10" name="Rectangle: Rounded Corners 9">
            <a:extLst>
              <a:ext uri="{FF2B5EF4-FFF2-40B4-BE49-F238E27FC236}">
                <a16:creationId xmlns:a16="http://schemas.microsoft.com/office/drawing/2014/main" id="{3FA32D98-FE86-0952-D567-15BA7F6A7256}"/>
              </a:ext>
            </a:extLst>
          </p:cNvPr>
          <p:cNvSpPr/>
          <p:nvPr/>
        </p:nvSpPr>
        <p:spPr>
          <a:xfrm>
            <a:off x="5547878" y="2150360"/>
            <a:ext cx="1089891" cy="638161"/>
          </a:xfrm>
          <a:prstGeom prst="roundRect">
            <a:avLst/>
          </a:prstGeom>
          <a:solidFill>
            <a:srgbClr val="92D050"/>
          </a:solidFill>
          <a:ln>
            <a:solidFill>
              <a:srgbClr val="CCCC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11" name="Rectangle: Rounded Corners 10">
            <a:extLst>
              <a:ext uri="{FF2B5EF4-FFF2-40B4-BE49-F238E27FC236}">
                <a16:creationId xmlns:a16="http://schemas.microsoft.com/office/drawing/2014/main" id="{558CD59D-A429-C391-B5E2-55398552ED4B}"/>
              </a:ext>
            </a:extLst>
          </p:cNvPr>
          <p:cNvSpPr/>
          <p:nvPr/>
        </p:nvSpPr>
        <p:spPr>
          <a:xfrm>
            <a:off x="4140200" y="2169409"/>
            <a:ext cx="1089891" cy="638161"/>
          </a:xfrm>
          <a:prstGeom prst="roundRect">
            <a:avLst/>
          </a:prstGeom>
          <a:solidFill>
            <a:schemeClr val="accent1"/>
          </a:solidFill>
          <a:ln>
            <a:solidFill>
              <a:srgbClr val="33C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12" name="Rectangle: Rounded Corners 11">
            <a:extLst>
              <a:ext uri="{FF2B5EF4-FFF2-40B4-BE49-F238E27FC236}">
                <a16:creationId xmlns:a16="http://schemas.microsoft.com/office/drawing/2014/main" id="{5473B892-328A-9B79-E214-07C6B81DD616}"/>
              </a:ext>
            </a:extLst>
          </p:cNvPr>
          <p:cNvSpPr/>
          <p:nvPr/>
        </p:nvSpPr>
        <p:spPr>
          <a:xfrm>
            <a:off x="2735805" y="2143572"/>
            <a:ext cx="1089891" cy="638161"/>
          </a:xfrm>
          <a:prstGeom prst="roundRect">
            <a:avLst/>
          </a:prstGeom>
          <a:solidFill>
            <a:schemeClr val="accent3"/>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IN" sz="1400"/>
          </a:p>
        </p:txBody>
      </p:sp>
      <p:sp>
        <p:nvSpPr>
          <p:cNvPr id="14" name="TextBox 13">
            <a:extLst>
              <a:ext uri="{FF2B5EF4-FFF2-40B4-BE49-F238E27FC236}">
                <a16:creationId xmlns:a16="http://schemas.microsoft.com/office/drawing/2014/main" id="{F380A967-C75B-6550-28B6-E0FAF021DD55}"/>
              </a:ext>
            </a:extLst>
          </p:cNvPr>
          <p:cNvSpPr txBox="1"/>
          <p:nvPr/>
        </p:nvSpPr>
        <p:spPr>
          <a:xfrm>
            <a:off x="5541690" y="2266257"/>
            <a:ext cx="1089891" cy="400110"/>
          </a:xfrm>
          <a:prstGeom prst="rect">
            <a:avLst/>
          </a:prstGeom>
          <a:noFill/>
        </p:spPr>
        <p:txBody>
          <a:bodyPr wrap="square" lIns="91440" tIns="45720" rIns="91440" bIns="45720" rtlCol="0" anchor="t">
            <a:spAutoFit/>
          </a:bodyPr>
          <a:lstStyle/>
          <a:p>
            <a:pPr algn="ctr"/>
            <a:r>
              <a:rPr lang="en-GB" sz="1000" b="1">
                <a:solidFill>
                  <a:schemeClr val="bg1"/>
                </a:solidFill>
              </a:rPr>
              <a:t>Sparsity awareness</a:t>
            </a:r>
            <a:endParaRPr lang="en-IN" sz="1000" b="1">
              <a:solidFill>
                <a:schemeClr val="bg1"/>
              </a:solidFill>
            </a:endParaRPr>
          </a:p>
        </p:txBody>
      </p:sp>
      <p:sp>
        <p:nvSpPr>
          <p:cNvPr id="16" name="TextBox 15">
            <a:extLst>
              <a:ext uri="{FF2B5EF4-FFF2-40B4-BE49-F238E27FC236}">
                <a16:creationId xmlns:a16="http://schemas.microsoft.com/office/drawing/2014/main" id="{2FF061D2-B208-2C78-349E-DC031DDB2046}"/>
              </a:ext>
            </a:extLst>
          </p:cNvPr>
          <p:cNvSpPr txBox="1"/>
          <p:nvPr/>
        </p:nvSpPr>
        <p:spPr>
          <a:xfrm>
            <a:off x="4091667" y="2272122"/>
            <a:ext cx="1186873" cy="400110"/>
          </a:xfrm>
          <a:prstGeom prst="rect">
            <a:avLst/>
          </a:prstGeom>
          <a:noFill/>
        </p:spPr>
        <p:txBody>
          <a:bodyPr wrap="square" lIns="91440" tIns="45720" rIns="91440" bIns="45720" rtlCol="0" anchor="t">
            <a:spAutoFit/>
          </a:bodyPr>
          <a:lstStyle/>
          <a:p>
            <a:pPr algn="ctr"/>
            <a:r>
              <a:rPr lang="en-GB" sz="1000" b="1">
                <a:solidFill>
                  <a:schemeClr val="bg1"/>
                </a:solidFill>
              </a:rPr>
              <a:t>Multi core</a:t>
            </a:r>
            <a:br>
              <a:rPr lang="en-GB" sz="1000" b="1">
                <a:solidFill>
                  <a:schemeClr val="bg1"/>
                </a:solidFill>
              </a:rPr>
            </a:br>
            <a:r>
              <a:rPr lang="en-GB" sz="1000" b="1">
                <a:solidFill>
                  <a:schemeClr val="bg1"/>
                </a:solidFill>
              </a:rPr>
              <a:t>exploration</a:t>
            </a:r>
            <a:endParaRPr lang="en-IN" sz="1000" b="1">
              <a:solidFill>
                <a:schemeClr val="bg1"/>
              </a:solidFill>
            </a:endParaRPr>
          </a:p>
        </p:txBody>
      </p:sp>
      <p:sp>
        <p:nvSpPr>
          <p:cNvPr id="18" name="TextBox 17">
            <a:extLst>
              <a:ext uri="{FF2B5EF4-FFF2-40B4-BE49-F238E27FC236}">
                <a16:creationId xmlns:a16="http://schemas.microsoft.com/office/drawing/2014/main" id="{5556DDB5-A2B0-4979-CE97-4CE6277898A9}"/>
              </a:ext>
            </a:extLst>
          </p:cNvPr>
          <p:cNvSpPr txBox="1"/>
          <p:nvPr/>
        </p:nvSpPr>
        <p:spPr>
          <a:xfrm>
            <a:off x="2733641" y="2218370"/>
            <a:ext cx="1096776" cy="507831"/>
          </a:xfrm>
          <a:prstGeom prst="rect">
            <a:avLst/>
          </a:prstGeom>
          <a:noFill/>
        </p:spPr>
        <p:txBody>
          <a:bodyPr wrap="square" lIns="91440" tIns="45720" rIns="91440" bIns="45720" rtlCol="0" anchor="t">
            <a:spAutoFit/>
          </a:bodyPr>
          <a:lstStyle/>
          <a:p>
            <a:pPr algn="ctr"/>
            <a:r>
              <a:rPr lang="en-GB" sz="900" b="1" dirty="0">
                <a:solidFill>
                  <a:schemeClr val="bg1"/>
                </a:solidFill>
              </a:rPr>
              <a:t>Event driven core</a:t>
            </a:r>
            <a:br>
              <a:rPr lang="en-GB" sz="900" b="1" dirty="0">
                <a:solidFill>
                  <a:schemeClr val="bg1"/>
                </a:solidFill>
              </a:rPr>
            </a:br>
            <a:r>
              <a:rPr lang="en-GB" sz="900" b="1" dirty="0">
                <a:solidFill>
                  <a:schemeClr val="bg1"/>
                </a:solidFill>
              </a:rPr>
              <a:t>modelling</a:t>
            </a:r>
            <a:endParaRPr lang="en-IN" sz="900" b="1" dirty="0">
              <a:solidFill>
                <a:schemeClr val="bg1"/>
              </a:solidFill>
            </a:endParaRPr>
          </a:p>
        </p:txBody>
      </p:sp>
      <p:sp>
        <p:nvSpPr>
          <p:cNvPr id="19" name="Rectangle: Rounded Corners 18">
            <a:extLst>
              <a:ext uri="{FF2B5EF4-FFF2-40B4-BE49-F238E27FC236}">
                <a16:creationId xmlns:a16="http://schemas.microsoft.com/office/drawing/2014/main" id="{4062CB1F-18B6-9D4B-273B-0204D1911294}"/>
              </a:ext>
            </a:extLst>
          </p:cNvPr>
          <p:cNvSpPr/>
          <p:nvPr/>
        </p:nvSpPr>
        <p:spPr>
          <a:xfrm>
            <a:off x="7102639" y="2037791"/>
            <a:ext cx="1823443" cy="757382"/>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20" name="TextBox 19">
            <a:extLst>
              <a:ext uri="{FF2B5EF4-FFF2-40B4-BE49-F238E27FC236}">
                <a16:creationId xmlns:a16="http://schemas.microsoft.com/office/drawing/2014/main" id="{C1D6F20A-6683-20F5-14B5-399FA67A19D8}"/>
              </a:ext>
            </a:extLst>
          </p:cNvPr>
          <p:cNvSpPr txBox="1"/>
          <p:nvPr/>
        </p:nvSpPr>
        <p:spPr>
          <a:xfrm>
            <a:off x="7105459" y="2203770"/>
            <a:ext cx="741056" cy="553998"/>
          </a:xfrm>
          <a:prstGeom prst="rect">
            <a:avLst/>
          </a:prstGeom>
          <a:noFill/>
        </p:spPr>
        <p:txBody>
          <a:bodyPr wrap="square" lIns="91440" tIns="45720" rIns="91440" bIns="45720" rtlCol="0" anchor="t">
            <a:spAutoFit/>
          </a:bodyPr>
          <a:lstStyle/>
          <a:p>
            <a:pPr algn="ctr"/>
            <a:r>
              <a:rPr lang="en-IN" sz="1000" b="1" dirty="0">
                <a:solidFill>
                  <a:schemeClr val="tx1">
                    <a:lumMod val="50000"/>
                  </a:schemeClr>
                </a:solidFill>
              </a:rPr>
              <a:t>Final mapping Schedule</a:t>
            </a:r>
          </a:p>
        </p:txBody>
      </p:sp>
      <p:sp>
        <p:nvSpPr>
          <p:cNvPr id="3" name="Rectangle: Rounded Corners 2">
            <a:extLst>
              <a:ext uri="{FF2B5EF4-FFF2-40B4-BE49-F238E27FC236}">
                <a16:creationId xmlns:a16="http://schemas.microsoft.com/office/drawing/2014/main" id="{01CC72AB-7C7E-D4F8-BF8B-33EA2B810C62}"/>
              </a:ext>
            </a:extLst>
          </p:cNvPr>
          <p:cNvSpPr/>
          <p:nvPr/>
        </p:nvSpPr>
        <p:spPr>
          <a:xfrm>
            <a:off x="7125471" y="2912044"/>
            <a:ext cx="1795900" cy="826236"/>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15" name="TextBox 14">
            <a:extLst>
              <a:ext uri="{FF2B5EF4-FFF2-40B4-BE49-F238E27FC236}">
                <a16:creationId xmlns:a16="http://schemas.microsoft.com/office/drawing/2014/main" id="{FFF6DF45-EB88-1032-BA5F-6BEC6DCCB52B}"/>
              </a:ext>
            </a:extLst>
          </p:cNvPr>
          <p:cNvSpPr txBox="1"/>
          <p:nvPr/>
        </p:nvSpPr>
        <p:spPr>
          <a:xfrm>
            <a:off x="7077115" y="3112991"/>
            <a:ext cx="962984" cy="400110"/>
          </a:xfrm>
          <a:prstGeom prst="rect">
            <a:avLst/>
          </a:prstGeom>
          <a:noFill/>
        </p:spPr>
        <p:txBody>
          <a:bodyPr wrap="square" lIns="91440" tIns="45720" rIns="91440" bIns="45720" rtlCol="0" anchor="t">
            <a:spAutoFit/>
          </a:bodyPr>
          <a:lstStyle/>
          <a:p>
            <a:pPr algn="ctr"/>
            <a:r>
              <a:rPr lang="en-GB" sz="1000" b="1" dirty="0">
                <a:solidFill>
                  <a:srgbClr val="1A1A1A"/>
                </a:solidFill>
              </a:rPr>
              <a:t>Resource Utilizations</a:t>
            </a:r>
          </a:p>
        </p:txBody>
      </p:sp>
      <p:sp>
        <p:nvSpPr>
          <p:cNvPr id="17" name="Rectangle: Rounded Corners 16">
            <a:extLst>
              <a:ext uri="{FF2B5EF4-FFF2-40B4-BE49-F238E27FC236}">
                <a16:creationId xmlns:a16="http://schemas.microsoft.com/office/drawing/2014/main" id="{7E13EAF0-D8EA-5D23-351A-65B3F5450201}"/>
              </a:ext>
            </a:extLst>
          </p:cNvPr>
          <p:cNvSpPr/>
          <p:nvPr/>
        </p:nvSpPr>
        <p:spPr>
          <a:xfrm>
            <a:off x="7132355" y="1198849"/>
            <a:ext cx="1789017" cy="757383"/>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21" name="TextBox 20">
            <a:extLst>
              <a:ext uri="{FF2B5EF4-FFF2-40B4-BE49-F238E27FC236}">
                <a16:creationId xmlns:a16="http://schemas.microsoft.com/office/drawing/2014/main" id="{F47237BC-F950-7D04-5AA6-0214D5DB9F02}"/>
              </a:ext>
            </a:extLst>
          </p:cNvPr>
          <p:cNvSpPr txBox="1"/>
          <p:nvPr/>
        </p:nvSpPr>
        <p:spPr>
          <a:xfrm>
            <a:off x="7153175" y="1286956"/>
            <a:ext cx="796237" cy="600164"/>
          </a:xfrm>
          <a:prstGeom prst="rect">
            <a:avLst/>
          </a:prstGeom>
          <a:noFill/>
        </p:spPr>
        <p:txBody>
          <a:bodyPr wrap="square" lIns="91440" tIns="45720" rIns="91440" bIns="45720" rtlCol="0" anchor="t">
            <a:spAutoFit/>
          </a:bodyPr>
          <a:lstStyle/>
          <a:p>
            <a:pPr algn="ctr"/>
            <a:r>
              <a:rPr lang="en-GB" sz="1100" dirty="0">
                <a:solidFill>
                  <a:srgbClr val="1A1A1A"/>
                </a:solidFill>
                <a:effectLst/>
              </a:rPr>
              <a:t> </a:t>
            </a:r>
            <a:r>
              <a:rPr lang="en-GB" sz="1100" b="1" dirty="0">
                <a:solidFill>
                  <a:srgbClr val="1A1A1A"/>
                </a:solidFill>
                <a:effectLst/>
              </a:rPr>
              <a:t>Energy</a:t>
            </a:r>
            <a:r>
              <a:rPr lang="en-GB" sz="1100" b="1" dirty="0">
                <a:solidFill>
                  <a:srgbClr val="1A1A1A"/>
                </a:solidFill>
              </a:rPr>
              <a:t> and</a:t>
            </a:r>
            <a:r>
              <a:rPr lang="en-GB" sz="1100" b="1" dirty="0">
                <a:solidFill>
                  <a:srgbClr val="1A1A1A"/>
                </a:solidFill>
                <a:effectLst/>
              </a:rPr>
              <a:t> Latency</a:t>
            </a:r>
            <a:endParaRPr lang="en-IN" sz="1100" b="1" dirty="0"/>
          </a:p>
        </p:txBody>
      </p:sp>
      <p:sp>
        <p:nvSpPr>
          <p:cNvPr id="22" name="TextBox 21">
            <a:extLst>
              <a:ext uri="{FF2B5EF4-FFF2-40B4-BE49-F238E27FC236}">
                <a16:creationId xmlns:a16="http://schemas.microsoft.com/office/drawing/2014/main" id="{50A225AC-C267-EBAC-2075-7D5B497F2881}"/>
              </a:ext>
            </a:extLst>
          </p:cNvPr>
          <p:cNvSpPr txBox="1"/>
          <p:nvPr/>
        </p:nvSpPr>
        <p:spPr>
          <a:xfrm>
            <a:off x="28201" y="1379855"/>
            <a:ext cx="1329067" cy="430887"/>
          </a:xfrm>
          <a:prstGeom prst="rect">
            <a:avLst/>
          </a:prstGeom>
          <a:noFill/>
        </p:spPr>
        <p:txBody>
          <a:bodyPr wrap="square" lIns="91440" tIns="45720" rIns="91440" bIns="45720" rtlCol="0" anchor="t">
            <a:spAutoFit/>
          </a:bodyPr>
          <a:lstStyle/>
          <a:p>
            <a:pPr algn="ctr"/>
            <a:r>
              <a:rPr lang="en-GB" sz="1100" b="1" dirty="0"/>
              <a:t>Architecture Configuration</a:t>
            </a:r>
          </a:p>
        </p:txBody>
      </p:sp>
      <p:sp>
        <p:nvSpPr>
          <p:cNvPr id="23" name="TextBox 22">
            <a:extLst>
              <a:ext uri="{FF2B5EF4-FFF2-40B4-BE49-F238E27FC236}">
                <a16:creationId xmlns:a16="http://schemas.microsoft.com/office/drawing/2014/main" id="{0B20F6DA-14D7-9865-ECF4-DCE2EEFEEA3D}"/>
              </a:ext>
            </a:extLst>
          </p:cNvPr>
          <p:cNvSpPr txBox="1"/>
          <p:nvPr/>
        </p:nvSpPr>
        <p:spPr>
          <a:xfrm>
            <a:off x="108127" y="2230327"/>
            <a:ext cx="1184753" cy="430887"/>
          </a:xfrm>
          <a:prstGeom prst="rect">
            <a:avLst/>
          </a:prstGeom>
          <a:noFill/>
        </p:spPr>
        <p:txBody>
          <a:bodyPr wrap="square" lIns="91440" tIns="45720" rIns="91440" bIns="45720" rtlCol="0" anchor="t">
            <a:spAutoFit/>
          </a:bodyPr>
          <a:lstStyle/>
          <a:p>
            <a:pPr algn="ctr"/>
            <a:r>
              <a:rPr lang="en-GB" sz="1100" b="1" dirty="0"/>
              <a:t>Workload</a:t>
            </a:r>
            <a:br>
              <a:rPr lang="en-GB" sz="1100" b="1" dirty="0"/>
            </a:br>
            <a:r>
              <a:rPr lang="en-GB" sz="1100" b="1" dirty="0"/>
              <a:t>Configuration</a:t>
            </a:r>
          </a:p>
        </p:txBody>
      </p:sp>
      <p:sp>
        <p:nvSpPr>
          <p:cNvPr id="24" name="TextBox 23">
            <a:extLst>
              <a:ext uri="{FF2B5EF4-FFF2-40B4-BE49-F238E27FC236}">
                <a16:creationId xmlns:a16="http://schemas.microsoft.com/office/drawing/2014/main" id="{1580EE9F-19DA-6F4F-EA3C-9DFD91F29E30}"/>
              </a:ext>
            </a:extLst>
          </p:cNvPr>
          <p:cNvSpPr txBox="1"/>
          <p:nvPr/>
        </p:nvSpPr>
        <p:spPr>
          <a:xfrm>
            <a:off x="223869" y="3239806"/>
            <a:ext cx="884299" cy="261610"/>
          </a:xfrm>
          <a:prstGeom prst="rect">
            <a:avLst/>
          </a:prstGeom>
          <a:noFill/>
        </p:spPr>
        <p:txBody>
          <a:bodyPr wrap="square" lIns="91440" tIns="45720" rIns="91440" bIns="45720" rtlCol="0" anchor="t">
            <a:spAutoFit/>
          </a:bodyPr>
          <a:lstStyle/>
          <a:p>
            <a:pPr algn="ctr"/>
            <a:r>
              <a:rPr lang="en-GB" sz="1100" b="1" dirty="0"/>
              <a:t>Mapping  </a:t>
            </a:r>
          </a:p>
        </p:txBody>
      </p:sp>
      <p:cxnSp>
        <p:nvCxnSpPr>
          <p:cNvPr id="26" name="Straight Arrow Connector 25">
            <a:extLst>
              <a:ext uri="{FF2B5EF4-FFF2-40B4-BE49-F238E27FC236}">
                <a16:creationId xmlns:a16="http://schemas.microsoft.com/office/drawing/2014/main" id="{CA5CB3EE-5551-7829-8F61-DC6FB775CD39}"/>
              </a:ext>
            </a:extLst>
          </p:cNvPr>
          <p:cNvCxnSpPr>
            <a:cxnSpLocks/>
          </p:cNvCxnSpPr>
          <p:nvPr/>
        </p:nvCxnSpPr>
        <p:spPr>
          <a:xfrm>
            <a:off x="2244282" y="1613425"/>
            <a:ext cx="418099" cy="885677"/>
          </a:xfrm>
          <a:prstGeom prst="bentConnector3">
            <a:avLst>
              <a:gd name="adj1" fmla="val 50000"/>
            </a:avLst>
          </a:prstGeom>
          <a:ln w="31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04D71F16-C4C8-22AA-2B7E-91CD3DE1E33D}"/>
              </a:ext>
            </a:extLst>
          </p:cNvPr>
          <p:cNvCxnSpPr>
            <a:cxnSpLocks/>
          </p:cNvCxnSpPr>
          <p:nvPr/>
        </p:nvCxnSpPr>
        <p:spPr>
          <a:xfrm flipV="1">
            <a:off x="2243837" y="2499102"/>
            <a:ext cx="418544" cy="1075"/>
          </a:xfrm>
          <a:prstGeom prst="straightConnector1">
            <a:avLst/>
          </a:prstGeom>
          <a:ln w="31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B1B769D8-29A3-1EA2-3A38-F07919DB0CB9}"/>
              </a:ext>
            </a:extLst>
          </p:cNvPr>
          <p:cNvCxnSpPr>
            <a:cxnSpLocks/>
          </p:cNvCxnSpPr>
          <p:nvPr/>
        </p:nvCxnSpPr>
        <p:spPr>
          <a:xfrm flipV="1">
            <a:off x="2244282" y="2499102"/>
            <a:ext cx="418099" cy="933887"/>
          </a:xfrm>
          <a:prstGeom prst="bentConnector3">
            <a:avLst>
              <a:gd name="adj1" fmla="val 50000"/>
            </a:avLst>
          </a:prstGeom>
          <a:ln w="31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43" name="Plus Sign 42">
            <a:extLst>
              <a:ext uri="{FF2B5EF4-FFF2-40B4-BE49-F238E27FC236}">
                <a16:creationId xmlns:a16="http://schemas.microsoft.com/office/drawing/2014/main" id="{40CFDC5D-AD44-FFF2-A7FF-C9E4152A407D}"/>
              </a:ext>
            </a:extLst>
          </p:cNvPr>
          <p:cNvSpPr/>
          <p:nvPr/>
        </p:nvSpPr>
        <p:spPr>
          <a:xfrm>
            <a:off x="3825886" y="2306073"/>
            <a:ext cx="335370" cy="332211"/>
          </a:xfrm>
          <a:prstGeom prst="mathPlus">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44" name="Plus Sign 43">
            <a:extLst>
              <a:ext uri="{FF2B5EF4-FFF2-40B4-BE49-F238E27FC236}">
                <a16:creationId xmlns:a16="http://schemas.microsoft.com/office/drawing/2014/main" id="{6C207A9C-AD33-34B5-F4D3-D70C327319AF}"/>
              </a:ext>
            </a:extLst>
          </p:cNvPr>
          <p:cNvSpPr/>
          <p:nvPr/>
        </p:nvSpPr>
        <p:spPr>
          <a:xfrm>
            <a:off x="5210602" y="2306073"/>
            <a:ext cx="335370" cy="332211"/>
          </a:xfrm>
          <a:prstGeom prst="mathPlus">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cxnSp>
        <p:nvCxnSpPr>
          <p:cNvPr id="48" name="Straight Arrow Connector 47">
            <a:extLst>
              <a:ext uri="{FF2B5EF4-FFF2-40B4-BE49-F238E27FC236}">
                <a16:creationId xmlns:a16="http://schemas.microsoft.com/office/drawing/2014/main" id="{DA2AB719-8240-CBC7-ED0C-70A74CD3EDA1}"/>
              </a:ext>
            </a:extLst>
          </p:cNvPr>
          <p:cNvCxnSpPr>
            <a:cxnSpLocks/>
          </p:cNvCxnSpPr>
          <p:nvPr/>
        </p:nvCxnSpPr>
        <p:spPr>
          <a:xfrm flipV="1">
            <a:off x="6707909" y="1600415"/>
            <a:ext cx="417725" cy="871143"/>
          </a:xfrm>
          <a:prstGeom prst="bentConnector3">
            <a:avLst>
              <a:gd name="adj1" fmla="val 50000"/>
            </a:avLst>
          </a:prstGeom>
          <a:ln w="31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AA4F20F6-7906-D70E-ADFD-7DBC4E56DABA}"/>
              </a:ext>
            </a:extLst>
          </p:cNvPr>
          <p:cNvCxnSpPr>
            <a:cxnSpLocks/>
          </p:cNvCxnSpPr>
          <p:nvPr/>
        </p:nvCxnSpPr>
        <p:spPr>
          <a:xfrm flipV="1">
            <a:off x="6701022" y="2469859"/>
            <a:ext cx="418208" cy="1701"/>
          </a:xfrm>
          <a:prstGeom prst="straightConnector1">
            <a:avLst/>
          </a:prstGeom>
          <a:ln w="31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3E69261B-D7A1-C3EF-9CFE-1939ABFC5F69}"/>
              </a:ext>
            </a:extLst>
          </p:cNvPr>
          <p:cNvCxnSpPr>
            <a:cxnSpLocks/>
          </p:cNvCxnSpPr>
          <p:nvPr/>
        </p:nvCxnSpPr>
        <p:spPr>
          <a:xfrm>
            <a:off x="6707908" y="2471558"/>
            <a:ext cx="417563" cy="874259"/>
          </a:xfrm>
          <a:prstGeom prst="bentConnector3">
            <a:avLst>
              <a:gd name="adj1" fmla="val 50000"/>
            </a:avLst>
          </a:prstGeom>
          <a:ln w="31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9C6C516C-A600-1D54-71EC-A6688EA3DA8C}"/>
              </a:ext>
            </a:extLst>
          </p:cNvPr>
          <p:cNvSpPr txBox="1"/>
          <p:nvPr/>
        </p:nvSpPr>
        <p:spPr>
          <a:xfrm>
            <a:off x="900609" y="2986749"/>
            <a:ext cx="1309977" cy="7368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sz="1200" err="1"/>
          </a:p>
        </p:txBody>
      </p:sp>
      <p:sp>
        <p:nvSpPr>
          <p:cNvPr id="37" name="TextBox 36">
            <a:extLst>
              <a:ext uri="{FF2B5EF4-FFF2-40B4-BE49-F238E27FC236}">
                <a16:creationId xmlns:a16="http://schemas.microsoft.com/office/drawing/2014/main" id="{45EFC3C7-5C3F-51D2-26D8-099B514FD4D7}"/>
              </a:ext>
            </a:extLst>
          </p:cNvPr>
          <p:cNvSpPr txBox="1"/>
          <p:nvPr/>
        </p:nvSpPr>
        <p:spPr>
          <a:xfrm>
            <a:off x="1103901" y="3002117"/>
            <a:ext cx="1021792" cy="738664"/>
          </a:xfrm>
          <a:prstGeom prst="rect">
            <a:avLst/>
          </a:prstGeom>
          <a:solidFill>
            <a:schemeClr val="bg2">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 b="1"/>
              <a:t>Spatial unrolling:</a:t>
            </a:r>
          </a:p>
          <a:p>
            <a:r>
              <a:rPr lang="en-GB" sz="600"/>
              <a:t>D1: K,8</a:t>
            </a:r>
            <a:br>
              <a:rPr lang="en-GB" sz="600"/>
            </a:br>
            <a:r>
              <a:rPr lang="en-GB" sz="600" b="1"/>
              <a:t>Temporal ordering:</a:t>
            </a:r>
          </a:p>
          <a:p>
            <a:r>
              <a:rPr lang="en-GB" sz="600"/>
              <a:t>IX,5</a:t>
            </a:r>
          </a:p>
          <a:p>
            <a:r>
              <a:rPr lang="en-GB" sz="600"/>
              <a:t>IY,5</a:t>
            </a:r>
          </a:p>
          <a:p>
            <a:r>
              <a:rPr lang="en-GB" sz="600"/>
              <a:t>FY,3</a:t>
            </a:r>
          </a:p>
          <a:p>
            <a:r>
              <a:rPr lang="en-GB" sz="600"/>
              <a:t>FX,3</a:t>
            </a:r>
          </a:p>
        </p:txBody>
      </p:sp>
      <p:pic>
        <p:nvPicPr>
          <p:cNvPr id="38" name="Picture 37" descr="A close-up of a sign&#10;&#10;AI-generated content may be incorrect.">
            <a:extLst>
              <a:ext uri="{FF2B5EF4-FFF2-40B4-BE49-F238E27FC236}">
                <a16:creationId xmlns:a16="http://schemas.microsoft.com/office/drawing/2014/main" id="{E00DB7AE-672E-7052-9FB8-4D764C29C5DA}"/>
              </a:ext>
            </a:extLst>
          </p:cNvPr>
          <p:cNvPicPr>
            <a:picLocks noChangeAspect="1"/>
          </p:cNvPicPr>
          <p:nvPr/>
        </p:nvPicPr>
        <p:blipFill>
          <a:blip r:embed="rId3"/>
          <a:stretch>
            <a:fillRect/>
          </a:stretch>
        </p:blipFill>
        <p:spPr>
          <a:xfrm>
            <a:off x="1129230" y="2354621"/>
            <a:ext cx="1081030" cy="96865"/>
          </a:xfrm>
          <a:prstGeom prst="rect">
            <a:avLst/>
          </a:prstGeom>
        </p:spPr>
      </p:pic>
      <p:pic>
        <p:nvPicPr>
          <p:cNvPr id="40" name="Picture 39" descr="A diagram of a computer&#10;&#10;AI-generated content may be incorrect.">
            <a:extLst>
              <a:ext uri="{FF2B5EF4-FFF2-40B4-BE49-F238E27FC236}">
                <a16:creationId xmlns:a16="http://schemas.microsoft.com/office/drawing/2014/main" id="{A1399253-8F17-3B32-99F2-5D9E91BD0E40}"/>
              </a:ext>
            </a:extLst>
          </p:cNvPr>
          <p:cNvPicPr>
            <a:picLocks noChangeAspect="1"/>
          </p:cNvPicPr>
          <p:nvPr/>
        </p:nvPicPr>
        <p:blipFill>
          <a:blip r:embed="rId4"/>
          <a:stretch>
            <a:fillRect/>
          </a:stretch>
        </p:blipFill>
        <p:spPr>
          <a:xfrm>
            <a:off x="1319855" y="1225627"/>
            <a:ext cx="706665" cy="702324"/>
          </a:xfrm>
          <a:prstGeom prst="rect">
            <a:avLst/>
          </a:prstGeom>
        </p:spPr>
      </p:pic>
      <p:pic>
        <p:nvPicPr>
          <p:cNvPr id="47" name="Picture 46" descr="Generated image">
            <a:extLst>
              <a:ext uri="{FF2B5EF4-FFF2-40B4-BE49-F238E27FC236}">
                <a16:creationId xmlns:a16="http://schemas.microsoft.com/office/drawing/2014/main" id="{A2E34959-0DA2-1280-BD7B-62337DD03A94}"/>
              </a:ext>
            </a:extLst>
          </p:cNvPr>
          <p:cNvPicPr>
            <a:picLocks noChangeAspect="1"/>
          </p:cNvPicPr>
          <p:nvPr/>
        </p:nvPicPr>
        <p:blipFill>
          <a:blip r:embed="rId5"/>
          <a:stretch>
            <a:fillRect/>
          </a:stretch>
        </p:blipFill>
        <p:spPr>
          <a:xfrm>
            <a:off x="8116677" y="1317203"/>
            <a:ext cx="567369" cy="519171"/>
          </a:xfrm>
          <a:prstGeom prst="rect">
            <a:avLst/>
          </a:prstGeom>
        </p:spPr>
      </p:pic>
      <p:sp>
        <p:nvSpPr>
          <p:cNvPr id="51" name="TextBox 50">
            <a:extLst>
              <a:ext uri="{FF2B5EF4-FFF2-40B4-BE49-F238E27FC236}">
                <a16:creationId xmlns:a16="http://schemas.microsoft.com/office/drawing/2014/main" id="{E5ADFD5D-71DA-F3E3-05C2-8576C7527C87}"/>
              </a:ext>
            </a:extLst>
          </p:cNvPr>
          <p:cNvSpPr txBox="1"/>
          <p:nvPr/>
        </p:nvSpPr>
        <p:spPr>
          <a:xfrm>
            <a:off x="7949413" y="3005330"/>
            <a:ext cx="889034" cy="646331"/>
          </a:xfrm>
          <a:prstGeom prst="rect">
            <a:avLst/>
          </a:prstGeom>
          <a:solidFill>
            <a:schemeClr val="bg2">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 b="1"/>
              <a:t>Memory utilization</a:t>
            </a:r>
            <a:r>
              <a:rPr lang="en-GB" sz="600"/>
              <a:t>:</a:t>
            </a:r>
          </a:p>
          <a:p>
            <a:r>
              <a:rPr lang="en-GB" sz="600"/>
              <a:t>Inputs: {}</a:t>
            </a:r>
          </a:p>
          <a:p>
            <a:r>
              <a:rPr lang="en-GB" sz="600"/>
              <a:t>Weights: {}</a:t>
            </a:r>
          </a:p>
          <a:p>
            <a:r>
              <a:rPr lang="en-GB" sz="600"/>
              <a:t>Outputs: {}</a:t>
            </a:r>
          </a:p>
          <a:p>
            <a:r>
              <a:rPr lang="en-GB" sz="600" b="1"/>
              <a:t>Spatial utilisation</a:t>
            </a:r>
            <a:r>
              <a:rPr lang="en-GB" sz="600"/>
              <a:t>:</a:t>
            </a:r>
          </a:p>
          <a:p>
            <a:r>
              <a:rPr lang="en-GB" sz="600"/>
              <a:t>PE utilisation: {}</a:t>
            </a:r>
            <a:endParaRPr lang="en-US" sz="1600"/>
          </a:p>
        </p:txBody>
      </p:sp>
      <p:pic>
        <p:nvPicPr>
          <p:cNvPr id="53" name="Picture 52" descr="A diagram of a computer process&#10;&#10;AI-generated content may be incorrect.">
            <a:extLst>
              <a:ext uri="{FF2B5EF4-FFF2-40B4-BE49-F238E27FC236}">
                <a16:creationId xmlns:a16="http://schemas.microsoft.com/office/drawing/2014/main" id="{3D72E196-65DB-34FB-7239-A283FBACEFA3}"/>
              </a:ext>
            </a:extLst>
          </p:cNvPr>
          <p:cNvPicPr>
            <a:picLocks noChangeAspect="1"/>
          </p:cNvPicPr>
          <p:nvPr/>
        </p:nvPicPr>
        <p:blipFill>
          <a:blip r:embed="rId6"/>
          <a:stretch>
            <a:fillRect/>
          </a:stretch>
        </p:blipFill>
        <p:spPr>
          <a:xfrm>
            <a:off x="7842633" y="2272290"/>
            <a:ext cx="1074144" cy="282187"/>
          </a:xfrm>
          <a:prstGeom prst="rect">
            <a:avLst/>
          </a:prstGeom>
        </p:spPr>
      </p:pic>
      <p:sp>
        <p:nvSpPr>
          <p:cNvPr id="5" name="Text Placeholder 4">
            <a:extLst>
              <a:ext uri="{FF2B5EF4-FFF2-40B4-BE49-F238E27FC236}">
                <a16:creationId xmlns:a16="http://schemas.microsoft.com/office/drawing/2014/main" id="{872777EC-CF9E-6041-97AC-B55969FE7EB9}"/>
              </a:ext>
            </a:extLst>
          </p:cNvPr>
          <p:cNvSpPr>
            <a:spLocks noGrp="1"/>
          </p:cNvSpPr>
          <p:nvPr>
            <p:ph type="body" sz="quarter" idx="13"/>
          </p:nvPr>
        </p:nvSpPr>
        <p:spPr>
          <a:xfrm>
            <a:off x="221157" y="608843"/>
            <a:ext cx="8753475" cy="369332"/>
          </a:xfrm>
        </p:spPr>
        <p:txBody>
          <a:bodyPr/>
          <a:lstStyle/>
          <a:p>
            <a:r>
              <a:rPr lang="en-US" dirty="0"/>
              <a:t>Comprehensive Event-Driven Architecture Exploration Framework</a:t>
            </a:r>
            <a:endParaRPr lang="en-GB" dirty="0"/>
          </a:p>
        </p:txBody>
      </p:sp>
    </p:spTree>
    <p:extLst>
      <p:ext uri="{BB962C8B-B14F-4D97-AF65-F5344CB8AC3E}">
        <p14:creationId xmlns:p14="http://schemas.microsoft.com/office/powerpoint/2010/main" val="41687586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4"/>
                                        </p:tgtEl>
                                        <p:attrNameLst>
                                          <p:attrName>style.visibility</p:attrName>
                                        </p:attrNameLst>
                                      </p:cBhvr>
                                      <p:to>
                                        <p:strVal val="visible"/>
                                      </p:to>
                                    </p:set>
                                    <p:animEffect transition="in" filter="fade">
                                      <p:cBhvr>
                                        <p:cTn id="24" dur="500"/>
                                        <p:tgtEl>
                                          <p:spTgt spid="4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4" grpId="0"/>
      <p:bldP spid="16" grpId="0"/>
      <p:bldP spid="18" grpId="0"/>
      <p:bldP spid="43" grpId="0" animBg="1"/>
      <p:bldP spid="4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0CACE-3AD4-B625-19DE-A69AE5E1A8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C2CA4D-03C7-DC1B-A862-119B116A945F}"/>
              </a:ext>
            </a:extLst>
          </p:cNvPr>
          <p:cNvSpPr>
            <a:spLocks noGrp="1"/>
          </p:cNvSpPr>
          <p:nvPr>
            <p:ph type="title"/>
          </p:nvPr>
        </p:nvSpPr>
        <p:spPr/>
        <p:txBody>
          <a:bodyPr/>
          <a:lstStyle/>
          <a:p>
            <a:r>
              <a:rPr lang="en-US" dirty="0"/>
              <a:t>AeDAM Implementation Scope</a:t>
            </a:r>
            <a:endParaRPr lang="en-GB" dirty="0"/>
          </a:p>
        </p:txBody>
      </p:sp>
      <p:sp>
        <p:nvSpPr>
          <p:cNvPr id="4" name="Slide Number Placeholder 3">
            <a:extLst>
              <a:ext uri="{FF2B5EF4-FFF2-40B4-BE49-F238E27FC236}">
                <a16:creationId xmlns:a16="http://schemas.microsoft.com/office/drawing/2014/main" id="{5B82BB2F-770D-C98F-2E86-ED8191297282}"/>
              </a:ext>
            </a:extLst>
          </p:cNvPr>
          <p:cNvSpPr>
            <a:spLocks noGrp="1"/>
          </p:cNvSpPr>
          <p:nvPr>
            <p:ph type="sldNum" sz="quarter" idx="12"/>
          </p:nvPr>
        </p:nvSpPr>
        <p:spPr/>
        <p:txBody>
          <a:bodyPr/>
          <a:lstStyle/>
          <a:p>
            <a:fld id="{8836216C-5BC3-7C44-80F8-E30864FFC228}" type="slidenum">
              <a:rPr lang="en-US" smtClean="0"/>
              <a:t>17</a:t>
            </a:fld>
            <a:endParaRPr lang="en-US"/>
          </a:p>
        </p:txBody>
      </p:sp>
      <p:sp>
        <p:nvSpPr>
          <p:cNvPr id="6" name="Rectangle: Rounded Corners 5">
            <a:extLst>
              <a:ext uri="{FF2B5EF4-FFF2-40B4-BE49-F238E27FC236}">
                <a16:creationId xmlns:a16="http://schemas.microsoft.com/office/drawing/2014/main" id="{DA352732-4646-581E-4283-D55F6584B2B2}"/>
              </a:ext>
            </a:extLst>
          </p:cNvPr>
          <p:cNvSpPr/>
          <p:nvPr/>
        </p:nvSpPr>
        <p:spPr>
          <a:xfrm>
            <a:off x="221158" y="1196863"/>
            <a:ext cx="2023124" cy="757382"/>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7" name="Rectangle: Rounded Corners 6">
            <a:extLst>
              <a:ext uri="{FF2B5EF4-FFF2-40B4-BE49-F238E27FC236}">
                <a16:creationId xmlns:a16="http://schemas.microsoft.com/office/drawing/2014/main" id="{E50E89DB-DB37-4DC4-2092-F8EDCF7549EC}"/>
              </a:ext>
            </a:extLst>
          </p:cNvPr>
          <p:cNvSpPr/>
          <p:nvPr/>
        </p:nvSpPr>
        <p:spPr>
          <a:xfrm>
            <a:off x="219748" y="2197669"/>
            <a:ext cx="2023124" cy="702299"/>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8" name="Rectangle: Rounded Corners 7">
            <a:extLst>
              <a:ext uri="{FF2B5EF4-FFF2-40B4-BE49-F238E27FC236}">
                <a16:creationId xmlns:a16="http://schemas.microsoft.com/office/drawing/2014/main" id="{683B1F02-DBF2-841B-4BB2-D5FED82569F8}"/>
              </a:ext>
            </a:extLst>
          </p:cNvPr>
          <p:cNvSpPr/>
          <p:nvPr/>
        </p:nvSpPr>
        <p:spPr>
          <a:xfrm>
            <a:off x="204144" y="3158397"/>
            <a:ext cx="2023127" cy="750496"/>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12" name="Rectangle: Rounded Corners 11">
            <a:extLst>
              <a:ext uri="{FF2B5EF4-FFF2-40B4-BE49-F238E27FC236}">
                <a16:creationId xmlns:a16="http://schemas.microsoft.com/office/drawing/2014/main" id="{28819EC6-C9FA-96C4-85DA-BDDA6E9DB6BB}"/>
              </a:ext>
            </a:extLst>
          </p:cNvPr>
          <p:cNvSpPr/>
          <p:nvPr/>
        </p:nvSpPr>
        <p:spPr>
          <a:xfrm>
            <a:off x="4140559" y="2222300"/>
            <a:ext cx="1089891" cy="638161"/>
          </a:xfrm>
          <a:prstGeom prst="roundRect">
            <a:avLst/>
          </a:prstGeom>
          <a:solidFill>
            <a:schemeClr val="accent3"/>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IN" sz="1400"/>
          </a:p>
        </p:txBody>
      </p:sp>
      <p:sp>
        <p:nvSpPr>
          <p:cNvPr id="18" name="TextBox 17">
            <a:extLst>
              <a:ext uri="{FF2B5EF4-FFF2-40B4-BE49-F238E27FC236}">
                <a16:creationId xmlns:a16="http://schemas.microsoft.com/office/drawing/2014/main" id="{A87F3E6D-28D5-9F0E-7708-54ED76F8766F}"/>
              </a:ext>
            </a:extLst>
          </p:cNvPr>
          <p:cNvSpPr txBox="1"/>
          <p:nvPr/>
        </p:nvSpPr>
        <p:spPr>
          <a:xfrm>
            <a:off x="4140396" y="2276220"/>
            <a:ext cx="1096776" cy="507831"/>
          </a:xfrm>
          <a:prstGeom prst="rect">
            <a:avLst/>
          </a:prstGeom>
          <a:noFill/>
        </p:spPr>
        <p:txBody>
          <a:bodyPr wrap="square" lIns="91440" tIns="45720" rIns="91440" bIns="45720" rtlCol="0" anchor="t">
            <a:spAutoFit/>
          </a:bodyPr>
          <a:lstStyle/>
          <a:p>
            <a:pPr algn="ctr"/>
            <a:r>
              <a:rPr lang="en-GB" sz="900" b="1">
                <a:solidFill>
                  <a:schemeClr val="bg1"/>
                </a:solidFill>
              </a:rPr>
              <a:t>Event driven core</a:t>
            </a:r>
            <a:br>
              <a:rPr lang="en-GB" sz="900" b="1"/>
            </a:br>
            <a:r>
              <a:rPr lang="en-GB" sz="900" b="1">
                <a:solidFill>
                  <a:schemeClr val="bg1"/>
                </a:solidFill>
              </a:rPr>
              <a:t>modelling</a:t>
            </a:r>
            <a:endParaRPr lang="en-IN" sz="900" b="1">
              <a:solidFill>
                <a:schemeClr val="bg1"/>
              </a:solidFill>
            </a:endParaRPr>
          </a:p>
        </p:txBody>
      </p:sp>
      <p:sp>
        <p:nvSpPr>
          <p:cNvPr id="19" name="Rectangle: Rounded Corners 18">
            <a:extLst>
              <a:ext uri="{FF2B5EF4-FFF2-40B4-BE49-F238E27FC236}">
                <a16:creationId xmlns:a16="http://schemas.microsoft.com/office/drawing/2014/main" id="{D40D10B8-286B-C60A-AB5D-4C57D90EBFBE}"/>
              </a:ext>
            </a:extLst>
          </p:cNvPr>
          <p:cNvSpPr/>
          <p:nvPr/>
        </p:nvSpPr>
        <p:spPr>
          <a:xfrm>
            <a:off x="7182648" y="2160786"/>
            <a:ext cx="1823443" cy="757382"/>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20" name="TextBox 19">
            <a:extLst>
              <a:ext uri="{FF2B5EF4-FFF2-40B4-BE49-F238E27FC236}">
                <a16:creationId xmlns:a16="http://schemas.microsoft.com/office/drawing/2014/main" id="{4AB6BA51-E829-2465-AB23-3BC4444BC85D}"/>
              </a:ext>
            </a:extLst>
          </p:cNvPr>
          <p:cNvSpPr txBox="1"/>
          <p:nvPr/>
        </p:nvSpPr>
        <p:spPr>
          <a:xfrm>
            <a:off x="7132519" y="2293153"/>
            <a:ext cx="741056" cy="553998"/>
          </a:xfrm>
          <a:prstGeom prst="rect">
            <a:avLst/>
          </a:prstGeom>
          <a:noFill/>
        </p:spPr>
        <p:txBody>
          <a:bodyPr wrap="square" lIns="91440" tIns="45720" rIns="91440" bIns="45720" rtlCol="0" anchor="t">
            <a:spAutoFit/>
          </a:bodyPr>
          <a:lstStyle/>
          <a:p>
            <a:pPr algn="ctr"/>
            <a:r>
              <a:rPr lang="en-IN" sz="1000" b="1" dirty="0">
                <a:solidFill>
                  <a:schemeClr val="tx1">
                    <a:lumMod val="50000"/>
                  </a:schemeClr>
                </a:solidFill>
              </a:rPr>
              <a:t>Final mapping Schedule</a:t>
            </a:r>
          </a:p>
        </p:txBody>
      </p:sp>
      <p:sp>
        <p:nvSpPr>
          <p:cNvPr id="3" name="Rectangle: Rounded Corners 2">
            <a:extLst>
              <a:ext uri="{FF2B5EF4-FFF2-40B4-BE49-F238E27FC236}">
                <a16:creationId xmlns:a16="http://schemas.microsoft.com/office/drawing/2014/main" id="{AA124BBF-1DFA-AB94-E692-08DE0D496EDE}"/>
              </a:ext>
            </a:extLst>
          </p:cNvPr>
          <p:cNvSpPr/>
          <p:nvPr/>
        </p:nvSpPr>
        <p:spPr>
          <a:xfrm>
            <a:off x="7182648" y="3171182"/>
            <a:ext cx="1795900" cy="826236"/>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15" name="TextBox 14">
            <a:extLst>
              <a:ext uri="{FF2B5EF4-FFF2-40B4-BE49-F238E27FC236}">
                <a16:creationId xmlns:a16="http://schemas.microsoft.com/office/drawing/2014/main" id="{0646ACC2-9F7E-414D-FA6B-9DD77527083A}"/>
              </a:ext>
            </a:extLst>
          </p:cNvPr>
          <p:cNvSpPr txBox="1"/>
          <p:nvPr/>
        </p:nvSpPr>
        <p:spPr>
          <a:xfrm>
            <a:off x="7132355" y="3357211"/>
            <a:ext cx="1006511" cy="400110"/>
          </a:xfrm>
          <a:prstGeom prst="rect">
            <a:avLst/>
          </a:prstGeom>
          <a:noFill/>
        </p:spPr>
        <p:txBody>
          <a:bodyPr wrap="square" lIns="91440" tIns="45720" rIns="91440" bIns="45720" rtlCol="0" anchor="t">
            <a:spAutoFit/>
          </a:bodyPr>
          <a:lstStyle/>
          <a:p>
            <a:pPr algn="ctr"/>
            <a:r>
              <a:rPr lang="en-GB" sz="1000" b="1" dirty="0">
                <a:solidFill>
                  <a:srgbClr val="1A1A1A"/>
                </a:solidFill>
              </a:rPr>
              <a:t>Resource Utilizations</a:t>
            </a:r>
          </a:p>
        </p:txBody>
      </p:sp>
      <p:sp>
        <p:nvSpPr>
          <p:cNvPr id="17" name="Rectangle: Rounded Corners 16">
            <a:extLst>
              <a:ext uri="{FF2B5EF4-FFF2-40B4-BE49-F238E27FC236}">
                <a16:creationId xmlns:a16="http://schemas.microsoft.com/office/drawing/2014/main" id="{F8512436-1F72-4694-E8F6-CF06F3803E2E}"/>
              </a:ext>
            </a:extLst>
          </p:cNvPr>
          <p:cNvSpPr/>
          <p:nvPr/>
        </p:nvSpPr>
        <p:spPr>
          <a:xfrm>
            <a:off x="7132355" y="1198849"/>
            <a:ext cx="1789017" cy="757383"/>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21" name="TextBox 20">
            <a:extLst>
              <a:ext uri="{FF2B5EF4-FFF2-40B4-BE49-F238E27FC236}">
                <a16:creationId xmlns:a16="http://schemas.microsoft.com/office/drawing/2014/main" id="{D15ABB88-B657-D8D0-E42B-6F092E35F5D4}"/>
              </a:ext>
            </a:extLst>
          </p:cNvPr>
          <p:cNvSpPr txBox="1"/>
          <p:nvPr/>
        </p:nvSpPr>
        <p:spPr>
          <a:xfrm>
            <a:off x="7153175" y="1286956"/>
            <a:ext cx="913019" cy="600164"/>
          </a:xfrm>
          <a:prstGeom prst="rect">
            <a:avLst/>
          </a:prstGeom>
          <a:noFill/>
        </p:spPr>
        <p:txBody>
          <a:bodyPr wrap="square" lIns="91440" tIns="45720" rIns="91440" bIns="45720" rtlCol="0" anchor="t">
            <a:spAutoFit/>
          </a:bodyPr>
          <a:lstStyle/>
          <a:p>
            <a:pPr algn="ctr"/>
            <a:r>
              <a:rPr lang="en-GB" sz="1100" dirty="0">
                <a:solidFill>
                  <a:srgbClr val="1A1A1A"/>
                </a:solidFill>
                <a:effectLst/>
              </a:rPr>
              <a:t> </a:t>
            </a:r>
            <a:r>
              <a:rPr lang="en-GB" sz="1100" b="1" dirty="0">
                <a:solidFill>
                  <a:srgbClr val="1A1A1A"/>
                </a:solidFill>
                <a:effectLst/>
              </a:rPr>
              <a:t>Energy</a:t>
            </a:r>
            <a:r>
              <a:rPr lang="en-GB" sz="1100" b="1" dirty="0">
                <a:solidFill>
                  <a:srgbClr val="1A1A1A"/>
                </a:solidFill>
              </a:rPr>
              <a:t> and</a:t>
            </a:r>
            <a:r>
              <a:rPr lang="en-GB" sz="1100" b="1" dirty="0">
                <a:solidFill>
                  <a:srgbClr val="1A1A1A"/>
                </a:solidFill>
                <a:effectLst/>
              </a:rPr>
              <a:t> Latency</a:t>
            </a:r>
            <a:endParaRPr lang="en-IN" sz="1100" b="1" dirty="0"/>
          </a:p>
        </p:txBody>
      </p:sp>
      <p:sp>
        <p:nvSpPr>
          <p:cNvPr id="22" name="TextBox 21">
            <a:extLst>
              <a:ext uri="{FF2B5EF4-FFF2-40B4-BE49-F238E27FC236}">
                <a16:creationId xmlns:a16="http://schemas.microsoft.com/office/drawing/2014/main" id="{01353C90-11A5-2B14-0E85-98D7668526D8}"/>
              </a:ext>
            </a:extLst>
          </p:cNvPr>
          <p:cNvSpPr txBox="1"/>
          <p:nvPr/>
        </p:nvSpPr>
        <p:spPr>
          <a:xfrm>
            <a:off x="-13930" y="1393991"/>
            <a:ext cx="1329067" cy="400110"/>
          </a:xfrm>
          <a:prstGeom prst="rect">
            <a:avLst/>
          </a:prstGeom>
          <a:noFill/>
        </p:spPr>
        <p:txBody>
          <a:bodyPr wrap="square" lIns="91440" tIns="45720" rIns="91440" bIns="45720" rtlCol="0" anchor="t">
            <a:spAutoFit/>
          </a:bodyPr>
          <a:lstStyle/>
          <a:p>
            <a:pPr algn="ctr"/>
            <a:r>
              <a:rPr lang="en-GB" sz="1000" b="1" dirty="0"/>
              <a:t>Architecture Configuration</a:t>
            </a:r>
          </a:p>
        </p:txBody>
      </p:sp>
      <p:sp>
        <p:nvSpPr>
          <p:cNvPr id="23" name="TextBox 22">
            <a:extLst>
              <a:ext uri="{FF2B5EF4-FFF2-40B4-BE49-F238E27FC236}">
                <a16:creationId xmlns:a16="http://schemas.microsoft.com/office/drawing/2014/main" id="{2878C419-01A5-75BC-935B-AB450A9C5C0E}"/>
              </a:ext>
            </a:extLst>
          </p:cNvPr>
          <p:cNvSpPr txBox="1"/>
          <p:nvPr/>
        </p:nvSpPr>
        <p:spPr>
          <a:xfrm>
            <a:off x="121660" y="2353164"/>
            <a:ext cx="1137539" cy="430887"/>
          </a:xfrm>
          <a:prstGeom prst="rect">
            <a:avLst/>
          </a:prstGeom>
          <a:noFill/>
        </p:spPr>
        <p:txBody>
          <a:bodyPr wrap="square" lIns="91440" tIns="45720" rIns="91440" bIns="45720" rtlCol="0" anchor="t">
            <a:spAutoFit/>
          </a:bodyPr>
          <a:lstStyle/>
          <a:p>
            <a:pPr algn="ctr"/>
            <a:r>
              <a:rPr lang="en-GB" sz="1100" b="1" dirty="0"/>
              <a:t>Workload</a:t>
            </a:r>
            <a:br>
              <a:rPr lang="en-GB" sz="1100" b="1" dirty="0"/>
            </a:br>
            <a:r>
              <a:rPr lang="en-GB" sz="1100" b="1" dirty="0"/>
              <a:t>Configuration</a:t>
            </a:r>
          </a:p>
        </p:txBody>
      </p:sp>
      <p:sp>
        <p:nvSpPr>
          <p:cNvPr id="24" name="TextBox 23">
            <a:extLst>
              <a:ext uri="{FF2B5EF4-FFF2-40B4-BE49-F238E27FC236}">
                <a16:creationId xmlns:a16="http://schemas.microsoft.com/office/drawing/2014/main" id="{9906DAA7-F4F0-3D32-15D3-7EAC9C6CAB7B}"/>
              </a:ext>
            </a:extLst>
          </p:cNvPr>
          <p:cNvSpPr txBox="1"/>
          <p:nvPr/>
        </p:nvSpPr>
        <p:spPr>
          <a:xfrm>
            <a:off x="206856" y="3409317"/>
            <a:ext cx="884299" cy="261610"/>
          </a:xfrm>
          <a:prstGeom prst="rect">
            <a:avLst/>
          </a:prstGeom>
          <a:noFill/>
        </p:spPr>
        <p:txBody>
          <a:bodyPr wrap="square" lIns="91440" tIns="45720" rIns="91440" bIns="45720" rtlCol="0" anchor="t">
            <a:spAutoFit/>
          </a:bodyPr>
          <a:lstStyle/>
          <a:p>
            <a:pPr algn="ctr"/>
            <a:r>
              <a:rPr lang="en-GB" sz="1100" b="1" dirty="0"/>
              <a:t>Mapping  </a:t>
            </a:r>
          </a:p>
        </p:txBody>
      </p:sp>
      <p:cxnSp>
        <p:nvCxnSpPr>
          <p:cNvPr id="26" name="Straight Arrow Connector 25">
            <a:extLst>
              <a:ext uri="{FF2B5EF4-FFF2-40B4-BE49-F238E27FC236}">
                <a16:creationId xmlns:a16="http://schemas.microsoft.com/office/drawing/2014/main" id="{D7202D0B-87D9-8A9C-01FE-862440F0B50C}"/>
              </a:ext>
            </a:extLst>
          </p:cNvPr>
          <p:cNvCxnSpPr>
            <a:cxnSpLocks/>
            <a:endCxn id="5" idx="1"/>
          </p:cNvCxnSpPr>
          <p:nvPr/>
        </p:nvCxnSpPr>
        <p:spPr>
          <a:xfrm>
            <a:off x="2244282" y="1613425"/>
            <a:ext cx="1779486" cy="916710"/>
          </a:xfrm>
          <a:prstGeom prst="bentConnector3">
            <a:avLst>
              <a:gd name="adj1" fmla="val 50000"/>
            </a:avLst>
          </a:prstGeom>
          <a:ln w="31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7480D353-2BF2-9E4A-AE1F-075DD8B2F328}"/>
              </a:ext>
            </a:extLst>
          </p:cNvPr>
          <p:cNvCxnSpPr>
            <a:cxnSpLocks/>
            <a:stCxn id="7" idx="3"/>
            <a:endCxn id="5" idx="1"/>
          </p:cNvCxnSpPr>
          <p:nvPr/>
        </p:nvCxnSpPr>
        <p:spPr>
          <a:xfrm flipV="1">
            <a:off x="2242872" y="2530135"/>
            <a:ext cx="1780896" cy="18684"/>
          </a:xfrm>
          <a:prstGeom prst="straightConnector1">
            <a:avLst/>
          </a:prstGeom>
          <a:ln w="31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7601D20B-B666-BD3D-132E-54A397F25256}"/>
              </a:ext>
            </a:extLst>
          </p:cNvPr>
          <p:cNvCxnSpPr>
            <a:cxnSpLocks/>
            <a:endCxn id="5" idx="1"/>
          </p:cNvCxnSpPr>
          <p:nvPr/>
        </p:nvCxnSpPr>
        <p:spPr>
          <a:xfrm flipV="1">
            <a:off x="2244282" y="2530135"/>
            <a:ext cx="1779486" cy="902854"/>
          </a:xfrm>
          <a:prstGeom prst="bentConnector3">
            <a:avLst>
              <a:gd name="adj1" fmla="val 50000"/>
            </a:avLst>
          </a:prstGeom>
          <a:ln w="31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1D37BBBA-B7E9-A6E6-A0C2-45AB9AF9CA64}"/>
              </a:ext>
            </a:extLst>
          </p:cNvPr>
          <p:cNvCxnSpPr>
            <a:cxnSpLocks/>
            <a:stCxn id="5" idx="3"/>
            <a:endCxn id="21" idx="1"/>
          </p:cNvCxnSpPr>
          <p:nvPr/>
        </p:nvCxnSpPr>
        <p:spPr>
          <a:xfrm flipV="1">
            <a:off x="5379039" y="1587038"/>
            <a:ext cx="1774136" cy="943097"/>
          </a:xfrm>
          <a:prstGeom prst="bentConnector3">
            <a:avLst>
              <a:gd name="adj1" fmla="val 50000"/>
            </a:avLst>
          </a:prstGeom>
          <a:ln w="31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71E955BA-69CD-BA0C-F2A8-522C098F3249}"/>
              </a:ext>
            </a:extLst>
          </p:cNvPr>
          <p:cNvCxnSpPr>
            <a:cxnSpLocks/>
            <a:stCxn id="5" idx="3"/>
            <a:endCxn id="19" idx="1"/>
          </p:cNvCxnSpPr>
          <p:nvPr/>
        </p:nvCxnSpPr>
        <p:spPr>
          <a:xfrm>
            <a:off x="5379039" y="2530135"/>
            <a:ext cx="1803609" cy="9342"/>
          </a:xfrm>
          <a:prstGeom prst="straightConnector1">
            <a:avLst/>
          </a:prstGeom>
          <a:ln w="31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7164AC60-8B13-D3CD-E7BF-C66D1672E5BC}"/>
              </a:ext>
            </a:extLst>
          </p:cNvPr>
          <p:cNvCxnSpPr>
            <a:cxnSpLocks/>
            <a:stCxn id="5" idx="3"/>
            <a:endCxn id="3" idx="1"/>
          </p:cNvCxnSpPr>
          <p:nvPr/>
        </p:nvCxnSpPr>
        <p:spPr>
          <a:xfrm>
            <a:off x="5379039" y="2530135"/>
            <a:ext cx="1803609" cy="1054165"/>
          </a:xfrm>
          <a:prstGeom prst="bentConnector3">
            <a:avLst>
              <a:gd name="adj1" fmla="val 48944"/>
            </a:avLst>
          </a:prstGeom>
          <a:ln w="31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E654CA64-FF96-FEEF-4901-CACDA91E8EF5}"/>
              </a:ext>
            </a:extLst>
          </p:cNvPr>
          <p:cNvSpPr txBox="1"/>
          <p:nvPr/>
        </p:nvSpPr>
        <p:spPr>
          <a:xfrm>
            <a:off x="883596" y="3156260"/>
            <a:ext cx="1309977" cy="7368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sz="1200" err="1"/>
          </a:p>
        </p:txBody>
      </p:sp>
      <p:sp>
        <p:nvSpPr>
          <p:cNvPr id="37" name="TextBox 36">
            <a:extLst>
              <a:ext uri="{FF2B5EF4-FFF2-40B4-BE49-F238E27FC236}">
                <a16:creationId xmlns:a16="http://schemas.microsoft.com/office/drawing/2014/main" id="{02251BF4-A33D-8C1C-EF49-C516D07AF3A1}"/>
              </a:ext>
            </a:extLst>
          </p:cNvPr>
          <p:cNvSpPr txBox="1"/>
          <p:nvPr/>
        </p:nvSpPr>
        <p:spPr>
          <a:xfrm>
            <a:off x="1119376" y="3187934"/>
            <a:ext cx="938095" cy="738664"/>
          </a:xfrm>
          <a:prstGeom prst="rect">
            <a:avLst/>
          </a:prstGeom>
          <a:solidFill>
            <a:schemeClr val="bg2">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 b="1"/>
              <a:t>Spatial unrolling:</a:t>
            </a:r>
          </a:p>
          <a:p>
            <a:r>
              <a:rPr lang="en-GB" sz="600"/>
              <a:t>D1: K,8</a:t>
            </a:r>
            <a:br>
              <a:rPr lang="en-GB" sz="600"/>
            </a:br>
            <a:r>
              <a:rPr lang="en-GB" sz="600" b="1"/>
              <a:t>Temporal ordering:</a:t>
            </a:r>
          </a:p>
          <a:p>
            <a:r>
              <a:rPr lang="en-GB" sz="600"/>
              <a:t>IX,5</a:t>
            </a:r>
          </a:p>
          <a:p>
            <a:r>
              <a:rPr lang="en-GB" sz="600"/>
              <a:t>IY,5</a:t>
            </a:r>
          </a:p>
          <a:p>
            <a:r>
              <a:rPr lang="en-GB" sz="600"/>
              <a:t>FY,3</a:t>
            </a:r>
          </a:p>
          <a:p>
            <a:r>
              <a:rPr lang="en-GB" sz="600"/>
              <a:t>FX,3</a:t>
            </a:r>
          </a:p>
        </p:txBody>
      </p:sp>
      <p:pic>
        <p:nvPicPr>
          <p:cNvPr id="38" name="Picture 37" descr="A close-up of a sign&#10;&#10;AI-generated content may be incorrect.">
            <a:extLst>
              <a:ext uri="{FF2B5EF4-FFF2-40B4-BE49-F238E27FC236}">
                <a16:creationId xmlns:a16="http://schemas.microsoft.com/office/drawing/2014/main" id="{1AA25719-8732-D0AD-3774-3CD7E5422361}"/>
              </a:ext>
            </a:extLst>
          </p:cNvPr>
          <p:cNvPicPr>
            <a:picLocks noChangeAspect="1"/>
          </p:cNvPicPr>
          <p:nvPr/>
        </p:nvPicPr>
        <p:blipFill>
          <a:blip r:embed="rId3"/>
          <a:stretch>
            <a:fillRect/>
          </a:stretch>
        </p:blipFill>
        <p:spPr>
          <a:xfrm>
            <a:off x="1161111" y="2485635"/>
            <a:ext cx="1081030" cy="96865"/>
          </a:xfrm>
          <a:prstGeom prst="rect">
            <a:avLst/>
          </a:prstGeom>
        </p:spPr>
      </p:pic>
      <p:pic>
        <p:nvPicPr>
          <p:cNvPr id="40" name="Picture 39" descr="A diagram of a computer&#10;&#10;AI-generated content may be incorrect.">
            <a:extLst>
              <a:ext uri="{FF2B5EF4-FFF2-40B4-BE49-F238E27FC236}">
                <a16:creationId xmlns:a16="http://schemas.microsoft.com/office/drawing/2014/main" id="{C58AAACF-ED63-FB96-D7A8-50234BEC6237}"/>
              </a:ext>
            </a:extLst>
          </p:cNvPr>
          <p:cNvPicPr>
            <a:picLocks noChangeAspect="1"/>
          </p:cNvPicPr>
          <p:nvPr/>
        </p:nvPicPr>
        <p:blipFill>
          <a:blip r:embed="rId4"/>
          <a:stretch>
            <a:fillRect/>
          </a:stretch>
        </p:blipFill>
        <p:spPr>
          <a:xfrm>
            <a:off x="1319855" y="1225627"/>
            <a:ext cx="706665" cy="702324"/>
          </a:xfrm>
          <a:prstGeom prst="rect">
            <a:avLst/>
          </a:prstGeom>
        </p:spPr>
      </p:pic>
      <p:pic>
        <p:nvPicPr>
          <p:cNvPr id="47" name="Picture 46" descr="Generated image">
            <a:extLst>
              <a:ext uri="{FF2B5EF4-FFF2-40B4-BE49-F238E27FC236}">
                <a16:creationId xmlns:a16="http://schemas.microsoft.com/office/drawing/2014/main" id="{6A30D673-E305-DCEB-105C-E103C5E2DBE8}"/>
              </a:ext>
            </a:extLst>
          </p:cNvPr>
          <p:cNvPicPr>
            <a:picLocks noChangeAspect="1"/>
          </p:cNvPicPr>
          <p:nvPr/>
        </p:nvPicPr>
        <p:blipFill>
          <a:blip r:embed="rId5"/>
          <a:stretch>
            <a:fillRect/>
          </a:stretch>
        </p:blipFill>
        <p:spPr>
          <a:xfrm>
            <a:off x="8116677" y="1317203"/>
            <a:ext cx="567369" cy="519171"/>
          </a:xfrm>
          <a:prstGeom prst="rect">
            <a:avLst/>
          </a:prstGeom>
        </p:spPr>
      </p:pic>
      <p:sp>
        <p:nvSpPr>
          <p:cNvPr id="51" name="TextBox 50">
            <a:extLst>
              <a:ext uri="{FF2B5EF4-FFF2-40B4-BE49-F238E27FC236}">
                <a16:creationId xmlns:a16="http://schemas.microsoft.com/office/drawing/2014/main" id="{DA887E5E-04F9-03F9-B562-C5B04689C6D6}"/>
              </a:ext>
            </a:extLst>
          </p:cNvPr>
          <p:cNvSpPr txBox="1"/>
          <p:nvPr/>
        </p:nvSpPr>
        <p:spPr>
          <a:xfrm>
            <a:off x="8066195" y="3262562"/>
            <a:ext cx="889034" cy="646331"/>
          </a:xfrm>
          <a:prstGeom prst="rect">
            <a:avLst/>
          </a:prstGeom>
          <a:solidFill>
            <a:schemeClr val="bg2">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 b="1"/>
              <a:t>Memory utilization</a:t>
            </a:r>
            <a:r>
              <a:rPr lang="en-GB" sz="600"/>
              <a:t>:</a:t>
            </a:r>
          </a:p>
          <a:p>
            <a:r>
              <a:rPr lang="en-GB" sz="600"/>
              <a:t>Inputs: {}</a:t>
            </a:r>
          </a:p>
          <a:p>
            <a:r>
              <a:rPr lang="en-GB" sz="600"/>
              <a:t>Weights: {}</a:t>
            </a:r>
          </a:p>
          <a:p>
            <a:r>
              <a:rPr lang="en-GB" sz="600"/>
              <a:t>Outputs: {}</a:t>
            </a:r>
          </a:p>
          <a:p>
            <a:r>
              <a:rPr lang="en-GB" sz="600" b="1"/>
              <a:t>Spatial utilisation</a:t>
            </a:r>
            <a:r>
              <a:rPr lang="en-GB" sz="600"/>
              <a:t>:</a:t>
            </a:r>
          </a:p>
          <a:p>
            <a:r>
              <a:rPr lang="en-GB" sz="600"/>
              <a:t>PE utilisation: {}</a:t>
            </a:r>
            <a:endParaRPr lang="en-US" sz="1600"/>
          </a:p>
        </p:txBody>
      </p:sp>
      <p:pic>
        <p:nvPicPr>
          <p:cNvPr id="53" name="Picture 52" descr="A diagram of a computer process&#10;&#10;AI-generated content may be incorrect.">
            <a:extLst>
              <a:ext uri="{FF2B5EF4-FFF2-40B4-BE49-F238E27FC236}">
                <a16:creationId xmlns:a16="http://schemas.microsoft.com/office/drawing/2014/main" id="{ADE6C5ED-393B-C31F-523C-38A344942F36}"/>
              </a:ext>
            </a:extLst>
          </p:cNvPr>
          <p:cNvPicPr>
            <a:picLocks noChangeAspect="1"/>
          </p:cNvPicPr>
          <p:nvPr/>
        </p:nvPicPr>
        <p:blipFill>
          <a:blip r:embed="rId6"/>
          <a:stretch>
            <a:fillRect/>
          </a:stretch>
        </p:blipFill>
        <p:spPr>
          <a:xfrm>
            <a:off x="7851868" y="2382891"/>
            <a:ext cx="1074144" cy="282187"/>
          </a:xfrm>
          <a:prstGeom prst="rect">
            <a:avLst/>
          </a:prstGeom>
        </p:spPr>
      </p:pic>
      <p:sp>
        <p:nvSpPr>
          <p:cNvPr id="13" name="Text Placeholder 4">
            <a:extLst>
              <a:ext uri="{FF2B5EF4-FFF2-40B4-BE49-F238E27FC236}">
                <a16:creationId xmlns:a16="http://schemas.microsoft.com/office/drawing/2014/main" id="{6A59BD3B-2846-C974-3B74-144E8924013E}"/>
              </a:ext>
            </a:extLst>
          </p:cNvPr>
          <p:cNvSpPr>
            <a:spLocks noGrp="1"/>
          </p:cNvSpPr>
          <p:nvPr>
            <p:ph type="body" sz="quarter" idx="13"/>
          </p:nvPr>
        </p:nvSpPr>
        <p:spPr>
          <a:xfrm>
            <a:off x="160630" y="576315"/>
            <a:ext cx="8753475" cy="369332"/>
          </a:xfrm>
        </p:spPr>
        <p:txBody>
          <a:bodyPr/>
          <a:lstStyle/>
          <a:p>
            <a:r>
              <a:rPr lang="en-US" dirty="0"/>
              <a:t>Single-Core Event-Driven Mapping Exploration Focus</a:t>
            </a:r>
            <a:endParaRPr lang="en-GB" dirty="0"/>
          </a:p>
        </p:txBody>
      </p:sp>
      <p:sp>
        <p:nvSpPr>
          <p:cNvPr id="5" name="Rectangle 4">
            <a:extLst>
              <a:ext uri="{FF2B5EF4-FFF2-40B4-BE49-F238E27FC236}">
                <a16:creationId xmlns:a16="http://schemas.microsoft.com/office/drawing/2014/main" id="{D165CDA3-3971-DCCE-C982-7A727C3CEFCB}"/>
              </a:ext>
            </a:extLst>
          </p:cNvPr>
          <p:cNvSpPr/>
          <p:nvPr/>
        </p:nvSpPr>
        <p:spPr>
          <a:xfrm>
            <a:off x="4023768" y="2063191"/>
            <a:ext cx="1355271" cy="933887"/>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NL" sz="1400"/>
          </a:p>
        </p:txBody>
      </p:sp>
    </p:spTree>
    <p:extLst>
      <p:ext uri="{BB962C8B-B14F-4D97-AF65-F5344CB8AC3E}">
        <p14:creationId xmlns:p14="http://schemas.microsoft.com/office/powerpoint/2010/main" val="35189837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B25EDD99-C99B-5524-C9F5-00ADE2E26B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5E0C97-203F-D116-504F-D029E57FE128}"/>
              </a:ext>
            </a:extLst>
          </p:cNvPr>
          <p:cNvSpPr>
            <a:spLocks noGrp="1"/>
          </p:cNvSpPr>
          <p:nvPr>
            <p:ph type="title"/>
          </p:nvPr>
        </p:nvSpPr>
        <p:spPr>
          <a:xfrm>
            <a:off x="277685" y="2340612"/>
            <a:ext cx="8753475" cy="461665"/>
          </a:xfrm>
        </p:spPr>
        <p:txBody>
          <a:bodyPr/>
          <a:lstStyle/>
          <a:p>
            <a:r>
              <a:rPr lang="en-GB">
                <a:latin typeface="Gill Sans MT"/>
                <a:cs typeface="Gill Sans"/>
              </a:rPr>
              <a:t>I</a:t>
            </a:r>
            <a:endParaRPr lang="en-US">
              <a:latin typeface="Gill Sans MT"/>
              <a:cs typeface="Gill Sans"/>
            </a:endParaRPr>
          </a:p>
        </p:txBody>
      </p:sp>
      <p:sp>
        <p:nvSpPr>
          <p:cNvPr id="4" name="Slide Number Placeholder 3">
            <a:extLst>
              <a:ext uri="{FF2B5EF4-FFF2-40B4-BE49-F238E27FC236}">
                <a16:creationId xmlns:a16="http://schemas.microsoft.com/office/drawing/2014/main" id="{AF004B9F-2C19-C72B-1C2D-3B79B8B5234E}"/>
              </a:ext>
            </a:extLst>
          </p:cNvPr>
          <p:cNvSpPr>
            <a:spLocks noGrp="1"/>
          </p:cNvSpPr>
          <p:nvPr>
            <p:ph type="sldNum" sz="quarter" idx="12"/>
          </p:nvPr>
        </p:nvSpPr>
        <p:spPr/>
        <p:txBody>
          <a:bodyPr/>
          <a:lstStyle/>
          <a:p>
            <a:fld id="{8836216C-5BC3-7C44-80F8-E30864FFC228}" type="slidenum">
              <a:rPr lang="en-US" smtClean="0"/>
              <a:t>18</a:t>
            </a:fld>
            <a:endParaRPr lang="en-US"/>
          </a:p>
        </p:txBody>
      </p:sp>
      <p:sp>
        <p:nvSpPr>
          <p:cNvPr id="6" name="TextBox 5">
            <a:extLst>
              <a:ext uri="{FF2B5EF4-FFF2-40B4-BE49-F238E27FC236}">
                <a16:creationId xmlns:a16="http://schemas.microsoft.com/office/drawing/2014/main" id="{8CB9AF13-4D3C-C6FF-356F-81F6D8B4CB25}"/>
              </a:ext>
            </a:extLst>
          </p:cNvPr>
          <p:cNvSpPr txBox="1"/>
          <p:nvPr/>
        </p:nvSpPr>
        <p:spPr>
          <a:xfrm>
            <a:off x="460" y="2436278"/>
            <a:ext cx="914343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solidFill>
                  <a:schemeClr val="bg1"/>
                </a:solidFill>
              </a:rPr>
              <a:t>AeDAM Framework</a:t>
            </a:r>
          </a:p>
        </p:txBody>
      </p:sp>
    </p:spTree>
    <p:extLst>
      <p:ext uri="{BB962C8B-B14F-4D97-AF65-F5344CB8AC3E}">
        <p14:creationId xmlns:p14="http://schemas.microsoft.com/office/powerpoint/2010/main" val="1821873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B3546-726F-A86C-AD31-4BC8AD60F8A2}"/>
              </a:ext>
            </a:extLst>
          </p:cNvPr>
          <p:cNvSpPr>
            <a:spLocks noGrp="1"/>
          </p:cNvSpPr>
          <p:nvPr>
            <p:ph type="title"/>
          </p:nvPr>
        </p:nvSpPr>
        <p:spPr>
          <a:xfrm>
            <a:off x="160631" y="206094"/>
            <a:ext cx="8753475" cy="461665"/>
          </a:xfrm>
        </p:spPr>
        <p:txBody>
          <a:bodyPr/>
          <a:lstStyle/>
          <a:p>
            <a:r>
              <a:rPr lang="en-US" dirty="0"/>
              <a:t>AeDAM Component Overview</a:t>
            </a:r>
            <a:endParaRPr lang="en-GB" dirty="0">
              <a:solidFill>
                <a:srgbClr val="000000"/>
              </a:solidFill>
              <a:latin typeface="Gill Sans MT"/>
              <a:cs typeface="Gill Sans"/>
            </a:endParaRPr>
          </a:p>
        </p:txBody>
      </p:sp>
      <p:sp>
        <p:nvSpPr>
          <p:cNvPr id="4" name="Slide Number Placeholder 3">
            <a:extLst>
              <a:ext uri="{FF2B5EF4-FFF2-40B4-BE49-F238E27FC236}">
                <a16:creationId xmlns:a16="http://schemas.microsoft.com/office/drawing/2014/main" id="{CEF91CED-0093-A505-21B7-6E8C3B6D07BE}"/>
              </a:ext>
            </a:extLst>
          </p:cNvPr>
          <p:cNvSpPr>
            <a:spLocks noGrp="1"/>
          </p:cNvSpPr>
          <p:nvPr>
            <p:ph type="sldNum" sz="quarter" idx="12"/>
          </p:nvPr>
        </p:nvSpPr>
        <p:spPr/>
        <p:txBody>
          <a:bodyPr/>
          <a:lstStyle/>
          <a:p>
            <a:fld id="{8836216C-5BC3-7C44-80F8-E30864FFC228}" type="slidenum">
              <a:rPr lang="en-US" smtClean="0"/>
              <a:t>19</a:t>
            </a:fld>
            <a:endParaRPr lang="en-US"/>
          </a:p>
        </p:txBody>
      </p:sp>
      <p:sp>
        <p:nvSpPr>
          <p:cNvPr id="7" name="Rectangle 6">
            <a:extLst>
              <a:ext uri="{FF2B5EF4-FFF2-40B4-BE49-F238E27FC236}">
                <a16:creationId xmlns:a16="http://schemas.microsoft.com/office/drawing/2014/main" id="{359BBD63-8AD7-882B-D907-3A9538E42C1F}"/>
              </a:ext>
            </a:extLst>
          </p:cNvPr>
          <p:cNvSpPr/>
          <p:nvPr/>
        </p:nvSpPr>
        <p:spPr>
          <a:xfrm>
            <a:off x="160631" y="1216143"/>
            <a:ext cx="1963571" cy="1014987"/>
          </a:xfrm>
          <a:prstGeom prst="rect">
            <a:avLst/>
          </a:prstGeom>
          <a:solidFill>
            <a:schemeClr val="accent3"/>
          </a:solidFill>
          <a:ln>
            <a:solidFill>
              <a:schemeClr val="tx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solidFill>
                <a:srgbClr val="90288D"/>
              </a:solidFill>
            </a:endParaRPr>
          </a:p>
        </p:txBody>
      </p:sp>
      <p:sp>
        <p:nvSpPr>
          <p:cNvPr id="9" name="TextBox 8">
            <a:extLst>
              <a:ext uri="{FF2B5EF4-FFF2-40B4-BE49-F238E27FC236}">
                <a16:creationId xmlns:a16="http://schemas.microsoft.com/office/drawing/2014/main" id="{E55F3373-37B6-2432-F73E-F34EFFB9B73C}"/>
              </a:ext>
            </a:extLst>
          </p:cNvPr>
          <p:cNvSpPr txBox="1"/>
          <p:nvPr/>
        </p:nvSpPr>
        <p:spPr>
          <a:xfrm>
            <a:off x="163054" y="1478226"/>
            <a:ext cx="196114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400" b="1" dirty="0">
                <a:solidFill>
                  <a:schemeClr val="bg1"/>
                </a:solidFill>
                <a:ea typeface="+mn-lt"/>
                <a:cs typeface="+mn-lt"/>
              </a:rPr>
              <a:t>Event driven core </a:t>
            </a:r>
            <a:endParaRPr lang="en-US" sz="1400" b="1" dirty="0">
              <a:solidFill>
                <a:schemeClr val="bg1"/>
              </a:solidFill>
            </a:endParaRPr>
          </a:p>
          <a:p>
            <a:pPr algn="ctr"/>
            <a:r>
              <a:rPr lang="en-GB" sz="1400" b="1" dirty="0">
                <a:solidFill>
                  <a:schemeClr val="bg1"/>
                </a:solidFill>
                <a:ea typeface="+mn-lt"/>
                <a:cs typeface="+mn-lt"/>
              </a:rPr>
              <a:t>modelling </a:t>
            </a:r>
            <a:endParaRPr lang="en-US" sz="1400" b="1" dirty="0">
              <a:solidFill>
                <a:schemeClr val="bg1"/>
              </a:solidFill>
              <a:ea typeface="+mn-lt"/>
              <a:cs typeface="+mn-lt"/>
            </a:endParaRPr>
          </a:p>
        </p:txBody>
      </p:sp>
      <p:sp>
        <p:nvSpPr>
          <p:cNvPr id="13" name="Rectangle 12">
            <a:extLst>
              <a:ext uri="{FF2B5EF4-FFF2-40B4-BE49-F238E27FC236}">
                <a16:creationId xmlns:a16="http://schemas.microsoft.com/office/drawing/2014/main" id="{B3FE0F6E-2555-519B-2849-7035C7EFD39D}"/>
              </a:ext>
            </a:extLst>
          </p:cNvPr>
          <p:cNvSpPr/>
          <p:nvPr/>
        </p:nvSpPr>
        <p:spPr>
          <a:xfrm>
            <a:off x="192860" y="3016432"/>
            <a:ext cx="1961148" cy="1445025"/>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GB" sz="1200" b="1" u="sng">
                <a:solidFill>
                  <a:schemeClr val="tx1">
                    <a:lumMod val="50000"/>
                  </a:schemeClr>
                </a:solidFill>
              </a:rPr>
              <a:t>Inputs: </a:t>
            </a:r>
            <a:br>
              <a:rPr lang="en-GB" sz="1200"/>
            </a:br>
            <a:r>
              <a:rPr lang="en-GB" sz="1200">
                <a:solidFill>
                  <a:schemeClr val="tx1">
                    <a:lumMod val="50000"/>
                  </a:schemeClr>
                </a:solidFill>
              </a:rPr>
              <a:t>1. </a:t>
            </a:r>
            <a:r>
              <a:rPr lang="en-GB" sz="1200">
                <a:solidFill>
                  <a:schemeClr val="tx1">
                    <a:lumMod val="50000"/>
                  </a:schemeClr>
                </a:solidFill>
                <a:ea typeface="+mn-lt"/>
                <a:cs typeface="+mn-lt"/>
              </a:rPr>
              <a:t>Architecture Configuration</a:t>
            </a:r>
            <a:endParaRPr lang="en-GB" sz="1200">
              <a:solidFill>
                <a:schemeClr val="tx1">
                  <a:lumMod val="50000"/>
                </a:schemeClr>
              </a:solidFill>
            </a:endParaRPr>
          </a:p>
          <a:p>
            <a:r>
              <a:rPr lang="en-GB" sz="1200">
                <a:solidFill>
                  <a:schemeClr val="tx1">
                    <a:lumMod val="50000"/>
                  </a:schemeClr>
                </a:solidFill>
              </a:rPr>
              <a:t>2.</a:t>
            </a:r>
            <a:r>
              <a:rPr lang="en-GB" sz="1200">
                <a:solidFill>
                  <a:schemeClr val="tx1">
                    <a:lumMod val="50000"/>
                  </a:schemeClr>
                </a:solidFill>
                <a:ea typeface="+mn-lt"/>
                <a:cs typeface="+mn-lt"/>
              </a:rPr>
              <a:t>Workload Configuration</a:t>
            </a:r>
            <a:endParaRPr lang="en-GB" sz="1200">
              <a:solidFill>
                <a:schemeClr val="tx1">
                  <a:lumMod val="50000"/>
                </a:schemeClr>
              </a:solidFill>
            </a:endParaRPr>
          </a:p>
          <a:p>
            <a:r>
              <a:rPr lang="en-GB" sz="1200">
                <a:solidFill>
                  <a:schemeClr val="tx1">
                    <a:lumMod val="50000"/>
                  </a:schemeClr>
                </a:solidFill>
              </a:rPr>
              <a:t>3.</a:t>
            </a:r>
            <a:r>
              <a:rPr lang="en-GB" sz="1200">
                <a:solidFill>
                  <a:schemeClr val="tx1">
                    <a:lumMod val="50000"/>
                  </a:schemeClr>
                </a:solidFill>
                <a:ea typeface="+mn-lt"/>
                <a:cs typeface="+mn-lt"/>
              </a:rPr>
              <a:t>Mapping  </a:t>
            </a:r>
            <a:endParaRPr lang="en-IN" sz="1200">
              <a:solidFill>
                <a:schemeClr val="tx1">
                  <a:lumMod val="50000"/>
                </a:schemeClr>
              </a:solidFill>
              <a:ea typeface="+mn-lt"/>
              <a:cs typeface="+mn-lt"/>
            </a:endParaRPr>
          </a:p>
        </p:txBody>
      </p:sp>
      <p:sp>
        <p:nvSpPr>
          <p:cNvPr id="40" name="Rectangle 39">
            <a:extLst>
              <a:ext uri="{FF2B5EF4-FFF2-40B4-BE49-F238E27FC236}">
                <a16:creationId xmlns:a16="http://schemas.microsoft.com/office/drawing/2014/main" id="{B652A211-A676-93DF-C585-0F5A1AFEB9A2}"/>
              </a:ext>
            </a:extLst>
          </p:cNvPr>
          <p:cNvSpPr/>
          <p:nvPr/>
        </p:nvSpPr>
        <p:spPr>
          <a:xfrm>
            <a:off x="3549450" y="1271433"/>
            <a:ext cx="1181973" cy="806893"/>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dirty="0">
                <a:solidFill>
                  <a:schemeClr val="tx1">
                    <a:lumMod val="50000"/>
                  </a:schemeClr>
                </a:solidFill>
              </a:rPr>
              <a:t>Mapping space generation</a:t>
            </a:r>
          </a:p>
        </p:txBody>
      </p:sp>
      <p:sp>
        <p:nvSpPr>
          <p:cNvPr id="48" name="Arrow: Right 47">
            <a:extLst>
              <a:ext uri="{FF2B5EF4-FFF2-40B4-BE49-F238E27FC236}">
                <a16:creationId xmlns:a16="http://schemas.microsoft.com/office/drawing/2014/main" id="{CAAED858-3B5D-5D10-AF0A-D0F8AD242488}"/>
              </a:ext>
            </a:extLst>
          </p:cNvPr>
          <p:cNvSpPr/>
          <p:nvPr/>
        </p:nvSpPr>
        <p:spPr>
          <a:xfrm>
            <a:off x="5287740" y="2510337"/>
            <a:ext cx="953174" cy="352485"/>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49" name="Rectangle 48">
            <a:extLst>
              <a:ext uri="{FF2B5EF4-FFF2-40B4-BE49-F238E27FC236}">
                <a16:creationId xmlns:a16="http://schemas.microsoft.com/office/drawing/2014/main" id="{CA5BA0DD-0A71-8867-372B-C90784C31AB2}"/>
              </a:ext>
            </a:extLst>
          </p:cNvPr>
          <p:cNvSpPr/>
          <p:nvPr/>
        </p:nvSpPr>
        <p:spPr>
          <a:xfrm>
            <a:off x="3286891" y="1212897"/>
            <a:ext cx="1714211" cy="3248559"/>
          </a:xfrm>
          <a:prstGeom prst="rect">
            <a:avLst/>
          </a:prstGeom>
          <a:noFill/>
          <a:ln>
            <a:solidFill>
              <a:schemeClr val="tx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cxnSp>
        <p:nvCxnSpPr>
          <p:cNvPr id="51" name="Straight Connector 50">
            <a:extLst>
              <a:ext uri="{FF2B5EF4-FFF2-40B4-BE49-F238E27FC236}">
                <a16:creationId xmlns:a16="http://schemas.microsoft.com/office/drawing/2014/main" id="{75EC973D-DC14-CC77-0553-0758067DB022}"/>
              </a:ext>
            </a:extLst>
          </p:cNvPr>
          <p:cNvCxnSpPr>
            <a:cxnSpLocks/>
          </p:cNvCxnSpPr>
          <p:nvPr/>
        </p:nvCxnSpPr>
        <p:spPr>
          <a:xfrm>
            <a:off x="2124202" y="1212897"/>
            <a:ext cx="1162689" cy="0"/>
          </a:xfrm>
          <a:prstGeom prst="line">
            <a:avLst/>
          </a:prstGeom>
          <a:ln/>
        </p:spPr>
        <p:style>
          <a:lnRef idx="2">
            <a:schemeClr val="dk1"/>
          </a:lnRef>
          <a:fillRef idx="0">
            <a:schemeClr val="dk1"/>
          </a:fillRef>
          <a:effectRef idx="1">
            <a:schemeClr val="dk1"/>
          </a:effectRef>
          <a:fontRef idx="minor">
            <a:schemeClr val="tx1"/>
          </a:fontRef>
        </p:style>
      </p:cxnSp>
      <p:cxnSp>
        <p:nvCxnSpPr>
          <p:cNvPr id="53" name="Straight Connector 52">
            <a:extLst>
              <a:ext uri="{FF2B5EF4-FFF2-40B4-BE49-F238E27FC236}">
                <a16:creationId xmlns:a16="http://schemas.microsoft.com/office/drawing/2014/main" id="{184C1443-693F-9244-1BE9-F5160F105B26}"/>
              </a:ext>
            </a:extLst>
          </p:cNvPr>
          <p:cNvCxnSpPr>
            <a:cxnSpLocks/>
          </p:cNvCxnSpPr>
          <p:nvPr/>
        </p:nvCxnSpPr>
        <p:spPr>
          <a:xfrm>
            <a:off x="2124202" y="2231130"/>
            <a:ext cx="1162689" cy="2230326"/>
          </a:xfrm>
          <a:prstGeom prst="line">
            <a:avLst/>
          </a:prstGeom>
          <a:ln/>
        </p:spPr>
        <p:style>
          <a:lnRef idx="2">
            <a:schemeClr val="dk1"/>
          </a:lnRef>
          <a:fillRef idx="0">
            <a:schemeClr val="dk1"/>
          </a:fillRef>
          <a:effectRef idx="1">
            <a:schemeClr val="dk1"/>
          </a:effectRef>
          <a:fontRef idx="minor">
            <a:schemeClr val="tx1"/>
          </a:fontRef>
        </p:style>
      </p:cxnSp>
      <p:sp>
        <p:nvSpPr>
          <p:cNvPr id="16" name="Rectangle 15">
            <a:extLst>
              <a:ext uri="{FF2B5EF4-FFF2-40B4-BE49-F238E27FC236}">
                <a16:creationId xmlns:a16="http://schemas.microsoft.com/office/drawing/2014/main" id="{D7AB3C85-076C-1B36-BD92-024F8455B00E}"/>
              </a:ext>
            </a:extLst>
          </p:cNvPr>
          <p:cNvSpPr/>
          <p:nvPr/>
        </p:nvSpPr>
        <p:spPr>
          <a:xfrm>
            <a:off x="3549449" y="2326505"/>
            <a:ext cx="1181973" cy="806893"/>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solidFill>
                  <a:schemeClr val="tx1">
                    <a:lumMod val="50000"/>
                  </a:schemeClr>
                </a:solidFill>
              </a:rPr>
              <a:t>Mapping search Engine </a:t>
            </a:r>
          </a:p>
        </p:txBody>
      </p:sp>
      <p:sp>
        <p:nvSpPr>
          <p:cNvPr id="17" name="Rectangle 16">
            <a:extLst>
              <a:ext uri="{FF2B5EF4-FFF2-40B4-BE49-F238E27FC236}">
                <a16:creationId xmlns:a16="http://schemas.microsoft.com/office/drawing/2014/main" id="{DA20BEC7-AB94-D587-0C15-B1AB494835A2}"/>
              </a:ext>
            </a:extLst>
          </p:cNvPr>
          <p:cNvSpPr/>
          <p:nvPr/>
        </p:nvSpPr>
        <p:spPr>
          <a:xfrm>
            <a:off x="3549449" y="3512015"/>
            <a:ext cx="1181973" cy="806893"/>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solidFill>
                  <a:schemeClr val="tx1">
                    <a:lumMod val="50000"/>
                  </a:schemeClr>
                </a:solidFill>
              </a:rPr>
              <a:t>Analytical cost model</a:t>
            </a:r>
          </a:p>
        </p:txBody>
      </p:sp>
      <p:sp>
        <p:nvSpPr>
          <p:cNvPr id="23" name="Plus Sign 22">
            <a:extLst>
              <a:ext uri="{FF2B5EF4-FFF2-40B4-BE49-F238E27FC236}">
                <a16:creationId xmlns:a16="http://schemas.microsoft.com/office/drawing/2014/main" id="{42B13EE3-482F-D289-111F-03C1E2B86344}"/>
              </a:ext>
            </a:extLst>
          </p:cNvPr>
          <p:cNvSpPr/>
          <p:nvPr/>
        </p:nvSpPr>
        <p:spPr>
          <a:xfrm>
            <a:off x="4019187" y="2079153"/>
            <a:ext cx="234518" cy="239764"/>
          </a:xfrm>
          <a:prstGeom prst="mathPlus">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25" name="Plus Sign 24">
            <a:extLst>
              <a:ext uri="{FF2B5EF4-FFF2-40B4-BE49-F238E27FC236}">
                <a16:creationId xmlns:a16="http://schemas.microsoft.com/office/drawing/2014/main" id="{539CF79B-1EE0-0A21-C54E-3534B3785964}"/>
              </a:ext>
            </a:extLst>
          </p:cNvPr>
          <p:cNvSpPr/>
          <p:nvPr/>
        </p:nvSpPr>
        <p:spPr>
          <a:xfrm>
            <a:off x="4019187" y="3200564"/>
            <a:ext cx="234518" cy="239764"/>
          </a:xfrm>
          <a:prstGeom prst="mathPlus">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11" name="Rectangle 10">
            <a:extLst>
              <a:ext uri="{FF2B5EF4-FFF2-40B4-BE49-F238E27FC236}">
                <a16:creationId xmlns:a16="http://schemas.microsoft.com/office/drawing/2014/main" id="{508648FB-EC71-5655-AB74-969C13C1A8D9}"/>
              </a:ext>
            </a:extLst>
          </p:cNvPr>
          <p:cNvSpPr/>
          <p:nvPr/>
        </p:nvSpPr>
        <p:spPr>
          <a:xfrm>
            <a:off x="6834433" y="1242164"/>
            <a:ext cx="1461154" cy="865429"/>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bg1"/>
                </a:solidFill>
              </a:rPr>
              <a:t>Best mapping schedule for workload</a:t>
            </a:r>
          </a:p>
        </p:txBody>
      </p:sp>
      <p:sp>
        <p:nvSpPr>
          <p:cNvPr id="12" name="Rectangle 11">
            <a:extLst>
              <a:ext uri="{FF2B5EF4-FFF2-40B4-BE49-F238E27FC236}">
                <a16:creationId xmlns:a16="http://schemas.microsoft.com/office/drawing/2014/main" id="{104C430C-E7FB-CC80-CCF1-3D4E7D03238F}"/>
              </a:ext>
            </a:extLst>
          </p:cNvPr>
          <p:cNvSpPr/>
          <p:nvPr/>
        </p:nvSpPr>
        <p:spPr>
          <a:xfrm>
            <a:off x="6834433" y="2419095"/>
            <a:ext cx="1461154" cy="865429"/>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a:solidFill>
                  <a:schemeClr val="bg1"/>
                </a:solidFill>
              </a:rPr>
              <a:t>Resources utilisation stats</a:t>
            </a:r>
          </a:p>
        </p:txBody>
      </p:sp>
      <p:sp>
        <p:nvSpPr>
          <p:cNvPr id="14" name="Rectangle 13">
            <a:extLst>
              <a:ext uri="{FF2B5EF4-FFF2-40B4-BE49-F238E27FC236}">
                <a16:creationId xmlns:a16="http://schemas.microsoft.com/office/drawing/2014/main" id="{F0BFE395-C03F-FB4B-721D-14A91E2EF866}"/>
              </a:ext>
            </a:extLst>
          </p:cNvPr>
          <p:cNvSpPr/>
          <p:nvPr/>
        </p:nvSpPr>
        <p:spPr>
          <a:xfrm>
            <a:off x="6834433" y="3596027"/>
            <a:ext cx="1461154" cy="865429"/>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a:solidFill>
                  <a:schemeClr val="bg1"/>
                </a:solidFill>
              </a:rPr>
              <a:t>Overall latency and energy stats</a:t>
            </a:r>
          </a:p>
        </p:txBody>
      </p:sp>
      <p:sp>
        <p:nvSpPr>
          <p:cNvPr id="18" name="Plus Sign 17">
            <a:extLst>
              <a:ext uri="{FF2B5EF4-FFF2-40B4-BE49-F238E27FC236}">
                <a16:creationId xmlns:a16="http://schemas.microsoft.com/office/drawing/2014/main" id="{720565FB-B3DB-2E7E-2A72-DA612A4142BF}"/>
              </a:ext>
            </a:extLst>
          </p:cNvPr>
          <p:cNvSpPr/>
          <p:nvPr/>
        </p:nvSpPr>
        <p:spPr>
          <a:xfrm>
            <a:off x="7447751" y="2143462"/>
            <a:ext cx="234518" cy="239764"/>
          </a:xfrm>
          <a:prstGeom prst="mathPlus">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19" name="Plus Sign 18">
            <a:extLst>
              <a:ext uri="{FF2B5EF4-FFF2-40B4-BE49-F238E27FC236}">
                <a16:creationId xmlns:a16="http://schemas.microsoft.com/office/drawing/2014/main" id="{A80278E8-F62F-A3BF-C418-2BB27E7F530A}"/>
              </a:ext>
            </a:extLst>
          </p:cNvPr>
          <p:cNvSpPr/>
          <p:nvPr/>
        </p:nvSpPr>
        <p:spPr>
          <a:xfrm>
            <a:off x="7447751" y="3320446"/>
            <a:ext cx="234518" cy="239764"/>
          </a:xfrm>
          <a:prstGeom prst="mathPlus">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3" name="Rectangle 2">
            <a:extLst>
              <a:ext uri="{FF2B5EF4-FFF2-40B4-BE49-F238E27FC236}">
                <a16:creationId xmlns:a16="http://schemas.microsoft.com/office/drawing/2014/main" id="{45DDE86E-0AFE-7693-3680-8CDE17FE1BAC}"/>
              </a:ext>
            </a:extLst>
          </p:cNvPr>
          <p:cNvSpPr/>
          <p:nvPr/>
        </p:nvSpPr>
        <p:spPr>
          <a:xfrm>
            <a:off x="6707904" y="1146881"/>
            <a:ext cx="1714211" cy="3409619"/>
          </a:xfrm>
          <a:prstGeom prst="rect">
            <a:avLst/>
          </a:prstGeom>
          <a:noFill/>
          <a:ln>
            <a:solidFill>
              <a:schemeClr val="tx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Tree>
    <p:extLst>
      <p:ext uri="{BB962C8B-B14F-4D97-AF65-F5344CB8AC3E}">
        <p14:creationId xmlns:p14="http://schemas.microsoft.com/office/powerpoint/2010/main" val="3798637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fade">
                                      <p:cBhvr>
                                        <p:cTn id="11" dur="500"/>
                                        <p:tgtEl>
                                          <p:spTgt spid="53"/>
                                        </p:tgtEl>
                                      </p:cBhvr>
                                    </p:animEffect>
                                  </p:childTnLst>
                                </p:cTn>
                              </p:par>
                              <p:par>
                                <p:cTn id="12" presetID="10" presetClass="entr" presetSubtype="0" fill="hold" nodeType="withEffect">
                                  <p:stCondLst>
                                    <p:cond delay="0"/>
                                  </p:stCondLst>
                                  <p:childTnLst>
                                    <p:set>
                                      <p:cBhvr>
                                        <p:cTn id="13" dur="1" fill="hold">
                                          <p:stCondLst>
                                            <p:cond delay="0"/>
                                          </p:stCondLst>
                                        </p:cTn>
                                        <p:tgtEl>
                                          <p:spTgt spid="51"/>
                                        </p:tgtEl>
                                        <p:attrNameLst>
                                          <p:attrName>style.visibility</p:attrName>
                                        </p:attrNameLst>
                                      </p:cBhvr>
                                      <p:to>
                                        <p:strVal val="visible"/>
                                      </p:to>
                                    </p:set>
                                    <p:animEffect transition="in" filter="fade">
                                      <p:cBhvr>
                                        <p:cTn id="14" dur="500"/>
                                        <p:tgtEl>
                                          <p:spTgt spid="5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fade">
                                      <p:cBhvr>
                                        <p:cTn id="17" dur="500"/>
                                        <p:tgtEl>
                                          <p:spTgt spid="4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fade">
                                      <p:cBhvr>
                                        <p:cTn id="20" dur="500"/>
                                        <p:tgtEl>
                                          <p:spTgt spid="4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fade">
                                      <p:cBhvr>
                                        <p:cTn id="37" dur="500"/>
                                        <p:tgtEl>
                                          <p:spTgt spid="4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fade">
                                      <p:cBhvr>
                                        <p:cTn id="5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40" grpId="0" animBg="1"/>
      <p:bldP spid="48" grpId="0" animBg="1"/>
      <p:bldP spid="49" grpId="0" animBg="1"/>
      <p:bldP spid="16" grpId="0" animBg="1"/>
      <p:bldP spid="17" grpId="0" animBg="1"/>
      <p:bldP spid="23" grpId="0" animBg="1"/>
      <p:bldP spid="25" grpId="0" animBg="1"/>
      <p:bldP spid="11" grpId="0" animBg="1"/>
      <p:bldP spid="12" grpId="0" animBg="1"/>
      <p:bldP spid="14" grpId="0" animBg="1"/>
      <p:bldP spid="18" grpId="0" animBg="1"/>
      <p:bldP spid="19" grpId="0" animBg="1"/>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D5262-8EEE-A658-6F8F-038D93C36C0D}"/>
              </a:ext>
            </a:extLst>
          </p:cNvPr>
          <p:cNvSpPr>
            <a:spLocks noGrp="1"/>
          </p:cNvSpPr>
          <p:nvPr>
            <p:ph type="title"/>
          </p:nvPr>
        </p:nvSpPr>
        <p:spPr>
          <a:xfrm>
            <a:off x="195059" y="153863"/>
            <a:ext cx="8753475" cy="461665"/>
          </a:xfrm>
        </p:spPr>
        <p:txBody>
          <a:bodyPr/>
          <a:lstStyle/>
          <a:p>
            <a:r>
              <a:rPr lang="en-US" dirty="0"/>
              <a:t>Architecture and Workload Specification</a:t>
            </a:r>
            <a:endParaRPr lang="en-GB" dirty="0"/>
          </a:p>
        </p:txBody>
      </p:sp>
      <p:sp>
        <p:nvSpPr>
          <p:cNvPr id="4" name="Slide Number Placeholder 3">
            <a:extLst>
              <a:ext uri="{FF2B5EF4-FFF2-40B4-BE49-F238E27FC236}">
                <a16:creationId xmlns:a16="http://schemas.microsoft.com/office/drawing/2014/main" id="{C01A65DD-7C39-1B9B-47CC-84E53365A80A}"/>
              </a:ext>
            </a:extLst>
          </p:cNvPr>
          <p:cNvSpPr>
            <a:spLocks noGrp="1"/>
          </p:cNvSpPr>
          <p:nvPr>
            <p:ph type="sldNum" sz="quarter" idx="12"/>
          </p:nvPr>
        </p:nvSpPr>
        <p:spPr/>
        <p:txBody>
          <a:bodyPr/>
          <a:lstStyle/>
          <a:p>
            <a:fld id="{8836216C-5BC3-7C44-80F8-E30864FFC228}" type="slidenum">
              <a:rPr lang="en-US" smtClean="0"/>
              <a:t>20</a:t>
            </a:fld>
            <a:endParaRPr lang="en-US"/>
          </a:p>
        </p:txBody>
      </p:sp>
      <p:sp>
        <p:nvSpPr>
          <p:cNvPr id="11" name="TextBox 10">
            <a:extLst>
              <a:ext uri="{FF2B5EF4-FFF2-40B4-BE49-F238E27FC236}">
                <a16:creationId xmlns:a16="http://schemas.microsoft.com/office/drawing/2014/main" id="{5303CF3B-B1A6-8242-5E09-4D34E4F8448C}"/>
              </a:ext>
            </a:extLst>
          </p:cNvPr>
          <p:cNvSpPr txBox="1"/>
          <p:nvPr/>
        </p:nvSpPr>
        <p:spPr>
          <a:xfrm>
            <a:off x="1788266" y="2852942"/>
            <a:ext cx="3048271"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dirty="0"/>
              <a:t>Operational Array</a:t>
            </a:r>
            <a:r>
              <a:rPr lang="en-GB" sz="1400" dirty="0"/>
              <a:t>: //MAC units</a:t>
            </a:r>
          </a:p>
          <a:p>
            <a:r>
              <a:rPr lang="en-GB" sz="1400" b="1" dirty="0"/>
              <a:t>Memories</a:t>
            </a:r>
            <a:r>
              <a:rPr lang="en-GB" sz="1400" dirty="0"/>
              <a:t>: // Different memories level</a:t>
            </a:r>
          </a:p>
          <a:p>
            <a:r>
              <a:rPr lang="en-GB" sz="1400" dirty="0"/>
              <a:t>//For each memory level</a:t>
            </a:r>
          </a:p>
          <a:p>
            <a:pPr marL="228600" indent="-228600">
              <a:buAutoNum type="arabicPeriod"/>
            </a:pPr>
            <a:r>
              <a:rPr lang="en-GB" sz="1400" dirty="0"/>
              <a:t>Size</a:t>
            </a:r>
          </a:p>
          <a:p>
            <a:pPr marL="228600" indent="-228600">
              <a:buAutoNum type="arabicPeriod"/>
            </a:pPr>
            <a:r>
              <a:rPr lang="en-GB" sz="1400" dirty="0"/>
              <a:t>R/W bandwidth</a:t>
            </a:r>
          </a:p>
          <a:p>
            <a:pPr marL="228600" indent="-228600">
              <a:buAutoNum type="arabicPeriod"/>
            </a:pPr>
            <a:r>
              <a:rPr lang="en-GB" sz="1400" dirty="0"/>
              <a:t>R/W Energy data</a:t>
            </a:r>
          </a:p>
          <a:p>
            <a:pPr marL="228600" indent="-228600">
              <a:buAutoNum type="arabicPeriod"/>
            </a:pPr>
            <a:r>
              <a:rPr lang="en-GB" sz="1400" dirty="0"/>
              <a:t>Area</a:t>
            </a:r>
          </a:p>
          <a:p>
            <a:pPr marL="228600" indent="-228600">
              <a:buAutoNum type="arabicPeriod"/>
            </a:pPr>
            <a:r>
              <a:rPr lang="en-GB" sz="1400" dirty="0"/>
              <a:t>Ports</a:t>
            </a:r>
          </a:p>
          <a:p>
            <a:pPr marL="228600" indent="-228600">
              <a:buAutoNum type="arabicPeriod"/>
            </a:pPr>
            <a:r>
              <a:rPr lang="en-GB" sz="1400" dirty="0"/>
              <a:t>Latency</a:t>
            </a:r>
          </a:p>
        </p:txBody>
      </p:sp>
      <p:sp>
        <p:nvSpPr>
          <p:cNvPr id="13" name="Cube 12">
            <a:extLst>
              <a:ext uri="{FF2B5EF4-FFF2-40B4-BE49-F238E27FC236}">
                <a16:creationId xmlns:a16="http://schemas.microsoft.com/office/drawing/2014/main" id="{C2003287-3DAC-4921-97F3-2ED886C03A7D}"/>
              </a:ext>
            </a:extLst>
          </p:cNvPr>
          <p:cNvSpPr/>
          <p:nvPr/>
        </p:nvSpPr>
        <p:spPr>
          <a:xfrm>
            <a:off x="5754459" y="1076816"/>
            <a:ext cx="458743" cy="451857"/>
          </a:xfrm>
          <a:prstGeom prst="cub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5" name="Cube 14">
            <a:extLst>
              <a:ext uri="{FF2B5EF4-FFF2-40B4-BE49-F238E27FC236}">
                <a16:creationId xmlns:a16="http://schemas.microsoft.com/office/drawing/2014/main" id="{24D0EF4F-3E79-F629-43D7-B2A99BE1845F}"/>
              </a:ext>
            </a:extLst>
          </p:cNvPr>
          <p:cNvSpPr/>
          <p:nvPr/>
        </p:nvSpPr>
        <p:spPr>
          <a:xfrm>
            <a:off x="5754459" y="1531261"/>
            <a:ext cx="458743" cy="451857"/>
          </a:xfrm>
          <a:prstGeom prst="cub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7" name="Cube 16">
            <a:extLst>
              <a:ext uri="{FF2B5EF4-FFF2-40B4-BE49-F238E27FC236}">
                <a16:creationId xmlns:a16="http://schemas.microsoft.com/office/drawing/2014/main" id="{18FE9504-EC4C-2A25-9F8C-AF0055442C8E}"/>
              </a:ext>
            </a:extLst>
          </p:cNvPr>
          <p:cNvSpPr/>
          <p:nvPr/>
        </p:nvSpPr>
        <p:spPr>
          <a:xfrm>
            <a:off x="5754459" y="1985706"/>
            <a:ext cx="458743" cy="451857"/>
          </a:xfrm>
          <a:prstGeom prst="cub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cxnSp>
        <p:nvCxnSpPr>
          <p:cNvPr id="19" name="Straight Arrow Connector 18">
            <a:extLst>
              <a:ext uri="{FF2B5EF4-FFF2-40B4-BE49-F238E27FC236}">
                <a16:creationId xmlns:a16="http://schemas.microsoft.com/office/drawing/2014/main" id="{D5C3AD94-923E-8DF4-F1B3-CA618BE27A6C}"/>
              </a:ext>
            </a:extLst>
          </p:cNvPr>
          <p:cNvCxnSpPr/>
          <p:nvPr/>
        </p:nvCxnSpPr>
        <p:spPr>
          <a:xfrm>
            <a:off x="5593765" y="1184658"/>
            <a:ext cx="12394" cy="1251791"/>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77A6EBF2-D339-A3DF-CFE2-024584DDB146}"/>
              </a:ext>
            </a:extLst>
          </p:cNvPr>
          <p:cNvSpPr txBox="1"/>
          <p:nvPr/>
        </p:nvSpPr>
        <p:spPr>
          <a:xfrm>
            <a:off x="5480133" y="1698557"/>
            <a:ext cx="83881" cy="222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K</a:t>
            </a:r>
          </a:p>
        </p:txBody>
      </p:sp>
      <p:cxnSp>
        <p:nvCxnSpPr>
          <p:cNvPr id="23" name="Straight Arrow Connector 22">
            <a:extLst>
              <a:ext uri="{FF2B5EF4-FFF2-40B4-BE49-F238E27FC236}">
                <a16:creationId xmlns:a16="http://schemas.microsoft.com/office/drawing/2014/main" id="{09DE05F4-AD3C-F807-B138-885901EB461B}"/>
              </a:ext>
            </a:extLst>
          </p:cNvPr>
          <p:cNvCxnSpPr/>
          <p:nvPr/>
        </p:nvCxnSpPr>
        <p:spPr>
          <a:xfrm flipH="1">
            <a:off x="5623373" y="967762"/>
            <a:ext cx="201058" cy="191418"/>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D2369E11-189A-1319-1844-DBEE79F91EFA}"/>
              </a:ext>
            </a:extLst>
          </p:cNvPr>
          <p:cNvSpPr txBox="1"/>
          <p:nvPr/>
        </p:nvSpPr>
        <p:spPr>
          <a:xfrm>
            <a:off x="5601438" y="922902"/>
            <a:ext cx="79995"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C</a:t>
            </a:r>
          </a:p>
        </p:txBody>
      </p:sp>
      <p:sp>
        <p:nvSpPr>
          <p:cNvPr id="27" name="Cube 26">
            <a:extLst>
              <a:ext uri="{FF2B5EF4-FFF2-40B4-BE49-F238E27FC236}">
                <a16:creationId xmlns:a16="http://schemas.microsoft.com/office/drawing/2014/main" id="{B5F357D1-8A36-896D-B7BC-C8B3B060D3B8}"/>
              </a:ext>
            </a:extLst>
          </p:cNvPr>
          <p:cNvSpPr/>
          <p:nvPr/>
        </p:nvSpPr>
        <p:spPr>
          <a:xfrm>
            <a:off x="6434406" y="1026895"/>
            <a:ext cx="851219" cy="782363"/>
          </a:xfrm>
          <a:prstGeom prst="cube">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9" name="Cube 28">
            <a:extLst>
              <a:ext uri="{FF2B5EF4-FFF2-40B4-BE49-F238E27FC236}">
                <a16:creationId xmlns:a16="http://schemas.microsoft.com/office/drawing/2014/main" id="{901C4002-C468-C5A1-8FB9-6F35D24FC431}"/>
              </a:ext>
            </a:extLst>
          </p:cNvPr>
          <p:cNvSpPr/>
          <p:nvPr/>
        </p:nvSpPr>
        <p:spPr>
          <a:xfrm>
            <a:off x="6434406" y="1853160"/>
            <a:ext cx="851219" cy="782363"/>
          </a:xfrm>
          <a:prstGeom prst="cube">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cxnSp>
        <p:nvCxnSpPr>
          <p:cNvPr id="31" name="Straight Arrow Connector 30">
            <a:extLst>
              <a:ext uri="{FF2B5EF4-FFF2-40B4-BE49-F238E27FC236}">
                <a16:creationId xmlns:a16="http://schemas.microsoft.com/office/drawing/2014/main" id="{725FFD0A-6854-40A4-689C-B38DCA7C03E0}"/>
              </a:ext>
            </a:extLst>
          </p:cNvPr>
          <p:cNvCxnSpPr/>
          <p:nvPr/>
        </p:nvCxnSpPr>
        <p:spPr>
          <a:xfrm flipV="1">
            <a:off x="5757296" y="2538011"/>
            <a:ext cx="336016" cy="1376"/>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1440FEF4-F6A8-63F8-B29A-0FA087D52A8A}"/>
              </a:ext>
            </a:extLst>
          </p:cNvPr>
          <p:cNvSpPr txBox="1"/>
          <p:nvPr/>
        </p:nvSpPr>
        <p:spPr>
          <a:xfrm>
            <a:off x="5761427" y="2500375"/>
            <a:ext cx="33652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FX</a:t>
            </a:r>
          </a:p>
        </p:txBody>
      </p:sp>
      <p:sp>
        <p:nvSpPr>
          <p:cNvPr id="35" name="Cube 34">
            <a:extLst>
              <a:ext uri="{FF2B5EF4-FFF2-40B4-BE49-F238E27FC236}">
                <a16:creationId xmlns:a16="http://schemas.microsoft.com/office/drawing/2014/main" id="{8A3AAE0E-789F-6FD5-264C-AD2119EF5693}"/>
              </a:ext>
            </a:extLst>
          </p:cNvPr>
          <p:cNvSpPr/>
          <p:nvPr/>
        </p:nvSpPr>
        <p:spPr>
          <a:xfrm>
            <a:off x="7558472" y="1028616"/>
            <a:ext cx="630881" cy="610225"/>
          </a:xfrm>
          <a:prstGeom prst="cub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7" name="Cube 36">
            <a:extLst>
              <a:ext uri="{FF2B5EF4-FFF2-40B4-BE49-F238E27FC236}">
                <a16:creationId xmlns:a16="http://schemas.microsoft.com/office/drawing/2014/main" id="{2971C67F-AADC-B6AB-9BEB-2859EFFA3F13}"/>
              </a:ext>
            </a:extLst>
          </p:cNvPr>
          <p:cNvSpPr/>
          <p:nvPr/>
        </p:nvSpPr>
        <p:spPr>
          <a:xfrm>
            <a:off x="7558472" y="1675857"/>
            <a:ext cx="630881" cy="610225"/>
          </a:xfrm>
          <a:prstGeom prst="cub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cxnSp>
        <p:nvCxnSpPr>
          <p:cNvPr id="39" name="Straight Arrow Connector 38">
            <a:extLst>
              <a:ext uri="{FF2B5EF4-FFF2-40B4-BE49-F238E27FC236}">
                <a16:creationId xmlns:a16="http://schemas.microsoft.com/office/drawing/2014/main" id="{C5B5166E-2BF1-0276-6B1D-6643B135C844}"/>
              </a:ext>
            </a:extLst>
          </p:cNvPr>
          <p:cNvCxnSpPr/>
          <p:nvPr/>
        </p:nvCxnSpPr>
        <p:spPr>
          <a:xfrm flipV="1">
            <a:off x="6433801" y="2711870"/>
            <a:ext cx="645865" cy="1376"/>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BFA1F21E-F480-1E0B-EA5B-42FA1DAAD54F}"/>
              </a:ext>
            </a:extLst>
          </p:cNvPr>
          <p:cNvSpPr txBox="1"/>
          <p:nvPr/>
        </p:nvSpPr>
        <p:spPr>
          <a:xfrm>
            <a:off x="6623398" y="2720219"/>
            <a:ext cx="452886"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IX</a:t>
            </a:r>
          </a:p>
        </p:txBody>
      </p:sp>
      <p:cxnSp>
        <p:nvCxnSpPr>
          <p:cNvPr id="43" name="Straight Arrow Connector 42">
            <a:extLst>
              <a:ext uri="{FF2B5EF4-FFF2-40B4-BE49-F238E27FC236}">
                <a16:creationId xmlns:a16="http://schemas.microsoft.com/office/drawing/2014/main" id="{86CEBF4E-6D0A-E8C2-E444-EDBAA0A0EC7C}"/>
              </a:ext>
            </a:extLst>
          </p:cNvPr>
          <p:cNvCxnSpPr/>
          <p:nvPr/>
        </p:nvCxnSpPr>
        <p:spPr>
          <a:xfrm flipH="1">
            <a:off x="7318938" y="1850833"/>
            <a:ext cx="1376" cy="597665"/>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8EDEA027-99A3-8A9D-3C7C-99E26289115D}"/>
              </a:ext>
            </a:extLst>
          </p:cNvPr>
          <p:cNvSpPr txBox="1"/>
          <p:nvPr/>
        </p:nvSpPr>
        <p:spPr>
          <a:xfrm>
            <a:off x="7283129" y="2073470"/>
            <a:ext cx="274551"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IY</a:t>
            </a:r>
          </a:p>
        </p:txBody>
      </p:sp>
      <p:cxnSp>
        <p:nvCxnSpPr>
          <p:cNvPr id="47" name="Straight Arrow Connector 46">
            <a:extLst>
              <a:ext uri="{FF2B5EF4-FFF2-40B4-BE49-F238E27FC236}">
                <a16:creationId xmlns:a16="http://schemas.microsoft.com/office/drawing/2014/main" id="{8512BFBE-8B24-A41F-7926-355AAED65A69}"/>
              </a:ext>
            </a:extLst>
          </p:cNvPr>
          <p:cNvCxnSpPr/>
          <p:nvPr/>
        </p:nvCxnSpPr>
        <p:spPr>
          <a:xfrm flipH="1">
            <a:off x="6394554" y="1181215"/>
            <a:ext cx="1376" cy="1458356"/>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FB2041D9-A34A-A035-42ED-0B0794A00C13}"/>
              </a:ext>
            </a:extLst>
          </p:cNvPr>
          <p:cNvSpPr txBox="1"/>
          <p:nvPr/>
        </p:nvSpPr>
        <p:spPr>
          <a:xfrm>
            <a:off x="6243413" y="1804933"/>
            <a:ext cx="33652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B</a:t>
            </a:r>
          </a:p>
        </p:txBody>
      </p:sp>
      <p:cxnSp>
        <p:nvCxnSpPr>
          <p:cNvPr id="51" name="Straight Arrow Connector 50">
            <a:extLst>
              <a:ext uri="{FF2B5EF4-FFF2-40B4-BE49-F238E27FC236}">
                <a16:creationId xmlns:a16="http://schemas.microsoft.com/office/drawing/2014/main" id="{C6D1443E-2860-6635-E62B-8F82764186FF}"/>
              </a:ext>
            </a:extLst>
          </p:cNvPr>
          <p:cNvCxnSpPr>
            <a:cxnSpLocks/>
          </p:cNvCxnSpPr>
          <p:nvPr/>
        </p:nvCxnSpPr>
        <p:spPr>
          <a:xfrm flipH="1">
            <a:off x="6243073" y="1986824"/>
            <a:ext cx="1376" cy="370440"/>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8804DDA7-022A-A708-7BF9-B6595047F260}"/>
              </a:ext>
            </a:extLst>
          </p:cNvPr>
          <p:cNvSpPr txBox="1"/>
          <p:nvPr/>
        </p:nvSpPr>
        <p:spPr>
          <a:xfrm>
            <a:off x="6188327" y="2073470"/>
            <a:ext cx="336521"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FY</a:t>
            </a:r>
          </a:p>
        </p:txBody>
      </p:sp>
      <p:cxnSp>
        <p:nvCxnSpPr>
          <p:cNvPr id="55" name="Straight Arrow Connector 54">
            <a:extLst>
              <a:ext uri="{FF2B5EF4-FFF2-40B4-BE49-F238E27FC236}">
                <a16:creationId xmlns:a16="http://schemas.microsoft.com/office/drawing/2014/main" id="{A835DA32-190A-0ED2-D9BB-70BFF1910AC7}"/>
              </a:ext>
            </a:extLst>
          </p:cNvPr>
          <p:cNvCxnSpPr>
            <a:cxnSpLocks/>
          </p:cNvCxnSpPr>
          <p:nvPr/>
        </p:nvCxnSpPr>
        <p:spPr>
          <a:xfrm flipH="1">
            <a:off x="6394554" y="981533"/>
            <a:ext cx="201058" cy="184533"/>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9A16A43F-1EA3-AC03-C3A3-06806F831A31}"/>
              </a:ext>
            </a:extLst>
          </p:cNvPr>
          <p:cNvSpPr txBox="1"/>
          <p:nvPr/>
        </p:nvSpPr>
        <p:spPr>
          <a:xfrm>
            <a:off x="6372618" y="929787"/>
            <a:ext cx="79995"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C</a:t>
            </a:r>
          </a:p>
        </p:txBody>
      </p:sp>
      <p:cxnSp>
        <p:nvCxnSpPr>
          <p:cNvPr id="59" name="Straight Arrow Connector 58">
            <a:extLst>
              <a:ext uri="{FF2B5EF4-FFF2-40B4-BE49-F238E27FC236}">
                <a16:creationId xmlns:a16="http://schemas.microsoft.com/office/drawing/2014/main" id="{23532C3A-D7C7-8F8F-36C5-EFEB476AD74A}"/>
              </a:ext>
            </a:extLst>
          </p:cNvPr>
          <p:cNvCxnSpPr>
            <a:cxnSpLocks/>
          </p:cNvCxnSpPr>
          <p:nvPr/>
        </p:nvCxnSpPr>
        <p:spPr>
          <a:xfrm flipH="1">
            <a:off x="7510011" y="1181215"/>
            <a:ext cx="1376" cy="1107194"/>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8BD7FD85-882A-ADBA-BA2F-3D9CECCEB14A}"/>
              </a:ext>
            </a:extLst>
          </p:cNvPr>
          <p:cNvSpPr txBox="1"/>
          <p:nvPr/>
        </p:nvSpPr>
        <p:spPr>
          <a:xfrm>
            <a:off x="7386412" y="1639679"/>
            <a:ext cx="123068"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B</a:t>
            </a:r>
          </a:p>
        </p:txBody>
      </p:sp>
      <p:cxnSp>
        <p:nvCxnSpPr>
          <p:cNvPr id="63" name="Straight Arrow Connector 62">
            <a:extLst>
              <a:ext uri="{FF2B5EF4-FFF2-40B4-BE49-F238E27FC236}">
                <a16:creationId xmlns:a16="http://schemas.microsoft.com/office/drawing/2014/main" id="{1A3EC526-B200-B949-D602-AE9701D06DEA}"/>
              </a:ext>
            </a:extLst>
          </p:cNvPr>
          <p:cNvCxnSpPr>
            <a:cxnSpLocks/>
          </p:cNvCxnSpPr>
          <p:nvPr/>
        </p:nvCxnSpPr>
        <p:spPr>
          <a:xfrm flipH="1">
            <a:off x="7510011" y="974648"/>
            <a:ext cx="173516" cy="184532"/>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9C46C82D-46E1-E310-0B18-23615E6E07AE}"/>
              </a:ext>
            </a:extLst>
          </p:cNvPr>
          <p:cNvSpPr txBox="1"/>
          <p:nvPr/>
        </p:nvSpPr>
        <p:spPr>
          <a:xfrm>
            <a:off x="7488076" y="936673"/>
            <a:ext cx="79995"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K</a:t>
            </a:r>
          </a:p>
        </p:txBody>
      </p:sp>
      <p:cxnSp>
        <p:nvCxnSpPr>
          <p:cNvPr id="67" name="Straight Arrow Connector 66">
            <a:extLst>
              <a:ext uri="{FF2B5EF4-FFF2-40B4-BE49-F238E27FC236}">
                <a16:creationId xmlns:a16="http://schemas.microsoft.com/office/drawing/2014/main" id="{625F0709-D364-D60C-256F-C0BD6123ED4C}"/>
              </a:ext>
            </a:extLst>
          </p:cNvPr>
          <p:cNvCxnSpPr>
            <a:cxnSpLocks/>
          </p:cNvCxnSpPr>
          <p:nvPr/>
        </p:nvCxnSpPr>
        <p:spPr>
          <a:xfrm flipH="1">
            <a:off x="8227830" y="1678693"/>
            <a:ext cx="1376" cy="473726"/>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A8513DEA-656C-B181-C804-085BAF626D0B}"/>
              </a:ext>
            </a:extLst>
          </p:cNvPr>
          <p:cNvSpPr txBox="1"/>
          <p:nvPr/>
        </p:nvSpPr>
        <p:spPr>
          <a:xfrm>
            <a:off x="8185135" y="1818705"/>
            <a:ext cx="350291"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OY</a:t>
            </a:r>
          </a:p>
        </p:txBody>
      </p:sp>
      <p:cxnSp>
        <p:nvCxnSpPr>
          <p:cNvPr id="71" name="Straight Arrow Connector 70">
            <a:extLst>
              <a:ext uri="{FF2B5EF4-FFF2-40B4-BE49-F238E27FC236}">
                <a16:creationId xmlns:a16="http://schemas.microsoft.com/office/drawing/2014/main" id="{308D3D72-600E-ED12-E406-D63D2FE19278}"/>
              </a:ext>
            </a:extLst>
          </p:cNvPr>
          <p:cNvCxnSpPr>
            <a:cxnSpLocks/>
          </p:cNvCxnSpPr>
          <p:nvPr/>
        </p:nvCxnSpPr>
        <p:spPr>
          <a:xfrm flipV="1">
            <a:off x="7542373" y="2326280"/>
            <a:ext cx="508154" cy="1376"/>
          </a:xfrm>
          <a:prstGeom prst="straightConnector1">
            <a:avLst/>
          </a:prstGeom>
          <a:ln w="3175" cmpd="sng">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6D284845-30DC-2FBE-3B21-E538F8D9086B}"/>
              </a:ext>
            </a:extLst>
          </p:cNvPr>
          <p:cNvSpPr txBox="1"/>
          <p:nvPr/>
        </p:nvSpPr>
        <p:spPr>
          <a:xfrm>
            <a:off x="7599866" y="2286922"/>
            <a:ext cx="39849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800"/>
              <a:t>OX</a:t>
            </a:r>
          </a:p>
        </p:txBody>
      </p:sp>
      <p:sp>
        <p:nvSpPr>
          <p:cNvPr id="76" name="TextBox 75">
            <a:extLst>
              <a:ext uri="{FF2B5EF4-FFF2-40B4-BE49-F238E27FC236}">
                <a16:creationId xmlns:a16="http://schemas.microsoft.com/office/drawing/2014/main" id="{FF646E75-0808-7D83-1BB7-0EBEA6856AC3}"/>
              </a:ext>
            </a:extLst>
          </p:cNvPr>
          <p:cNvSpPr txBox="1"/>
          <p:nvPr/>
        </p:nvSpPr>
        <p:spPr>
          <a:xfrm>
            <a:off x="5238895" y="2923914"/>
            <a:ext cx="3824375"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dirty="0" err="1"/>
              <a:t>Dimension_relation</a:t>
            </a:r>
            <a:r>
              <a:rPr lang="en-GB" sz="1400" b="1" dirty="0"/>
              <a:t>:</a:t>
            </a:r>
            <a:r>
              <a:rPr lang="en-GB" sz="1400" dirty="0"/>
              <a:t> [ox = S*ix-</a:t>
            </a:r>
            <a:r>
              <a:rPr lang="en-GB" sz="1400" dirty="0" err="1"/>
              <a:t>fx</a:t>
            </a:r>
            <a:r>
              <a:rPr lang="en-GB" sz="1400" dirty="0"/>
              <a:t>, oy=S*</a:t>
            </a:r>
            <a:r>
              <a:rPr lang="en-GB" sz="1400" dirty="0" err="1"/>
              <a:t>iy-fy</a:t>
            </a:r>
            <a:r>
              <a:rPr lang="en-GB" sz="1400" dirty="0"/>
              <a:t>]</a:t>
            </a:r>
          </a:p>
          <a:p>
            <a:r>
              <a:rPr lang="en-GB" sz="1400" b="1" dirty="0"/>
              <a:t>Loop dimension</a:t>
            </a:r>
            <a:r>
              <a:rPr lang="en-GB" sz="1400" dirty="0"/>
              <a:t>: [B,K,IX,IY, C, FX, FY]</a:t>
            </a:r>
          </a:p>
          <a:p>
            <a:r>
              <a:rPr lang="en-GB" sz="1400" b="1" dirty="0"/>
              <a:t>Loop sizes</a:t>
            </a:r>
            <a:r>
              <a:rPr lang="en-GB" sz="1400" dirty="0"/>
              <a:t>: [</a:t>
            </a:r>
            <a:r>
              <a:rPr lang="en-GB" sz="1400" dirty="0" err="1"/>
              <a:t>b,k,ix,iy,c,fx,fy</a:t>
            </a:r>
            <a:r>
              <a:rPr lang="en-GB" sz="1400" dirty="0"/>
              <a:t>]</a:t>
            </a:r>
          </a:p>
          <a:p>
            <a:endParaRPr lang="en-GB" sz="1400" dirty="0"/>
          </a:p>
          <a:p>
            <a:r>
              <a:rPr lang="en-GB" sz="1400" dirty="0"/>
              <a:t>Where </a:t>
            </a:r>
            <a:r>
              <a:rPr lang="en-GB" sz="1400" dirty="0" err="1"/>
              <a:t>b,k,ix,iy,c,fx,fy</a:t>
            </a:r>
            <a:r>
              <a:rPr lang="en-GB" sz="1400" dirty="0"/>
              <a:t> are workload dimensions</a:t>
            </a:r>
          </a:p>
        </p:txBody>
      </p:sp>
      <p:sp>
        <p:nvSpPr>
          <p:cNvPr id="12" name="Rectangle 11">
            <a:extLst>
              <a:ext uri="{FF2B5EF4-FFF2-40B4-BE49-F238E27FC236}">
                <a16:creationId xmlns:a16="http://schemas.microsoft.com/office/drawing/2014/main" id="{9ED9BF49-71A4-E01C-C27A-244EDBDDE7A8}"/>
              </a:ext>
            </a:extLst>
          </p:cNvPr>
          <p:cNvSpPr/>
          <p:nvPr/>
        </p:nvSpPr>
        <p:spPr>
          <a:xfrm>
            <a:off x="197268" y="1514290"/>
            <a:ext cx="890966" cy="393434"/>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00" dirty="0">
                <a:solidFill>
                  <a:schemeClr val="tx1"/>
                </a:solidFill>
              </a:rPr>
              <a:t>Inputs</a:t>
            </a:r>
          </a:p>
        </p:txBody>
      </p:sp>
      <p:sp>
        <p:nvSpPr>
          <p:cNvPr id="16" name="Rectangle 15">
            <a:extLst>
              <a:ext uri="{FF2B5EF4-FFF2-40B4-BE49-F238E27FC236}">
                <a16:creationId xmlns:a16="http://schemas.microsoft.com/office/drawing/2014/main" id="{B4B258AD-A064-F1D8-8492-9F187DF5A49D}"/>
              </a:ext>
            </a:extLst>
          </p:cNvPr>
          <p:cNvSpPr/>
          <p:nvPr/>
        </p:nvSpPr>
        <p:spPr>
          <a:xfrm>
            <a:off x="193741" y="2057486"/>
            <a:ext cx="891913" cy="379419"/>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err="1">
                <a:solidFill>
                  <a:srgbClr val="929497"/>
                </a:solidFill>
              </a:rPr>
              <a:t>Mapspace</a:t>
            </a:r>
            <a:r>
              <a:rPr lang="en-GB" sz="1000">
                <a:solidFill>
                  <a:srgbClr val="929497"/>
                </a:solidFill>
              </a:rPr>
              <a:t> generation</a:t>
            </a:r>
          </a:p>
        </p:txBody>
      </p:sp>
      <p:sp>
        <p:nvSpPr>
          <p:cNvPr id="20" name="Rectangle 19">
            <a:extLst>
              <a:ext uri="{FF2B5EF4-FFF2-40B4-BE49-F238E27FC236}">
                <a16:creationId xmlns:a16="http://schemas.microsoft.com/office/drawing/2014/main" id="{9EA1A671-D456-3B27-4403-A7C848134911}"/>
              </a:ext>
            </a:extLst>
          </p:cNvPr>
          <p:cNvSpPr/>
          <p:nvPr/>
        </p:nvSpPr>
        <p:spPr>
          <a:xfrm>
            <a:off x="186158" y="2586665"/>
            <a:ext cx="892261" cy="336015"/>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Analytical cost model</a:t>
            </a:r>
          </a:p>
        </p:txBody>
      </p:sp>
      <p:sp>
        <p:nvSpPr>
          <p:cNvPr id="24" name="Rectangle 23">
            <a:extLst>
              <a:ext uri="{FF2B5EF4-FFF2-40B4-BE49-F238E27FC236}">
                <a16:creationId xmlns:a16="http://schemas.microsoft.com/office/drawing/2014/main" id="{8DCACFEE-1427-3BF1-687F-D83F93FBDC99}"/>
              </a:ext>
            </a:extLst>
          </p:cNvPr>
          <p:cNvSpPr/>
          <p:nvPr/>
        </p:nvSpPr>
        <p:spPr>
          <a:xfrm>
            <a:off x="186158" y="3065297"/>
            <a:ext cx="893293" cy="336014"/>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err="1">
                <a:solidFill>
                  <a:srgbClr val="929497"/>
                </a:solidFill>
              </a:rPr>
              <a:t>Mapspace</a:t>
            </a:r>
            <a:r>
              <a:rPr lang="en-GB" sz="1000">
                <a:solidFill>
                  <a:srgbClr val="929497"/>
                </a:solidFill>
              </a:rPr>
              <a:t> search engine </a:t>
            </a:r>
          </a:p>
        </p:txBody>
      </p:sp>
      <p:sp>
        <p:nvSpPr>
          <p:cNvPr id="28" name="Rectangle 27">
            <a:extLst>
              <a:ext uri="{FF2B5EF4-FFF2-40B4-BE49-F238E27FC236}">
                <a16:creationId xmlns:a16="http://schemas.microsoft.com/office/drawing/2014/main" id="{724699DC-05D2-9FC8-1F11-C51D7BC1E98D}"/>
              </a:ext>
            </a:extLst>
          </p:cNvPr>
          <p:cNvSpPr/>
          <p:nvPr/>
        </p:nvSpPr>
        <p:spPr>
          <a:xfrm>
            <a:off x="185215" y="3543568"/>
            <a:ext cx="890196" cy="350301"/>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Outputs</a:t>
            </a:r>
          </a:p>
        </p:txBody>
      </p:sp>
      <p:sp>
        <p:nvSpPr>
          <p:cNvPr id="8" name="TextBox 7">
            <a:extLst>
              <a:ext uri="{FF2B5EF4-FFF2-40B4-BE49-F238E27FC236}">
                <a16:creationId xmlns:a16="http://schemas.microsoft.com/office/drawing/2014/main" id="{BEFC072D-B052-F9F7-2514-CBAA85260E9A}"/>
              </a:ext>
            </a:extLst>
          </p:cNvPr>
          <p:cNvSpPr txBox="1"/>
          <p:nvPr/>
        </p:nvSpPr>
        <p:spPr>
          <a:xfrm>
            <a:off x="3775308" y="1600773"/>
            <a:ext cx="278028" cy="70851"/>
          </a:xfrm>
          <a:prstGeom prst="rect">
            <a:avLst/>
          </a:prstGeom>
          <a:solidFill>
            <a:srgbClr val="FFFFFF"/>
          </a:solidFill>
        </p:spPr>
        <p:txBody>
          <a:bodyPr wrap="square" rtlCol="0">
            <a:spAutoFit/>
          </a:bodyPr>
          <a:lstStyle/>
          <a:p>
            <a:pPr algn="ctr"/>
            <a:endParaRPr lang="en-NL" sz="1200" dirty="0" err="1"/>
          </a:p>
        </p:txBody>
      </p:sp>
      <p:sp>
        <p:nvSpPr>
          <p:cNvPr id="9" name="TextBox 8">
            <a:extLst>
              <a:ext uri="{FF2B5EF4-FFF2-40B4-BE49-F238E27FC236}">
                <a16:creationId xmlns:a16="http://schemas.microsoft.com/office/drawing/2014/main" id="{32378A21-A855-AAC2-5D93-7BB858ACE6B8}"/>
              </a:ext>
            </a:extLst>
          </p:cNvPr>
          <p:cNvSpPr txBox="1"/>
          <p:nvPr/>
        </p:nvSpPr>
        <p:spPr>
          <a:xfrm>
            <a:off x="2568045" y="1244728"/>
            <a:ext cx="258131" cy="74427"/>
          </a:xfrm>
          <a:prstGeom prst="rect">
            <a:avLst/>
          </a:prstGeom>
          <a:solidFill>
            <a:srgbClr val="FFFFFF"/>
          </a:solidFill>
        </p:spPr>
        <p:txBody>
          <a:bodyPr wrap="square" rtlCol="0">
            <a:spAutoFit/>
          </a:bodyPr>
          <a:lstStyle/>
          <a:p>
            <a:pPr algn="ctr"/>
            <a:endParaRPr lang="en-NL" sz="1200" dirty="0" err="1"/>
          </a:p>
        </p:txBody>
      </p:sp>
      <p:sp>
        <p:nvSpPr>
          <p:cNvPr id="14" name="TextBox 13">
            <a:extLst>
              <a:ext uri="{FF2B5EF4-FFF2-40B4-BE49-F238E27FC236}">
                <a16:creationId xmlns:a16="http://schemas.microsoft.com/office/drawing/2014/main" id="{2C7E2E50-FC74-6E4F-EE41-5CAA51F638BB}"/>
              </a:ext>
            </a:extLst>
          </p:cNvPr>
          <p:cNvSpPr txBox="1"/>
          <p:nvPr/>
        </p:nvSpPr>
        <p:spPr>
          <a:xfrm>
            <a:off x="2706743" y="1907724"/>
            <a:ext cx="278028" cy="70851"/>
          </a:xfrm>
          <a:prstGeom prst="rect">
            <a:avLst/>
          </a:prstGeom>
          <a:solidFill>
            <a:srgbClr val="FFFFFF"/>
          </a:solidFill>
        </p:spPr>
        <p:txBody>
          <a:bodyPr wrap="square" rtlCol="0">
            <a:spAutoFit/>
          </a:bodyPr>
          <a:lstStyle/>
          <a:p>
            <a:pPr algn="ctr"/>
            <a:endParaRPr lang="en-NL" sz="1200" dirty="0" err="1"/>
          </a:p>
        </p:txBody>
      </p:sp>
      <p:pic>
        <p:nvPicPr>
          <p:cNvPr id="42" name="Picture 41">
            <a:extLst>
              <a:ext uri="{FF2B5EF4-FFF2-40B4-BE49-F238E27FC236}">
                <a16:creationId xmlns:a16="http://schemas.microsoft.com/office/drawing/2014/main" id="{DA7DA61E-CDE3-2C7E-7AC1-C89EBAE022D4}"/>
              </a:ext>
            </a:extLst>
          </p:cNvPr>
          <p:cNvPicPr>
            <a:picLocks noChangeAspect="1"/>
          </p:cNvPicPr>
          <p:nvPr/>
        </p:nvPicPr>
        <p:blipFill>
          <a:blip r:embed="rId3"/>
          <a:stretch>
            <a:fillRect/>
          </a:stretch>
        </p:blipFill>
        <p:spPr>
          <a:xfrm>
            <a:off x="1819715" y="900376"/>
            <a:ext cx="2984681" cy="1910998"/>
          </a:xfrm>
          <a:prstGeom prst="rect">
            <a:avLst/>
          </a:prstGeom>
        </p:spPr>
      </p:pic>
    </p:spTree>
    <p:extLst>
      <p:ext uri="{BB962C8B-B14F-4D97-AF65-F5344CB8AC3E}">
        <p14:creationId xmlns:p14="http://schemas.microsoft.com/office/powerpoint/2010/main" val="870919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par>
                                <p:cTn id="30" presetID="10" presetClass="entr" presetSubtype="0"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00"/>
                                        <p:tgtEl>
                                          <p:spTgt spid="29"/>
                                        </p:tgtEl>
                                      </p:cBhvr>
                                    </p:animEffect>
                                  </p:childTnLst>
                                </p:cTn>
                              </p:par>
                              <p:par>
                                <p:cTn id="42" presetID="10" presetClass="entr" presetSubtype="0" fill="hold" nodeType="with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500"/>
                                        <p:tgtEl>
                                          <p:spTgt spid="3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00"/>
                                        <p:tgtEl>
                                          <p:spTgt spid="3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500"/>
                                        <p:tgtEl>
                                          <p:spTgt spid="3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fade">
                                      <p:cBhvr>
                                        <p:cTn id="53" dur="500"/>
                                        <p:tgtEl>
                                          <p:spTgt spid="3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fade">
                                      <p:cBhvr>
                                        <p:cTn id="56" dur="500"/>
                                        <p:tgtEl>
                                          <p:spTgt spid="41"/>
                                        </p:tgtEl>
                                      </p:cBhvr>
                                    </p:animEffect>
                                  </p:childTnLst>
                                </p:cTn>
                              </p:par>
                              <p:par>
                                <p:cTn id="57" presetID="10" presetClass="entr" presetSubtype="0" fill="hold" nodeType="withEffect">
                                  <p:stCondLst>
                                    <p:cond delay="0"/>
                                  </p:stCondLst>
                                  <p:childTnLst>
                                    <p:set>
                                      <p:cBhvr>
                                        <p:cTn id="58" dur="1" fill="hold">
                                          <p:stCondLst>
                                            <p:cond delay="0"/>
                                          </p:stCondLst>
                                        </p:cTn>
                                        <p:tgtEl>
                                          <p:spTgt spid="39"/>
                                        </p:tgtEl>
                                        <p:attrNameLst>
                                          <p:attrName>style.visibility</p:attrName>
                                        </p:attrNameLst>
                                      </p:cBhvr>
                                      <p:to>
                                        <p:strVal val="visible"/>
                                      </p:to>
                                    </p:set>
                                    <p:animEffect transition="in" filter="fade">
                                      <p:cBhvr>
                                        <p:cTn id="59" dur="500"/>
                                        <p:tgtEl>
                                          <p:spTgt spid="39"/>
                                        </p:tgtEl>
                                      </p:cBhvr>
                                    </p:animEffect>
                                  </p:childTnLst>
                                </p:cTn>
                              </p:par>
                              <p:par>
                                <p:cTn id="60" presetID="10" presetClass="entr" presetSubtype="0" fill="hold" nodeType="with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fade">
                                      <p:cBhvr>
                                        <p:cTn id="62" dur="500"/>
                                        <p:tgtEl>
                                          <p:spTgt spid="4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fade">
                                      <p:cBhvr>
                                        <p:cTn id="65" dur="500"/>
                                        <p:tgtEl>
                                          <p:spTgt spid="45"/>
                                        </p:tgtEl>
                                      </p:cBhvr>
                                    </p:animEffect>
                                  </p:childTnLst>
                                </p:cTn>
                              </p:par>
                              <p:par>
                                <p:cTn id="66" presetID="10" presetClass="entr" presetSubtype="0" fill="hold" nodeType="withEffect">
                                  <p:stCondLst>
                                    <p:cond delay="0"/>
                                  </p:stCondLst>
                                  <p:childTnLst>
                                    <p:set>
                                      <p:cBhvr>
                                        <p:cTn id="67" dur="1" fill="hold">
                                          <p:stCondLst>
                                            <p:cond delay="0"/>
                                          </p:stCondLst>
                                        </p:cTn>
                                        <p:tgtEl>
                                          <p:spTgt spid="47"/>
                                        </p:tgtEl>
                                        <p:attrNameLst>
                                          <p:attrName>style.visibility</p:attrName>
                                        </p:attrNameLst>
                                      </p:cBhvr>
                                      <p:to>
                                        <p:strVal val="visible"/>
                                      </p:to>
                                    </p:set>
                                    <p:animEffect transition="in" filter="fade">
                                      <p:cBhvr>
                                        <p:cTn id="68" dur="500"/>
                                        <p:tgtEl>
                                          <p:spTgt spid="4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9"/>
                                        </p:tgtEl>
                                        <p:attrNameLst>
                                          <p:attrName>style.visibility</p:attrName>
                                        </p:attrNameLst>
                                      </p:cBhvr>
                                      <p:to>
                                        <p:strVal val="visible"/>
                                      </p:to>
                                    </p:set>
                                    <p:animEffect transition="in" filter="fade">
                                      <p:cBhvr>
                                        <p:cTn id="71" dur="500"/>
                                        <p:tgtEl>
                                          <p:spTgt spid="49"/>
                                        </p:tgtEl>
                                      </p:cBhvr>
                                    </p:animEffect>
                                  </p:childTnLst>
                                </p:cTn>
                              </p:par>
                              <p:par>
                                <p:cTn id="72" presetID="10" presetClass="entr" presetSubtype="0" fill="hold" nodeType="withEffect">
                                  <p:stCondLst>
                                    <p:cond delay="0"/>
                                  </p:stCondLst>
                                  <p:childTnLst>
                                    <p:set>
                                      <p:cBhvr>
                                        <p:cTn id="73" dur="1" fill="hold">
                                          <p:stCondLst>
                                            <p:cond delay="0"/>
                                          </p:stCondLst>
                                        </p:cTn>
                                        <p:tgtEl>
                                          <p:spTgt spid="51"/>
                                        </p:tgtEl>
                                        <p:attrNameLst>
                                          <p:attrName>style.visibility</p:attrName>
                                        </p:attrNameLst>
                                      </p:cBhvr>
                                      <p:to>
                                        <p:strVal val="visible"/>
                                      </p:to>
                                    </p:set>
                                    <p:animEffect transition="in" filter="fade">
                                      <p:cBhvr>
                                        <p:cTn id="74" dur="500"/>
                                        <p:tgtEl>
                                          <p:spTgt spid="5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53"/>
                                        </p:tgtEl>
                                        <p:attrNameLst>
                                          <p:attrName>style.visibility</p:attrName>
                                        </p:attrNameLst>
                                      </p:cBhvr>
                                      <p:to>
                                        <p:strVal val="visible"/>
                                      </p:to>
                                    </p:set>
                                    <p:animEffect transition="in" filter="fade">
                                      <p:cBhvr>
                                        <p:cTn id="77" dur="500"/>
                                        <p:tgtEl>
                                          <p:spTgt spid="53"/>
                                        </p:tgtEl>
                                      </p:cBhvr>
                                    </p:animEffect>
                                  </p:childTnLst>
                                </p:cTn>
                              </p:par>
                              <p:par>
                                <p:cTn id="78" presetID="10" presetClass="entr" presetSubtype="0" fill="hold" nodeType="withEffect">
                                  <p:stCondLst>
                                    <p:cond delay="0"/>
                                  </p:stCondLst>
                                  <p:childTnLst>
                                    <p:set>
                                      <p:cBhvr>
                                        <p:cTn id="79" dur="1" fill="hold">
                                          <p:stCondLst>
                                            <p:cond delay="0"/>
                                          </p:stCondLst>
                                        </p:cTn>
                                        <p:tgtEl>
                                          <p:spTgt spid="55"/>
                                        </p:tgtEl>
                                        <p:attrNameLst>
                                          <p:attrName>style.visibility</p:attrName>
                                        </p:attrNameLst>
                                      </p:cBhvr>
                                      <p:to>
                                        <p:strVal val="visible"/>
                                      </p:to>
                                    </p:set>
                                    <p:animEffect transition="in" filter="fade">
                                      <p:cBhvr>
                                        <p:cTn id="80" dur="500"/>
                                        <p:tgtEl>
                                          <p:spTgt spid="5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7"/>
                                        </p:tgtEl>
                                        <p:attrNameLst>
                                          <p:attrName>style.visibility</p:attrName>
                                        </p:attrNameLst>
                                      </p:cBhvr>
                                      <p:to>
                                        <p:strVal val="visible"/>
                                      </p:to>
                                    </p:set>
                                    <p:animEffect transition="in" filter="fade">
                                      <p:cBhvr>
                                        <p:cTn id="83" dur="500"/>
                                        <p:tgtEl>
                                          <p:spTgt spid="57"/>
                                        </p:tgtEl>
                                      </p:cBhvr>
                                    </p:animEffect>
                                  </p:childTnLst>
                                </p:cTn>
                              </p:par>
                              <p:par>
                                <p:cTn id="84" presetID="10" presetClass="entr" presetSubtype="0" fill="hold" nodeType="withEffect">
                                  <p:stCondLst>
                                    <p:cond delay="0"/>
                                  </p:stCondLst>
                                  <p:childTnLst>
                                    <p:set>
                                      <p:cBhvr>
                                        <p:cTn id="85" dur="1" fill="hold">
                                          <p:stCondLst>
                                            <p:cond delay="0"/>
                                          </p:stCondLst>
                                        </p:cTn>
                                        <p:tgtEl>
                                          <p:spTgt spid="59"/>
                                        </p:tgtEl>
                                        <p:attrNameLst>
                                          <p:attrName>style.visibility</p:attrName>
                                        </p:attrNameLst>
                                      </p:cBhvr>
                                      <p:to>
                                        <p:strVal val="visible"/>
                                      </p:to>
                                    </p:set>
                                    <p:animEffect transition="in" filter="fade">
                                      <p:cBhvr>
                                        <p:cTn id="86" dur="500"/>
                                        <p:tgtEl>
                                          <p:spTgt spid="5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1"/>
                                        </p:tgtEl>
                                        <p:attrNameLst>
                                          <p:attrName>style.visibility</p:attrName>
                                        </p:attrNameLst>
                                      </p:cBhvr>
                                      <p:to>
                                        <p:strVal val="visible"/>
                                      </p:to>
                                    </p:set>
                                    <p:animEffect transition="in" filter="fade">
                                      <p:cBhvr>
                                        <p:cTn id="89" dur="500"/>
                                        <p:tgtEl>
                                          <p:spTgt spid="61"/>
                                        </p:tgtEl>
                                      </p:cBhvr>
                                    </p:animEffect>
                                  </p:childTnLst>
                                </p:cTn>
                              </p:par>
                              <p:par>
                                <p:cTn id="90" presetID="10" presetClass="entr" presetSubtype="0" fill="hold" nodeType="withEffect">
                                  <p:stCondLst>
                                    <p:cond delay="0"/>
                                  </p:stCondLst>
                                  <p:childTnLst>
                                    <p:set>
                                      <p:cBhvr>
                                        <p:cTn id="91" dur="1" fill="hold">
                                          <p:stCondLst>
                                            <p:cond delay="0"/>
                                          </p:stCondLst>
                                        </p:cTn>
                                        <p:tgtEl>
                                          <p:spTgt spid="63"/>
                                        </p:tgtEl>
                                        <p:attrNameLst>
                                          <p:attrName>style.visibility</p:attrName>
                                        </p:attrNameLst>
                                      </p:cBhvr>
                                      <p:to>
                                        <p:strVal val="visible"/>
                                      </p:to>
                                    </p:set>
                                    <p:animEffect transition="in" filter="fade">
                                      <p:cBhvr>
                                        <p:cTn id="92" dur="500"/>
                                        <p:tgtEl>
                                          <p:spTgt spid="6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65"/>
                                        </p:tgtEl>
                                        <p:attrNameLst>
                                          <p:attrName>style.visibility</p:attrName>
                                        </p:attrNameLst>
                                      </p:cBhvr>
                                      <p:to>
                                        <p:strVal val="visible"/>
                                      </p:to>
                                    </p:set>
                                    <p:animEffect transition="in" filter="fade">
                                      <p:cBhvr>
                                        <p:cTn id="95" dur="500"/>
                                        <p:tgtEl>
                                          <p:spTgt spid="65"/>
                                        </p:tgtEl>
                                      </p:cBhvr>
                                    </p:animEffect>
                                  </p:childTnLst>
                                </p:cTn>
                              </p:par>
                              <p:par>
                                <p:cTn id="96" presetID="10" presetClass="entr" presetSubtype="0" fill="hold" nodeType="withEffect">
                                  <p:stCondLst>
                                    <p:cond delay="0"/>
                                  </p:stCondLst>
                                  <p:childTnLst>
                                    <p:set>
                                      <p:cBhvr>
                                        <p:cTn id="97" dur="1" fill="hold">
                                          <p:stCondLst>
                                            <p:cond delay="0"/>
                                          </p:stCondLst>
                                        </p:cTn>
                                        <p:tgtEl>
                                          <p:spTgt spid="67"/>
                                        </p:tgtEl>
                                        <p:attrNameLst>
                                          <p:attrName>style.visibility</p:attrName>
                                        </p:attrNameLst>
                                      </p:cBhvr>
                                      <p:to>
                                        <p:strVal val="visible"/>
                                      </p:to>
                                    </p:set>
                                    <p:animEffect transition="in" filter="fade">
                                      <p:cBhvr>
                                        <p:cTn id="98" dur="500"/>
                                        <p:tgtEl>
                                          <p:spTgt spid="6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69"/>
                                        </p:tgtEl>
                                        <p:attrNameLst>
                                          <p:attrName>style.visibility</p:attrName>
                                        </p:attrNameLst>
                                      </p:cBhvr>
                                      <p:to>
                                        <p:strVal val="visible"/>
                                      </p:to>
                                    </p:set>
                                    <p:animEffect transition="in" filter="fade">
                                      <p:cBhvr>
                                        <p:cTn id="101" dur="500"/>
                                        <p:tgtEl>
                                          <p:spTgt spid="69"/>
                                        </p:tgtEl>
                                      </p:cBhvr>
                                    </p:animEffect>
                                  </p:childTnLst>
                                </p:cTn>
                              </p:par>
                              <p:par>
                                <p:cTn id="102" presetID="10" presetClass="entr" presetSubtype="0" fill="hold" nodeType="withEffect">
                                  <p:stCondLst>
                                    <p:cond delay="0"/>
                                  </p:stCondLst>
                                  <p:childTnLst>
                                    <p:set>
                                      <p:cBhvr>
                                        <p:cTn id="103" dur="1" fill="hold">
                                          <p:stCondLst>
                                            <p:cond delay="0"/>
                                          </p:stCondLst>
                                        </p:cTn>
                                        <p:tgtEl>
                                          <p:spTgt spid="71"/>
                                        </p:tgtEl>
                                        <p:attrNameLst>
                                          <p:attrName>style.visibility</p:attrName>
                                        </p:attrNameLst>
                                      </p:cBhvr>
                                      <p:to>
                                        <p:strVal val="visible"/>
                                      </p:to>
                                    </p:set>
                                    <p:animEffect transition="in" filter="fade">
                                      <p:cBhvr>
                                        <p:cTn id="104" dur="500"/>
                                        <p:tgtEl>
                                          <p:spTgt spid="71"/>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73"/>
                                        </p:tgtEl>
                                        <p:attrNameLst>
                                          <p:attrName>style.visibility</p:attrName>
                                        </p:attrNameLst>
                                      </p:cBhvr>
                                      <p:to>
                                        <p:strVal val="visible"/>
                                      </p:to>
                                    </p:set>
                                    <p:animEffect transition="in" filter="fade">
                                      <p:cBhvr>
                                        <p:cTn id="107" dur="500"/>
                                        <p:tgtEl>
                                          <p:spTgt spid="73"/>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76"/>
                                        </p:tgtEl>
                                        <p:attrNameLst>
                                          <p:attrName>style.visibility</p:attrName>
                                        </p:attrNameLst>
                                      </p:cBhvr>
                                      <p:to>
                                        <p:strVal val="visible"/>
                                      </p:to>
                                    </p:set>
                                    <p:animEffect transition="in" filter="fade">
                                      <p:cBhvr>
                                        <p:cTn id="112"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animBg="1"/>
      <p:bldP spid="15" grpId="0" animBg="1"/>
      <p:bldP spid="17" grpId="0" animBg="1"/>
      <p:bldP spid="21" grpId="0"/>
      <p:bldP spid="25" grpId="0"/>
      <p:bldP spid="27" grpId="0" animBg="1"/>
      <p:bldP spid="29" grpId="0" animBg="1"/>
      <p:bldP spid="33" grpId="0"/>
      <p:bldP spid="35" grpId="0" animBg="1"/>
      <p:bldP spid="37" grpId="0" animBg="1"/>
      <p:bldP spid="41" grpId="0"/>
      <p:bldP spid="45" grpId="0"/>
      <p:bldP spid="49" grpId="0"/>
      <p:bldP spid="53" grpId="0"/>
      <p:bldP spid="57" grpId="0"/>
      <p:bldP spid="61" grpId="0"/>
      <p:bldP spid="65" grpId="0"/>
      <p:bldP spid="69" grpId="0"/>
      <p:bldP spid="73" grpId="0"/>
      <p:bldP spid="7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E69E6-1886-D9C2-BCEF-D820E4F66F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7DCEA9-5C74-DA4C-B1B4-A8D08EC3B223}"/>
              </a:ext>
            </a:extLst>
          </p:cNvPr>
          <p:cNvSpPr>
            <a:spLocks noGrp="1"/>
          </p:cNvSpPr>
          <p:nvPr>
            <p:ph type="title"/>
          </p:nvPr>
        </p:nvSpPr>
        <p:spPr>
          <a:xfrm>
            <a:off x="187915" y="130289"/>
            <a:ext cx="8753475" cy="461665"/>
          </a:xfrm>
        </p:spPr>
        <p:txBody>
          <a:bodyPr/>
          <a:lstStyle/>
          <a:p>
            <a:r>
              <a:rPr lang="en-US" dirty="0"/>
              <a:t>Event-Driven Mapping Space Generation</a:t>
            </a:r>
            <a:endParaRPr lang="en-GB" dirty="0">
              <a:solidFill>
                <a:srgbClr val="000000"/>
              </a:solidFill>
              <a:cs typeface="Gill Sans"/>
            </a:endParaRPr>
          </a:p>
        </p:txBody>
      </p:sp>
      <p:sp>
        <p:nvSpPr>
          <p:cNvPr id="4" name="Slide Number Placeholder 3">
            <a:extLst>
              <a:ext uri="{FF2B5EF4-FFF2-40B4-BE49-F238E27FC236}">
                <a16:creationId xmlns:a16="http://schemas.microsoft.com/office/drawing/2014/main" id="{D8F4D37E-E927-5FDA-5B68-1EB1FA0F0D42}"/>
              </a:ext>
            </a:extLst>
          </p:cNvPr>
          <p:cNvSpPr>
            <a:spLocks noGrp="1"/>
          </p:cNvSpPr>
          <p:nvPr>
            <p:ph type="sldNum" sz="quarter" idx="12"/>
          </p:nvPr>
        </p:nvSpPr>
        <p:spPr/>
        <p:txBody>
          <a:bodyPr/>
          <a:lstStyle/>
          <a:p>
            <a:fld id="{8836216C-5BC3-7C44-80F8-E30864FFC228}" type="slidenum">
              <a:rPr lang="en-US" smtClean="0"/>
              <a:t>21</a:t>
            </a:fld>
            <a:endParaRPr lang="en-US"/>
          </a:p>
        </p:txBody>
      </p:sp>
      <p:sp>
        <p:nvSpPr>
          <p:cNvPr id="6" name="Rectangle 5">
            <a:extLst>
              <a:ext uri="{FF2B5EF4-FFF2-40B4-BE49-F238E27FC236}">
                <a16:creationId xmlns:a16="http://schemas.microsoft.com/office/drawing/2014/main" id="{E89125A9-4DFE-155D-5260-1C01F95D908D}"/>
              </a:ext>
            </a:extLst>
          </p:cNvPr>
          <p:cNvSpPr/>
          <p:nvPr/>
        </p:nvSpPr>
        <p:spPr>
          <a:xfrm>
            <a:off x="197268" y="1514290"/>
            <a:ext cx="890966" cy="393434"/>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Inputs</a:t>
            </a:r>
          </a:p>
        </p:txBody>
      </p:sp>
      <p:sp>
        <p:nvSpPr>
          <p:cNvPr id="7" name="Rectangle 6">
            <a:extLst>
              <a:ext uri="{FF2B5EF4-FFF2-40B4-BE49-F238E27FC236}">
                <a16:creationId xmlns:a16="http://schemas.microsoft.com/office/drawing/2014/main" id="{B54AB9ED-91F6-ABBE-5704-92C2C92F6B75}"/>
              </a:ext>
            </a:extLst>
          </p:cNvPr>
          <p:cNvSpPr/>
          <p:nvPr/>
        </p:nvSpPr>
        <p:spPr>
          <a:xfrm>
            <a:off x="193741" y="2057486"/>
            <a:ext cx="891913" cy="379419"/>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00">
                <a:solidFill>
                  <a:schemeClr val="tx1"/>
                </a:solidFill>
              </a:rPr>
              <a:t>Mapspace generation</a:t>
            </a:r>
          </a:p>
        </p:txBody>
      </p:sp>
      <p:sp>
        <p:nvSpPr>
          <p:cNvPr id="8" name="Rectangle 7">
            <a:extLst>
              <a:ext uri="{FF2B5EF4-FFF2-40B4-BE49-F238E27FC236}">
                <a16:creationId xmlns:a16="http://schemas.microsoft.com/office/drawing/2014/main" id="{5AE2D7DE-2619-630F-2788-4522D4843866}"/>
              </a:ext>
            </a:extLst>
          </p:cNvPr>
          <p:cNvSpPr/>
          <p:nvPr/>
        </p:nvSpPr>
        <p:spPr>
          <a:xfrm>
            <a:off x="186158" y="2586665"/>
            <a:ext cx="892261" cy="336015"/>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Analytical cost model</a:t>
            </a:r>
          </a:p>
        </p:txBody>
      </p:sp>
      <p:sp>
        <p:nvSpPr>
          <p:cNvPr id="9" name="Rectangle 8">
            <a:extLst>
              <a:ext uri="{FF2B5EF4-FFF2-40B4-BE49-F238E27FC236}">
                <a16:creationId xmlns:a16="http://schemas.microsoft.com/office/drawing/2014/main" id="{1F52CBF8-C857-32FA-00CA-1BC0C50E4F65}"/>
              </a:ext>
            </a:extLst>
          </p:cNvPr>
          <p:cNvSpPr/>
          <p:nvPr/>
        </p:nvSpPr>
        <p:spPr>
          <a:xfrm>
            <a:off x="186158" y="3065297"/>
            <a:ext cx="893293" cy="336014"/>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err="1">
                <a:solidFill>
                  <a:srgbClr val="929497"/>
                </a:solidFill>
              </a:rPr>
              <a:t>Mapspace</a:t>
            </a:r>
            <a:r>
              <a:rPr lang="en-GB" sz="1000">
                <a:solidFill>
                  <a:srgbClr val="929497"/>
                </a:solidFill>
              </a:rPr>
              <a:t> search engine </a:t>
            </a:r>
          </a:p>
        </p:txBody>
      </p:sp>
      <p:sp>
        <p:nvSpPr>
          <p:cNvPr id="10" name="Rectangle 9">
            <a:extLst>
              <a:ext uri="{FF2B5EF4-FFF2-40B4-BE49-F238E27FC236}">
                <a16:creationId xmlns:a16="http://schemas.microsoft.com/office/drawing/2014/main" id="{D3763C09-9E61-F2B7-85DA-B6DBFCFFF3E9}"/>
              </a:ext>
            </a:extLst>
          </p:cNvPr>
          <p:cNvSpPr/>
          <p:nvPr/>
        </p:nvSpPr>
        <p:spPr>
          <a:xfrm>
            <a:off x="185215" y="3543568"/>
            <a:ext cx="890196" cy="350301"/>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Outputs</a:t>
            </a:r>
          </a:p>
        </p:txBody>
      </p:sp>
      <p:pic>
        <p:nvPicPr>
          <p:cNvPr id="14" name="Picture 13" descr="A diagram of a diagram of a diagram&#10;&#10;AI-generated content may be incorrect.">
            <a:extLst>
              <a:ext uri="{FF2B5EF4-FFF2-40B4-BE49-F238E27FC236}">
                <a16:creationId xmlns:a16="http://schemas.microsoft.com/office/drawing/2014/main" id="{59044828-B518-18F4-7ED7-6451B04A2D72}"/>
              </a:ext>
            </a:extLst>
          </p:cNvPr>
          <p:cNvPicPr>
            <a:picLocks noChangeAspect="1"/>
          </p:cNvPicPr>
          <p:nvPr/>
        </p:nvPicPr>
        <p:blipFill>
          <a:blip r:embed="rId3"/>
          <a:stretch>
            <a:fillRect/>
          </a:stretch>
        </p:blipFill>
        <p:spPr>
          <a:xfrm>
            <a:off x="4505225" y="976370"/>
            <a:ext cx="2025040" cy="3361321"/>
          </a:xfrm>
          <a:prstGeom prst="rect">
            <a:avLst/>
          </a:prstGeom>
        </p:spPr>
      </p:pic>
      <p:pic>
        <p:nvPicPr>
          <p:cNvPr id="18" name="Picture 17" descr="A diagram of a diagram of a diagram&#10;&#10;AI-generated content may be incorrect.">
            <a:extLst>
              <a:ext uri="{FF2B5EF4-FFF2-40B4-BE49-F238E27FC236}">
                <a16:creationId xmlns:a16="http://schemas.microsoft.com/office/drawing/2014/main" id="{DEBB36DF-FBAF-51D6-24BA-F1BF201DC969}"/>
              </a:ext>
            </a:extLst>
          </p:cNvPr>
          <p:cNvPicPr>
            <a:picLocks noChangeAspect="1"/>
          </p:cNvPicPr>
          <p:nvPr/>
        </p:nvPicPr>
        <p:blipFill>
          <a:blip r:embed="rId4"/>
          <a:stretch>
            <a:fillRect/>
          </a:stretch>
        </p:blipFill>
        <p:spPr>
          <a:xfrm>
            <a:off x="6996669" y="630880"/>
            <a:ext cx="1991179" cy="3619501"/>
          </a:xfrm>
          <a:prstGeom prst="rect">
            <a:avLst/>
          </a:prstGeom>
        </p:spPr>
      </p:pic>
      <p:pic>
        <p:nvPicPr>
          <p:cNvPr id="22" name="Picture 21" descr="A diagram of a diagram of a diagram of a diagram of a diagram of a diagram of a diagram of a diagram of a diagram of a diagram of a diagram of a diagram of a diagram of&#10;&#10;AI-generated content may be incorrect.">
            <a:extLst>
              <a:ext uri="{FF2B5EF4-FFF2-40B4-BE49-F238E27FC236}">
                <a16:creationId xmlns:a16="http://schemas.microsoft.com/office/drawing/2014/main" id="{6C24EB92-7B08-A451-2222-0C95EDB4A663}"/>
              </a:ext>
            </a:extLst>
          </p:cNvPr>
          <p:cNvPicPr>
            <a:picLocks noChangeAspect="1"/>
          </p:cNvPicPr>
          <p:nvPr/>
        </p:nvPicPr>
        <p:blipFill>
          <a:blip r:embed="rId5"/>
          <a:stretch>
            <a:fillRect/>
          </a:stretch>
        </p:blipFill>
        <p:spPr>
          <a:xfrm>
            <a:off x="1327108" y="976370"/>
            <a:ext cx="2137319" cy="3361322"/>
          </a:xfrm>
          <a:prstGeom prst="rect">
            <a:avLst/>
          </a:prstGeom>
        </p:spPr>
      </p:pic>
      <p:sp>
        <p:nvSpPr>
          <p:cNvPr id="26" name="Arrow: Right 25">
            <a:extLst>
              <a:ext uri="{FF2B5EF4-FFF2-40B4-BE49-F238E27FC236}">
                <a16:creationId xmlns:a16="http://schemas.microsoft.com/office/drawing/2014/main" id="{B6FF044F-46D2-68CF-D05A-93F33E574DD9}"/>
              </a:ext>
            </a:extLst>
          </p:cNvPr>
          <p:cNvSpPr/>
          <p:nvPr/>
        </p:nvSpPr>
        <p:spPr>
          <a:xfrm>
            <a:off x="3518380" y="2483238"/>
            <a:ext cx="816242" cy="347584"/>
          </a:xfrm>
          <a:prstGeom prst="rightArrow">
            <a:avLst/>
          </a:prstGeom>
          <a:solidFill>
            <a:schemeClr val="tx2"/>
          </a:solidFill>
          <a:ln>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0" name="Rectangle 29">
            <a:extLst>
              <a:ext uri="{FF2B5EF4-FFF2-40B4-BE49-F238E27FC236}">
                <a16:creationId xmlns:a16="http://schemas.microsoft.com/office/drawing/2014/main" id="{C7F3E97B-7795-0CB4-56F0-E6DFC2655396}"/>
              </a:ext>
            </a:extLst>
          </p:cNvPr>
          <p:cNvSpPr/>
          <p:nvPr/>
        </p:nvSpPr>
        <p:spPr>
          <a:xfrm>
            <a:off x="4392947" y="4404368"/>
            <a:ext cx="2238773" cy="285173"/>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t>Spatial Unrolling</a:t>
            </a:r>
          </a:p>
        </p:txBody>
      </p:sp>
      <p:sp>
        <p:nvSpPr>
          <p:cNvPr id="34" name="Rectangle 33">
            <a:extLst>
              <a:ext uri="{FF2B5EF4-FFF2-40B4-BE49-F238E27FC236}">
                <a16:creationId xmlns:a16="http://schemas.microsoft.com/office/drawing/2014/main" id="{68510EDF-8D94-F20C-96E1-CCB3CA28D6DE}"/>
              </a:ext>
            </a:extLst>
          </p:cNvPr>
          <p:cNvSpPr/>
          <p:nvPr/>
        </p:nvSpPr>
        <p:spPr>
          <a:xfrm>
            <a:off x="6752617" y="4404369"/>
            <a:ext cx="2130745" cy="296958"/>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t>Temporal Ordering</a:t>
            </a:r>
          </a:p>
        </p:txBody>
      </p:sp>
      <p:sp>
        <p:nvSpPr>
          <p:cNvPr id="38" name="Rectangle 37">
            <a:extLst>
              <a:ext uri="{FF2B5EF4-FFF2-40B4-BE49-F238E27FC236}">
                <a16:creationId xmlns:a16="http://schemas.microsoft.com/office/drawing/2014/main" id="{62F7AA80-F397-8724-87D5-B900E05FF4A1}"/>
              </a:ext>
            </a:extLst>
          </p:cNvPr>
          <p:cNvSpPr/>
          <p:nvPr/>
        </p:nvSpPr>
        <p:spPr>
          <a:xfrm>
            <a:off x="6748029" y="651671"/>
            <a:ext cx="2128836" cy="3671737"/>
          </a:xfrm>
          <a:prstGeom prst="rect">
            <a:avLst/>
          </a:prstGeom>
          <a:solidFill>
            <a:srgbClr val="ADACAC">
              <a:alpha val="92941"/>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2" name="TextBox 41">
            <a:extLst>
              <a:ext uri="{FF2B5EF4-FFF2-40B4-BE49-F238E27FC236}">
                <a16:creationId xmlns:a16="http://schemas.microsoft.com/office/drawing/2014/main" id="{4B1DC6F5-F994-5024-8EC7-1096ADD5D71E}"/>
              </a:ext>
            </a:extLst>
          </p:cNvPr>
          <p:cNvSpPr txBox="1"/>
          <p:nvPr/>
        </p:nvSpPr>
        <p:spPr>
          <a:xfrm>
            <a:off x="6744375" y="1232922"/>
            <a:ext cx="2132490"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t>Temporal Ordering</a:t>
            </a:r>
            <a:br>
              <a:rPr lang="en-GB" sz="1400" b="1"/>
            </a:br>
            <a:br>
              <a:rPr lang="en-GB" sz="1400" b="1"/>
            </a:br>
            <a:r>
              <a:rPr lang="en-GB" sz="1400" b="1"/>
              <a:t>for </a:t>
            </a:r>
            <a:r>
              <a:rPr lang="en-GB" sz="1400" b="1" err="1"/>
              <a:t>iw</a:t>
            </a:r>
            <a:r>
              <a:rPr lang="en-GB" sz="1400" b="1"/>
              <a:t> in IW:</a:t>
            </a:r>
            <a:endParaRPr lang="en-US" sz="1400"/>
          </a:p>
          <a:p>
            <a:r>
              <a:rPr lang="en-GB" sz="1400" b="1"/>
              <a:t>  for </a:t>
            </a:r>
            <a:r>
              <a:rPr lang="en-GB" sz="1400" b="1" err="1"/>
              <a:t>ih</a:t>
            </a:r>
            <a:r>
              <a:rPr lang="en-GB" sz="1400" b="1"/>
              <a:t> in IH:</a:t>
            </a:r>
          </a:p>
          <a:p>
            <a:r>
              <a:rPr lang="en-GB" sz="1400" b="1"/>
              <a:t>    for c in C:</a:t>
            </a:r>
          </a:p>
          <a:p>
            <a:r>
              <a:rPr lang="en-GB" sz="1400" b="1"/>
              <a:t>      for </a:t>
            </a:r>
            <a:r>
              <a:rPr lang="en-GB" sz="1400" b="1" err="1"/>
              <a:t>fw</a:t>
            </a:r>
            <a:r>
              <a:rPr lang="en-GB" sz="1400" b="1"/>
              <a:t> in FW:</a:t>
            </a:r>
          </a:p>
          <a:p>
            <a:r>
              <a:rPr lang="en-GB" sz="1400" b="1"/>
              <a:t>        for </a:t>
            </a:r>
            <a:r>
              <a:rPr lang="en-GB" sz="1400" b="1" err="1"/>
              <a:t>fh</a:t>
            </a:r>
            <a:r>
              <a:rPr lang="en-GB" sz="1400" b="1"/>
              <a:t> in FH:</a:t>
            </a:r>
          </a:p>
          <a:p>
            <a:r>
              <a:rPr lang="en-GB" sz="1400" b="1"/>
              <a:t>          </a:t>
            </a:r>
            <a:r>
              <a:rPr lang="en-GB" sz="1400" b="1" err="1"/>
              <a:t>parfor</a:t>
            </a:r>
            <a:r>
              <a:rPr lang="en-GB" sz="1400" b="1"/>
              <a:t> for k in K:</a:t>
            </a:r>
          </a:p>
          <a:p>
            <a:endParaRPr lang="en-GB" sz="1400" b="1"/>
          </a:p>
          <a:p>
            <a:r>
              <a:rPr lang="en-GB" sz="1400" b="1"/>
              <a:t>Output [k][ix-</a:t>
            </a:r>
            <a:r>
              <a:rPr lang="en-GB" sz="1400" b="1" err="1"/>
              <a:t>fx</a:t>
            </a:r>
            <a:r>
              <a:rPr lang="en-GB" sz="1400" b="1"/>
              <a:t>][</a:t>
            </a:r>
            <a:r>
              <a:rPr lang="en-GB" sz="1400" b="1" err="1"/>
              <a:t>iy-fy</a:t>
            </a:r>
            <a:r>
              <a:rPr lang="en-GB" sz="1400" b="1"/>
              <a:t>] = Inputs [c][ix][</a:t>
            </a:r>
            <a:r>
              <a:rPr lang="en-GB" sz="1400" b="1" err="1"/>
              <a:t>iy</a:t>
            </a:r>
            <a:r>
              <a:rPr lang="en-GB" sz="1400" b="1"/>
              <a:t>]* Weights [k][</a:t>
            </a:r>
            <a:r>
              <a:rPr lang="en-GB" sz="1400" b="1" err="1"/>
              <a:t>fx</a:t>
            </a:r>
            <a:r>
              <a:rPr lang="en-GB" sz="1400" b="1"/>
              <a:t>][</a:t>
            </a:r>
            <a:r>
              <a:rPr lang="en-GB" sz="1400" b="1" err="1"/>
              <a:t>fy</a:t>
            </a:r>
            <a:r>
              <a:rPr lang="en-GB" sz="1400" b="1"/>
              <a:t>]</a:t>
            </a:r>
          </a:p>
        </p:txBody>
      </p:sp>
      <p:sp>
        <p:nvSpPr>
          <p:cNvPr id="50" name="TextBox 49">
            <a:extLst>
              <a:ext uri="{FF2B5EF4-FFF2-40B4-BE49-F238E27FC236}">
                <a16:creationId xmlns:a16="http://schemas.microsoft.com/office/drawing/2014/main" id="{07CA8136-A6E8-D909-A534-3C15FCC0417D}"/>
              </a:ext>
            </a:extLst>
          </p:cNvPr>
          <p:cNvSpPr txBox="1"/>
          <p:nvPr/>
        </p:nvSpPr>
        <p:spPr>
          <a:xfrm>
            <a:off x="4388575" y="668594"/>
            <a:ext cx="2235134" cy="307777"/>
          </a:xfrm>
          <a:prstGeom prst="rect">
            <a:avLst/>
          </a:prstGeom>
          <a:solidFill>
            <a:schemeClr val="bg2">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400"/>
              <a:t>Across K, FH, FW</a:t>
            </a:r>
            <a:endParaRPr lang="en-GB" sz="1400">
              <a:solidFill>
                <a:srgbClr val="000000"/>
              </a:solidFill>
            </a:endParaRPr>
          </a:p>
        </p:txBody>
      </p:sp>
      <p:sp>
        <p:nvSpPr>
          <p:cNvPr id="3" name="Rectangle 2">
            <a:extLst>
              <a:ext uri="{FF2B5EF4-FFF2-40B4-BE49-F238E27FC236}">
                <a16:creationId xmlns:a16="http://schemas.microsoft.com/office/drawing/2014/main" id="{08F966BF-7B4B-4418-181B-94C30A7CD2BB}"/>
              </a:ext>
            </a:extLst>
          </p:cNvPr>
          <p:cNvSpPr/>
          <p:nvPr/>
        </p:nvSpPr>
        <p:spPr>
          <a:xfrm>
            <a:off x="1327109" y="4404368"/>
            <a:ext cx="2137318" cy="301805"/>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t>Workload</a:t>
            </a:r>
          </a:p>
        </p:txBody>
      </p:sp>
    </p:spTree>
    <p:extLst>
      <p:ext uri="{BB962C8B-B14F-4D97-AF65-F5344CB8AC3E}">
        <p14:creationId xmlns:p14="http://schemas.microsoft.com/office/powerpoint/2010/main" val="518200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0"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4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1" nodeType="clickEffect">
                                  <p:stCondLst>
                                    <p:cond delay="0"/>
                                  </p:stCondLst>
                                  <p:childTnLst>
                                    <p:animEffect transition="out" filter="fade">
                                      <p:cBhvr>
                                        <p:cTn id="33" dur="500"/>
                                        <p:tgtEl>
                                          <p:spTgt spid="38"/>
                                        </p:tgtEl>
                                      </p:cBhvr>
                                    </p:animEffect>
                                    <p:set>
                                      <p:cBhvr>
                                        <p:cTn id="34" dur="1" fill="hold">
                                          <p:stCondLst>
                                            <p:cond delay="499"/>
                                          </p:stCondLst>
                                        </p:cTn>
                                        <p:tgtEl>
                                          <p:spTgt spid="38"/>
                                        </p:tgtEl>
                                        <p:attrNameLst>
                                          <p:attrName>style.visibility</p:attrName>
                                        </p:attrNameLst>
                                      </p:cBhvr>
                                      <p:to>
                                        <p:strVal val="hidden"/>
                                      </p:to>
                                    </p:set>
                                  </p:childTnLst>
                                </p:cTn>
                              </p:par>
                              <p:par>
                                <p:cTn id="35" presetID="10" presetClass="exit" presetSubtype="0" fill="hold" grpId="1" nodeType="withEffect">
                                  <p:stCondLst>
                                    <p:cond delay="0"/>
                                  </p:stCondLst>
                                  <p:childTnLst>
                                    <p:animEffect transition="out" filter="fade">
                                      <p:cBhvr>
                                        <p:cTn id="36" dur="500"/>
                                        <p:tgtEl>
                                          <p:spTgt spid="42"/>
                                        </p:tgtEl>
                                      </p:cBhvr>
                                    </p:animEffect>
                                    <p:set>
                                      <p:cBhvr>
                                        <p:cTn id="37" dur="1" fill="hold">
                                          <p:stCondLst>
                                            <p:cond delay="499"/>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0" grpId="0" animBg="1"/>
      <p:bldP spid="34" grpId="0" animBg="1"/>
      <p:bldP spid="38" grpId="0" animBg="1"/>
      <p:bldP spid="38" grpId="1" animBg="1"/>
      <p:bldP spid="42" grpId="0"/>
      <p:bldP spid="42" grpId="1"/>
      <p:bldP spid="50" grpId="0" animBg="1"/>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498D4-B343-554E-3AAE-47AEE47EA1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2C07D3-BC8D-4C5F-11A6-CDEB61841D06}"/>
              </a:ext>
            </a:extLst>
          </p:cNvPr>
          <p:cNvSpPr>
            <a:spLocks noGrp="1"/>
          </p:cNvSpPr>
          <p:nvPr>
            <p:ph type="title"/>
          </p:nvPr>
        </p:nvSpPr>
        <p:spPr>
          <a:xfrm>
            <a:off x="187915" y="130289"/>
            <a:ext cx="8753475" cy="461665"/>
          </a:xfrm>
        </p:spPr>
        <p:txBody>
          <a:bodyPr/>
          <a:lstStyle/>
          <a:p>
            <a:r>
              <a:rPr lang="en-US" dirty="0"/>
              <a:t>Comprehensive Cost Analysis Pipeline</a:t>
            </a:r>
            <a:endParaRPr lang="en-GB" dirty="0">
              <a:solidFill>
                <a:srgbClr val="000000"/>
              </a:solidFill>
              <a:cs typeface="Gill Sans"/>
            </a:endParaRPr>
          </a:p>
        </p:txBody>
      </p:sp>
      <p:sp>
        <p:nvSpPr>
          <p:cNvPr id="4" name="Slide Number Placeholder 3">
            <a:extLst>
              <a:ext uri="{FF2B5EF4-FFF2-40B4-BE49-F238E27FC236}">
                <a16:creationId xmlns:a16="http://schemas.microsoft.com/office/drawing/2014/main" id="{218ED608-B888-03CC-2482-2BCF2D8C828E}"/>
              </a:ext>
            </a:extLst>
          </p:cNvPr>
          <p:cNvSpPr>
            <a:spLocks noGrp="1"/>
          </p:cNvSpPr>
          <p:nvPr>
            <p:ph type="sldNum" sz="quarter" idx="12"/>
          </p:nvPr>
        </p:nvSpPr>
        <p:spPr/>
        <p:txBody>
          <a:bodyPr/>
          <a:lstStyle/>
          <a:p>
            <a:fld id="{8836216C-5BC3-7C44-80F8-E30864FFC228}" type="slidenum">
              <a:rPr lang="en-US" smtClean="0"/>
              <a:t>22</a:t>
            </a:fld>
            <a:endParaRPr lang="en-US"/>
          </a:p>
        </p:txBody>
      </p:sp>
      <p:sp>
        <p:nvSpPr>
          <p:cNvPr id="5" name="Rectangle 4">
            <a:extLst>
              <a:ext uri="{FF2B5EF4-FFF2-40B4-BE49-F238E27FC236}">
                <a16:creationId xmlns:a16="http://schemas.microsoft.com/office/drawing/2014/main" id="{137BA6F1-083A-1898-C0C3-01724E508F81}"/>
              </a:ext>
            </a:extLst>
          </p:cNvPr>
          <p:cNvSpPr/>
          <p:nvPr/>
        </p:nvSpPr>
        <p:spPr>
          <a:xfrm>
            <a:off x="4620005" y="781873"/>
            <a:ext cx="1485900" cy="57822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Word access calculation</a:t>
            </a:r>
          </a:p>
        </p:txBody>
      </p:sp>
      <p:sp>
        <p:nvSpPr>
          <p:cNvPr id="12" name="Rectangle 11">
            <a:extLst>
              <a:ext uri="{FF2B5EF4-FFF2-40B4-BE49-F238E27FC236}">
                <a16:creationId xmlns:a16="http://schemas.microsoft.com/office/drawing/2014/main" id="{AA8BA349-4F38-5D21-997B-A9A04A0CD16C}"/>
              </a:ext>
            </a:extLst>
          </p:cNvPr>
          <p:cNvSpPr/>
          <p:nvPr/>
        </p:nvSpPr>
        <p:spPr>
          <a:xfrm>
            <a:off x="7521129" y="774976"/>
            <a:ext cx="1485900" cy="57822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dirty="0"/>
              <a:t>Latency model</a:t>
            </a:r>
          </a:p>
        </p:txBody>
      </p:sp>
      <p:sp>
        <p:nvSpPr>
          <p:cNvPr id="15" name="Rectangle 14">
            <a:extLst>
              <a:ext uri="{FF2B5EF4-FFF2-40B4-BE49-F238E27FC236}">
                <a16:creationId xmlns:a16="http://schemas.microsoft.com/office/drawing/2014/main" id="{C7BF9399-71F0-70A5-E70C-7415D6135131}"/>
              </a:ext>
            </a:extLst>
          </p:cNvPr>
          <p:cNvSpPr/>
          <p:nvPr/>
        </p:nvSpPr>
        <p:spPr>
          <a:xfrm>
            <a:off x="7425784" y="2096227"/>
            <a:ext cx="1611539" cy="57822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dirty="0"/>
              <a:t>Energy model</a:t>
            </a:r>
          </a:p>
        </p:txBody>
      </p:sp>
      <p:sp>
        <p:nvSpPr>
          <p:cNvPr id="17" name="Rectangle 16">
            <a:extLst>
              <a:ext uri="{FF2B5EF4-FFF2-40B4-BE49-F238E27FC236}">
                <a16:creationId xmlns:a16="http://schemas.microsoft.com/office/drawing/2014/main" id="{E4D46ABE-32E0-1BE4-1270-2E114237FB9E}"/>
              </a:ext>
            </a:extLst>
          </p:cNvPr>
          <p:cNvSpPr/>
          <p:nvPr/>
        </p:nvSpPr>
        <p:spPr>
          <a:xfrm>
            <a:off x="1337166" y="790375"/>
            <a:ext cx="1596068" cy="57822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dirty="0"/>
              <a:t>Data path and memory utilization</a:t>
            </a:r>
          </a:p>
        </p:txBody>
      </p:sp>
      <p:sp>
        <p:nvSpPr>
          <p:cNvPr id="6" name="Rectangle 5">
            <a:extLst>
              <a:ext uri="{FF2B5EF4-FFF2-40B4-BE49-F238E27FC236}">
                <a16:creationId xmlns:a16="http://schemas.microsoft.com/office/drawing/2014/main" id="{BDA6C632-466E-536D-0347-0BCD311F367F}"/>
              </a:ext>
            </a:extLst>
          </p:cNvPr>
          <p:cNvSpPr/>
          <p:nvPr/>
        </p:nvSpPr>
        <p:spPr>
          <a:xfrm>
            <a:off x="197268" y="1514290"/>
            <a:ext cx="890966" cy="393434"/>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Inputs</a:t>
            </a:r>
          </a:p>
        </p:txBody>
      </p:sp>
      <p:sp>
        <p:nvSpPr>
          <p:cNvPr id="8" name="Rectangle 7">
            <a:extLst>
              <a:ext uri="{FF2B5EF4-FFF2-40B4-BE49-F238E27FC236}">
                <a16:creationId xmlns:a16="http://schemas.microsoft.com/office/drawing/2014/main" id="{03FFEDCF-FC82-6BB2-DE92-CD3903FAD0CE}"/>
              </a:ext>
            </a:extLst>
          </p:cNvPr>
          <p:cNvSpPr/>
          <p:nvPr/>
        </p:nvSpPr>
        <p:spPr>
          <a:xfrm>
            <a:off x="193741" y="2057486"/>
            <a:ext cx="891913" cy="379419"/>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err="1">
                <a:solidFill>
                  <a:srgbClr val="929497"/>
                </a:solidFill>
              </a:rPr>
              <a:t>Mapspace</a:t>
            </a:r>
            <a:r>
              <a:rPr lang="en-GB" sz="1000">
                <a:solidFill>
                  <a:srgbClr val="929497"/>
                </a:solidFill>
              </a:rPr>
              <a:t> generation</a:t>
            </a:r>
          </a:p>
        </p:txBody>
      </p:sp>
      <p:sp>
        <p:nvSpPr>
          <p:cNvPr id="10" name="Rectangle 9">
            <a:extLst>
              <a:ext uri="{FF2B5EF4-FFF2-40B4-BE49-F238E27FC236}">
                <a16:creationId xmlns:a16="http://schemas.microsoft.com/office/drawing/2014/main" id="{E4094C64-0CB8-D44C-237F-CF2071555BF0}"/>
              </a:ext>
            </a:extLst>
          </p:cNvPr>
          <p:cNvSpPr/>
          <p:nvPr/>
        </p:nvSpPr>
        <p:spPr>
          <a:xfrm>
            <a:off x="186158" y="2586665"/>
            <a:ext cx="892261" cy="336015"/>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00">
                <a:solidFill>
                  <a:schemeClr val="tx1"/>
                </a:solidFill>
              </a:rPr>
              <a:t>Analytical cost model</a:t>
            </a:r>
          </a:p>
        </p:txBody>
      </p:sp>
      <p:sp>
        <p:nvSpPr>
          <p:cNvPr id="13" name="Rectangle 12">
            <a:extLst>
              <a:ext uri="{FF2B5EF4-FFF2-40B4-BE49-F238E27FC236}">
                <a16:creationId xmlns:a16="http://schemas.microsoft.com/office/drawing/2014/main" id="{6988A316-FBA0-C65E-C19E-7729C214DA42}"/>
              </a:ext>
            </a:extLst>
          </p:cNvPr>
          <p:cNvSpPr/>
          <p:nvPr/>
        </p:nvSpPr>
        <p:spPr>
          <a:xfrm>
            <a:off x="186158" y="3065297"/>
            <a:ext cx="893293" cy="336014"/>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err="1">
                <a:solidFill>
                  <a:srgbClr val="929497"/>
                </a:solidFill>
              </a:rPr>
              <a:t>Mapspace</a:t>
            </a:r>
            <a:r>
              <a:rPr lang="en-GB" sz="1000">
                <a:solidFill>
                  <a:srgbClr val="929497"/>
                </a:solidFill>
              </a:rPr>
              <a:t> search engine </a:t>
            </a:r>
          </a:p>
        </p:txBody>
      </p:sp>
      <p:sp>
        <p:nvSpPr>
          <p:cNvPr id="16" name="Rectangle 15">
            <a:extLst>
              <a:ext uri="{FF2B5EF4-FFF2-40B4-BE49-F238E27FC236}">
                <a16:creationId xmlns:a16="http://schemas.microsoft.com/office/drawing/2014/main" id="{E423D947-5A7B-5D5E-A379-8E8C27EBD0EC}"/>
              </a:ext>
            </a:extLst>
          </p:cNvPr>
          <p:cNvSpPr/>
          <p:nvPr/>
        </p:nvSpPr>
        <p:spPr>
          <a:xfrm>
            <a:off x="185215" y="3543568"/>
            <a:ext cx="890196" cy="350301"/>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Outputs</a:t>
            </a:r>
          </a:p>
        </p:txBody>
      </p:sp>
      <p:cxnSp>
        <p:nvCxnSpPr>
          <p:cNvPr id="7" name="Straight Arrow Connector 6">
            <a:extLst>
              <a:ext uri="{FF2B5EF4-FFF2-40B4-BE49-F238E27FC236}">
                <a16:creationId xmlns:a16="http://schemas.microsoft.com/office/drawing/2014/main" id="{293BC6A5-6C2A-F7FD-2619-FFE8D1CDD22C}"/>
              </a:ext>
            </a:extLst>
          </p:cNvPr>
          <p:cNvCxnSpPr>
            <a:stCxn id="17" idx="3"/>
            <a:endCxn id="5" idx="1"/>
          </p:cNvCxnSpPr>
          <p:nvPr/>
        </p:nvCxnSpPr>
        <p:spPr>
          <a:xfrm flipV="1">
            <a:off x="2933234" y="1070985"/>
            <a:ext cx="1686771" cy="8502"/>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752BC06-AAE8-A916-7735-48D2BA706CB6}"/>
              </a:ext>
            </a:extLst>
          </p:cNvPr>
          <p:cNvCxnSpPr>
            <a:cxnSpLocks/>
            <a:stCxn id="5" idx="3"/>
            <a:endCxn id="12" idx="1"/>
          </p:cNvCxnSpPr>
          <p:nvPr/>
        </p:nvCxnSpPr>
        <p:spPr>
          <a:xfrm flipV="1">
            <a:off x="6105905" y="1064088"/>
            <a:ext cx="1415224" cy="6897"/>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Connector: Elbow 18">
            <a:extLst>
              <a:ext uri="{FF2B5EF4-FFF2-40B4-BE49-F238E27FC236}">
                <a16:creationId xmlns:a16="http://schemas.microsoft.com/office/drawing/2014/main" id="{8AD9C08D-8184-BF7A-2FF8-FFDD18260549}"/>
              </a:ext>
            </a:extLst>
          </p:cNvPr>
          <p:cNvCxnSpPr>
            <a:cxnSpLocks/>
            <a:stCxn id="5" idx="2"/>
            <a:endCxn id="15" idx="1"/>
          </p:cNvCxnSpPr>
          <p:nvPr/>
        </p:nvCxnSpPr>
        <p:spPr>
          <a:xfrm rot="16200000" flipH="1">
            <a:off x="5881748" y="841303"/>
            <a:ext cx="1025242" cy="2062829"/>
          </a:xfrm>
          <a:prstGeom prst="bentConnector2">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6DB1DA0A-5E37-ACBB-ED13-0E07EC67C6F8}"/>
              </a:ext>
            </a:extLst>
          </p:cNvPr>
          <p:cNvSpPr/>
          <p:nvPr/>
        </p:nvSpPr>
        <p:spPr>
          <a:xfrm>
            <a:off x="7532909" y="3718718"/>
            <a:ext cx="1485900" cy="57822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t>Area model</a:t>
            </a:r>
          </a:p>
        </p:txBody>
      </p:sp>
      <p:sp>
        <p:nvSpPr>
          <p:cNvPr id="38" name="TextBox 37">
            <a:extLst>
              <a:ext uri="{FF2B5EF4-FFF2-40B4-BE49-F238E27FC236}">
                <a16:creationId xmlns:a16="http://schemas.microsoft.com/office/drawing/2014/main" id="{F5997349-8AA5-4833-9FF4-A7A01E4ED145}"/>
              </a:ext>
            </a:extLst>
          </p:cNvPr>
          <p:cNvSpPr txBox="1"/>
          <p:nvPr/>
        </p:nvSpPr>
        <p:spPr>
          <a:xfrm>
            <a:off x="1571787" y="2385339"/>
            <a:ext cx="1126826" cy="646331"/>
          </a:xfrm>
          <a:prstGeom prst="rect">
            <a:avLst/>
          </a:prstGeom>
          <a:solidFill>
            <a:schemeClr val="bg2">
              <a:lumMod val="60000"/>
              <a:lumOff val="40000"/>
            </a:schemeClr>
          </a:solidFill>
          <a:ln>
            <a:solidFill>
              <a:schemeClr val="tx1"/>
            </a:solidFill>
          </a:ln>
        </p:spPr>
        <p:txBody>
          <a:bodyPr wrap="square" rtlCol="0">
            <a:spAutoFit/>
          </a:bodyPr>
          <a:lstStyle/>
          <a:p>
            <a:r>
              <a:rPr lang="en-US" sz="1200" dirty="0"/>
              <a:t>- </a:t>
            </a:r>
            <a:r>
              <a:rPr lang="en-US" sz="1200" dirty="0" err="1"/>
              <a:t>Mapspace</a:t>
            </a:r>
            <a:endParaRPr lang="en-US" sz="1200" dirty="0"/>
          </a:p>
          <a:p>
            <a:r>
              <a:rPr lang="en-US" sz="1200" dirty="0"/>
              <a:t>- Architecture</a:t>
            </a:r>
          </a:p>
          <a:p>
            <a:r>
              <a:rPr lang="en-US" sz="1200" dirty="0"/>
              <a:t>- Workload</a:t>
            </a:r>
            <a:endParaRPr lang="en-NL" sz="1200" dirty="0"/>
          </a:p>
        </p:txBody>
      </p:sp>
      <p:sp>
        <p:nvSpPr>
          <p:cNvPr id="40" name="TextBox 39">
            <a:extLst>
              <a:ext uri="{FF2B5EF4-FFF2-40B4-BE49-F238E27FC236}">
                <a16:creationId xmlns:a16="http://schemas.microsoft.com/office/drawing/2014/main" id="{A668D087-0FB0-9BD8-41CB-2051732C2A49}"/>
              </a:ext>
            </a:extLst>
          </p:cNvPr>
          <p:cNvSpPr txBox="1"/>
          <p:nvPr/>
        </p:nvSpPr>
        <p:spPr>
          <a:xfrm>
            <a:off x="2981240" y="1138235"/>
            <a:ext cx="1551211" cy="830997"/>
          </a:xfrm>
          <a:prstGeom prst="rect">
            <a:avLst/>
          </a:prstGeom>
          <a:solidFill>
            <a:schemeClr val="bg2">
              <a:lumMod val="60000"/>
              <a:lumOff val="40000"/>
            </a:schemeClr>
          </a:solidFill>
          <a:ln>
            <a:solidFill>
              <a:schemeClr val="tx1"/>
            </a:solidFill>
          </a:ln>
        </p:spPr>
        <p:txBody>
          <a:bodyPr wrap="square" rtlCol="0">
            <a:spAutoFit/>
          </a:bodyPr>
          <a:lstStyle/>
          <a:p>
            <a:r>
              <a:rPr lang="en-US" sz="1200" dirty="0"/>
              <a:t>- Memory Bandwidth</a:t>
            </a:r>
          </a:p>
          <a:p>
            <a:r>
              <a:rPr lang="en-US" sz="1200" dirty="0"/>
              <a:t>- Data size</a:t>
            </a:r>
          </a:p>
          <a:p>
            <a:r>
              <a:rPr lang="en-US" sz="1200" dirty="0"/>
              <a:t>- Memory movement per operand</a:t>
            </a:r>
            <a:endParaRPr lang="en-NL" sz="1200" dirty="0"/>
          </a:p>
        </p:txBody>
      </p:sp>
      <p:cxnSp>
        <p:nvCxnSpPr>
          <p:cNvPr id="49" name="Straight Arrow Connector 48">
            <a:extLst>
              <a:ext uri="{FF2B5EF4-FFF2-40B4-BE49-F238E27FC236}">
                <a16:creationId xmlns:a16="http://schemas.microsoft.com/office/drawing/2014/main" id="{13415B98-A6BD-78B3-7C6C-A75FD1C29D88}"/>
              </a:ext>
            </a:extLst>
          </p:cNvPr>
          <p:cNvCxnSpPr>
            <a:cxnSpLocks/>
            <a:endCxn id="17" idx="2"/>
          </p:cNvCxnSpPr>
          <p:nvPr/>
        </p:nvCxnSpPr>
        <p:spPr>
          <a:xfrm flipV="1">
            <a:off x="2135200" y="1368599"/>
            <a:ext cx="0" cy="944294"/>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D67DD976-7B8A-E177-8F80-BDF4D1E1FDF0}"/>
              </a:ext>
            </a:extLst>
          </p:cNvPr>
          <p:cNvSpPr txBox="1"/>
          <p:nvPr/>
        </p:nvSpPr>
        <p:spPr>
          <a:xfrm>
            <a:off x="6021144" y="2445023"/>
            <a:ext cx="1301375" cy="646331"/>
          </a:xfrm>
          <a:prstGeom prst="rect">
            <a:avLst/>
          </a:prstGeom>
          <a:solidFill>
            <a:schemeClr val="bg2">
              <a:lumMod val="60000"/>
              <a:lumOff val="40000"/>
            </a:schemeClr>
          </a:solidFill>
          <a:ln>
            <a:solidFill>
              <a:schemeClr val="tx1"/>
            </a:solidFill>
          </a:ln>
        </p:spPr>
        <p:txBody>
          <a:bodyPr wrap="square" rtlCol="0">
            <a:spAutoFit/>
          </a:bodyPr>
          <a:lstStyle/>
          <a:p>
            <a:r>
              <a:rPr lang="en-GB" sz="1200" dirty="0"/>
              <a:t>- Word access count</a:t>
            </a:r>
          </a:p>
          <a:p>
            <a:r>
              <a:rPr lang="en-GB" sz="1200" dirty="0"/>
              <a:t>- R/W port cost</a:t>
            </a:r>
            <a:endParaRPr lang="en-NL" sz="1200" dirty="0"/>
          </a:p>
        </p:txBody>
      </p:sp>
      <p:sp>
        <p:nvSpPr>
          <p:cNvPr id="56" name="TextBox 55">
            <a:extLst>
              <a:ext uri="{FF2B5EF4-FFF2-40B4-BE49-F238E27FC236}">
                <a16:creationId xmlns:a16="http://schemas.microsoft.com/office/drawing/2014/main" id="{176051E4-8C96-DFD7-DEFC-08187D13CFDF}"/>
              </a:ext>
            </a:extLst>
          </p:cNvPr>
          <p:cNvSpPr txBox="1"/>
          <p:nvPr/>
        </p:nvSpPr>
        <p:spPr>
          <a:xfrm>
            <a:off x="7720710" y="2737211"/>
            <a:ext cx="1110296" cy="461665"/>
          </a:xfrm>
          <a:prstGeom prst="rect">
            <a:avLst/>
          </a:prstGeom>
          <a:solidFill>
            <a:schemeClr val="bg2">
              <a:lumMod val="20000"/>
              <a:lumOff val="80000"/>
            </a:schemeClr>
          </a:solidFill>
          <a:ln>
            <a:solidFill>
              <a:schemeClr val="tx1"/>
            </a:solidFill>
          </a:ln>
        </p:spPr>
        <p:txBody>
          <a:bodyPr wrap="square" rtlCol="0">
            <a:spAutoFit/>
          </a:bodyPr>
          <a:lstStyle/>
          <a:p>
            <a:pPr algn="ctr"/>
            <a:r>
              <a:rPr lang="en-US" sz="1200" dirty="0"/>
              <a:t>Overall energy analysis</a:t>
            </a:r>
            <a:endParaRPr lang="en-NL" sz="1200" dirty="0"/>
          </a:p>
        </p:txBody>
      </p:sp>
      <p:sp>
        <p:nvSpPr>
          <p:cNvPr id="57" name="TextBox 56">
            <a:extLst>
              <a:ext uri="{FF2B5EF4-FFF2-40B4-BE49-F238E27FC236}">
                <a16:creationId xmlns:a16="http://schemas.microsoft.com/office/drawing/2014/main" id="{609EF68A-1E3B-6D77-912B-F97344ED8EA3}"/>
              </a:ext>
            </a:extLst>
          </p:cNvPr>
          <p:cNvSpPr txBox="1"/>
          <p:nvPr/>
        </p:nvSpPr>
        <p:spPr>
          <a:xfrm>
            <a:off x="6240477" y="1137765"/>
            <a:ext cx="1104630" cy="1015663"/>
          </a:xfrm>
          <a:prstGeom prst="rect">
            <a:avLst/>
          </a:prstGeom>
          <a:solidFill>
            <a:schemeClr val="bg2">
              <a:lumMod val="60000"/>
              <a:lumOff val="40000"/>
            </a:schemeClr>
          </a:solidFill>
          <a:ln>
            <a:solidFill>
              <a:schemeClr val="tx1"/>
            </a:solidFill>
          </a:ln>
        </p:spPr>
        <p:txBody>
          <a:bodyPr wrap="square" rtlCol="0">
            <a:spAutoFit/>
          </a:bodyPr>
          <a:lstStyle/>
          <a:p>
            <a:r>
              <a:rPr lang="en-US" sz="1200" dirty="0"/>
              <a:t>- Memory utilization</a:t>
            </a:r>
          </a:p>
          <a:p>
            <a:r>
              <a:rPr lang="en-US" sz="1200" dirty="0"/>
              <a:t>- Word access</a:t>
            </a:r>
          </a:p>
          <a:p>
            <a:r>
              <a:rPr lang="en-US" sz="1200" dirty="0"/>
              <a:t>- Memory Bandwidth</a:t>
            </a:r>
            <a:endParaRPr lang="en-NL" sz="1200" dirty="0"/>
          </a:p>
        </p:txBody>
      </p:sp>
      <p:sp>
        <p:nvSpPr>
          <p:cNvPr id="58" name="TextBox 57">
            <a:extLst>
              <a:ext uri="{FF2B5EF4-FFF2-40B4-BE49-F238E27FC236}">
                <a16:creationId xmlns:a16="http://schemas.microsoft.com/office/drawing/2014/main" id="{C1584B05-E630-6BF8-BB3A-B3D0C4C4AB72}"/>
              </a:ext>
            </a:extLst>
          </p:cNvPr>
          <p:cNvSpPr txBox="1"/>
          <p:nvPr/>
        </p:nvSpPr>
        <p:spPr>
          <a:xfrm>
            <a:off x="7668359" y="1405388"/>
            <a:ext cx="1214998" cy="461665"/>
          </a:xfrm>
          <a:prstGeom prst="rect">
            <a:avLst/>
          </a:prstGeom>
          <a:solidFill>
            <a:schemeClr val="bg2">
              <a:lumMod val="20000"/>
              <a:lumOff val="80000"/>
            </a:schemeClr>
          </a:solidFill>
          <a:ln>
            <a:solidFill>
              <a:schemeClr val="tx1"/>
            </a:solidFill>
          </a:ln>
        </p:spPr>
        <p:txBody>
          <a:bodyPr wrap="square" rtlCol="0">
            <a:spAutoFit/>
          </a:bodyPr>
          <a:lstStyle/>
          <a:p>
            <a:pPr algn="ctr"/>
            <a:r>
              <a:rPr lang="en-US" sz="1200"/>
              <a:t>Overall latency analysis</a:t>
            </a:r>
            <a:endParaRPr lang="en-NL" sz="1200" err="1"/>
          </a:p>
        </p:txBody>
      </p:sp>
      <p:sp>
        <p:nvSpPr>
          <p:cNvPr id="59" name="TextBox 58">
            <a:extLst>
              <a:ext uri="{FF2B5EF4-FFF2-40B4-BE49-F238E27FC236}">
                <a16:creationId xmlns:a16="http://schemas.microsoft.com/office/drawing/2014/main" id="{7B0EF0F6-7072-C478-96EB-4BB9DF404EDB}"/>
              </a:ext>
            </a:extLst>
          </p:cNvPr>
          <p:cNvSpPr txBox="1"/>
          <p:nvPr/>
        </p:nvSpPr>
        <p:spPr>
          <a:xfrm>
            <a:off x="6042989" y="4066109"/>
            <a:ext cx="999551" cy="461665"/>
          </a:xfrm>
          <a:prstGeom prst="rect">
            <a:avLst/>
          </a:prstGeom>
          <a:solidFill>
            <a:schemeClr val="bg2">
              <a:lumMod val="60000"/>
              <a:lumOff val="40000"/>
            </a:schemeClr>
          </a:solidFill>
          <a:ln>
            <a:solidFill>
              <a:schemeClr val="tx1"/>
            </a:solidFill>
          </a:ln>
        </p:spPr>
        <p:txBody>
          <a:bodyPr wrap="square" rtlCol="0">
            <a:spAutoFit/>
          </a:bodyPr>
          <a:lstStyle/>
          <a:p>
            <a:r>
              <a:rPr lang="en-US" sz="1200" dirty="0"/>
              <a:t>Architecture configuration</a:t>
            </a:r>
            <a:endParaRPr lang="en-NL" sz="1200" dirty="0"/>
          </a:p>
        </p:txBody>
      </p:sp>
      <p:sp>
        <p:nvSpPr>
          <p:cNvPr id="60" name="TextBox 59">
            <a:extLst>
              <a:ext uri="{FF2B5EF4-FFF2-40B4-BE49-F238E27FC236}">
                <a16:creationId xmlns:a16="http://schemas.microsoft.com/office/drawing/2014/main" id="{FBC04C6D-5391-20D9-63D4-7766A2F0469C}"/>
              </a:ext>
            </a:extLst>
          </p:cNvPr>
          <p:cNvSpPr txBox="1"/>
          <p:nvPr/>
        </p:nvSpPr>
        <p:spPr>
          <a:xfrm>
            <a:off x="7626809" y="4311712"/>
            <a:ext cx="1298098" cy="276999"/>
          </a:xfrm>
          <a:prstGeom prst="rect">
            <a:avLst/>
          </a:prstGeom>
          <a:solidFill>
            <a:schemeClr val="bg2">
              <a:lumMod val="20000"/>
              <a:lumOff val="80000"/>
            </a:schemeClr>
          </a:solidFill>
          <a:ln>
            <a:solidFill>
              <a:schemeClr val="tx1"/>
            </a:solidFill>
          </a:ln>
        </p:spPr>
        <p:txBody>
          <a:bodyPr wrap="square" rtlCol="0">
            <a:spAutoFit/>
          </a:bodyPr>
          <a:lstStyle/>
          <a:p>
            <a:pPr algn="ctr"/>
            <a:r>
              <a:rPr lang="en-US" sz="1200"/>
              <a:t> Area breakdown</a:t>
            </a:r>
            <a:endParaRPr lang="en-NL" sz="1200" err="1"/>
          </a:p>
        </p:txBody>
      </p:sp>
      <p:cxnSp>
        <p:nvCxnSpPr>
          <p:cNvPr id="18" name="Straight Arrow Connector 17">
            <a:extLst>
              <a:ext uri="{FF2B5EF4-FFF2-40B4-BE49-F238E27FC236}">
                <a16:creationId xmlns:a16="http://schemas.microsoft.com/office/drawing/2014/main" id="{5A2AC4BC-FAAB-E285-17B3-2A35F3D479F8}"/>
              </a:ext>
            </a:extLst>
          </p:cNvPr>
          <p:cNvCxnSpPr>
            <a:cxnSpLocks/>
            <a:endCxn id="3" idx="1"/>
          </p:cNvCxnSpPr>
          <p:nvPr/>
        </p:nvCxnSpPr>
        <p:spPr>
          <a:xfrm>
            <a:off x="5465460" y="4007830"/>
            <a:ext cx="2067449" cy="0"/>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5265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nodeType="withEffect">
                                  <p:stCondLst>
                                    <p:cond delay="0"/>
                                  </p:stCondLst>
                                  <p:childTnLst>
                                    <p:set>
                                      <p:cBhvr>
                                        <p:cTn id="35" dur="1" fill="hold">
                                          <p:stCondLst>
                                            <p:cond delay="0"/>
                                          </p:stCondLst>
                                        </p:cTn>
                                        <p:tgtEl>
                                          <p:spTgt spid="49"/>
                                        </p:tgtEl>
                                        <p:attrNameLst>
                                          <p:attrName>style.visibility</p:attrName>
                                        </p:attrNameLst>
                                      </p:cBhvr>
                                      <p:to>
                                        <p:strVal val="visible"/>
                                      </p:to>
                                    </p:set>
                                    <p:animEffect transition="in" filter="fade">
                                      <p:cBhvr>
                                        <p:cTn id="36" dur="500"/>
                                        <p:tgtEl>
                                          <p:spTgt spid="4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fade">
                                      <p:cBhvr>
                                        <p:cTn id="41" dur="500"/>
                                        <p:tgtEl>
                                          <p:spTgt spid="3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500"/>
                                        <p:tgtEl>
                                          <p:spTgt spid="4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57"/>
                                        </p:tgtEl>
                                        <p:attrNameLst>
                                          <p:attrName>style.visibility</p:attrName>
                                        </p:attrNameLst>
                                      </p:cBhvr>
                                      <p:to>
                                        <p:strVal val="visible"/>
                                      </p:to>
                                    </p:set>
                                    <p:animEffect transition="in" filter="fade">
                                      <p:cBhvr>
                                        <p:cTn id="51" dur="500"/>
                                        <p:tgtEl>
                                          <p:spTgt spid="5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58"/>
                                        </p:tgtEl>
                                        <p:attrNameLst>
                                          <p:attrName>style.visibility</p:attrName>
                                        </p:attrNameLst>
                                      </p:cBhvr>
                                      <p:to>
                                        <p:strVal val="visible"/>
                                      </p:to>
                                    </p:set>
                                    <p:animEffect transition="in" filter="fade">
                                      <p:cBhvr>
                                        <p:cTn id="56" dur="500"/>
                                        <p:tgtEl>
                                          <p:spTgt spid="58"/>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53"/>
                                        </p:tgtEl>
                                        <p:attrNameLst>
                                          <p:attrName>style.visibility</p:attrName>
                                        </p:attrNameLst>
                                      </p:cBhvr>
                                      <p:to>
                                        <p:strVal val="visible"/>
                                      </p:to>
                                    </p:set>
                                    <p:animEffect transition="in" filter="fade">
                                      <p:cBhvr>
                                        <p:cTn id="61" dur="500"/>
                                        <p:tgtEl>
                                          <p:spTgt spid="5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56"/>
                                        </p:tgtEl>
                                        <p:attrNameLst>
                                          <p:attrName>style.visibility</p:attrName>
                                        </p:attrNameLst>
                                      </p:cBhvr>
                                      <p:to>
                                        <p:strVal val="visible"/>
                                      </p:to>
                                    </p:set>
                                    <p:animEffect transition="in" filter="fade">
                                      <p:cBhvr>
                                        <p:cTn id="66" dur="500"/>
                                        <p:tgtEl>
                                          <p:spTgt spid="5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59"/>
                                        </p:tgtEl>
                                        <p:attrNameLst>
                                          <p:attrName>style.visibility</p:attrName>
                                        </p:attrNameLst>
                                      </p:cBhvr>
                                      <p:to>
                                        <p:strVal val="visible"/>
                                      </p:to>
                                    </p:set>
                                    <p:animEffect transition="in" filter="fade">
                                      <p:cBhvr>
                                        <p:cTn id="71" dur="500"/>
                                        <p:tgtEl>
                                          <p:spTgt spid="59"/>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60"/>
                                        </p:tgtEl>
                                        <p:attrNameLst>
                                          <p:attrName>style.visibility</p:attrName>
                                        </p:attrNameLst>
                                      </p:cBhvr>
                                      <p:to>
                                        <p:strVal val="visible"/>
                                      </p:to>
                                    </p:set>
                                    <p:animEffect transition="in" filter="fade">
                                      <p:cBhvr>
                                        <p:cTn id="76"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animBg="1"/>
      <p:bldP spid="15" grpId="0" animBg="1"/>
      <p:bldP spid="17" grpId="0" animBg="1"/>
      <p:bldP spid="3" grpId="0" animBg="1"/>
      <p:bldP spid="38" grpId="0" animBg="1"/>
      <p:bldP spid="40" grpId="0" animBg="1"/>
      <p:bldP spid="53" grpId="0" animBg="1"/>
      <p:bldP spid="56" grpId="0" animBg="1"/>
      <p:bldP spid="57" grpId="0" animBg="1"/>
      <p:bldP spid="58" grpId="0" animBg="1"/>
      <p:bldP spid="59" grpId="0" animBg="1"/>
      <p:bldP spid="6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DB877-937C-7872-FD45-18954E7ED2F4}"/>
              </a:ext>
            </a:extLst>
          </p:cNvPr>
          <p:cNvSpPr>
            <a:spLocks noGrp="1"/>
          </p:cNvSpPr>
          <p:nvPr>
            <p:ph type="title"/>
          </p:nvPr>
        </p:nvSpPr>
        <p:spPr/>
        <p:txBody>
          <a:bodyPr/>
          <a:lstStyle/>
          <a:p>
            <a:r>
              <a:rPr lang="en-US" dirty="0"/>
              <a:t>Optimization-Driven Mapping Selection</a:t>
            </a:r>
            <a:endParaRPr lang="en-GB" dirty="0"/>
          </a:p>
        </p:txBody>
      </p:sp>
      <p:sp>
        <p:nvSpPr>
          <p:cNvPr id="4" name="Slide Number Placeholder 3">
            <a:extLst>
              <a:ext uri="{FF2B5EF4-FFF2-40B4-BE49-F238E27FC236}">
                <a16:creationId xmlns:a16="http://schemas.microsoft.com/office/drawing/2014/main" id="{EB9F4215-B8C2-003F-D2FB-3CB4C3A39A66}"/>
              </a:ext>
            </a:extLst>
          </p:cNvPr>
          <p:cNvSpPr>
            <a:spLocks noGrp="1"/>
          </p:cNvSpPr>
          <p:nvPr>
            <p:ph type="sldNum" sz="quarter" idx="12"/>
          </p:nvPr>
        </p:nvSpPr>
        <p:spPr/>
        <p:txBody>
          <a:bodyPr/>
          <a:lstStyle/>
          <a:p>
            <a:fld id="{8836216C-5BC3-7C44-80F8-E30864FFC228}" type="slidenum">
              <a:rPr lang="en-US" smtClean="0"/>
              <a:t>23</a:t>
            </a:fld>
            <a:endParaRPr lang="en-US"/>
          </a:p>
        </p:txBody>
      </p:sp>
      <p:sp>
        <p:nvSpPr>
          <p:cNvPr id="5" name="Text Placeholder 4">
            <a:extLst>
              <a:ext uri="{FF2B5EF4-FFF2-40B4-BE49-F238E27FC236}">
                <a16:creationId xmlns:a16="http://schemas.microsoft.com/office/drawing/2014/main" id="{EFF6E672-F2F6-6179-03B8-4CA589B5F142}"/>
              </a:ext>
            </a:extLst>
          </p:cNvPr>
          <p:cNvSpPr>
            <a:spLocks noGrp="1"/>
          </p:cNvSpPr>
          <p:nvPr>
            <p:ph type="body" sz="quarter" idx="13"/>
          </p:nvPr>
        </p:nvSpPr>
        <p:spPr/>
        <p:txBody>
          <a:bodyPr/>
          <a:lstStyle/>
          <a:p>
            <a:endParaRPr lang="en-GB"/>
          </a:p>
        </p:txBody>
      </p:sp>
      <p:sp>
        <p:nvSpPr>
          <p:cNvPr id="7" name="Rectangle 6">
            <a:extLst>
              <a:ext uri="{FF2B5EF4-FFF2-40B4-BE49-F238E27FC236}">
                <a16:creationId xmlns:a16="http://schemas.microsoft.com/office/drawing/2014/main" id="{BB4D039F-12F3-D06F-DE6D-C222D216DB87}"/>
              </a:ext>
            </a:extLst>
          </p:cNvPr>
          <p:cNvSpPr/>
          <p:nvPr/>
        </p:nvSpPr>
        <p:spPr>
          <a:xfrm>
            <a:off x="197268" y="1514290"/>
            <a:ext cx="890966" cy="393434"/>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Inputs</a:t>
            </a:r>
          </a:p>
        </p:txBody>
      </p:sp>
      <p:sp>
        <p:nvSpPr>
          <p:cNvPr id="9" name="Rectangle 8">
            <a:extLst>
              <a:ext uri="{FF2B5EF4-FFF2-40B4-BE49-F238E27FC236}">
                <a16:creationId xmlns:a16="http://schemas.microsoft.com/office/drawing/2014/main" id="{DEA84511-52B9-2063-EBA1-83AD5EC2CBE7}"/>
              </a:ext>
            </a:extLst>
          </p:cNvPr>
          <p:cNvSpPr/>
          <p:nvPr/>
        </p:nvSpPr>
        <p:spPr>
          <a:xfrm>
            <a:off x="193741" y="2057486"/>
            <a:ext cx="891913" cy="379419"/>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err="1">
                <a:solidFill>
                  <a:srgbClr val="929497"/>
                </a:solidFill>
              </a:rPr>
              <a:t>Mapspace</a:t>
            </a:r>
            <a:r>
              <a:rPr lang="en-GB" sz="1000">
                <a:solidFill>
                  <a:srgbClr val="929497"/>
                </a:solidFill>
              </a:rPr>
              <a:t> generation</a:t>
            </a:r>
          </a:p>
        </p:txBody>
      </p:sp>
      <p:sp>
        <p:nvSpPr>
          <p:cNvPr id="11" name="Rectangle 10">
            <a:extLst>
              <a:ext uri="{FF2B5EF4-FFF2-40B4-BE49-F238E27FC236}">
                <a16:creationId xmlns:a16="http://schemas.microsoft.com/office/drawing/2014/main" id="{C5B3904F-F95B-2CA2-B441-8F8D4D8F885F}"/>
              </a:ext>
            </a:extLst>
          </p:cNvPr>
          <p:cNvSpPr/>
          <p:nvPr/>
        </p:nvSpPr>
        <p:spPr>
          <a:xfrm>
            <a:off x="186158" y="2586665"/>
            <a:ext cx="892261" cy="336015"/>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Analytical cost model</a:t>
            </a:r>
          </a:p>
        </p:txBody>
      </p:sp>
      <p:sp>
        <p:nvSpPr>
          <p:cNvPr id="13" name="Rectangle 12">
            <a:extLst>
              <a:ext uri="{FF2B5EF4-FFF2-40B4-BE49-F238E27FC236}">
                <a16:creationId xmlns:a16="http://schemas.microsoft.com/office/drawing/2014/main" id="{C2E6CF28-3C63-9824-64C8-976A2E8232F1}"/>
              </a:ext>
            </a:extLst>
          </p:cNvPr>
          <p:cNvSpPr/>
          <p:nvPr/>
        </p:nvSpPr>
        <p:spPr>
          <a:xfrm>
            <a:off x="186158" y="3065297"/>
            <a:ext cx="893293" cy="336014"/>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00" err="1">
                <a:solidFill>
                  <a:schemeClr val="tx1"/>
                </a:solidFill>
              </a:rPr>
              <a:t>Mapspace</a:t>
            </a:r>
            <a:r>
              <a:rPr lang="en-GB" sz="1000">
                <a:solidFill>
                  <a:schemeClr val="tx1"/>
                </a:solidFill>
              </a:rPr>
              <a:t> search engine </a:t>
            </a:r>
          </a:p>
        </p:txBody>
      </p:sp>
      <p:sp>
        <p:nvSpPr>
          <p:cNvPr id="15" name="Rectangle 14">
            <a:extLst>
              <a:ext uri="{FF2B5EF4-FFF2-40B4-BE49-F238E27FC236}">
                <a16:creationId xmlns:a16="http://schemas.microsoft.com/office/drawing/2014/main" id="{5FC43529-3AAD-E562-69BD-69C69A29DB0A}"/>
              </a:ext>
            </a:extLst>
          </p:cNvPr>
          <p:cNvSpPr/>
          <p:nvPr/>
        </p:nvSpPr>
        <p:spPr>
          <a:xfrm>
            <a:off x="185215" y="3543568"/>
            <a:ext cx="890196" cy="350301"/>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Outputs</a:t>
            </a:r>
          </a:p>
        </p:txBody>
      </p:sp>
      <p:sp>
        <p:nvSpPr>
          <p:cNvPr id="17" name="Rectangle 16">
            <a:extLst>
              <a:ext uri="{FF2B5EF4-FFF2-40B4-BE49-F238E27FC236}">
                <a16:creationId xmlns:a16="http://schemas.microsoft.com/office/drawing/2014/main" id="{C4448D78-7DD9-D94A-C6F4-D0440FBEB13D}"/>
              </a:ext>
            </a:extLst>
          </p:cNvPr>
          <p:cNvSpPr/>
          <p:nvPr/>
        </p:nvSpPr>
        <p:spPr>
          <a:xfrm>
            <a:off x="4140200" y="2282637"/>
            <a:ext cx="1485900" cy="57822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dirty="0" err="1"/>
              <a:t>Mapspace</a:t>
            </a:r>
            <a:r>
              <a:rPr lang="en-GB" sz="1400" dirty="0"/>
              <a:t> search engine</a:t>
            </a:r>
          </a:p>
        </p:txBody>
      </p:sp>
      <p:sp>
        <p:nvSpPr>
          <p:cNvPr id="18" name="TextBox 17">
            <a:extLst>
              <a:ext uri="{FF2B5EF4-FFF2-40B4-BE49-F238E27FC236}">
                <a16:creationId xmlns:a16="http://schemas.microsoft.com/office/drawing/2014/main" id="{6A572660-537E-6A6A-51F2-0A313DD61817}"/>
              </a:ext>
            </a:extLst>
          </p:cNvPr>
          <p:cNvSpPr txBox="1"/>
          <p:nvPr/>
        </p:nvSpPr>
        <p:spPr>
          <a:xfrm>
            <a:off x="2027581" y="1420096"/>
            <a:ext cx="1237044" cy="52322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400" dirty="0"/>
              <a:t>Event driven </a:t>
            </a:r>
            <a:r>
              <a:rPr lang="en-GB" sz="1400" dirty="0" err="1"/>
              <a:t>mapspace</a:t>
            </a:r>
            <a:endParaRPr lang="en-GB" sz="1400" dirty="0"/>
          </a:p>
        </p:txBody>
      </p:sp>
      <p:sp>
        <p:nvSpPr>
          <p:cNvPr id="19" name="TextBox 18">
            <a:extLst>
              <a:ext uri="{FF2B5EF4-FFF2-40B4-BE49-F238E27FC236}">
                <a16:creationId xmlns:a16="http://schemas.microsoft.com/office/drawing/2014/main" id="{C5B74F2E-93B8-0551-6C17-917635821168}"/>
              </a:ext>
            </a:extLst>
          </p:cNvPr>
          <p:cNvSpPr txBox="1"/>
          <p:nvPr/>
        </p:nvSpPr>
        <p:spPr>
          <a:xfrm>
            <a:off x="2020346" y="2094696"/>
            <a:ext cx="1237044" cy="954107"/>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400" dirty="0"/>
              <a:t>Cost analysis of the mapping available</a:t>
            </a:r>
          </a:p>
        </p:txBody>
      </p:sp>
      <p:sp>
        <p:nvSpPr>
          <p:cNvPr id="20" name="TextBox 19">
            <a:extLst>
              <a:ext uri="{FF2B5EF4-FFF2-40B4-BE49-F238E27FC236}">
                <a16:creationId xmlns:a16="http://schemas.microsoft.com/office/drawing/2014/main" id="{81B51112-399F-9DB7-8B6E-78C29A8DCC23}"/>
              </a:ext>
            </a:extLst>
          </p:cNvPr>
          <p:cNvSpPr txBox="1"/>
          <p:nvPr/>
        </p:nvSpPr>
        <p:spPr>
          <a:xfrm>
            <a:off x="2027581" y="3233304"/>
            <a:ext cx="1237044" cy="954107"/>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400" dirty="0"/>
              <a:t>Optimisation criteria</a:t>
            </a:r>
          </a:p>
          <a:p>
            <a:pPr algn="ctr"/>
            <a:r>
              <a:rPr lang="en-GB" sz="1400" dirty="0" err="1"/>
              <a:t>i.e</a:t>
            </a:r>
            <a:r>
              <a:rPr lang="en-GB" sz="1400" dirty="0"/>
              <a:t> Latency, Energy, EDP</a:t>
            </a:r>
          </a:p>
        </p:txBody>
      </p:sp>
      <p:sp>
        <p:nvSpPr>
          <p:cNvPr id="21" name="TextBox 20">
            <a:extLst>
              <a:ext uri="{FF2B5EF4-FFF2-40B4-BE49-F238E27FC236}">
                <a16:creationId xmlns:a16="http://schemas.microsoft.com/office/drawing/2014/main" id="{CE56628D-E125-A832-BD56-97E1155AE6A0}"/>
              </a:ext>
            </a:extLst>
          </p:cNvPr>
          <p:cNvSpPr txBox="1"/>
          <p:nvPr/>
        </p:nvSpPr>
        <p:spPr>
          <a:xfrm>
            <a:off x="6406698" y="1420096"/>
            <a:ext cx="1237044" cy="73866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400" dirty="0"/>
              <a:t>Best mapping possible for the workload</a:t>
            </a:r>
          </a:p>
        </p:txBody>
      </p:sp>
      <p:sp>
        <p:nvSpPr>
          <p:cNvPr id="22" name="TextBox 21">
            <a:extLst>
              <a:ext uri="{FF2B5EF4-FFF2-40B4-BE49-F238E27FC236}">
                <a16:creationId xmlns:a16="http://schemas.microsoft.com/office/drawing/2014/main" id="{851012A6-30C2-2309-4EA5-D4F6CD0A464B}"/>
              </a:ext>
            </a:extLst>
          </p:cNvPr>
          <p:cNvSpPr txBox="1"/>
          <p:nvPr/>
        </p:nvSpPr>
        <p:spPr>
          <a:xfrm>
            <a:off x="6406698" y="3323729"/>
            <a:ext cx="1237044" cy="73866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400" dirty="0"/>
              <a:t>Utilisation stats of the final mappings</a:t>
            </a:r>
          </a:p>
        </p:txBody>
      </p:sp>
      <p:cxnSp>
        <p:nvCxnSpPr>
          <p:cNvPr id="10" name="Connector: Elbow 9">
            <a:extLst>
              <a:ext uri="{FF2B5EF4-FFF2-40B4-BE49-F238E27FC236}">
                <a16:creationId xmlns:a16="http://schemas.microsoft.com/office/drawing/2014/main" id="{78468576-34A4-0196-9630-BBFFD7198252}"/>
              </a:ext>
            </a:extLst>
          </p:cNvPr>
          <p:cNvCxnSpPr>
            <a:stCxn id="18" idx="3"/>
            <a:endCxn id="17" idx="1"/>
          </p:cNvCxnSpPr>
          <p:nvPr/>
        </p:nvCxnSpPr>
        <p:spPr>
          <a:xfrm>
            <a:off x="3264625" y="1681706"/>
            <a:ext cx="875575" cy="890043"/>
          </a:xfrm>
          <a:prstGeom prst="bentConnector3">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Connector: Elbow 13">
            <a:extLst>
              <a:ext uri="{FF2B5EF4-FFF2-40B4-BE49-F238E27FC236}">
                <a16:creationId xmlns:a16="http://schemas.microsoft.com/office/drawing/2014/main" id="{54E30E54-010F-B51F-C334-6876E1ECC1C5}"/>
              </a:ext>
            </a:extLst>
          </p:cNvPr>
          <p:cNvCxnSpPr>
            <a:stCxn id="19" idx="3"/>
            <a:endCxn id="17" idx="1"/>
          </p:cNvCxnSpPr>
          <p:nvPr/>
        </p:nvCxnSpPr>
        <p:spPr>
          <a:xfrm flipV="1">
            <a:off x="3257390" y="2571749"/>
            <a:ext cx="882810" cy="1"/>
          </a:xfrm>
          <a:prstGeom prst="bentConnector3">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3" name="Connector: Elbow 22">
            <a:extLst>
              <a:ext uri="{FF2B5EF4-FFF2-40B4-BE49-F238E27FC236}">
                <a16:creationId xmlns:a16="http://schemas.microsoft.com/office/drawing/2014/main" id="{D9D6D100-7DB3-A831-ABCA-3E17EF9CB066}"/>
              </a:ext>
            </a:extLst>
          </p:cNvPr>
          <p:cNvCxnSpPr>
            <a:stCxn id="20" idx="3"/>
            <a:endCxn id="17" idx="1"/>
          </p:cNvCxnSpPr>
          <p:nvPr/>
        </p:nvCxnSpPr>
        <p:spPr>
          <a:xfrm flipV="1">
            <a:off x="3264625" y="2571749"/>
            <a:ext cx="875575" cy="1138609"/>
          </a:xfrm>
          <a:prstGeom prst="bentConnector3">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id="{DA84E38D-D5CC-A6B7-2376-335B58A115A3}"/>
              </a:ext>
            </a:extLst>
          </p:cNvPr>
          <p:cNvCxnSpPr>
            <a:cxnSpLocks/>
            <a:stCxn id="17" idx="3"/>
            <a:endCxn id="21" idx="1"/>
          </p:cNvCxnSpPr>
          <p:nvPr/>
        </p:nvCxnSpPr>
        <p:spPr>
          <a:xfrm flipV="1">
            <a:off x="5626100" y="1789428"/>
            <a:ext cx="780598" cy="782321"/>
          </a:xfrm>
          <a:prstGeom prst="bentConnector3">
            <a:avLst>
              <a:gd name="adj1" fmla="val 50000"/>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8" name="Connector: Elbow 27">
            <a:extLst>
              <a:ext uri="{FF2B5EF4-FFF2-40B4-BE49-F238E27FC236}">
                <a16:creationId xmlns:a16="http://schemas.microsoft.com/office/drawing/2014/main" id="{A62FCBE8-BA4F-F021-10D2-208CA055BDB9}"/>
              </a:ext>
            </a:extLst>
          </p:cNvPr>
          <p:cNvCxnSpPr>
            <a:cxnSpLocks/>
            <a:stCxn id="17" idx="3"/>
            <a:endCxn id="22" idx="1"/>
          </p:cNvCxnSpPr>
          <p:nvPr/>
        </p:nvCxnSpPr>
        <p:spPr>
          <a:xfrm>
            <a:off x="5626100" y="2571749"/>
            <a:ext cx="780598" cy="1121312"/>
          </a:xfrm>
          <a:prstGeom prst="bentConnector3">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5846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500"/>
                                        <p:tgtEl>
                                          <p:spTgt spid="2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5D5FF-B239-7252-D6BB-AA4E8763D8EA}"/>
              </a:ext>
            </a:extLst>
          </p:cNvPr>
          <p:cNvSpPr>
            <a:spLocks noGrp="1"/>
          </p:cNvSpPr>
          <p:nvPr>
            <p:ph type="title"/>
          </p:nvPr>
        </p:nvSpPr>
        <p:spPr>
          <a:xfrm>
            <a:off x="160631" y="206094"/>
            <a:ext cx="8753475" cy="461665"/>
          </a:xfrm>
        </p:spPr>
        <p:txBody>
          <a:bodyPr/>
          <a:lstStyle/>
          <a:p>
            <a:r>
              <a:rPr lang="en-US" dirty="0"/>
              <a:t>Framework Results and Analysis</a:t>
            </a:r>
            <a:endParaRPr lang="en-GB" dirty="0">
              <a:solidFill>
                <a:srgbClr val="000000"/>
              </a:solidFill>
              <a:latin typeface="Gill Sans MT"/>
              <a:cs typeface="Gill Sans"/>
            </a:endParaRPr>
          </a:p>
        </p:txBody>
      </p:sp>
      <p:sp>
        <p:nvSpPr>
          <p:cNvPr id="4" name="Slide Number Placeholder 3">
            <a:extLst>
              <a:ext uri="{FF2B5EF4-FFF2-40B4-BE49-F238E27FC236}">
                <a16:creationId xmlns:a16="http://schemas.microsoft.com/office/drawing/2014/main" id="{C559B840-3CC4-C60A-B8F2-2A89E9C09538}"/>
              </a:ext>
            </a:extLst>
          </p:cNvPr>
          <p:cNvSpPr>
            <a:spLocks noGrp="1"/>
          </p:cNvSpPr>
          <p:nvPr>
            <p:ph type="sldNum" sz="quarter" idx="12"/>
          </p:nvPr>
        </p:nvSpPr>
        <p:spPr/>
        <p:txBody>
          <a:bodyPr/>
          <a:lstStyle/>
          <a:p>
            <a:fld id="{8836216C-5BC3-7C44-80F8-E30864FFC228}" type="slidenum">
              <a:rPr lang="en-US" smtClean="0"/>
              <a:t>24</a:t>
            </a:fld>
            <a:endParaRPr lang="en-US"/>
          </a:p>
        </p:txBody>
      </p:sp>
      <p:sp>
        <p:nvSpPr>
          <p:cNvPr id="6" name="Rectangle 5">
            <a:extLst>
              <a:ext uri="{FF2B5EF4-FFF2-40B4-BE49-F238E27FC236}">
                <a16:creationId xmlns:a16="http://schemas.microsoft.com/office/drawing/2014/main" id="{25AEE320-4EEF-2C8A-7562-8B40F3DEB9EC}"/>
              </a:ext>
            </a:extLst>
          </p:cNvPr>
          <p:cNvSpPr/>
          <p:nvPr/>
        </p:nvSpPr>
        <p:spPr>
          <a:xfrm>
            <a:off x="4292414" y="2122883"/>
            <a:ext cx="1303783" cy="373996"/>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t>AeDAM</a:t>
            </a:r>
          </a:p>
        </p:txBody>
      </p:sp>
      <p:pic>
        <p:nvPicPr>
          <p:cNvPr id="8" name="Picture 7" descr="Lenet-5 | Lenet-5 Architecture | Introduction to Lenet-5">
            <a:extLst>
              <a:ext uri="{FF2B5EF4-FFF2-40B4-BE49-F238E27FC236}">
                <a16:creationId xmlns:a16="http://schemas.microsoft.com/office/drawing/2014/main" id="{3C04D0E0-534A-DD92-2470-D2118DF77229}"/>
              </a:ext>
            </a:extLst>
          </p:cNvPr>
          <p:cNvPicPr>
            <a:picLocks noChangeAspect="1"/>
          </p:cNvPicPr>
          <p:nvPr/>
        </p:nvPicPr>
        <p:blipFill>
          <a:blip r:embed="rId3"/>
          <a:stretch>
            <a:fillRect/>
          </a:stretch>
        </p:blipFill>
        <p:spPr>
          <a:xfrm>
            <a:off x="1446100" y="3101035"/>
            <a:ext cx="2152790" cy="1021403"/>
          </a:xfrm>
          <a:prstGeom prst="rect">
            <a:avLst/>
          </a:prstGeom>
        </p:spPr>
      </p:pic>
      <p:pic>
        <p:nvPicPr>
          <p:cNvPr id="10" name="Picture 9" descr="A diagram of a diagram of a diagram&#10;&#10;AI-generated content may be incorrect.">
            <a:extLst>
              <a:ext uri="{FF2B5EF4-FFF2-40B4-BE49-F238E27FC236}">
                <a16:creationId xmlns:a16="http://schemas.microsoft.com/office/drawing/2014/main" id="{B40F79DA-8010-1749-6827-0C27F24840AD}"/>
              </a:ext>
            </a:extLst>
          </p:cNvPr>
          <p:cNvPicPr>
            <a:picLocks noChangeAspect="1"/>
          </p:cNvPicPr>
          <p:nvPr/>
        </p:nvPicPr>
        <p:blipFill>
          <a:blip r:embed="rId4"/>
          <a:stretch>
            <a:fillRect/>
          </a:stretch>
        </p:blipFill>
        <p:spPr>
          <a:xfrm>
            <a:off x="6366480" y="2260142"/>
            <a:ext cx="1042912" cy="1611491"/>
          </a:xfrm>
          <a:prstGeom prst="rect">
            <a:avLst/>
          </a:prstGeom>
        </p:spPr>
      </p:pic>
      <p:sp>
        <p:nvSpPr>
          <p:cNvPr id="18" name="TextBox 17">
            <a:extLst>
              <a:ext uri="{FF2B5EF4-FFF2-40B4-BE49-F238E27FC236}">
                <a16:creationId xmlns:a16="http://schemas.microsoft.com/office/drawing/2014/main" id="{C1CEC1AE-908A-42D3-93F0-929AD3874B82}"/>
              </a:ext>
            </a:extLst>
          </p:cNvPr>
          <p:cNvSpPr txBox="1"/>
          <p:nvPr/>
        </p:nvSpPr>
        <p:spPr>
          <a:xfrm>
            <a:off x="6399406" y="4151339"/>
            <a:ext cx="981636" cy="738664"/>
          </a:xfrm>
          <a:prstGeom prst="rect">
            <a:avLst/>
          </a:prstGeom>
          <a:solidFill>
            <a:schemeClr val="bg2">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 b="1"/>
              <a:t>Memory utilization</a:t>
            </a:r>
            <a:r>
              <a:rPr lang="en-GB" sz="600"/>
              <a:t>:</a:t>
            </a:r>
          </a:p>
          <a:p>
            <a:r>
              <a:rPr lang="en-GB" sz="600"/>
              <a:t>Inputs: {}</a:t>
            </a:r>
          </a:p>
          <a:p>
            <a:r>
              <a:rPr lang="en-GB" sz="600"/>
              <a:t>Weights: {}</a:t>
            </a:r>
          </a:p>
          <a:p>
            <a:r>
              <a:rPr lang="en-GB" sz="600"/>
              <a:t>Outputs: {}</a:t>
            </a:r>
          </a:p>
          <a:p>
            <a:r>
              <a:rPr lang="en-GB" sz="600" b="1"/>
              <a:t>Word acces</a:t>
            </a:r>
            <a:r>
              <a:rPr lang="en-GB" sz="600"/>
              <a:t>s:</a:t>
            </a:r>
          </a:p>
          <a:p>
            <a:r>
              <a:rPr lang="en-GB" sz="600" b="1"/>
              <a:t>Spatial utilisation</a:t>
            </a:r>
            <a:r>
              <a:rPr lang="en-GB" sz="600"/>
              <a:t>:</a:t>
            </a:r>
          </a:p>
          <a:p>
            <a:r>
              <a:rPr lang="en-GB" sz="600"/>
              <a:t>PE utilisation: {}</a:t>
            </a:r>
            <a:endParaRPr lang="en-US" sz="1600"/>
          </a:p>
        </p:txBody>
      </p:sp>
      <p:sp>
        <p:nvSpPr>
          <p:cNvPr id="82" name="Rectangle 81">
            <a:extLst>
              <a:ext uri="{FF2B5EF4-FFF2-40B4-BE49-F238E27FC236}">
                <a16:creationId xmlns:a16="http://schemas.microsoft.com/office/drawing/2014/main" id="{730CF4EB-34AE-3590-6846-A7F5B7241C75}"/>
              </a:ext>
            </a:extLst>
          </p:cNvPr>
          <p:cNvSpPr/>
          <p:nvPr/>
        </p:nvSpPr>
        <p:spPr>
          <a:xfrm>
            <a:off x="1935956" y="2122993"/>
            <a:ext cx="1194954" cy="253279"/>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Architecture</a:t>
            </a:r>
          </a:p>
        </p:txBody>
      </p:sp>
      <p:sp>
        <p:nvSpPr>
          <p:cNvPr id="83" name="Rectangle 82">
            <a:extLst>
              <a:ext uri="{FF2B5EF4-FFF2-40B4-BE49-F238E27FC236}">
                <a16:creationId xmlns:a16="http://schemas.microsoft.com/office/drawing/2014/main" id="{8C67217E-02D1-51AC-69C1-67515E19D3F6}"/>
              </a:ext>
            </a:extLst>
          </p:cNvPr>
          <p:cNvSpPr/>
          <p:nvPr/>
        </p:nvSpPr>
        <p:spPr>
          <a:xfrm>
            <a:off x="1935955" y="4299558"/>
            <a:ext cx="1194954" cy="260423"/>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dirty="0"/>
              <a:t>Workload</a:t>
            </a:r>
          </a:p>
        </p:txBody>
      </p:sp>
      <p:sp>
        <p:nvSpPr>
          <p:cNvPr id="84" name="Rectangle 83">
            <a:extLst>
              <a:ext uri="{FF2B5EF4-FFF2-40B4-BE49-F238E27FC236}">
                <a16:creationId xmlns:a16="http://schemas.microsoft.com/office/drawing/2014/main" id="{44E0A2B1-7E94-E686-3CA1-4841EFD7924C}"/>
              </a:ext>
            </a:extLst>
          </p:cNvPr>
          <p:cNvSpPr/>
          <p:nvPr/>
        </p:nvSpPr>
        <p:spPr>
          <a:xfrm>
            <a:off x="7743174" y="1057273"/>
            <a:ext cx="1087799" cy="310429"/>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t>Energy &amp; Latency stats</a:t>
            </a:r>
          </a:p>
        </p:txBody>
      </p:sp>
      <p:sp>
        <p:nvSpPr>
          <p:cNvPr id="85" name="Rectangle 84">
            <a:extLst>
              <a:ext uri="{FF2B5EF4-FFF2-40B4-BE49-F238E27FC236}">
                <a16:creationId xmlns:a16="http://schemas.microsoft.com/office/drawing/2014/main" id="{7A824CC9-CDFE-CBE9-0CE5-654849EFC3A0}"/>
              </a:ext>
            </a:extLst>
          </p:cNvPr>
          <p:cNvSpPr/>
          <p:nvPr/>
        </p:nvSpPr>
        <p:spPr>
          <a:xfrm>
            <a:off x="7743173" y="2790606"/>
            <a:ext cx="1180667" cy="310429"/>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t>Best mapping</a:t>
            </a:r>
          </a:p>
        </p:txBody>
      </p:sp>
      <p:sp>
        <p:nvSpPr>
          <p:cNvPr id="86" name="Rectangle 85">
            <a:extLst>
              <a:ext uri="{FF2B5EF4-FFF2-40B4-BE49-F238E27FC236}">
                <a16:creationId xmlns:a16="http://schemas.microsoft.com/office/drawing/2014/main" id="{EDB746A9-276E-8584-E6E4-8C2E46FE22F4}"/>
              </a:ext>
            </a:extLst>
          </p:cNvPr>
          <p:cNvSpPr/>
          <p:nvPr/>
        </p:nvSpPr>
        <p:spPr>
          <a:xfrm>
            <a:off x="7743172" y="4274556"/>
            <a:ext cx="1180667" cy="310429"/>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t>Overall utilisation stats</a:t>
            </a:r>
          </a:p>
        </p:txBody>
      </p:sp>
      <p:pic>
        <p:nvPicPr>
          <p:cNvPr id="3" name="Picture 2" descr="A screenshot of a computer&#10;&#10;AI-generated content may be incorrect.">
            <a:extLst>
              <a:ext uri="{FF2B5EF4-FFF2-40B4-BE49-F238E27FC236}">
                <a16:creationId xmlns:a16="http://schemas.microsoft.com/office/drawing/2014/main" id="{87140CE8-A2A4-7E82-78BE-4027753AD16D}"/>
              </a:ext>
            </a:extLst>
          </p:cNvPr>
          <p:cNvPicPr>
            <a:picLocks noChangeAspect="1"/>
          </p:cNvPicPr>
          <p:nvPr/>
        </p:nvPicPr>
        <p:blipFill>
          <a:blip r:embed="rId5"/>
          <a:stretch>
            <a:fillRect/>
          </a:stretch>
        </p:blipFill>
        <p:spPr>
          <a:xfrm>
            <a:off x="6400799" y="664368"/>
            <a:ext cx="1293020" cy="1243013"/>
          </a:xfrm>
          <a:prstGeom prst="rect">
            <a:avLst/>
          </a:prstGeom>
        </p:spPr>
      </p:pic>
      <p:sp>
        <p:nvSpPr>
          <p:cNvPr id="11" name="Rectangle 10">
            <a:extLst>
              <a:ext uri="{FF2B5EF4-FFF2-40B4-BE49-F238E27FC236}">
                <a16:creationId xmlns:a16="http://schemas.microsoft.com/office/drawing/2014/main" id="{9BA3CEEC-E81C-4B46-5546-A36415FDBB34}"/>
              </a:ext>
            </a:extLst>
          </p:cNvPr>
          <p:cNvSpPr/>
          <p:nvPr/>
        </p:nvSpPr>
        <p:spPr>
          <a:xfrm>
            <a:off x="197268" y="1514290"/>
            <a:ext cx="890966" cy="393434"/>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Inputs</a:t>
            </a:r>
          </a:p>
        </p:txBody>
      </p:sp>
      <p:sp>
        <p:nvSpPr>
          <p:cNvPr id="17" name="Rectangle 16">
            <a:extLst>
              <a:ext uri="{FF2B5EF4-FFF2-40B4-BE49-F238E27FC236}">
                <a16:creationId xmlns:a16="http://schemas.microsoft.com/office/drawing/2014/main" id="{7E45C620-4EA1-ED76-BE7D-1BABD58C44EF}"/>
              </a:ext>
            </a:extLst>
          </p:cNvPr>
          <p:cNvSpPr/>
          <p:nvPr/>
        </p:nvSpPr>
        <p:spPr>
          <a:xfrm>
            <a:off x="193741" y="2057486"/>
            <a:ext cx="891913" cy="379419"/>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err="1">
                <a:solidFill>
                  <a:srgbClr val="929497"/>
                </a:solidFill>
              </a:rPr>
              <a:t>Mapspace</a:t>
            </a:r>
            <a:r>
              <a:rPr lang="en-GB" sz="1000">
                <a:solidFill>
                  <a:srgbClr val="929497"/>
                </a:solidFill>
              </a:rPr>
              <a:t> generation</a:t>
            </a:r>
          </a:p>
        </p:txBody>
      </p:sp>
      <p:sp>
        <p:nvSpPr>
          <p:cNvPr id="23" name="Rectangle 22">
            <a:extLst>
              <a:ext uri="{FF2B5EF4-FFF2-40B4-BE49-F238E27FC236}">
                <a16:creationId xmlns:a16="http://schemas.microsoft.com/office/drawing/2014/main" id="{A0535ABB-E102-0241-CAA5-CFEA3F5B057D}"/>
              </a:ext>
            </a:extLst>
          </p:cNvPr>
          <p:cNvSpPr/>
          <p:nvPr/>
        </p:nvSpPr>
        <p:spPr>
          <a:xfrm>
            <a:off x="186158" y="2586665"/>
            <a:ext cx="892261" cy="336015"/>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Analytical cost model</a:t>
            </a:r>
          </a:p>
        </p:txBody>
      </p:sp>
      <p:sp>
        <p:nvSpPr>
          <p:cNvPr id="25" name="Rectangle 24">
            <a:extLst>
              <a:ext uri="{FF2B5EF4-FFF2-40B4-BE49-F238E27FC236}">
                <a16:creationId xmlns:a16="http://schemas.microsoft.com/office/drawing/2014/main" id="{46297F0F-402C-864B-3AA7-7DA948EA09A1}"/>
              </a:ext>
            </a:extLst>
          </p:cNvPr>
          <p:cNvSpPr/>
          <p:nvPr/>
        </p:nvSpPr>
        <p:spPr>
          <a:xfrm>
            <a:off x="186158" y="3065297"/>
            <a:ext cx="893293" cy="336014"/>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err="1">
                <a:solidFill>
                  <a:srgbClr val="929497"/>
                </a:solidFill>
              </a:rPr>
              <a:t>Mapspace</a:t>
            </a:r>
            <a:r>
              <a:rPr lang="en-GB" sz="1000">
                <a:solidFill>
                  <a:srgbClr val="929497"/>
                </a:solidFill>
              </a:rPr>
              <a:t> search engine </a:t>
            </a:r>
          </a:p>
        </p:txBody>
      </p:sp>
      <p:sp>
        <p:nvSpPr>
          <p:cNvPr id="27" name="Rectangle 26">
            <a:extLst>
              <a:ext uri="{FF2B5EF4-FFF2-40B4-BE49-F238E27FC236}">
                <a16:creationId xmlns:a16="http://schemas.microsoft.com/office/drawing/2014/main" id="{27512FA9-E551-C5B9-8E99-F4C2C0F971CD}"/>
              </a:ext>
            </a:extLst>
          </p:cNvPr>
          <p:cNvSpPr/>
          <p:nvPr/>
        </p:nvSpPr>
        <p:spPr>
          <a:xfrm>
            <a:off x="185215" y="3543568"/>
            <a:ext cx="890196" cy="350301"/>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00">
                <a:solidFill>
                  <a:schemeClr val="tx1"/>
                </a:solidFill>
              </a:rPr>
              <a:t>Outputs</a:t>
            </a:r>
          </a:p>
        </p:txBody>
      </p:sp>
      <p:cxnSp>
        <p:nvCxnSpPr>
          <p:cNvPr id="7" name="Connector: Elbow 6">
            <a:extLst>
              <a:ext uri="{FF2B5EF4-FFF2-40B4-BE49-F238E27FC236}">
                <a16:creationId xmlns:a16="http://schemas.microsoft.com/office/drawing/2014/main" id="{57487569-70F5-BF7D-5346-76ED78DC0AC9}"/>
              </a:ext>
            </a:extLst>
          </p:cNvPr>
          <p:cNvCxnSpPr>
            <a:cxnSpLocks/>
            <a:endCxn id="6" idx="1"/>
          </p:cNvCxnSpPr>
          <p:nvPr/>
        </p:nvCxnSpPr>
        <p:spPr>
          <a:xfrm>
            <a:off x="3599942" y="1363861"/>
            <a:ext cx="692472" cy="946020"/>
          </a:xfrm>
          <a:prstGeom prst="bentConnector3">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Connector: Elbow 11">
            <a:extLst>
              <a:ext uri="{FF2B5EF4-FFF2-40B4-BE49-F238E27FC236}">
                <a16:creationId xmlns:a16="http://schemas.microsoft.com/office/drawing/2014/main" id="{BD95DC44-4629-DE35-B242-8504CBC7A187}"/>
              </a:ext>
            </a:extLst>
          </p:cNvPr>
          <p:cNvCxnSpPr>
            <a:stCxn id="8" idx="3"/>
            <a:endCxn id="6" idx="1"/>
          </p:cNvCxnSpPr>
          <p:nvPr/>
        </p:nvCxnSpPr>
        <p:spPr>
          <a:xfrm flipV="1">
            <a:off x="3598890" y="2309881"/>
            <a:ext cx="693524" cy="1301856"/>
          </a:xfrm>
          <a:prstGeom prst="bentConnector3">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Connector: Elbow 13">
            <a:extLst>
              <a:ext uri="{FF2B5EF4-FFF2-40B4-BE49-F238E27FC236}">
                <a16:creationId xmlns:a16="http://schemas.microsoft.com/office/drawing/2014/main" id="{DF7F3F5C-E1FF-63D1-C7D5-F1A34E079220}"/>
              </a:ext>
            </a:extLst>
          </p:cNvPr>
          <p:cNvCxnSpPr>
            <a:stCxn id="6" idx="3"/>
            <a:endCxn id="3" idx="1"/>
          </p:cNvCxnSpPr>
          <p:nvPr/>
        </p:nvCxnSpPr>
        <p:spPr>
          <a:xfrm flipV="1">
            <a:off x="5596197" y="1285875"/>
            <a:ext cx="804602" cy="1024006"/>
          </a:xfrm>
          <a:prstGeom prst="bentConnector3">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 name="Connector: Elbow 15">
            <a:extLst>
              <a:ext uri="{FF2B5EF4-FFF2-40B4-BE49-F238E27FC236}">
                <a16:creationId xmlns:a16="http://schemas.microsoft.com/office/drawing/2014/main" id="{09391EA4-3C44-2096-80D8-E5DE0DB90366}"/>
              </a:ext>
            </a:extLst>
          </p:cNvPr>
          <p:cNvCxnSpPr>
            <a:endCxn id="10" idx="1"/>
          </p:cNvCxnSpPr>
          <p:nvPr/>
        </p:nvCxnSpPr>
        <p:spPr>
          <a:xfrm>
            <a:off x="5596197" y="2309881"/>
            <a:ext cx="770283" cy="756007"/>
          </a:xfrm>
          <a:prstGeom prst="bentConnector3">
            <a:avLst>
              <a:gd name="adj1" fmla="val 52240"/>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Connector: Elbow 21">
            <a:extLst>
              <a:ext uri="{FF2B5EF4-FFF2-40B4-BE49-F238E27FC236}">
                <a16:creationId xmlns:a16="http://schemas.microsoft.com/office/drawing/2014/main" id="{814671B7-E57D-BF03-8590-CA75905E3A67}"/>
              </a:ext>
            </a:extLst>
          </p:cNvPr>
          <p:cNvCxnSpPr>
            <a:stCxn id="6" idx="3"/>
            <a:endCxn id="18" idx="1"/>
          </p:cNvCxnSpPr>
          <p:nvPr/>
        </p:nvCxnSpPr>
        <p:spPr>
          <a:xfrm>
            <a:off x="5596197" y="2309881"/>
            <a:ext cx="803209" cy="2210790"/>
          </a:xfrm>
          <a:prstGeom prst="bentConnector3">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26046A7F-54F4-C27D-3432-21698630ED22}"/>
              </a:ext>
            </a:extLst>
          </p:cNvPr>
          <p:cNvPicPr>
            <a:picLocks noChangeAspect="1"/>
          </p:cNvPicPr>
          <p:nvPr/>
        </p:nvPicPr>
        <p:blipFill>
          <a:blip r:embed="rId6"/>
          <a:stretch>
            <a:fillRect/>
          </a:stretch>
        </p:blipFill>
        <p:spPr>
          <a:xfrm>
            <a:off x="1538220" y="759075"/>
            <a:ext cx="2061196" cy="1319719"/>
          </a:xfrm>
          <a:prstGeom prst="rect">
            <a:avLst/>
          </a:prstGeom>
        </p:spPr>
      </p:pic>
    </p:spTree>
    <p:extLst>
      <p:ext uri="{BB962C8B-B14F-4D97-AF65-F5344CB8AC3E}">
        <p14:creationId xmlns:p14="http://schemas.microsoft.com/office/powerpoint/2010/main" val="24354528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2"/>
                                        </p:tgtEl>
                                        <p:attrNameLst>
                                          <p:attrName>style.visibility</p:attrName>
                                        </p:attrNameLst>
                                      </p:cBhvr>
                                      <p:to>
                                        <p:strVal val="visible"/>
                                      </p:to>
                                    </p:set>
                                    <p:animEffect transition="in" filter="fade">
                                      <p:cBhvr>
                                        <p:cTn id="15" dur="500"/>
                                        <p:tgtEl>
                                          <p:spTgt spid="82"/>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3"/>
                                        </p:tgtEl>
                                        <p:attrNameLst>
                                          <p:attrName>style.visibility</p:attrName>
                                        </p:attrNameLst>
                                      </p:cBhvr>
                                      <p:to>
                                        <p:strVal val="visible"/>
                                      </p:to>
                                    </p:set>
                                    <p:animEffect transition="in" filter="fade">
                                      <p:cBhvr>
                                        <p:cTn id="23" dur="500"/>
                                        <p:tgtEl>
                                          <p:spTgt spid="83"/>
                                        </p:tgtEl>
                                      </p:cBhvr>
                                    </p:animEffect>
                                  </p:childTnLst>
                                </p:cTn>
                              </p:par>
                              <p:par>
                                <p:cTn id="24" presetID="10"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nodeType="with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500"/>
                                        <p:tgtEl>
                                          <p:spTgt spid="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84"/>
                                        </p:tgtEl>
                                        <p:attrNameLst>
                                          <p:attrName>style.visibility</p:attrName>
                                        </p:attrNameLst>
                                      </p:cBhvr>
                                      <p:to>
                                        <p:strVal val="visible"/>
                                      </p:to>
                                    </p:set>
                                    <p:animEffect transition="in" filter="fade">
                                      <p:cBhvr>
                                        <p:cTn id="40" dur="500"/>
                                        <p:tgtEl>
                                          <p:spTgt spid="8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500"/>
                                        <p:tgtEl>
                                          <p:spTgt spid="1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85"/>
                                        </p:tgtEl>
                                        <p:attrNameLst>
                                          <p:attrName>style.visibility</p:attrName>
                                        </p:attrNameLst>
                                      </p:cBhvr>
                                      <p:to>
                                        <p:strVal val="visible"/>
                                      </p:to>
                                    </p:set>
                                    <p:animEffect transition="in" filter="fade">
                                      <p:cBhvr>
                                        <p:cTn id="51" dur="500"/>
                                        <p:tgtEl>
                                          <p:spTgt spid="8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86"/>
                                        </p:tgtEl>
                                        <p:attrNameLst>
                                          <p:attrName>style.visibility</p:attrName>
                                        </p:attrNameLst>
                                      </p:cBhvr>
                                      <p:to>
                                        <p:strVal val="visible"/>
                                      </p:to>
                                    </p:set>
                                    <p:animEffect transition="in" filter="fade">
                                      <p:cBhvr>
                                        <p:cTn id="62"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8" grpId="0" animBg="1"/>
      <p:bldP spid="82" grpId="0" animBg="1"/>
      <p:bldP spid="83" grpId="0" animBg="1"/>
      <p:bldP spid="84" grpId="0" animBg="1"/>
      <p:bldP spid="85" grpId="0" animBg="1"/>
      <p:bldP spid="8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5B4CB-FDD5-C978-740D-C49E75B41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A6AC51-9FD8-A334-9A98-6C9AF3911200}"/>
              </a:ext>
            </a:extLst>
          </p:cNvPr>
          <p:cNvSpPr>
            <a:spLocks noGrp="1"/>
          </p:cNvSpPr>
          <p:nvPr>
            <p:ph type="title"/>
          </p:nvPr>
        </p:nvSpPr>
        <p:spPr>
          <a:xfrm>
            <a:off x="160631" y="395585"/>
            <a:ext cx="8753475" cy="461665"/>
          </a:xfrm>
        </p:spPr>
        <p:txBody>
          <a:bodyPr/>
          <a:lstStyle/>
          <a:p>
            <a:r>
              <a:rPr lang="en-GB" dirty="0"/>
              <a:t>Outline</a:t>
            </a:r>
          </a:p>
        </p:txBody>
      </p:sp>
      <p:sp>
        <p:nvSpPr>
          <p:cNvPr id="4" name="Slide Number Placeholder 3">
            <a:extLst>
              <a:ext uri="{FF2B5EF4-FFF2-40B4-BE49-F238E27FC236}">
                <a16:creationId xmlns:a16="http://schemas.microsoft.com/office/drawing/2014/main" id="{0B7B418C-D0D8-ED66-886E-9EEF8AECB74D}"/>
              </a:ext>
            </a:extLst>
          </p:cNvPr>
          <p:cNvSpPr>
            <a:spLocks noGrp="1"/>
          </p:cNvSpPr>
          <p:nvPr>
            <p:ph type="sldNum" sz="quarter" idx="12"/>
          </p:nvPr>
        </p:nvSpPr>
        <p:spPr/>
        <p:txBody>
          <a:bodyPr/>
          <a:lstStyle/>
          <a:p>
            <a:fld id="{8836216C-5BC3-7C44-80F8-E30864FFC228}" type="slidenum">
              <a:rPr lang="en-US" smtClean="0"/>
              <a:t>25</a:t>
            </a:fld>
            <a:endParaRPr lang="en-US"/>
          </a:p>
        </p:txBody>
      </p:sp>
      <p:sp>
        <p:nvSpPr>
          <p:cNvPr id="7" name="TextBox 6">
            <a:extLst>
              <a:ext uri="{FF2B5EF4-FFF2-40B4-BE49-F238E27FC236}">
                <a16:creationId xmlns:a16="http://schemas.microsoft.com/office/drawing/2014/main" id="{1DF8D71D-5852-0099-6B71-03AE335A119F}"/>
              </a:ext>
            </a:extLst>
          </p:cNvPr>
          <p:cNvSpPr txBox="1"/>
          <p:nvPr/>
        </p:nvSpPr>
        <p:spPr>
          <a:xfrm>
            <a:off x="272374" y="857250"/>
            <a:ext cx="8641732" cy="2554545"/>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000">
                <a:solidFill>
                  <a:schemeClr val="bg2">
                    <a:lumMod val="60000"/>
                    <a:lumOff val="40000"/>
                  </a:schemeClr>
                </a:solidFill>
              </a:rPr>
              <a:t>Introduction</a:t>
            </a:r>
          </a:p>
          <a:p>
            <a:pPr marL="457200" indent="-457200">
              <a:buFont typeface="Arial" panose="020B0604020202020204" pitchFamily="34" charset="0"/>
              <a:buChar char="•"/>
            </a:pPr>
            <a:r>
              <a:rPr lang="en-US" sz="2000">
                <a:solidFill>
                  <a:schemeClr val="bg2">
                    <a:lumMod val="60000"/>
                    <a:lumOff val="40000"/>
                  </a:schemeClr>
                </a:solidFill>
              </a:rPr>
              <a:t>Background</a:t>
            </a:r>
          </a:p>
          <a:p>
            <a:pPr marL="868680" lvl="1" indent="-457200">
              <a:buFont typeface="Courier New" panose="020B0604020202020204" pitchFamily="34" charset="0"/>
              <a:buChar char="o"/>
            </a:pPr>
            <a:r>
              <a:rPr lang="en-US" sz="2000">
                <a:solidFill>
                  <a:schemeClr val="bg2">
                    <a:lumMod val="60000"/>
                    <a:lumOff val="40000"/>
                  </a:schemeClr>
                </a:solidFill>
              </a:rPr>
              <a:t>Exploration process</a:t>
            </a:r>
          </a:p>
          <a:p>
            <a:pPr marL="868680" lvl="1" indent="-457200">
              <a:buFont typeface="Courier New" panose="020B0604020202020204" pitchFamily="34" charset="0"/>
              <a:buChar char="o"/>
            </a:pPr>
            <a:r>
              <a:rPr lang="en-US" sz="2000">
                <a:solidFill>
                  <a:schemeClr val="bg2">
                    <a:lumMod val="60000"/>
                    <a:lumOff val="40000"/>
                  </a:schemeClr>
                </a:solidFill>
              </a:rPr>
              <a:t>Different dataflow strategies</a:t>
            </a:r>
          </a:p>
          <a:p>
            <a:pPr marL="457200" indent="-457200">
              <a:buFont typeface="Arial" panose="020B0604020202020204" pitchFamily="34" charset="0"/>
              <a:buChar char="•"/>
            </a:pPr>
            <a:r>
              <a:rPr lang="en-US" sz="2000">
                <a:solidFill>
                  <a:schemeClr val="bg2">
                    <a:lumMod val="60000"/>
                    <a:lumOff val="40000"/>
                  </a:schemeClr>
                </a:solidFill>
              </a:rPr>
              <a:t>Related work</a:t>
            </a:r>
          </a:p>
          <a:p>
            <a:pPr marL="457200" indent="-457200">
              <a:buFont typeface="Arial" panose="020B0604020202020204" pitchFamily="34" charset="0"/>
              <a:buChar char="•"/>
            </a:pPr>
            <a:r>
              <a:rPr lang="en-US" sz="2000">
                <a:solidFill>
                  <a:schemeClr val="bg2">
                    <a:lumMod val="60000"/>
                    <a:lumOff val="40000"/>
                  </a:schemeClr>
                </a:solidFill>
              </a:rPr>
              <a:t>Thesis Contribution &amp; Proposed AeDAM framework </a:t>
            </a:r>
          </a:p>
          <a:p>
            <a:pPr marL="457200" indent="-457200">
              <a:buFont typeface="Arial" panose="020B0604020202020204" pitchFamily="34" charset="0"/>
              <a:buChar char="•"/>
            </a:pPr>
            <a:r>
              <a:rPr lang="en-US" sz="2000"/>
              <a:t>Results &amp; Analysis</a:t>
            </a:r>
          </a:p>
          <a:p>
            <a:pPr marL="457200" indent="-457200">
              <a:buFont typeface="Arial" panose="020B0604020202020204" pitchFamily="34" charset="0"/>
              <a:buChar char="•"/>
            </a:pPr>
            <a:r>
              <a:rPr lang="en-US" sz="2000">
                <a:solidFill>
                  <a:schemeClr val="bg2">
                    <a:lumMod val="60000"/>
                    <a:lumOff val="40000"/>
                  </a:schemeClr>
                </a:solidFill>
              </a:rPr>
              <a:t>Conclusion and Future Work</a:t>
            </a:r>
            <a:r>
              <a:rPr lang="en-US" sz="2000"/>
              <a:t> </a:t>
            </a:r>
          </a:p>
        </p:txBody>
      </p:sp>
    </p:spTree>
    <p:extLst>
      <p:ext uri="{BB962C8B-B14F-4D97-AF65-F5344CB8AC3E}">
        <p14:creationId xmlns:p14="http://schemas.microsoft.com/office/powerpoint/2010/main" val="830494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BFCB4-0BBA-C69B-CB6E-BF22E33C5D43}"/>
              </a:ext>
            </a:extLst>
          </p:cNvPr>
          <p:cNvSpPr>
            <a:spLocks noGrp="1"/>
          </p:cNvSpPr>
          <p:nvPr>
            <p:ph type="title"/>
          </p:nvPr>
        </p:nvSpPr>
        <p:spPr/>
        <p:txBody>
          <a:bodyPr/>
          <a:lstStyle/>
          <a:p>
            <a:r>
              <a:rPr lang="en-GB"/>
              <a:t>Analysis overview</a:t>
            </a:r>
            <a:endParaRPr lang="en-IN"/>
          </a:p>
        </p:txBody>
      </p:sp>
      <p:sp>
        <p:nvSpPr>
          <p:cNvPr id="4" name="Slide Number Placeholder 3">
            <a:extLst>
              <a:ext uri="{FF2B5EF4-FFF2-40B4-BE49-F238E27FC236}">
                <a16:creationId xmlns:a16="http://schemas.microsoft.com/office/drawing/2014/main" id="{B37E7C97-19FB-F758-CA6D-A2BE52C15C19}"/>
              </a:ext>
            </a:extLst>
          </p:cNvPr>
          <p:cNvSpPr>
            <a:spLocks noGrp="1"/>
          </p:cNvSpPr>
          <p:nvPr>
            <p:ph type="sldNum" sz="quarter" idx="12"/>
          </p:nvPr>
        </p:nvSpPr>
        <p:spPr/>
        <p:txBody>
          <a:bodyPr/>
          <a:lstStyle/>
          <a:p>
            <a:fld id="{8836216C-5BC3-7C44-80F8-E30864FFC228}" type="slidenum">
              <a:rPr lang="en-US" smtClean="0"/>
              <a:t>26</a:t>
            </a:fld>
            <a:endParaRPr lang="en-US"/>
          </a:p>
        </p:txBody>
      </p:sp>
      <p:sp>
        <p:nvSpPr>
          <p:cNvPr id="5" name="Text Placeholder 4">
            <a:extLst>
              <a:ext uri="{FF2B5EF4-FFF2-40B4-BE49-F238E27FC236}">
                <a16:creationId xmlns:a16="http://schemas.microsoft.com/office/drawing/2014/main" id="{90C3DE44-37CA-C4D2-FAA7-CF45948C4A03}"/>
              </a:ext>
            </a:extLst>
          </p:cNvPr>
          <p:cNvSpPr>
            <a:spLocks noGrp="1"/>
          </p:cNvSpPr>
          <p:nvPr>
            <p:ph type="body" sz="quarter" idx="13"/>
          </p:nvPr>
        </p:nvSpPr>
        <p:spPr/>
        <p:txBody>
          <a:bodyPr/>
          <a:lstStyle/>
          <a:p>
            <a:endParaRPr lang="en-IN"/>
          </a:p>
        </p:txBody>
      </p:sp>
      <p:sp>
        <p:nvSpPr>
          <p:cNvPr id="3" name="TextBox 2">
            <a:extLst>
              <a:ext uri="{FF2B5EF4-FFF2-40B4-BE49-F238E27FC236}">
                <a16:creationId xmlns:a16="http://schemas.microsoft.com/office/drawing/2014/main" id="{EF40D813-C6F1-232F-0549-220541FDB567}"/>
              </a:ext>
            </a:extLst>
          </p:cNvPr>
          <p:cNvSpPr txBox="1"/>
          <p:nvPr/>
        </p:nvSpPr>
        <p:spPr>
          <a:xfrm>
            <a:off x="160630" y="1037980"/>
            <a:ext cx="8750128"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AutoNum type="arabicPeriod"/>
            </a:pPr>
            <a:r>
              <a:rPr lang="en-GB" sz="1400" dirty="0"/>
              <a:t>Validation process</a:t>
            </a:r>
          </a:p>
          <a:p>
            <a:pPr marL="228600" indent="-228600">
              <a:buAutoNum type="arabicPeriod"/>
            </a:pPr>
            <a:r>
              <a:rPr lang="en-GB" sz="1400" dirty="0"/>
              <a:t>Comparison with </a:t>
            </a:r>
            <a:r>
              <a:rPr lang="en-GB" sz="1400" dirty="0" err="1"/>
              <a:t>SoTA</a:t>
            </a:r>
            <a:endParaRPr lang="en-GB" sz="1400" dirty="0"/>
          </a:p>
          <a:p>
            <a:pPr marL="640080" lvl="1" indent="-228600">
              <a:buFont typeface="Courier New"/>
              <a:buChar char="o"/>
            </a:pPr>
            <a:r>
              <a:rPr lang="en-GB" sz="1400" dirty="0" err="1"/>
              <a:t>Mapspace</a:t>
            </a:r>
            <a:r>
              <a:rPr lang="en-GB" sz="1400" dirty="0"/>
              <a:t> generated</a:t>
            </a:r>
          </a:p>
          <a:p>
            <a:pPr marL="640080" lvl="1" indent="-228600">
              <a:buFont typeface="Courier New"/>
              <a:buChar char="o"/>
            </a:pPr>
            <a:r>
              <a:rPr lang="en-GB" sz="1400" dirty="0"/>
              <a:t>Performance</a:t>
            </a:r>
          </a:p>
          <a:p>
            <a:pPr marL="640080" lvl="1" indent="-228600">
              <a:buFont typeface="Courier New"/>
              <a:buChar char="o"/>
            </a:pPr>
            <a:r>
              <a:rPr lang="en-GB" sz="1400" dirty="0"/>
              <a:t>Word access</a:t>
            </a:r>
          </a:p>
          <a:p>
            <a:pPr marL="640080" lvl="1" indent="-228600">
              <a:buFont typeface="Courier New"/>
              <a:buChar char="o"/>
            </a:pPr>
            <a:r>
              <a:rPr lang="en-GB" sz="1400" dirty="0"/>
              <a:t>Latency</a:t>
            </a:r>
          </a:p>
          <a:p>
            <a:pPr marL="640080" lvl="1" indent="-228600">
              <a:buFont typeface="Courier New"/>
              <a:buChar char="o"/>
            </a:pPr>
            <a:r>
              <a:rPr lang="en-GB" sz="1400" dirty="0"/>
              <a:t>Energy</a:t>
            </a:r>
          </a:p>
          <a:p>
            <a:pPr marL="228600" indent="-228600">
              <a:buAutoNum type="arabicPeriod"/>
            </a:pPr>
            <a:r>
              <a:rPr lang="en-GB" sz="1400" dirty="0"/>
              <a:t>Case study</a:t>
            </a:r>
          </a:p>
          <a:p>
            <a:pPr marL="640080" lvl="1" indent="-228600">
              <a:buFont typeface="Courier New"/>
              <a:buChar char="o"/>
            </a:pPr>
            <a:r>
              <a:rPr lang="en-GB" sz="1400" dirty="0"/>
              <a:t>Exploration of the SRAM configurations</a:t>
            </a:r>
          </a:p>
          <a:p>
            <a:pPr marL="640080" lvl="1" indent="-228600">
              <a:buFont typeface="Courier New"/>
              <a:buChar char="o"/>
            </a:pPr>
            <a:r>
              <a:rPr lang="en-GB" sz="1400" dirty="0"/>
              <a:t>Exploration of the PE configuration</a:t>
            </a:r>
          </a:p>
          <a:p>
            <a:pPr marL="640080" lvl="1" indent="-228600">
              <a:buFont typeface="Courier New"/>
              <a:buChar char="o"/>
            </a:pPr>
            <a:r>
              <a:rPr lang="en-GB" sz="1400" dirty="0"/>
              <a:t>Final configuration of the event driven architecture for </a:t>
            </a:r>
            <a:r>
              <a:rPr lang="en-GB" sz="1400" dirty="0" err="1"/>
              <a:t>VGGnet</a:t>
            </a:r>
            <a:r>
              <a:rPr lang="en-GB" sz="1400" dirty="0"/>
              <a:t> model</a:t>
            </a:r>
          </a:p>
          <a:p>
            <a:pPr marL="640080" lvl="1" indent="-228600">
              <a:buFont typeface="Courier New"/>
              <a:buChar char="o"/>
            </a:pPr>
            <a:endParaRPr lang="en-GB" sz="1400" dirty="0"/>
          </a:p>
        </p:txBody>
      </p:sp>
    </p:spTree>
    <p:extLst>
      <p:ext uri="{BB962C8B-B14F-4D97-AF65-F5344CB8AC3E}">
        <p14:creationId xmlns:p14="http://schemas.microsoft.com/office/powerpoint/2010/main" val="416260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47739-B54A-A01C-2BF1-49D907358772}"/>
              </a:ext>
            </a:extLst>
          </p:cNvPr>
          <p:cNvSpPr>
            <a:spLocks noGrp="1"/>
          </p:cNvSpPr>
          <p:nvPr>
            <p:ph type="title"/>
          </p:nvPr>
        </p:nvSpPr>
        <p:spPr>
          <a:xfrm>
            <a:off x="195262" y="180807"/>
            <a:ext cx="8753475" cy="358557"/>
          </a:xfrm>
        </p:spPr>
        <p:txBody>
          <a:bodyPr/>
          <a:lstStyle/>
          <a:p>
            <a:r>
              <a:rPr lang="en-US"/>
              <a:t>Target Architecture: SENECA Platform</a:t>
            </a:r>
            <a:endParaRPr lang="en-GB"/>
          </a:p>
        </p:txBody>
      </p:sp>
      <p:sp>
        <p:nvSpPr>
          <p:cNvPr id="4" name="Slide Number Placeholder 3">
            <a:extLst>
              <a:ext uri="{FF2B5EF4-FFF2-40B4-BE49-F238E27FC236}">
                <a16:creationId xmlns:a16="http://schemas.microsoft.com/office/drawing/2014/main" id="{D49413CF-CC5C-DC21-34BA-E5CA4AAD0584}"/>
              </a:ext>
            </a:extLst>
          </p:cNvPr>
          <p:cNvSpPr>
            <a:spLocks noGrp="1"/>
          </p:cNvSpPr>
          <p:nvPr>
            <p:ph type="sldNum" sz="quarter" idx="12"/>
          </p:nvPr>
        </p:nvSpPr>
        <p:spPr/>
        <p:txBody>
          <a:bodyPr/>
          <a:lstStyle/>
          <a:p>
            <a:fld id="{8836216C-5BC3-7C44-80F8-E30864FFC228}" type="slidenum">
              <a:rPr lang="en-US" smtClean="0"/>
              <a:t>27</a:t>
            </a:fld>
            <a:endParaRPr lang="en-US"/>
          </a:p>
        </p:txBody>
      </p:sp>
      <p:pic>
        <p:nvPicPr>
          <p:cNvPr id="7" name="Picture 6" descr="A diagram of a data processing system&#10;&#10;AI-generated content may be incorrect.">
            <a:extLst>
              <a:ext uri="{FF2B5EF4-FFF2-40B4-BE49-F238E27FC236}">
                <a16:creationId xmlns:a16="http://schemas.microsoft.com/office/drawing/2014/main" id="{5AED3B48-58D8-D9DE-5F8B-DDD5ADE14F81}"/>
              </a:ext>
            </a:extLst>
          </p:cNvPr>
          <p:cNvPicPr>
            <a:picLocks noChangeAspect="1"/>
          </p:cNvPicPr>
          <p:nvPr/>
        </p:nvPicPr>
        <p:blipFill>
          <a:blip r:embed="rId4"/>
          <a:stretch>
            <a:fillRect/>
          </a:stretch>
        </p:blipFill>
        <p:spPr>
          <a:xfrm>
            <a:off x="369619" y="1515549"/>
            <a:ext cx="2986519" cy="2526088"/>
          </a:xfrm>
          <a:prstGeom prst="rect">
            <a:avLst/>
          </a:prstGeom>
        </p:spPr>
      </p:pic>
      <p:sp>
        <p:nvSpPr>
          <p:cNvPr id="8" name="Rectangle 7">
            <a:extLst>
              <a:ext uri="{FF2B5EF4-FFF2-40B4-BE49-F238E27FC236}">
                <a16:creationId xmlns:a16="http://schemas.microsoft.com/office/drawing/2014/main" id="{3A5AE57A-DC35-9DE5-8D45-98BA50DDE150}"/>
              </a:ext>
            </a:extLst>
          </p:cNvPr>
          <p:cNvSpPr/>
          <p:nvPr/>
        </p:nvSpPr>
        <p:spPr>
          <a:xfrm>
            <a:off x="520546" y="2307344"/>
            <a:ext cx="2270851" cy="1637382"/>
          </a:xfrm>
          <a:prstGeom prst="rect">
            <a:avLst/>
          </a:prstGeom>
          <a:no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cxnSp>
        <p:nvCxnSpPr>
          <p:cNvPr id="9" name="Straight Arrow Connector 8">
            <a:extLst>
              <a:ext uri="{FF2B5EF4-FFF2-40B4-BE49-F238E27FC236}">
                <a16:creationId xmlns:a16="http://schemas.microsoft.com/office/drawing/2014/main" id="{1F746332-6302-F726-A31D-B65885BF19D8}"/>
              </a:ext>
            </a:extLst>
          </p:cNvPr>
          <p:cNvCxnSpPr>
            <a:cxnSpLocks/>
          </p:cNvCxnSpPr>
          <p:nvPr/>
        </p:nvCxnSpPr>
        <p:spPr>
          <a:xfrm flipV="1">
            <a:off x="2799435" y="1155663"/>
            <a:ext cx="2204365" cy="1147556"/>
          </a:xfrm>
          <a:prstGeom prst="straightConnector1">
            <a:avLst/>
          </a:prstGeom>
          <a:ln w="28575"/>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2BEABAD5-E2B2-6531-D61A-6179AC8B0FB2}"/>
              </a:ext>
            </a:extLst>
          </p:cNvPr>
          <p:cNvCxnSpPr>
            <a:cxnSpLocks/>
          </p:cNvCxnSpPr>
          <p:nvPr/>
        </p:nvCxnSpPr>
        <p:spPr>
          <a:xfrm>
            <a:off x="2801404" y="3962676"/>
            <a:ext cx="2202396" cy="537911"/>
          </a:xfrm>
          <a:prstGeom prst="straightConnector1">
            <a:avLst/>
          </a:prstGeom>
          <a:ln w="28575"/>
        </p:spPr>
        <p:style>
          <a:lnRef idx="1">
            <a:schemeClr val="dk1"/>
          </a:lnRef>
          <a:fillRef idx="0">
            <a:schemeClr val="dk1"/>
          </a:fillRef>
          <a:effectRef idx="0">
            <a:schemeClr val="dk1"/>
          </a:effectRef>
          <a:fontRef idx="minor">
            <a:schemeClr val="tx1"/>
          </a:fontRef>
        </p:style>
      </p:cxnSp>
      <p:sp>
        <p:nvSpPr>
          <p:cNvPr id="3" name="Rectangle 2">
            <a:extLst>
              <a:ext uri="{FF2B5EF4-FFF2-40B4-BE49-F238E27FC236}">
                <a16:creationId xmlns:a16="http://schemas.microsoft.com/office/drawing/2014/main" id="{05FED73D-856A-5FC8-F744-BC1A8421EFE2}"/>
              </a:ext>
            </a:extLst>
          </p:cNvPr>
          <p:cNvSpPr/>
          <p:nvPr/>
        </p:nvSpPr>
        <p:spPr>
          <a:xfrm>
            <a:off x="633775" y="1111586"/>
            <a:ext cx="2514500" cy="358557"/>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t>Single core Seneca Architecture</a:t>
            </a:r>
          </a:p>
        </p:txBody>
      </p:sp>
      <p:sp>
        <p:nvSpPr>
          <p:cNvPr id="11" name="Rectangle 10">
            <a:extLst>
              <a:ext uri="{FF2B5EF4-FFF2-40B4-BE49-F238E27FC236}">
                <a16:creationId xmlns:a16="http://schemas.microsoft.com/office/drawing/2014/main" id="{2D0000EC-A713-39BF-EDDC-45D265455DD7}"/>
              </a:ext>
            </a:extLst>
          </p:cNvPr>
          <p:cNvSpPr/>
          <p:nvPr/>
        </p:nvSpPr>
        <p:spPr>
          <a:xfrm>
            <a:off x="5336087" y="642913"/>
            <a:ext cx="2761989" cy="444671"/>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t>Modelling in AeDAM </a:t>
            </a:r>
          </a:p>
        </p:txBody>
      </p:sp>
      <p:sp>
        <p:nvSpPr>
          <p:cNvPr id="5" name="TextBox 4">
            <a:extLst>
              <a:ext uri="{FF2B5EF4-FFF2-40B4-BE49-F238E27FC236}">
                <a16:creationId xmlns:a16="http://schemas.microsoft.com/office/drawing/2014/main" id="{F4FE253A-5E2A-E377-2711-8F19B66D7E0A}"/>
              </a:ext>
            </a:extLst>
          </p:cNvPr>
          <p:cNvSpPr txBox="1"/>
          <p:nvPr/>
        </p:nvSpPr>
        <p:spPr>
          <a:xfrm>
            <a:off x="126676" y="4581898"/>
            <a:ext cx="6164996" cy="276999"/>
          </a:xfrm>
          <a:prstGeom prst="rect">
            <a:avLst/>
          </a:prstGeom>
          <a:noFill/>
        </p:spPr>
        <p:txBody>
          <a:bodyPr wrap="square" rtlCol="0">
            <a:spAutoFit/>
          </a:bodyPr>
          <a:lstStyle/>
          <a:p>
            <a:r>
              <a:rPr lang="en-GB" sz="1200">
                <a:solidFill>
                  <a:schemeClr val="tx1">
                    <a:lumMod val="40000"/>
                    <a:lumOff val="60000"/>
                  </a:schemeClr>
                </a:solidFill>
              </a:rPr>
              <a:t>https://www.frontiersin.org/journals/neuroscience/articles/10.3389/fnins.2023.1187252</a:t>
            </a:r>
          </a:p>
        </p:txBody>
      </p:sp>
      <p:pic>
        <p:nvPicPr>
          <p:cNvPr id="12" name="Picture 11" descr="A diagram of a computer&#10;&#10;AI-generated content may be incorrect.">
            <a:extLst>
              <a:ext uri="{FF2B5EF4-FFF2-40B4-BE49-F238E27FC236}">
                <a16:creationId xmlns:a16="http://schemas.microsoft.com/office/drawing/2014/main" id="{B3EF7087-6F0D-CE92-3ECE-A4076801280F}"/>
              </a:ext>
            </a:extLst>
          </p:cNvPr>
          <p:cNvPicPr>
            <a:picLocks noChangeAspect="1"/>
          </p:cNvPicPr>
          <p:nvPr/>
        </p:nvPicPr>
        <p:blipFill>
          <a:blip r:embed="rId5"/>
          <a:stretch>
            <a:fillRect/>
          </a:stretch>
        </p:blipFill>
        <p:spPr>
          <a:xfrm>
            <a:off x="5003800" y="1155663"/>
            <a:ext cx="3770581" cy="3344924"/>
          </a:xfrm>
          <a:prstGeom prst="rect">
            <a:avLst/>
          </a:prstGeom>
          <a:ln w="19050">
            <a:solidFill>
              <a:schemeClr val="tx1"/>
            </a:solidFill>
          </a:ln>
        </p:spPr>
      </p:pic>
    </p:spTree>
    <p:extLst>
      <p:ext uri="{BB962C8B-B14F-4D97-AF65-F5344CB8AC3E}">
        <p14:creationId xmlns:p14="http://schemas.microsoft.com/office/powerpoint/2010/main" val="2964453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animBg="1"/>
      <p:bldP spid="11" grpId="0" animBg="1"/>
    </p:bldLst>
  </p:timing>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C6125-C327-FE84-0F7C-0983890C70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EB4002-8AD5-6B44-A2BA-670E07541000}"/>
              </a:ext>
            </a:extLst>
          </p:cNvPr>
          <p:cNvSpPr>
            <a:spLocks noGrp="1"/>
          </p:cNvSpPr>
          <p:nvPr>
            <p:ph type="title"/>
          </p:nvPr>
        </p:nvSpPr>
        <p:spPr/>
        <p:txBody>
          <a:bodyPr/>
          <a:lstStyle/>
          <a:p>
            <a:r>
              <a:rPr lang="en-US" dirty="0"/>
              <a:t>Benchmark Neural Network: VGGNet-16</a:t>
            </a:r>
            <a:r>
              <a:rPr lang="en-GB" dirty="0">
                <a:latin typeface="Gill Sans MT"/>
                <a:cs typeface="Gill Sans"/>
              </a:rPr>
              <a:t> </a:t>
            </a:r>
            <a:endParaRPr lang="en-GB" dirty="0"/>
          </a:p>
        </p:txBody>
      </p:sp>
      <p:sp>
        <p:nvSpPr>
          <p:cNvPr id="4" name="Slide Number Placeholder 3">
            <a:extLst>
              <a:ext uri="{FF2B5EF4-FFF2-40B4-BE49-F238E27FC236}">
                <a16:creationId xmlns:a16="http://schemas.microsoft.com/office/drawing/2014/main" id="{B813A9A9-A1F4-8B75-6FC8-AD25A7A14046}"/>
              </a:ext>
            </a:extLst>
          </p:cNvPr>
          <p:cNvSpPr>
            <a:spLocks noGrp="1"/>
          </p:cNvSpPr>
          <p:nvPr>
            <p:ph type="sldNum" sz="quarter" idx="12"/>
          </p:nvPr>
        </p:nvSpPr>
        <p:spPr/>
        <p:txBody>
          <a:bodyPr/>
          <a:lstStyle/>
          <a:p>
            <a:fld id="{8836216C-5BC3-7C44-80F8-E30864FFC228}" type="slidenum">
              <a:rPr lang="en-US" smtClean="0"/>
              <a:t>28</a:t>
            </a:fld>
            <a:endParaRPr lang="en-US"/>
          </a:p>
        </p:txBody>
      </p:sp>
      <p:sp>
        <p:nvSpPr>
          <p:cNvPr id="5" name="Text Placeholder 4">
            <a:extLst>
              <a:ext uri="{FF2B5EF4-FFF2-40B4-BE49-F238E27FC236}">
                <a16:creationId xmlns:a16="http://schemas.microsoft.com/office/drawing/2014/main" id="{9326D656-A366-9AB6-5CA2-170C7ACE4B85}"/>
              </a:ext>
            </a:extLst>
          </p:cNvPr>
          <p:cNvSpPr>
            <a:spLocks noGrp="1"/>
          </p:cNvSpPr>
          <p:nvPr>
            <p:ph type="body" sz="quarter" idx="13"/>
          </p:nvPr>
        </p:nvSpPr>
        <p:spPr/>
        <p:txBody>
          <a:bodyPr/>
          <a:lstStyle/>
          <a:p>
            <a:endParaRPr lang="en-GB"/>
          </a:p>
        </p:txBody>
      </p:sp>
      <p:pic>
        <p:nvPicPr>
          <p:cNvPr id="8" name="Picture 7" descr="A diagram of a pool&#10;&#10;AI-generated content may be incorrect.">
            <a:extLst>
              <a:ext uri="{FF2B5EF4-FFF2-40B4-BE49-F238E27FC236}">
                <a16:creationId xmlns:a16="http://schemas.microsoft.com/office/drawing/2014/main" id="{0546F8B8-2E4B-49E2-ACC2-B270C25119B0}"/>
              </a:ext>
            </a:extLst>
          </p:cNvPr>
          <p:cNvPicPr>
            <a:picLocks noChangeAspect="1"/>
          </p:cNvPicPr>
          <p:nvPr/>
        </p:nvPicPr>
        <p:blipFill>
          <a:blip r:embed="rId3"/>
          <a:stretch>
            <a:fillRect/>
          </a:stretch>
        </p:blipFill>
        <p:spPr>
          <a:xfrm>
            <a:off x="104385" y="2571750"/>
            <a:ext cx="8753475" cy="2011068"/>
          </a:xfrm>
          <a:prstGeom prst="rect">
            <a:avLst/>
          </a:prstGeom>
        </p:spPr>
      </p:pic>
      <p:sp>
        <p:nvSpPr>
          <p:cNvPr id="9" name="TextBox 8">
            <a:extLst>
              <a:ext uri="{FF2B5EF4-FFF2-40B4-BE49-F238E27FC236}">
                <a16:creationId xmlns:a16="http://schemas.microsoft.com/office/drawing/2014/main" id="{65B3A3B9-C1B7-E830-F00B-3AF1DB66618B}"/>
              </a:ext>
            </a:extLst>
          </p:cNvPr>
          <p:cNvSpPr txBox="1"/>
          <p:nvPr/>
        </p:nvSpPr>
        <p:spPr>
          <a:xfrm>
            <a:off x="104384" y="1723663"/>
            <a:ext cx="8753475" cy="584775"/>
          </a:xfrm>
          <a:prstGeom prst="rect">
            <a:avLst/>
          </a:prstGeom>
          <a:noFill/>
        </p:spPr>
        <p:txBody>
          <a:bodyPr wrap="square" rtlCol="0">
            <a:spAutoFit/>
          </a:bodyPr>
          <a:lstStyle/>
          <a:p>
            <a:pPr marL="171450" indent="-171450">
              <a:buFont typeface="Arial" panose="020B0604020202020204" pitchFamily="34" charset="0"/>
              <a:buChar char="•"/>
            </a:pPr>
            <a:r>
              <a:rPr lang="en-US" sz="1600" b="1" dirty="0"/>
              <a:t>Application:</a:t>
            </a:r>
            <a:r>
              <a:rPr lang="en-US" sz="1600" dirty="0"/>
              <a:t> Image Classification</a:t>
            </a:r>
          </a:p>
          <a:p>
            <a:pPr marL="171450" indent="-171450">
              <a:buFont typeface="Arial" panose="020B0604020202020204" pitchFamily="34" charset="0"/>
              <a:buChar char="•"/>
            </a:pPr>
            <a:r>
              <a:rPr lang="en-US" sz="1600" b="1" dirty="0"/>
              <a:t>Architecture:</a:t>
            </a:r>
            <a:r>
              <a:rPr lang="en-US" sz="1600" dirty="0"/>
              <a:t> 16 layers with 3×3 Conv filters</a:t>
            </a:r>
            <a:endParaRPr lang="en-NL" sz="1600" dirty="0"/>
          </a:p>
        </p:txBody>
      </p:sp>
      <p:sp>
        <p:nvSpPr>
          <p:cNvPr id="16" name="TextBox 15">
            <a:extLst>
              <a:ext uri="{FF2B5EF4-FFF2-40B4-BE49-F238E27FC236}">
                <a16:creationId xmlns:a16="http://schemas.microsoft.com/office/drawing/2014/main" id="{895A6E6D-E6EE-9C26-CDBA-134E5B4B6AB7}"/>
              </a:ext>
            </a:extLst>
          </p:cNvPr>
          <p:cNvSpPr txBox="1"/>
          <p:nvPr/>
        </p:nvSpPr>
        <p:spPr>
          <a:xfrm>
            <a:off x="2547257" y="1142256"/>
            <a:ext cx="4098472" cy="369332"/>
          </a:xfrm>
          <a:prstGeom prst="rect">
            <a:avLst/>
          </a:prstGeom>
          <a:noFill/>
        </p:spPr>
        <p:txBody>
          <a:bodyPr wrap="square" rtlCol="0">
            <a:spAutoFit/>
          </a:bodyPr>
          <a:lstStyle/>
          <a:p>
            <a:pPr algn="ctr"/>
            <a:r>
              <a:rPr lang="en-GB" sz="1800" u="sng" err="1"/>
              <a:t>VGGnet</a:t>
            </a:r>
            <a:r>
              <a:rPr lang="en-GB" sz="1800" u="sng"/>
              <a:t> 16 Architecture</a:t>
            </a:r>
          </a:p>
        </p:txBody>
      </p:sp>
    </p:spTree>
    <p:extLst>
      <p:ext uri="{BB962C8B-B14F-4D97-AF65-F5344CB8AC3E}">
        <p14:creationId xmlns:p14="http://schemas.microsoft.com/office/powerpoint/2010/main" val="29813109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C7226-83C1-146C-FE02-08A22B7ECD30}"/>
              </a:ext>
            </a:extLst>
          </p:cNvPr>
          <p:cNvSpPr>
            <a:spLocks noGrp="1"/>
          </p:cNvSpPr>
          <p:nvPr>
            <p:ph type="title"/>
          </p:nvPr>
        </p:nvSpPr>
        <p:spPr/>
        <p:txBody>
          <a:bodyPr/>
          <a:lstStyle/>
          <a:p>
            <a:r>
              <a:rPr lang="en-US" dirty="0"/>
              <a:t>Validation process</a:t>
            </a:r>
            <a:endParaRPr lang="en-NL" dirty="0"/>
          </a:p>
        </p:txBody>
      </p:sp>
      <p:sp>
        <p:nvSpPr>
          <p:cNvPr id="4" name="Slide Number Placeholder 3">
            <a:extLst>
              <a:ext uri="{FF2B5EF4-FFF2-40B4-BE49-F238E27FC236}">
                <a16:creationId xmlns:a16="http://schemas.microsoft.com/office/drawing/2014/main" id="{C553913E-8ED5-4073-E9A9-3E804D937764}"/>
              </a:ext>
            </a:extLst>
          </p:cNvPr>
          <p:cNvSpPr>
            <a:spLocks noGrp="1"/>
          </p:cNvSpPr>
          <p:nvPr>
            <p:ph type="sldNum" sz="quarter" idx="12"/>
          </p:nvPr>
        </p:nvSpPr>
        <p:spPr/>
        <p:txBody>
          <a:bodyPr/>
          <a:lstStyle/>
          <a:p>
            <a:fld id="{8836216C-5BC3-7C44-80F8-E30864FFC228}" type="slidenum">
              <a:rPr lang="en-US" smtClean="0"/>
              <a:t>29</a:t>
            </a:fld>
            <a:endParaRPr lang="en-US"/>
          </a:p>
        </p:txBody>
      </p:sp>
      <p:sp>
        <p:nvSpPr>
          <p:cNvPr id="5" name="Text Placeholder 4">
            <a:extLst>
              <a:ext uri="{FF2B5EF4-FFF2-40B4-BE49-F238E27FC236}">
                <a16:creationId xmlns:a16="http://schemas.microsoft.com/office/drawing/2014/main" id="{6B0BAC1E-D513-767A-FA7F-7EE4725DDBC3}"/>
              </a:ext>
            </a:extLst>
          </p:cNvPr>
          <p:cNvSpPr>
            <a:spLocks noGrp="1"/>
          </p:cNvSpPr>
          <p:nvPr>
            <p:ph type="body" sz="quarter" idx="13"/>
          </p:nvPr>
        </p:nvSpPr>
        <p:spPr/>
        <p:txBody>
          <a:bodyPr/>
          <a:lstStyle/>
          <a:p>
            <a:r>
              <a:rPr lang="en-GB" dirty="0"/>
              <a:t>Four stage validation process</a:t>
            </a:r>
            <a:endParaRPr lang="en-NL" dirty="0"/>
          </a:p>
        </p:txBody>
      </p:sp>
      <p:sp>
        <p:nvSpPr>
          <p:cNvPr id="6" name="Rectangle 5">
            <a:extLst>
              <a:ext uri="{FF2B5EF4-FFF2-40B4-BE49-F238E27FC236}">
                <a16:creationId xmlns:a16="http://schemas.microsoft.com/office/drawing/2014/main" id="{F2B8B6D9-9352-3FC9-6CB6-7F7413B12382}"/>
              </a:ext>
            </a:extLst>
          </p:cNvPr>
          <p:cNvSpPr/>
          <p:nvPr/>
        </p:nvSpPr>
        <p:spPr>
          <a:xfrm>
            <a:off x="1579647" y="2191768"/>
            <a:ext cx="1256428" cy="725936"/>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Data Path</a:t>
            </a:r>
            <a:br>
              <a:rPr lang="en-GB" sz="1400" dirty="0"/>
            </a:br>
            <a:r>
              <a:rPr lang="en-GB" sz="1400" dirty="0"/>
              <a:t>Validation</a:t>
            </a:r>
            <a:endParaRPr lang="en-NL" sz="1400" dirty="0"/>
          </a:p>
        </p:txBody>
      </p:sp>
      <p:sp>
        <p:nvSpPr>
          <p:cNvPr id="7" name="Rectangle 6">
            <a:extLst>
              <a:ext uri="{FF2B5EF4-FFF2-40B4-BE49-F238E27FC236}">
                <a16:creationId xmlns:a16="http://schemas.microsoft.com/office/drawing/2014/main" id="{0DD86EBE-BDE6-BCF0-3752-6B9C9DD1F4A2}"/>
              </a:ext>
            </a:extLst>
          </p:cNvPr>
          <p:cNvSpPr/>
          <p:nvPr/>
        </p:nvSpPr>
        <p:spPr>
          <a:xfrm>
            <a:off x="3511986" y="2191768"/>
            <a:ext cx="1256428" cy="725936"/>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Word access</a:t>
            </a:r>
            <a:br>
              <a:rPr lang="en-GB" sz="1400" dirty="0"/>
            </a:br>
            <a:r>
              <a:rPr lang="en-GB" sz="1400" dirty="0"/>
              <a:t>Validation</a:t>
            </a:r>
            <a:endParaRPr lang="en-NL" sz="1400" dirty="0"/>
          </a:p>
        </p:txBody>
      </p:sp>
      <p:sp>
        <p:nvSpPr>
          <p:cNvPr id="8" name="Rectangle 7">
            <a:extLst>
              <a:ext uri="{FF2B5EF4-FFF2-40B4-BE49-F238E27FC236}">
                <a16:creationId xmlns:a16="http://schemas.microsoft.com/office/drawing/2014/main" id="{8C21CFF5-FFB4-22EF-2951-13D9A556D1C5}"/>
              </a:ext>
            </a:extLst>
          </p:cNvPr>
          <p:cNvSpPr/>
          <p:nvPr/>
        </p:nvSpPr>
        <p:spPr>
          <a:xfrm>
            <a:off x="5444325" y="2191768"/>
            <a:ext cx="1256428" cy="725936"/>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Latency Validation</a:t>
            </a:r>
            <a:endParaRPr lang="en-NL" sz="1400" dirty="0"/>
          </a:p>
        </p:txBody>
      </p:sp>
      <p:sp>
        <p:nvSpPr>
          <p:cNvPr id="9" name="Rectangle 8">
            <a:extLst>
              <a:ext uri="{FF2B5EF4-FFF2-40B4-BE49-F238E27FC236}">
                <a16:creationId xmlns:a16="http://schemas.microsoft.com/office/drawing/2014/main" id="{B224A651-EEC3-E50C-A2D1-DDBCCF1A1B4C}"/>
              </a:ext>
            </a:extLst>
          </p:cNvPr>
          <p:cNvSpPr/>
          <p:nvPr/>
        </p:nvSpPr>
        <p:spPr>
          <a:xfrm>
            <a:off x="7376664" y="2191768"/>
            <a:ext cx="1256428" cy="725936"/>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Energy Validation</a:t>
            </a:r>
            <a:endParaRPr lang="en-NL" sz="1400" dirty="0"/>
          </a:p>
        </p:txBody>
      </p:sp>
      <p:sp>
        <p:nvSpPr>
          <p:cNvPr id="10" name="TextBox 9">
            <a:extLst>
              <a:ext uri="{FF2B5EF4-FFF2-40B4-BE49-F238E27FC236}">
                <a16:creationId xmlns:a16="http://schemas.microsoft.com/office/drawing/2014/main" id="{0C45FC70-8F87-4C54-78E0-F4CFF2F8AA64}"/>
              </a:ext>
            </a:extLst>
          </p:cNvPr>
          <p:cNvSpPr txBox="1"/>
          <p:nvPr/>
        </p:nvSpPr>
        <p:spPr>
          <a:xfrm>
            <a:off x="1579647" y="2994485"/>
            <a:ext cx="1256428" cy="1169551"/>
          </a:xfrm>
          <a:prstGeom prst="rect">
            <a:avLst/>
          </a:prstGeom>
          <a:solidFill>
            <a:schemeClr val="bg2">
              <a:lumMod val="20000"/>
              <a:lumOff val="80000"/>
            </a:schemeClr>
          </a:solidFill>
        </p:spPr>
        <p:txBody>
          <a:bodyPr wrap="square" rtlCol="0">
            <a:spAutoFit/>
          </a:bodyPr>
          <a:lstStyle/>
          <a:p>
            <a:pPr algn="ctr"/>
            <a:r>
              <a:rPr lang="en-GB" sz="1400" dirty="0"/>
              <a:t>Flow verification of: </a:t>
            </a:r>
            <a:br>
              <a:rPr lang="en-GB" sz="1400" dirty="0"/>
            </a:br>
            <a:r>
              <a:rPr lang="en-GB" sz="1400" dirty="0"/>
              <a:t>Inputs</a:t>
            </a:r>
            <a:br>
              <a:rPr lang="en-GB" sz="1400" dirty="0"/>
            </a:br>
            <a:r>
              <a:rPr lang="en-GB" sz="1400" dirty="0"/>
              <a:t>Weights</a:t>
            </a:r>
            <a:br>
              <a:rPr lang="en-GB" sz="1400" dirty="0"/>
            </a:br>
            <a:r>
              <a:rPr lang="en-GB" sz="1400" dirty="0"/>
              <a:t>Outputs</a:t>
            </a:r>
            <a:endParaRPr lang="en-NL" sz="1400" dirty="0" err="1"/>
          </a:p>
        </p:txBody>
      </p:sp>
      <p:sp>
        <p:nvSpPr>
          <p:cNvPr id="11" name="TextBox 10">
            <a:extLst>
              <a:ext uri="{FF2B5EF4-FFF2-40B4-BE49-F238E27FC236}">
                <a16:creationId xmlns:a16="http://schemas.microsoft.com/office/drawing/2014/main" id="{C5728034-FA9C-7614-4838-22A88596B24D}"/>
              </a:ext>
            </a:extLst>
          </p:cNvPr>
          <p:cNvSpPr txBox="1"/>
          <p:nvPr/>
        </p:nvSpPr>
        <p:spPr>
          <a:xfrm>
            <a:off x="3511986" y="2994485"/>
            <a:ext cx="1256428" cy="1169551"/>
          </a:xfrm>
          <a:prstGeom prst="rect">
            <a:avLst/>
          </a:prstGeom>
          <a:solidFill>
            <a:schemeClr val="bg2">
              <a:lumMod val="20000"/>
              <a:lumOff val="80000"/>
            </a:schemeClr>
          </a:solidFill>
        </p:spPr>
        <p:txBody>
          <a:bodyPr wrap="square" rtlCol="0">
            <a:spAutoFit/>
          </a:bodyPr>
          <a:lstStyle/>
          <a:p>
            <a:pPr algn="ctr"/>
            <a:r>
              <a:rPr lang="en-GB" sz="1400" dirty="0"/>
              <a:t>Manual calculation vs AeDAM output comparison</a:t>
            </a:r>
            <a:endParaRPr lang="en-NL" sz="1400" dirty="0" err="1"/>
          </a:p>
        </p:txBody>
      </p:sp>
      <p:sp>
        <p:nvSpPr>
          <p:cNvPr id="12" name="TextBox 11">
            <a:extLst>
              <a:ext uri="{FF2B5EF4-FFF2-40B4-BE49-F238E27FC236}">
                <a16:creationId xmlns:a16="http://schemas.microsoft.com/office/drawing/2014/main" id="{5F32D4AF-54E6-E2CF-884B-AE90785422D7}"/>
              </a:ext>
            </a:extLst>
          </p:cNvPr>
          <p:cNvSpPr txBox="1"/>
          <p:nvPr/>
        </p:nvSpPr>
        <p:spPr>
          <a:xfrm>
            <a:off x="5444325" y="2994485"/>
            <a:ext cx="1256428" cy="954107"/>
          </a:xfrm>
          <a:prstGeom prst="rect">
            <a:avLst/>
          </a:prstGeom>
          <a:solidFill>
            <a:schemeClr val="bg2">
              <a:lumMod val="20000"/>
              <a:lumOff val="80000"/>
            </a:schemeClr>
          </a:solidFill>
        </p:spPr>
        <p:txBody>
          <a:bodyPr wrap="square" rtlCol="0">
            <a:spAutoFit/>
          </a:bodyPr>
          <a:lstStyle/>
          <a:p>
            <a:pPr algn="ctr"/>
            <a:r>
              <a:rPr lang="en-GB" sz="1400" dirty="0"/>
              <a:t>True cycles, Stalls, Data transfer timings</a:t>
            </a:r>
            <a:endParaRPr lang="en-NL" sz="1400" dirty="0" err="1"/>
          </a:p>
        </p:txBody>
      </p:sp>
      <p:sp>
        <p:nvSpPr>
          <p:cNvPr id="13" name="TextBox 12">
            <a:extLst>
              <a:ext uri="{FF2B5EF4-FFF2-40B4-BE49-F238E27FC236}">
                <a16:creationId xmlns:a16="http://schemas.microsoft.com/office/drawing/2014/main" id="{FF5A8BD0-7BFC-C716-AF20-02B53CE51A85}"/>
              </a:ext>
            </a:extLst>
          </p:cNvPr>
          <p:cNvSpPr txBox="1"/>
          <p:nvPr/>
        </p:nvSpPr>
        <p:spPr>
          <a:xfrm>
            <a:off x="7376664" y="2994484"/>
            <a:ext cx="1256428" cy="1169551"/>
          </a:xfrm>
          <a:prstGeom prst="rect">
            <a:avLst/>
          </a:prstGeom>
          <a:solidFill>
            <a:schemeClr val="bg2">
              <a:lumMod val="20000"/>
              <a:lumOff val="80000"/>
            </a:schemeClr>
          </a:solidFill>
        </p:spPr>
        <p:txBody>
          <a:bodyPr wrap="square" rtlCol="0">
            <a:spAutoFit/>
          </a:bodyPr>
          <a:lstStyle/>
          <a:p>
            <a:pPr algn="ctr"/>
            <a:r>
              <a:rPr lang="en-GB" sz="1400" dirty="0"/>
              <a:t>MAC operations and Memory Access energies</a:t>
            </a:r>
            <a:endParaRPr lang="en-NL" sz="1400" dirty="0" err="1"/>
          </a:p>
        </p:txBody>
      </p:sp>
      <p:cxnSp>
        <p:nvCxnSpPr>
          <p:cNvPr id="15" name="Straight Arrow Connector 14">
            <a:extLst>
              <a:ext uri="{FF2B5EF4-FFF2-40B4-BE49-F238E27FC236}">
                <a16:creationId xmlns:a16="http://schemas.microsoft.com/office/drawing/2014/main" id="{323F8AD1-B2B2-A5C6-0607-A3700D3F316E}"/>
              </a:ext>
            </a:extLst>
          </p:cNvPr>
          <p:cNvCxnSpPr>
            <a:stCxn id="6" idx="3"/>
            <a:endCxn id="7" idx="1"/>
          </p:cNvCxnSpPr>
          <p:nvPr/>
        </p:nvCxnSpPr>
        <p:spPr>
          <a:xfrm>
            <a:off x="2836075" y="2554736"/>
            <a:ext cx="675911" cy="0"/>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50612B46-965A-B4A8-76D4-C366EDF11685}"/>
              </a:ext>
            </a:extLst>
          </p:cNvPr>
          <p:cNvCxnSpPr>
            <a:stCxn id="7" idx="3"/>
            <a:endCxn id="8" idx="1"/>
          </p:cNvCxnSpPr>
          <p:nvPr/>
        </p:nvCxnSpPr>
        <p:spPr>
          <a:xfrm>
            <a:off x="4768414" y="2554736"/>
            <a:ext cx="675911" cy="0"/>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7F5C75C-5FBB-09F4-AF97-3B19801E51B9}"/>
              </a:ext>
            </a:extLst>
          </p:cNvPr>
          <p:cNvCxnSpPr>
            <a:stCxn id="8" idx="3"/>
            <a:endCxn id="9" idx="1"/>
          </p:cNvCxnSpPr>
          <p:nvPr/>
        </p:nvCxnSpPr>
        <p:spPr>
          <a:xfrm>
            <a:off x="6700753" y="2554736"/>
            <a:ext cx="675911" cy="0"/>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16F545BC-8278-7FE8-4D37-9E14B24D8C7F}"/>
              </a:ext>
            </a:extLst>
          </p:cNvPr>
          <p:cNvSpPr txBox="1"/>
          <p:nvPr/>
        </p:nvSpPr>
        <p:spPr>
          <a:xfrm>
            <a:off x="160630" y="1156569"/>
            <a:ext cx="3351356" cy="738664"/>
          </a:xfrm>
          <a:prstGeom prst="rect">
            <a:avLst/>
          </a:prstGeom>
          <a:solidFill>
            <a:schemeClr val="bg2">
              <a:lumMod val="60000"/>
              <a:lumOff val="40000"/>
            </a:schemeClr>
          </a:solidFill>
        </p:spPr>
        <p:txBody>
          <a:bodyPr wrap="square" rtlCol="0">
            <a:spAutoFit/>
          </a:bodyPr>
          <a:lstStyle/>
          <a:p>
            <a:r>
              <a:rPr lang="en-GB" sz="1400" dirty="0"/>
              <a:t>Inputs:  </a:t>
            </a:r>
            <a:br>
              <a:rPr lang="en-GB" sz="1400" dirty="0"/>
            </a:br>
            <a:r>
              <a:rPr lang="en-GB" sz="1400" dirty="0"/>
              <a:t>- Architecture: Seneca Single core</a:t>
            </a:r>
            <a:br>
              <a:rPr lang="en-GB" sz="1400" dirty="0"/>
            </a:br>
            <a:r>
              <a:rPr lang="en-GB" sz="1400" dirty="0"/>
              <a:t>- Workload: 1</a:t>
            </a:r>
            <a:r>
              <a:rPr lang="en-GB" sz="1400" baseline="30000" dirty="0"/>
              <a:t>st</a:t>
            </a:r>
            <a:r>
              <a:rPr lang="en-GB" sz="1400" dirty="0"/>
              <a:t> layer of the </a:t>
            </a:r>
            <a:r>
              <a:rPr lang="en-GB" sz="1400" dirty="0" err="1"/>
              <a:t>VGGnet</a:t>
            </a:r>
            <a:r>
              <a:rPr lang="en-GB" sz="1400" dirty="0"/>
              <a:t> model </a:t>
            </a:r>
            <a:endParaRPr lang="en-NL" sz="1400" dirty="0" err="1"/>
          </a:p>
        </p:txBody>
      </p:sp>
      <p:cxnSp>
        <p:nvCxnSpPr>
          <p:cNvPr id="24" name="Connector: Elbow 23">
            <a:extLst>
              <a:ext uri="{FF2B5EF4-FFF2-40B4-BE49-F238E27FC236}">
                <a16:creationId xmlns:a16="http://schemas.microsoft.com/office/drawing/2014/main" id="{704037FD-F9FA-A0B7-3DD0-9FC6E4C08782}"/>
              </a:ext>
            </a:extLst>
          </p:cNvPr>
          <p:cNvCxnSpPr>
            <a:cxnSpLocks/>
            <a:endCxn id="6" idx="1"/>
          </p:cNvCxnSpPr>
          <p:nvPr/>
        </p:nvCxnSpPr>
        <p:spPr>
          <a:xfrm rot="16200000" flipH="1">
            <a:off x="962627" y="1937715"/>
            <a:ext cx="661183" cy="572857"/>
          </a:xfrm>
          <a:prstGeom prst="bentConnector2">
            <a:avLst/>
          </a:prstGeom>
          <a:ln w="19050"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8811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00"/>
                                        <p:tgtEl>
                                          <p:spTgt spid="2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2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4B5D8-7269-CB98-5891-F9970798B3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78888-2013-28B8-7550-E3C96E26D21C}"/>
              </a:ext>
            </a:extLst>
          </p:cNvPr>
          <p:cNvSpPr>
            <a:spLocks noGrp="1"/>
          </p:cNvSpPr>
          <p:nvPr>
            <p:ph type="title"/>
          </p:nvPr>
        </p:nvSpPr>
        <p:spPr/>
        <p:txBody>
          <a:bodyPr/>
          <a:lstStyle/>
          <a:p>
            <a:r>
              <a:rPr lang="en-GB" dirty="0">
                <a:latin typeface="Gill Sans MT"/>
                <a:cs typeface="Gill Sans"/>
              </a:rPr>
              <a:t>Comparison with </a:t>
            </a:r>
            <a:r>
              <a:rPr lang="en-GB" dirty="0" err="1">
                <a:latin typeface="Gill Sans MT"/>
                <a:cs typeface="Gill Sans"/>
              </a:rPr>
              <a:t>SoTA</a:t>
            </a:r>
            <a:endParaRPr lang="en-GB" dirty="0"/>
          </a:p>
        </p:txBody>
      </p:sp>
      <p:sp>
        <p:nvSpPr>
          <p:cNvPr id="4" name="Slide Number Placeholder 3">
            <a:extLst>
              <a:ext uri="{FF2B5EF4-FFF2-40B4-BE49-F238E27FC236}">
                <a16:creationId xmlns:a16="http://schemas.microsoft.com/office/drawing/2014/main" id="{2B96ABD7-C7B5-B17C-F240-2FC7EB2D253E}"/>
              </a:ext>
            </a:extLst>
          </p:cNvPr>
          <p:cNvSpPr>
            <a:spLocks noGrp="1"/>
          </p:cNvSpPr>
          <p:nvPr>
            <p:ph type="sldNum" sz="quarter" idx="12"/>
          </p:nvPr>
        </p:nvSpPr>
        <p:spPr/>
        <p:txBody>
          <a:bodyPr/>
          <a:lstStyle/>
          <a:p>
            <a:fld id="{8836216C-5BC3-7C44-80F8-E30864FFC228}" type="slidenum">
              <a:rPr lang="en-US" smtClean="0"/>
              <a:t>30</a:t>
            </a:fld>
            <a:endParaRPr lang="en-US"/>
          </a:p>
        </p:txBody>
      </p:sp>
      <p:sp>
        <p:nvSpPr>
          <p:cNvPr id="5" name="Text Placeholder 4">
            <a:extLst>
              <a:ext uri="{FF2B5EF4-FFF2-40B4-BE49-F238E27FC236}">
                <a16:creationId xmlns:a16="http://schemas.microsoft.com/office/drawing/2014/main" id="{1114B35A-56EA-7495-A8A8-2EF836A5D96A}"/>
              </a:ext>
            </a:extLst>
          </p:cNvPr>
          <p:cNvSpPr>
            <a:spLocks noGrp="1"/>
          </p:cNvSpPr>
          <p:nvPr>
            <p:ph type="body" sz="quarter" idx="13"/>
          </p:nvPr>
        </p:nvSpPr>
        <p:spPr/>
        <p:txBody>
          <a:bodyPr/>
          <a:lstStyle/>
          <a:p>
            <a:r>
              <a:rPr lang="en-US" dirty="0"/>
              <a:t>AeDAM Capabilities Relative to Existing Tools</a:t>
            </a:r>
            <a:endParaRPr lang="en-GB" dirty="0"/>
          </a:p>
        </p:txBody>
      </p:sp>
      <p:graphicFrame>
        <p:nvGraphicFramePr>
          <p:cNvPr id="6" name="Table 5">
            <a:extLst>
              <a:ext uri="{FF2B5EF4-FFF2-40B4-BE49-F238E27FC236}">
                <a16:creationId xmlns:a16="http://schemas.microsoft.com/office/drawing/2014/main" id="{2CA99E9A-9763-3E08-0105-22BE5F4E97B3}"/>
              </a:ext>
            </a:extLst>
          </p:cNvPr>
          <p:cNvGraphicFramePr>
            <a:graphicFrameLocks noGrp="1"/>
          </p:cNvGraphicFramePr>
          <p:nvPr>
            <p:extLst>
              <p:ext uri="{D42A27DB-BD31-4B8C-83A1-F6EECF244321}">
                <p14:modId xmlns:p14="http://schemas.microsoft.com/office/powerpoint/2010/main" val="1537022693"/>
              </p:ext>
            </p:extLst>
          </p:nvPr>
        </p:nvGraphicFramePr>
        <p:xfrm>
          <a:off x="657225" y="942975"/>
          <a:ext cx="7831086" cy="3634122"/>
        </p:xfrm>
        <a:graphic>
          <a:graphicData uri="http://schemas.openxmlformats.org/drawingml/2006/table">
            <a:tbl>
              <a:tblPr firstRow="1" bandRow="1">
                <a:tableStyleId>{5C22544A-7EE6-4342-B048-85BDC9FD1C3A}</a:tableStyleId>
              </a:tblPr>
              <a:tblGrid>
                <a:gridCol w="1312905">
                  <a:extLst>
                    <a:ext uri="{9D8B030D-6E8A-4147-A177-3AD203B41FA5}">
                      <a16:colId xmlns:a16="http://schemas.microsoft.com/office/drawing/2014/main" val="2147442814"/>
                    </a:ext>
                  </a:extLst>
                </a:gridCol>
                <a:gridCol w="1590931">
                  <a:extLst>
                    <a:ext uri="{9D8B030D-6E8A-4147-A177-3AD203B41FA5}">
                      <a16:colId xmlns:a16="http://schemas.microsoft.com/office/drawing/2014/main" val="3555934751"/>
                    </a:ext>
                  </a:extLst>
                </a:gridCol>
                <a:gridCol w="1243398">
                  <a:extLst>
                    <a:ext uri="{9D8B030D-6E8A-4147-A177-3AD203B41FA5}">
                      <a16:colId xmlns:a16="http://schemas.microsoft.com/office/drawing/2014/main" val="1993135393"/>
                    </a:ext>
                  </a:extLst>
                </a:gridCol>
                <a:gridCol w="1065768">
                  <a:extLst>
                    <a:ext uri="{9D8B030D-6E8A-4147-A177-3AD203B41FA5}">
                      <a16:colId xmlns:a16="http://schemas.microsoft.com/office/drawing/2014/main" val="2383395271"/>
                    </a:ext>
                  </a:extLst>
                </a:gridCol>
                <a:gridCol w="1312903">
                  <a:extLst>
                    <a:ext uri="{9D8B030D-6E8A-4147-A177-3AD203B41FA5}">
                      <a16:colId xmlns:a16="http://schemas.microsoft.com/office/drawing/2014/main" val="2634017457"/>
                    </a:ext>
                  </a:extLst>
                </a:gridCol>
                <a:gridCol w="1305181">
                  <a:extLst>
                    <a:ext uri="{9D8B030D-6E8A-4147-A177-3AD203B41FA5}">
                      <a16:colId xmlns:a16="http://schemas.microsoft.com/office/drawing/2014/main" val="189872776"/>
                    </a:ext>
                  </a:extLst>
                </a:gridCol>
              </a:tblGrid>
              <a:tr h="525162">
                <a:tc>
                  <a:txBody>
                    <a:bodyPr/>
                    <a:lstStyle/>
                    <a:p>
                      <a:pPr algn="ctr"/>
                      <a:r>
                        <a:rPr lang="en-GB" sz="1400" b="1" dirty="0"/>
                        <a:t>Framework</a:t>
                      </a:r>
                    </a:p>
                  </a:txBody>
                  <a:tcPr/>
                </a:tc>
                <a:tc>
                  <a:txBody>
                    <a:bodyPr/>
                    <a:lstStyle/>
                    <a:p>
                      <a:pPr lvl="0" algn="ctr">
                        <a:buNone/>
                      </a:pPr>
                      <a:r>
                        <a:rPr lang="en-GB" sz="1400" b="1" i="0" u="none" strike="noStrike" noProof="0">
                          <a:latin typeface="Gill Sans MT"/>
                        </a:rPr>
                        <a:t>Primary Focus</a:t>
                      </a:r>
                    </a:p>
                  </a:txBody>
                  <a:tcPr/>
                </a:tc>
                <a:tc>
                  <a:txBody>
                    <a:bodyPr/>
                    <a:lstStyle/>
                    <a:p>
                      <a:pPr lvl="0" algn="ctr">
                        <a:buNone/>
                      </a:pPr>
                      <a:r>
                        <a:rPr lang="en-GB" sz="1400" b="1" i="0" u="none" strike="noStrike" noProof="0">
                          <a:latin typeface="Gill Sans MT"/>
                        </a:rPr>
                        <a:t>Event-driven Capabilities</a:t>
                      </a:r>
                      <a:endParaRPr lang="en-GB" sz="1400" b="1"/>
                    </a:p>
                  </a:txBody>
                  <a:tcPr/>
                </a:tc>
                <a:tc>
                  <a:txBody>
                    <a:bodyPr/>
                    <a:lstStyle/>
                    <a:p>
                      <a:pPr lvl="0" algn="ctr">
                        <a:buNone/>
                      </a:pPr>
                      <a:r>
                        <a:rPr lang="en-GB" sz="1400" b="1" i="0" u="none" strike="noStrike" noProof="0">
                          <a:latin typeface="Gill Sans MT"/>
                        </a:rPr>
                        <a:t>Multi-core Support</a:t>
                      </a:r>
                      <a:endParaRPr lang="en-GB" sz="1400" b="1"/>
                    </a:p>
                  </a:txBody>
                  <a:tcPr/>
                </a:tc>
                <a:tc>
                  <a:txBody>
                    <a:bodyPr/>
                    <a:lstStyle/>
                    <a:p>
                      <a:pPr lvl="0" algn="ctr">
                        <a:buNone/>
                      </a:pPr>
                      <a:r>
                        <a:rPr lang="en-GB" sz="1400" b="1" i="0" u="none" strike="noStrike" noProof="0">
                          <a:latin typeface="Gill Sans MT"/>
                        </a:rPr>
                        <a:t>Sparsity Support</a:t>
                      </a:r>
                      <a:endParaRPr lang="en-GB" sz="1400" b="1"/>
                    </a:p>
                  </a:txBody>
                  <a:tcPr/>
                </a:tc>
                <a:tc>
                  <a:txBody>
                    <a:bodyPr/>
                    <a:lstStyle/>
                    <a:p>
                      <a:pPr lvl="0" algn="ctr">
                        <a:buNone/>
                      </a:pPr>
                      <a:r>
                        <a:rPr lang="en-GB" sz="1400" b="1" i="0" u="none" strike="noStrike" noProof="0">
                          <a:latin typeface="Gill Sans MT"/>
                        </a:rPr>
                        <a:t>Framework relationship</a:t>
                      </a:r>
                    </a:p>
                  </a:txBody>
                  <a:tcPr/>
                </a:tc>
                <a:extLst>
                  <a:ext uri="{0D108BD9-81ED-4DB2-BD59-A6C34878D82A}">
                    <a16:rowId xmlns:a16="http://schemas.microsoft.com/office/drawing/2014/main" val="1358492920"/>
                  </a:ext>
                </a:extLst>
              </a:tr>
              <a:tr h="466578">
                <a:tc>
                  <a:txBody>
                    <a:bodyPr/>
                    <a:lstStyle/>
                    <a:p>
                      <a:pPr algn="l"/>
                      <a:r>
                        <a:rPr lang="en-GB" sz="1400" b="0" err="1"/>
                        <a:t>Timeloop</a:t>
                      </a:r>
                    </a:p>
                  </a:txBody>
                  <a:tcPr/>
                </a:tc>
                <a:tc>
                  <a:txBody>
                    <a:bodyPr/>
                    <a:lstStyle/>
                    <a:p>
                      <a:pPr algn="ctr"/>
                      <a:r>
                        <a:rPr lang="en-GB" sz="1400"/>
                        <a:t>Dense tensor modelling</a:t>
                      </a:r>
                    </a:p>
                  </a:txBody>
                  <a:tcPr/>
                </a:tc>
                <a:tc>
                  <a:txBody>
                    <a:bodyPr/>
                    <a:lstStyle/>
                    <a:p>
                      <a:pPr marL="0" indent="0" algn="ctr">
                        <a:buNone/>
                      </a:pPr>
                      <a:r>
                        <a:rPr lang="en-GB" sz="1400"/>
                        <a:t>Traditional </a:t>
                      </a:r>
                    </a:p>
                  </a:txBody>
                  <a:tcPr/>
                </a:tc>
                <a:tc>
                  <a:txBody>
                    <a:bodyPr/>
                    <a:lstStyle/>
                    <a:p>
                      <a:pPr algn="ctr"/>
                      <a:r>
                        <a:rPr lang="en-GB" sz="1400"/>
                        <a:t>Single core</a:t>
                      </a:r>
                    </a:p>
                  </a:txBody>
                  <a:tcPr/>
                </a:tc>
                <a:tc>
                  <a:txBody>
                    <a:bodyPr/>
                    <a:lstStyle/>
                    <a:p>
                      <a:pPr algn="ctr"/>
                      <a:r>
                        <a:rPr lang="en-GB" sz="1400"/>
                        <a:t>None</a:t>
                      </a:r>
                    </a:p>
                  </a:txBody>
                  <a:tcPr/>
                </a:tc>
                <a:tc>
                  <a:txBody>
                    <a:bodyPr/>
                    <a:lstStyle/>
                    <a:p>
                      <a:pPr lvl="0" algn="ctr">
                        <a:buNone/>
                      </a:pPr>
                      <a:r>
                        <a:rPr lang="en-GB" sz="1400"/>
                        <a:t>Foundation</a:t>
                      </a:r>
                    </a:p>
                  </a:txBody>
                  <a:tcPr/>
                </a:tc>
                <a:extLst>
                  <a:ext uri="{0D108BD9-81ED-4DB2-BD59-A6C34878D82A}">
                    <a16:rowId xmlns:a16="http://schemas.microsoft.com/office/drawing/2014/main" val="455053848"/>
                  </a:ext>
                </a:extLst>
              </a:tr>
              <a:tr h="466578">
                <a:tc>
                  <a:txBody>
                    <a:bodyPr/>
                    <a:lstStyle/>
                    <a:p>
                      <a:pPr algn="l"/>
                      <a:r>
                        <a:rPr lang="en-GB" sz="1400" b="0"/>
                        <a:t>Zigzag</a:t>
                      </a:r>
                    </a:p>
                  </a:txBody>
                  <a:tcPr/>
                </a:tc>
                <a:tc>
                  <a:txBody>
                    <a:bodyPr/>
                    <a:lstStyle/>
                    <a:p>
                      <a:pPr algn="ctr"/>
                      <a:r>
                        <a:rPr lang="en-GB" sz="1400"/>
                        <a:t>Memory centric DSE</a:t>
                      </a:r>
                    </a:p>
                  </a:txBody>
                  <a:tcPr/>
                </a:tc>
                <a:tc>
                  <a:txBody>
                    <a:bodyPr/>
                    <a:lstStyle/>
                    <a:p>
                      <a:pPr lvl="0" algn="ctr">
                        <a:buNone/>
                      </a:pPr>
                      <a:r>
                        <a:rPr lang="en-GB" sz="1400" b="0" i="0" u="none" strike="noStrike" noProof="0">
                          <a:solidFill>
                            <a:srgbClr val="3C3C3B"/>
                          </a:solidFill>
                          <a:latin typeface="Gill Sans MT"/>
                        </a:rPr>
                        <a:t>Traditional</a:t>
                      </a:r>
                      <a:endParaRPr lang="en-US"/>
                    </a:p>
                  </a:txBody>
                  <a:tcPr/>
                </a:tc>
                <a:tc>
                  <a:txBody>
                    <a:bodyPr/>
                    <a:lstStyle/>
                    <a:p>
                      <a:pPr algn="ctr"/>
                      <a:r>
                        <a:rPr lang="en-GB" sz="1400"/>
                        <a:t>Single core</a:t>
                      </a:r>
                    </a:p>
                  </a:txBody>
                  <a:tcPr/>
                </a:tc>
                <a:tc>
                  <a:txBody>
                    <a:bodyPr/>
                    <a:lstStyle/>
                    <a:p>
                      <a:pPr algn="ctr"/>
                      <a:r>
                        <a:rPr lang="en-GB" sz="1400"/>
                        <a:t>None</a:t>
                      </a:r>
                    </a:p>
                  </a:txBody>
                  <a:tcPr/>
                </a:tc>
                <a:tc>
                  <a:txBody>
                    <a:bodyPr/>
                    <a:lstStyle/>
                    <a:p>
                      <a:pPr lvl="0" algn="ctr">
                        <a:buNone/>
                      </a:pPr>
                      <a:r>
                        <a:rPr lang="en-GB" sz="1400"/>
                        <a:t>Foundation</a:t>
                      </a:r>
                    </a:p>
                  </a:txBody>
                  <a:tcPr/>
                </a:tc>
                <a:extLst>
                  <a:ext uri="{0D108BD9-81ED-4DB2-BD59-A6C34878D82A}">
                    <a16:rowId xmlns:a16="http://schemas.microsoft.com/office/drawing/2014/main" val="11335066"/>
                  </a:ext>
                </a:extLst>
              </a:tr>
              <a:tr h="466578">
                <a:tc>
                  <a:txBody>
                    <a:bodyPr/>
                    <a:lstStyle/>
                    <a:p>
                      <a:pPr algn="l"/>
                      <a:r>
                        <a:rPr lang="en-GB" sz="1400" b="0" err="1"/>
                        <a:t>Convfusion</a:t>
                      </a:r>
                      <a:endParaRPr lang="en-GB" sz="1400" b="0"/>
                    </a:p>
                  </a:txBody>
                  <a:tcPr/>
                </a:tc>
                <a:tc>
                  <a:txBody>
                    <a:bodyPr/>
                    <a:lstStyle/>
                    <a:p>
                      <a:pPr algn="ctr"/>
                      <a:r>
                        <a:rPr lang="en-GB" sz="1400"/>
                        <a:t>Layer fusion optimisation</a:t>
                      </a:r>
                    </a:p>
                  </a:txBody>
                  <a:tcPr/>
                </a:tc>
                <a:tc>
                  <a:txBody>
                    <a:bodyPr/>
                    <a:lstStyle/>
                    <a:p>
                      <a:pPr lvl="0" algn="ctr">
                        <a:buNone/>
                      </a:pPr>
                      <a:r>
                        <a:rPr lang="en-GB" sz="1400" b="0" i="0" u="none" strike="noStrike" noProof="0">
                          <a:solidFill>
                            <a:srgbClr val="3C3C3B"/>
                          </a:solidFill>
                          <a:latin typeface="Gill Sans MT"/>
                        </a:rPr>
                        <a:t>Traditional</a:t>
                      </a:r>
                      <a:endParaRPr lang="en-US"/>
                    </a:p>
                  </a:txBody>
                  <a:tcPr/>
                </a:tc>
                <a:tc>
                  <a:txBody>
                    <a:bodyPr/>
                    <a:lstStyle/>
                    <a:p>
                      <a:pPr algn="ctr"/>
                      <a:r>
                        <a:rPr lang="en-GB" sz="1400"/>
                        <a:t>Single core</a:t>
                      </a:r>
                    </a:p>
                  </a:txBody>
                  <a:tcPr/>
                </a:tc>
                <a:tc>
                  <a:txBody>
                    <a:bodyPr/>
                    <a:lstStyle/>
                    <a:p>
                      <a:pPr algn="ctr"/>
                      <a:r>
                        <a:rPr lang="en-GB" sz="1400"/>
                        <a:t>None</a:t>
                      </a:r>
                    </a:p>
                  </a:txBody>
                  <a:tcPr/>
                </a:tc>
                <a:tc>
                  <a:txBody>
                    <a:bodyPr/>
                    <a:lstStyle/>
                    <a:p>
                      <a:pPr lvl="0" algn="ctr">
                        <a:buNone/>
                      </a:pPr>
                      <a:r>
                        <a:rPr lang="en-GB" sz="1400"/>
                        <a:t>Foundation</a:t>
                      </a:r>
                    </a:p>
                  </a:txBody>
                  <a:tcPr/>
                </a:tc>
                <a:extLst>
                  <a:ext uri="{0D108BD9-81ED-4DB2-BD59-A6C34878D82A}">
                    <a16:rowId xmlns:a16="http://schemas.microsoft.com/office/drawing/2014/main" val="3792455241"/>
                  </a:ext>
                </a:extLst>
              </a:tr>
              <a:tr h="466578">
                <a:tc>
                  <a:txBody>
                    <a:bodyPr/>
                    <a:lstStyle/>
                    <a:p>
                      <a:pPr algn="l"/>
                      <a:r>
                        <a:rPr lang="en-GB" sz="1400" b="0"/>
                        <a:t>Stream</a:t>
                      </a:r>
                    </a:p>
                  </a:txBody>
                  <a:tcPr/>
                </a:tc>
                <a:tc>
                  <a:txBody>
                    <a:bodyPr/>
                    <a:lstStyle/>
                    <a:p>
                      <a:pPr algn="ctr"/>
                      <a:r>
                        <a:rPr lang="en-GB" sz="1400"/>
                        <a:t>Multi-core exploration</a:t>
                      </a:r>
                    </a:p>
                  </a:txBody>
                  <a:tcPr/>
                </a:tc>
                <a:tc>
                  <a:txBody>
                    <a:bodyPr/>
                    <a:lstStyle/>
                    <a:p>
                      <a:pPr lvl="0" algn="ctr">
                        <a:buNone/>
                      </a:pPr>
                      <a:r>
                        <a:rPr lang="en-GB" sz="1400" b="0" i="0" u="none" strike="noStrike" noProof="0">
                          <a:solidFill>
                            <a:srgbClr val="3C3C3B"/>
                          </a:solidFill>
                          <a:latin typeface="Gill Sans MT"/>
                        </a:rPr>
                        <a:t>Traditional</a:t>
                      </a:r>
                      <a:endParaRPr lang="en-US"/>
                    </a:p>
                  </a:txBody>
                  <a:tcPr/>
                </a:tc>
                <a:tc>
                  <a:txBody>
                    <a:bodyPr/>
                    <a:lstStyle/>
                    <a:p>
                      <a:pPr algn="ctr"/>
                      <a:r>
                        <a:rPr lang="en-GB" sz="1400"/>
                        <a:t>Yes</a:t>
                      </a:r>
                    </a:p>
                  </a:txBody>
                  <a:tcPr/>
                </a:tc>
                <a:tc>
                  <a:txBody>
                    <a:bodyPr/>
                    <a:lstStyle/>
                    <a:p>
                      <a:pPr algn="ctr"/>
                      <a:r>
                        <a:rPr lang="en-GB" sz="1400"/>
                        <a:t>None</a:t>
                      </a:r>
                    </a:p>
                  </a:txBody>
                  <a:tcPr/>
                </a:tc>
                <a:tc>
                  <a:txBody>
                    <a:bodyPr/>
                    <a:lstStyle/>
                    <a:p>
                      <a:pPr lvl="0" algn="ctr">
                        <a:buNone/>
                      </a:pPr>
                      <a:r>
                        <a:rPr lang="en-GB" sz="1400"/>
                        <a:t>Built on Zigzag</a:t>
                      </a:r>
                    </a:p>
                  </a:txBody>
                  <a:tcPr/>
                </a:tc>
                <a:extLst>
                  <a:ext uri="{0D108BD9-81ED-4DB2-BD59-A6C34878D82A}">
                    <a16:rowId xmlns:a16="http://schemas.microsoft.com/office/drawing/2014/main" val="3485801249"/>
                  </a:ext>
                </a:extLst>
              </a:tr>
              <a:tr h="466578">
                <a:tc>
                  <a:txBody>
                    <a:bodyPr/>
                    <a:lstStyle/>
                    <a:p>
                      <a:pPr algn="l"/>
                      <a:r>
                        <a:rPr lang="en-GB" sz="1400" b="0" err="1"/>
                        <a:t>Sparseloop</a:t>
                      </a:r>
                      <a:endParaRPr lang="en-GB" sz="1400" b="0"/>
                    </a:p>
                  </a:txBody>
                  <a:tcPr/>
                </a:tc>
                <a:tc>
                  <a:txBody>
                    <a:bodyPr/>
                    <a:lstStyle/>
                    <a:p>
                      <a:pPr lvl="0" algn="ctr">
                        <a:buNone/>
                      </a:pPr>
                      <a:r>
                        <a:rPr lang="en-GB" sz="1400" b="0" i="0" u="none" strike="noStrike" noProof="0">
                          <a:solidFill>
                            <a:srgbClr val="3C3C3B"/>
                          </a:solidFill>
                          <a:latin typeface="Gill Sans MT"/>
                        </a:rPr>
                        <a:t>Sparse tensor modelling</a:t>
                      </a:r>
                      <a:endParaRPr lang="en-US"/>
                    </a:p>
                  </a:txBody>
                  <a:tcPr/>
                </a:tc>
                <a:tc>
                  <a:txBody>
                    <a:bodyPr/>
                    <a:lstStyle/>
                    <a:p>
                      <a:pPr lvl="0" algn="ctr">
                        <a:buNone/>
                      </a:pPr>
                      <a:r>
                        <a:rPr lang="en-GB" sz="1400" b="0" i="0" u="none" strike="noStrike" noProof="0">
                          <a:solidFill>
                            <a:srgbClr val="3C3C3B"/>
                          </a:solidFill>
                          <a:latin typeface="Gill Sans MT"/>
                        </a:rPr>
                        <a:t>Traditional</a:t>
                      </a:r>
                      <a:endParaRPr lang="en-US"/>
                    </a:p>
                  </a:txBody>
                  <a:tcPr/>
                </a:tc>
                <a:tc>
                  <a:txBody>
                    <a:bodyPr/>
                    <a:lstStyle/>
                    <a:p>
                      <a:pPr algn="ctr"/>
                      <a:r>
                        <a:rPr lang="en-GB" sz="1400"/>
                        <a:t>Single core</a:t>
                      </a:r>
                    </a:p>
                  </a:txBody>
                  <a:tcPr/>
                </a:tc>
                <a:tc>
                  <a:txBody>
                    <a:bodyPr/>
                    <a:lstStyle/>
                    <a:p>
                      <a:pPr algn="ctr"/>
                      <a:r>
                        <a:rPr lang="en-GB" sz="1400"/>
                        <a:t>Weight and input sparsity</a:t>
                      </a:r>
                    </a:p>
                  </a:txBody>
                  <a:tcPr/>
                </a:tc>
                <a:tc>
                  <a:txBody>
                    <a:bodyPr/>
                    <a:lstStyle/>
                    <a:p>
                      <a:pPr lvl="0" algn="ctr">
                        <a:buNone/>
                      </a:pPr>
                      <a:r>
                        <a:rPr lang="en-GB" sz="1400"/>
                        <a:t>Built on </a:t>
                      </a:r>
                      <a:r>
                        <a:rPr lang="en-GB" sz="1400" err="1"/>
                        <a:t>Timeloop</a:t>
                      </a:r>
                      <a:endParaRPr lang="en-GB" sz="1400"/>
                    </a:p>
                  </a:txBody>
                  <a:tcPr/>
                </a:tc>
                <a:extLst>
                  <a:ext uri="{0D108BD9-81ED-4DB2-BD59-A6C34878D82A}">
                    <a16:rowId xmlns:a16="http://schemas.microsoft.com/office/drawing/2014/main" val="1223267966"/>
                  </a:ext>
                </a:extLst>
              </a:tr>
              <a:tr h="466578">
                <a:tc>
                  <a:txBody>
                    <a:bodyPr/>
                    <a:lstStyle/>
                    <a:p>
                      <a:pPr lvl="0" algn="l">
                        <a:buNone/>
                      </a:pPr>
                      <a:r>
                        <a:rPr lang="en-GB" sz="1400" b="0"/>
                        <a:t>AeDAM</a:t>
                      </a:r>
                    </a:p>
                  </a:txBody>
                  <a:tcPr/>
                </a:tc>
                <a:tc>
                  <a:txBody>
                    <a:bodyPr/>
                    <a:lstStyle/>
                    <a:p>
                      <a:pPr lvl="0" algn="ctr">
                        <a:buNone/>
                      </a:pPr>
                      <a:r>
                        <a:rPr lang="en-GB" sz="1400"/>
                        <a:t>Event driven exploration</a:t>
                      </a:r>
                    </a:p>
                  </a:txBody>
                  <a:tcPr/>
                </a:tc>
                <a:tc>
                  <a:txBody>
                    <a:bodyPr/>
                    <a:lstStyle/>
                    <a:p>
                      <a:pPr lvl="0" algn="ctr">
                        <a:buNone/>
                      </a:pPr>
                      <a:r>
                        <a:rPr lang="en-GB" sz="1400"/>
                        <a:t>Fully Event driven</a:t>
                      </a:r>
                    </a:p>
                  </a:txBody>
                  <a:tcPr/>
                </a:tc>
                <a:tc>
                  <a:txBody>
                    <a:bodyPr/>
                    <a:lstStyle/>
                    <a:p>
                      <a:pPr lvl="0" algn="ctr">
                        <a:buNone/>
                      </a:pPr>
                      <a:r>
                        <a:rPr lang="en-GB" sz="1400"/>
                        <a:t>Single core</a:t>
                      </a:r>
                    </a:p>
                  </a:txBody>
                  <a:tcPr/>
                </a:tc>
                <a:tc>
                  <a:txBody>
                    <a:bodyPr/>
                    <a:lstStyle/>
                    <a:p>
                      <a:pPr lvl="0" algn="ctr">
                        <a:buNone/>
                      </a:pPr>
                      <a:r>
                        <a:rPr lang="en-GB" sz="1400"/>
                        <a:t>None</a:t>
                      </a:r>
                    </a:p>
                  </a:txBody>
                  <a:tcPr/>
                </a:tc>
                <a:tc>
                  <a:txBody>
                    <a:bodyPr/>
                    <a:lstStyle/>
                    <a:p>
                      <a:pPr lvl="0" algn="ctr">
                        <a:buNone/>
                      </a:pPr>
                      <a:r>
                        <a:rPr lang="en-GB" sz="1400" dirty="0"/>
                        <a:t>Utilise parts of Zigzag</a:t>
                      </a:r>
                    </a:p>
                  </a:txBody>
                  <a:tcPr/>
                </a:tc>
                <a:extLst>
                  <a:ext uri="{0D108BD9-81ED-4DB2-BD59-A6C34878D82A}">
                    <a16:rowId xmlns:a16="http://schemas.microsoft.com/office/drawing/2014/main" val="673651233"/>
                  </a:ext>
                </a:extLst>
              </a:tr>
            </a:tbl>
          </a:graphicData>
        </a:graphic>
      </p:graphicFrame>
      <p:sp>
        <p:nvSpPr>
          <p:cNvPr id="3" name="Rectangle 2">
            <a:extLst>
              <a:ext uri="{FF2B5EF4-FFF2-40B4-BE49-F238E27FC236}">
                <a16:creationId xmlns:a16="http://schemas.microsoft.com/office/drawing/2014/main" id="{4C594F48-D28B-FD9E-B2C3-2A12DC587C1C}"/>
              </a:ext>
            </a:extLst>
          </p:cNvPr>
          <p:cNvSpPr/>
          <p:nvPr/>
        </p:nvSpPr>
        <p:spPr>
          <a:xfrm>
            <a:off x="516081" y="4048236"/>
            <a:ext cx="8111837" cy="6873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Tree>
    <p:extLst>
      <p:ext uri="{BB962C8B-B14F-4D97-AF65-F5344CB8AC3E}">
        <p14:creationId xmlns:p14="http://schemas.microsoft.com/office/powerpoint/2010/main" val="2645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89C51-DABD-804A-8DB7-401C6B4078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272199-2BCA-F99F-C2BE-59E250E0274A}"/>
              </a:ext>
            </a:extLst>
          </p:cNvPr>
          <p:cNvSpPr>
            <a:spLocks noGrp="1"/>
          </p:cNvSpPr>
          <p:nvPr>
            <p:ph type="title"/>
          </p:nvPr>
        </p:nvSpPr>
        <p:spPr/>
        <p:txBody>
          <a:bodyPr/>
          <a:lstStyle/>
          <a:p>
            <a:r>
              <a:rPr lang="en-US" dirty="0" err="1"/>
              <a:t>ZigZag</a:t>
            </a:r>
            <a:r>
              <a:rPr lang="en-US" dirty="0"/>
              <a:t> Integration and Extensions</a:t>
            </a:r>
            <a:endParaRPr lang="en-GB" dirty="0">
              <a:latin typeface="Gill Sans MT"/>
              <a:cs typeface="Gill Sans"/>
            </a:endParaRPr>
          </a:p>
        </p:txBody>
      </p:sp>
      <p:sp>
        <p:nvSpPr>
          <p:cNvPr id="3" name="Content Placeholder 2">
            <a:extLst>
              <a:ext uri="{FF2B5EF4-FFF2-40B4-BE49-F238E27FC236}">
                <a16:creationId xmlns:a16="http://schemas.microsoft.com/office/drawing/2014/main" id="{B03F87C2-2DF8-181E-233F-D04FFC30B3EA}"/>
              </a:ext>
            </a:extLst>
          </p:cNvPr>
          <p:cNvSpPr>
            <a:spLocks noGrp="1"/>
          </p:cNvSpPr>
          <p:nvPr>
            <p:ph idx="1"/>
          </p:nvPr>
        </p:nvSpPr>
        <p:spPr>
          <a:xfrm>
            <a:off x="159544" y="1025907"/>
            <a:ext cx="8753475" cy="631032"/>
          </a:xfrm>
        </p:spPr>
        <p:txBody>
          <a:bodyPr>
            <a:normAutofit lnSpcReduction="10000"/>
          </a:bodyPr>
          <a:lstStyle/>
          <a:p>
            <a:pPr>
              <a:buFont typeface="Arial"/>
              <a:buChar char="•"/>
            </a:pPr>
            <a:r>
              <a:rPr lang="en-GB" dirty="0">
                <a:latin typeface="Gill Sans MT"/>
                <a:cs typeface="Gill Sans"/>
              </a:rPr>
              <a:t>Event stationary dataflow modelling is achieved by extending and </a:t>
            </a:r>
            <a:r>
              <a:rPr lang="en-GB" dirty="0" err="1">
                <a:latin typeface="Gill Sans MT"/>
                <a:cs typeface="Gill Sans"/>
              </a:rPr>
              <a:t>resusing</a:t>
            </a:r>
            <a:r>
              <a:rPr lang="en-GB" dirty="0">
                <a:latin typeface="Gill Sans MT"/>
                <a:cs typeface="Gill Sans"/>
              </a:rPr>
              <a:t> the parts of Zigzag exploration tool</a:t>
            </a:r>
            <a:endParaRPr lang="en-US" dirty="0"/>
          </a:p>
        </p:txBody>
      </p:sp>
      <p:sp>
        <p:nvSpPr>
          <p:cNvPr id="4" name="Slide Number Placeholder 3">
            <a:extLst>
              <a:ext uri="{FF2B5EF4-FFF2-40B4-BE49-F238E27FC236}">
                <a16:creationId xmlns:a16="http://schemas.microsoft.com/office/drawing/2014/main" id="{7F11305C-9420-1113-FB40-6B5C3CD76DD1}"/>
              </a:ext>
            </a:extLst>
          </p:cNvPr>
          <p:cNvSpPr>
            <a:spLocks noGrp="1"/>
          </p:cNvSpPr>
          <p:nvPr>
            <p:ph type="sldNum" sz="quarter" idx="12"/>
          </p:nvPr>
        </p:nvSpPr>
        <p:spPr/>
        <p:txBody>
          <a:bodyPr/>
          <a:lstStyle/>
          <a:p>
            <a:fld id="{8836216C-5BC3-7C44-80F8-E30864FFC228}" type="slidenum">
              <a:rPr lang="en-US" smtClean="0"/>
              <a:t>31</a:t>
            </a:fld>
            <a:endParaRPr lang="en-US"/>
          </a:p>
        </p:txBody>
      </p:sp>
      <p:sp>
        <p:nvSpPr>
          <p:cNvPr id="7" name="Rectangle 6">
            <a:extLst>
              <a:ext uri="{FF2B5EF4-FFF2-40B4-BE49-F238E27FC236}">
                <a16:creationId xmlns:a16="http://schemas.microsoft.com/office/drawing/2014/main" id="{5B5C32C5-7B0A-91B7-CE54-80149CA8D0BD}"/>
              </a:ext>
            </a:extLst>
          </p:cNvPr>
          <p:cNvSpPr/>
          <p:nvPr/>
        </p:nvSpPr>
        <p:spPr>
          <a:xfrm>
            <a:off x="192860" y="2129142"/>
            <a:ext cx="1963571" cy="1014987"/>
          </a:xfrm>
          <a:prstGeom prst="rect">
            <a:avLst/>
          </a:prstGeom>
          <a:solidFill>
            <a:schemeClr val="accent3">
              <a:lumMod val="40000"/>
              <a:lumOff val="60000"/>
            </a:schemeClr>
          </a:solidFill>
          <a:ln>
            <a:solidFill>
              <a:schemeClr val="tx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 name="Rectangle 5">
            <a:extLst>
              <a:ext uri="{FF2B5EF4-FFF2-40B4-BE49-F238E27FC236}">
                <a16:creationId xmlns:a16="http://schemas.microsoft.com/office/drawing/2014/main" id="{B1D34F98-44B1-DB41-3F77-CF76D0D17107}"/>
              </a:ext>
            </a:extLst>
          </p:cNvPr>
          <p:cNvSpPr/>
          <p:nvPr/>
        </p:nvSpPr>
        <p:spPr>
          <a:xfrm>
            <a:off x="714293" y="2713480"/>
            <a:ext cx="914400" cy="276999"/>
          </a:xfrm>
          <a:prstGeom prst="rect">
            <a:avLst/>
          </a:prstGeom>
          <a:solidFill>
            <a:schemeClr val="tx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 name="TextBox 7">
            <a:extLst>
              <a:ext uri="{FF2B5EF4-FFF2-40B4-BE49-F238E27FC236}">
                <a16:creationId xmlns:a16="http://schemas.microsoft.com/office/drawing/2014/main" id="{1FDFFBDD-4755-D7E8-B6A6-9AB4DC368ACB}"/>
              </a:ext>
            </a:extLst>
          </p:cNvPr>
          <p:cNvSpPr txBox="1"/>
          <p:nvPr/>
        </p:nvSpPr>
        <p:spPr>
          <a:xfrm>
            <a:off x="714292" y="2713480"/>
            <a:ext cx="91439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200" err="1"/>
              <a:t>ZigZag</a:t>
            </a:r>
            <a:endParaRPr lang="en-GB" sz="1200"/>
          </a:p>
        </p:txBody>
      </p:sp>
      <p:sp>
        <p:nvSpPr>
          <p:cNvPr id="9" name="TextBox 8">
            <a:extLst>
              <a:ext uri="{FF2B5EF4-FFF2-40B4-BE49-F238E27FC236}">
                <a16:creationId xmlns:a16="http://schemas.microsoft.com/office/drawing/2014/main" id="{8DC60B60-BC24-EA44-B9C5-A54E53A61CE2}"/>
              </a:ext>
            </a:extLst>
          </p:cNvPr>
          <p:cNvSpPr txBox="1"/>
          <p:nvPr/>
        </p:nvSpPr>
        <p:spPr>
          <a:xfrm>
            <a:off x="335735" y="2172261"/>
            <a:ext cx="16753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200" dirty="0"/>
              <a:t>Event driven core modelling</a:t>
            </a:r>
          </a:p>
        </p:txBody>
      </p:sp>
      <p:sp>
        <p:nvSpPr>
          <p:cNvPr id="5" name="Rectangle 4">
            <a:extLst>
              <a:ext uri="{FF2B5EF4-FFF2-40B4-BE49-F238E27FC236}">
                <a16:creationId xmlns:a16="http://schemas.microsoft.com/office/drawing/2014/main" id="{CDBCDAAD-E7F4-9951-F93E-98DB61CF2473}"/>
              </a:ext>
            </a:extLst>
          </p:cNvPr>
          <p:cNvSpPr/>
          <p:nvPr/>
        </p:nvSpPr>
        <p:spPr>
          <a:xfrm>
            <a:off x="3202939" y="1926543"/>
            <a:ext cx="3228535" cy="2560479"/>
          </a:xfrm>
          <a:prstGeom prst="rect">
            <a:avLst/>
          </a:prstGeom>
          <a:solidFill>
            <a:schemeClr val="tx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10" name="Rectangle 9">
            <a:extLst>
              <a:ext uri="{FF2B5EF4-FFF2-40B4-BE49-F238E27FC236}">
                <a16:creationId xmlns:a16="http://schemas.microsoft.com/office/drawing/2014/main" id="{A7E02785-6D4D-2AD3-295B-C4CEE47BAEF7}"/>
              </a:ext>
            </a:extLst>
          </p:cNvPr>
          <p:cNvSpPr/>
          <p:nvPr/>
        </p:nvSpPr>
        <p:spPr>
          <a:xfrm>
            <a:off x="3315480" y="2041199"/>
            <a:ext cx="1083213" cy="604911"/>
          </a:xfrm>
          <a:prstGeom prst="rect">
            <a:avLst/>
          </a:prstGeom>
          <a:solidFill>
            <a:srgbClr val="FFFF8C"/>
          </a:solidFill>
          <a:ln>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11" name="Rectangle 10">
            <a:extLst>
              <a:ext uri="{FF2B5EF4-FFF2-40B4-BE49-F238E27FC236}">
                <a16:creationId xmlns:a16="http://schemas.microsoft.com/office/drawing/2014/main" id="{241C730E-7E2F-2EAC-5611-A68E79142EB5}"/>
              </a:ext>
            </a:extLst>
          </p:cNvPr>
          <p:cNvSpPr/>
          <p:nvPr/>
        </p:nvSpPr>
        <p:spPr>
          <a:xfrm>
            <a:off x="4473805" y="2019425"/>
            <a:ext cx="1896628" cy="604911"/>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12" name="Rectangle 11">
            <a:extLst>
              <a:ext uri="{FF2B5EF4-FFF2-40B4-BE49-F238E27FC236}">
                <a16:creationId xmlns:a16="http://schemas.microsoft.com/office/drawing/2014/main" id="{D4A55F51-EB55-C663-6BAB-BE615F06C4F5}"/>
              </a:ext>
            </a:extLst>
          </p:cNvPr>
          <p:cNvSpPr/>
          <p:nvPr/>
        </p:nvSpPr>
        <p:spPr>
          <a:xfrm>
            <a:off x="3315480" y="2807131"/>
            <a:ext cx="3066982" cy="704969"/>
          </a:xfrm>
          <a:prstGeom prst="rect">
            <a:avLst/>
          </a:prstGeom>
          <a:solidFill>
            <a:srgbClr val="FCA9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b="1"/>
          </a:p>
        </p:txBody>
      </p:sp>
      <p:sp>
        <p:nvSpPr>
          <p:cNvPr id="13" name="Rectangle 12">
            <a:extLst>
              <a:ext uri="{FF2B5EF4-FFF2-40B4-BE49-F238E27FC236}">
                <a16:creationId xmlns:a16="http://schemas.microsoft.com/office/drawing/2014/main" id="{28A062E7-0946-D1E4-C568-65137B7E6F1A}"/>
              </a:ext>
            </a:extLst>
          </p:cNvPr>
          <p:cNvSpPr/>
          <p:nvPr/>
        </p:nvSpPr>
        <p:spPr>
          <a:xfrm>
            <a:off x="192860" y="3434441"/>
            <a:ext cx="1961148" cy="1014458"/>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GB" sz="1200" b="1" u="sng" dirty="0">
                <a:solidFill>
                  <a:schemeClr val="tx1">
                    <a:lumMod val="50000"/>
                  </a:schemeClr>
                </a:solidFill>
              </a:rPr>
              <a:t>Inputs: </a:t>
            </a:r>
            <a:br>
              <a:rPr lang="en-GB" sz="1200" dirty="0">
                <a:solidFill>
                  <a:schemeClr val="tx1">
                    <a:lumMod val="50000"/>
                  </a:schemeClr>
                </a:solidFill>
              </a:rPr>
            </a:br>
            <a:r>
              <a:rPr lang="en-GB" sz="1200" dirty="0">
                <a:solidFill>
                  <a:schemeClr val="tx1">
                    <a:lumMod val="50000"/>
                  </a:schemeClr>
                </a:solidFill>
              </a:rPr>
              <a:t>1. High level Architecture Representation</a:t>
            </a:r>
          </a:p>
          <a:p>
            <a:r>
              <a:rPr lang="en-GB" sz="1200" dirty="0">
                <a:solidFill>
                  <a:schemeClr val="tx1">
                    <a:lumMod val="50000"/>
                  </a:schemeClr>
                </a:solidFill>
              </a:rPr>
              <a:t>2.Model configuration</a:t>
            </a:r>
          </a:p>
          <a:p>
            <a:r>
              <a:rPr lang="en-GB" sz="1200" dirty="0">
                <a:solidFill>
                  <a:schemeClr val="tx1">
                    <a:lumMod val="50000"/>
                  </a:schemeClr>
                </a:solidFill>
              </a:rPr>
              <a:t>3.Mapping constraints</a:t>
            </a:r>
            <a:endParaRPr lang="en-IN" sz="1200" dirty="0">
              <a:solidFill>
                <a:schemeClr val="tx1">
                  <a:lumMod val="50000"/>
                </a:schemeClr>
              </a:solidFill>
            </a:endParaRPr>
          </a:p>
        </p:txBody>
      </p:sp>
      <p:sp>
        <p:nvSpPr>
          <p:cNvPr id="19" name="Rectangle: Rounded Corners 18">
            <a:extLst>
              <a:ext uri="{FF2B5EF4-FFF2-40B4-BE49-F238E27FC236}">
                <a16:creationId xmlns:a16="http://schemas.microsoft.com/office/drawing/2014/main" id="{D157FEF5-63CC-781B-BD0B-205A4E484458}"/>
              </a:ext>
            </a:extLst>
          </p:cNvPr>
          <p:cNvSpPr/>
          <p:nvPr/>
        </p:nvSpPr>
        <p:spPr>
          <a:xfrm>
            <a:off x="3744657" y="3634893"/>
            <a:ext cx="2208628" cy="801859"/>
          </a:xfrm>
          <a:prstGeom prst="roundRect">
            <a:avLst/>
          </a:prstGeom>
          <a:solidFill>
            <a:srgbClr val="FFD7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buAutoNum type="alphaLcPeriod"/>
            </a:pPr>
            <a:r>
              <a:rPr lang="en-GB" sz="1200" dirty="0">
                <a:solidFill>
                  <a:schemeClr val="tx1">
                    <a:lumMod val="50000"/>
                  </a:schemeClr>
                </a:solidFill>
              </a:rPr>
              <a:t>Single core spatial and temporal mapping</a:t>
            </a:r>
          </a:p>
          <a:p>
            <a:pPr marL="342900" indent="-342900">
              <a:buAutoNum type="alphaLcPeriod"/>
            </a:pPr>
            <a:r>
              <a:rPr lang="en-GB" sz="1200" dirty="0">
                <a:solidFill>
                  <a:schemeClr val="tx1">
                    <a:lumMod val="50000"/>
                  </a:schemeClr>
                </a:solidFill>
              </a:rPr>
              <a:t>Technology dependent and independent stats</a:t>
            </a:r>
            <a:endParaRPr lang="en-IN" sz="1200" dirty="0">
              <a:solidFill>
                <a:schemeClr val="tx1">
                  <a:lumMod val="50000"/>
                </a:schemeClr>
              </a:solidFill>
            </a:endParaRPr>
          </a:p>
        </p:txBody>
      </p:sp>
      <p:sp>
        <p:nvSpPr>
          <p:cNvPr id="20" name="TextBox 19">
            <a:extLst>
              <a:ext uri="{FF2B5EF4-FFF2-40B4-BE49-F238E27FC236}">
                <a16:creationId xmlns:a16="http://schemas.microsoft.com/office/drawing/2014/main" id="{D358797F-B2C4-92B5-6B37-BCC181E7D088}"/>
              </a:ext>
            </a:extLst>
          </p:cNvPr>
          <p:cNvSpPr txBox="1"/>
          <p:nvPr/>
        </p:nvSpPr>
        <p:spPr>
          <a:xfrm>
            <a:off x="3290081" y="2102443"/>
            <a:ext cx="1115648" cy="523220"/>
          </a:xfrm>
          <a:prstGeom prst="rect">
            <a:avLst/>
          </a:prstGeom>
          <a:noFill/>
        </p:spPr>
        <p:txBody>
          <a:bodyPr wrap="square" lIns="91440" tIns="45720" rIns="91440" bIns="45720" rtlCol="0" anchor="t">
            <a:spAutoFit/>
          </a:bodyPr>
          <a:lstStyle/>
          <a:p>
            <a:pPr algn="ctr"/>
            <a:r>
              <a:rPr lang="en-GB" sz="1400" dirty="0"/>
              <a:t>Architecture</a:t>
            </a:r>
            <a:br>
              <a:rPr lang="en-GB" sz="1400" dirty="0"/>
            </a:br>
            <a:r>
              <a:rPr lang="en-GB" sz="1400" dirty="0"/>
              <a:t>Generator</a:t>
            </a:r>
            <a:endParaRPr lang="en-IN" sz="1400" dirty="0"/>
          </a:p>
        </p:txBody>
      </p:sp>
      <p:sp>
        <p:nvSpPr>
          <p:cNvPr id="21" name="TextBox 20">
            <a:extLst>
              <a:ext uri="{FF2B5EF4-FFF2-40B4-BE49-F238E27FC236}">
                <a16:creationId xmlns:a16="http://schemas.microsoft.com/office/drawing/2014/main" id="{ECD99596-AB2B-0AB7-23D1-EB13D33701F5}"/>
              </a:ext>
            </a:extLst>
          </p:cNvPr>
          <p:cNvSpPr txBox="1"/>
          <p:nvPr/>
        </p:nvSpPr>
        <p:spPr>
          <a:xfrm>
            <a:off x="4486683" y="2169566"/>
            <a:ext cx="1889593" cy="307777"/>
          </a:xfrm>
          <a:prstGeom prst="rect">
            <a:avLst/>
          </a:prstGeom>
          <a:noFill/>
        </p:spPr>
        <p:txBody>
          <a:bodyPr wrap="square" lIns="91440" tIns="45720" rIns="91440" bIns="45720" rtlCol="0" anchor="t">
            <a:spAutoFit/>
          </a:bodyPr>
          <a:lstStyle/>
          <a:p>
            <a:pPr algn="ctr"/>
            <a:r>
              <a:rPr lang="en-GB" sz="1400" dirty="0"/>
              <a:t>Mapping Search Engines</a:t>
            </a:r>
            <a:endParaRPr lang="en-IN" sz="1400" dirty="0"/>
          </a:p>
        </p:txBody>
      </p:sp>
      <p:sp>
        <p:nvSpPr>
          <p:cNvPr id="22" name="TextBox 21">
            <a:extLst>
              <a:ext uri="{FF2B5EF4-FFF2-40B4-BE49-F238E27FC236}">
                <a16:creationId xmlns:a16="http://schemas.microsoft.com/office/drawing/2014/main" id="{510C2A48-F76A-24B6-D3EB-DEEBDAD38848}"/>
              </a:ext>
            </a:extLst>
          </p:cNvPr>
          <p:cNvSpPr txBox="1"/>
          <p:nvPr/>
        </p:nvSpPr>
        <p:spPr>
          <a:xfrm>
            <a:off x="3315480" y="2969372"/>
            <a:ext cx="3066982" cy="307777"/>
          </a:xfrm>
          <a:prstGeom prst="rect">
            <a:avLst/>
          </a:prstGeom>
          <a:noFill/>
        </p:spPr>
        <p:txBody>
          <a:bodyPr wrap="square" lIns="91440" tIns="45720" rIns="91440" bIns="45720" rtlCol="0" anchor="t">
            <a:spAutoFit/>
          </a:bodyPr>
          <a:lstStyle/>
          <a:p>
            <a:pPr algn="ctr"/>
            <a:r>
              <a:rPr lang="en-GB" sz="1400" dirty="0"/>
              <a:t>Hardware Cost Estimators</a:t>
            </a:r>
            <a:endParaRPr lang="en-IN" sz="1400" dirty="0"/>
          </a:p>
        </p:txBody>
      </p:sp>
      <p:cxnSp>
        <p:nvCxnSpPr>
          <p:cNvPr id="24" name="Straight Arrow Connector 23">
            <a:extLst>
              <a:ext uri="{FF2B5EF4-FFF2-40B4-BE49-F238E27FC236}">
                <a16:creationId xmlns:a16="http://schemas.microsoft.com/office/drawing/2014/main" id="{E51F69ED-25EA-E8D1-DC39-FAECEDADE012}"/>
              </a:ext>
            </a:extLst>
          </p:cNvPr>
          <p:cNvCxnSpPr>
            <a:stCxn id="11" idx="2"/>
            <a:endCxn id="12" idx="0"/>
          </p:cNvCxnSpPr>
          <p:nvPr/>
        </p:nvCxnSpPr>
        <p:spPr>
          <a:xfrm rot="5400000">
            <a:off x="5044148" y="2429159"/>
            <a:ext cx="182795" cy="573148"/>
          </a:xfrm>
          <a:prstGeom prst="bentConnector3">
            <a:avLst>
              <a:gd name="adj1" fmla="val 50000"/>
            </a:avLst>
          </a:prstGeom>
          <a:ln w="3175" cmpd="sng">
            <a:solidFill>
              <a:schemeClr val="bg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A8E16760-49B6-6E80-4B28-BA6A275E66CD}"/>
              </a:ext>
            </a:extLst>
          </p:cNvPr>
          <p:cNvCxnSpPr>
            <a:stCxn id="10" idx="2"/>
            <a:endCxn id="12" idx="0"/>
          </p:cNvCxnSpPr>
          <p:nvPr/>
        </p:nvCxnSpPr>
        <p:spPr>
          <a:xfrm rot="16200000" flipH="1">
            <a:off x="4272519" y="2230678"/>
            <a:ext cx="161021" cy="991884"/>
          </a:xfrm>
          <a:prstGeom prst="bentConnector3">
            <a:avLst>
              <a:gd name="adj1" fmla="val 50000"/>
            </a:avLst>
          </a:prstGeom>
          <a:ln w="3175" cmpd="sng">
            <a:solidFill>
              <a:schemeClr val="bg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620B37A-D915-BEBF-5E45-F10213B88372}"/>
              </a:ext>
            </a:extLst>
          </p:cNvPr>
          <p:cNvCxnSpPr>
            <a:stCxn id="12" idx="2"/>
            <a:endCxn id="19" idx="0"/>
          </p:cNvCxnSpPr>
          <p:nvPr/>
        </p:nvCxnSpPr>
        <p:spPr>
          <a:xfrm>
            <a:off x="4848971" y="3512100"/>
            <a:ext cx="0" cy="122793"/>
          </a:xfrm>
          <a:prstGeom prst="straightConnector1">
            <a:avLst/>
          </a:prstGeom>
          <a:ln w="31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98C5EF25-5C31-1303-D6C5-4FAC18D5A7B3}"/>
              </a:ext>
            </a:extLst>
          </p:cNvPr>
          <p:cNvCxnSpPr>
            <a:cxnSpLocks/>
            <a:stCxn id="12" idx="2"/>
            <a:endCxn id="19" idx="0"/>
          </p:cNvCxnSpPr>
          <p:nvPr/>
        </p:nvCxnSpPr>
        <p:spPr>
          <a:xfrm>
            <a:off x="4848971" y="3512100"/>
            <a:ext cx="0" cy="122793"/>
          </a:xfrm>
          <a:prstGeom prst="straightConnector1">
            <a:avLst/>
          </a:prstGeom>
          <a:ln w="3175" cmpd="sng">
            <a:solidFill>
              <a:schemeClr val="bg1"/>
            </a:solidFill>
            <a:tailEnd type="triangle"/>
          </a:ln>
          <a:effectLst/>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D20D196D-D010-6E92-F034-040B444DB344}"/>
              </a:ext>
            </a:extLst>
          </p:cNvPr>
          <p:cNvSpPr/>
          <p:nvPr/>
        </p:nvSpPr>
        <p:spPr>
          <a:xfrm>
            <a:off x="6882362" y="1870947"/>
            <a:ext cx="1256822" cy="2560479"/>
          </a:xfrm>
          <a:prstGeom prst="rect">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43" name="Rectangle 42">
            <a:extLst>
              <a:ext uri="{FF2B5EF4-FFF2-40B4-BE49-F238E27FC236}">
                <a16:creationId xmlns:a16="http://schemas.microsoft.com/office/drawing/2014/main" id="{3ED4E93F-CA1F-DBD7-C6B9-D8B5478BA8C5}"/>
              </a:ext>
            </a:extLst>
          </p:cNvPr>
          <p:cNvSpPr/>
          <p:nvPr/>
        </p:nvSpPr>
        <p:spPr>
          <a:xfrm>
            <a:off x="6945169" y="1987436"/>
            <a:ext cx="1131208" cy="739184"/>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solidFill>
                  <a:schemeClr val="tx1">
                    <a:lumMod val="50000"/>
                  </a:schemeClr>
                </a:solidFill>
              </a:rPr>
              <a:t>Mapping space generation</a:t>
            </a:r>
          </a:p>
        </p:txBody>
      </p:sp>
      <p:sp>
        <p:nvSpPr>
          <p:cNvPr id="44" name="Rectangle 43">
            <a:extLst>
              <a:ext uri="{FF2B5EF4-FFF2-40B4-BE49-F238E27FC236}">
                <a16:creationId xmlns:a16="http://schemas.microsoft.com/office/drawing/2014/main" id="{FBA81943-EA7B-388B-E2C8-76997FC764EB}"/>
              </a:ext>
            </a:extLst>
          </p:cNvPr>
          <p:cNvSpPr/>
          <p:nvPr/>
        </p:nvSpPr>
        <p:spPr>
          <a:xfrm>
            <a:off x="6945169" y="3731837"/>
            <a:ext cx="1131208" cy="64063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solidFill>
                  <a:schemeClr val="tx1">
                    <a:lumMod val="50000"/>
                  </a:schemeClr>
                </a:solidFill>
              </a:rPr>
              <a:t>Analytical cost model</a:t>
            </a:r>
          </a:p>
        </p:txBody>
      </p:sp>
      <p:sp>
        <p:nvSpPr>
          <p:cNvPr id="45" name="Plus Sign 44">
            <a:extLst>
              <a:ext uri="{FF2B5EF4-FFF2-40B4-BE49-F238E27FC236}">
                <a16:creationId xmlns:a16="http://schemas.microsoft.com/office/drawing/2014/main" id="{9F6BA2E9-C25E-562D-6F78-A032C98DA300}"/>
              </a:ext>
            </a:extLst>
          </p:cNvPr>
          <p:cNvSpPr/>
          <p:nvPr/>
        </p:nvSpPr>
        <p:spPr>
          <a:xfrm>
            <a:off x="6507288" y="3078967"/>
            <a:ext cx="298649" cy="312555"/>
          </a:xfrm>
          <a:prstGeom prst="mathPlus">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47" name="TextBox 46">
            <a:extLst>
              <a:ext uri="{FF2B5EF4-FFF2-40B4-BE49-F238E27FC236}">
                <a16:creationId xmlns:a16="http://schemas.microsoft.com/office/drawing/2014/main" id="{9038BA26-6B19-72C2-B941-4526690B8017}"/>
              </a:ext>
            </a:extLst>
          </p:cNvPr>
          <p:cNvSpPr txBox="1"/>
          <p:nvPr/>
        </p:nvSpPr>
        <p:spPr>
          <a:xfrm>
            <a:off x="161647" y="4584760"/>
            <a:ext cx="8340563" cy="430887"/>
          </a:xfrm>
          <a:prstGeom prst="rect">
            <a:avLst/>
          </a:prstGeom>
          <a:noFill/>
        </p:spPr>
        <p:txBody>
          <a:bodyPr wrap="square" rtlCol="0">
            <a:spAutoFit/>
          </a:bodyPr>
          <a:lstStyle/>
          <a:p>
            <a:r>
              <a:rPr lang="en-US" sz="1000" err="1">
                <a:solidFill>
                  <a:schemeClr val="bg2">
                    <a:lumMod val="60000"/>
                    <a:lumOff val="40000"/>
                  </a:schemeClr>
                </a:solidFill>
              </a:rPr>
              <a:t>ZigZag</a:t>
            </a:r>
            <a:r>
              <a:rPr lang="en-US" sz="1000">
                <a:solidFill>
                  <a:schemeClr val="bg2">
                    <a:lumMod val="60000"/>
                    <a:lumOff val="40000"/>
                  </a:schemeClr>
                </a:solidFill>
              </a:rPr>
              <a:t>: A Memory-Centric Rapid DNN Accelerator Design Space Exploration Framework</a:t>
            </a:r>
          </a:p>
          <a:p>
            <a:endParaRPr lang="en-IN" sz="1200"/>
          </a:p>
        </p:txBody>
      </p:sp>
      <p:sp>
        <p:nvSpPr>
          <p:cNvPr id="48" name="Arrow: Right 47">
            <a:extLst>
              <a:ext uri="{FF2B5EF4-FFF2-40B4-BE49-F238E27FC236}">
                <a16:creationId xmlns:a16="http://schemas.microsoft.com/office/drawing/2014/main" id="{76EA094C-1C34-1CAA-09CE-DA4177FAE8BA}"/>
              </a:ext>
            </a:extLst>
          </p:cNvPr>
          <p:cNvSpPr/>
          <p:nvPr/>
        </p:nvSpPr>
        <p:spPr>
          <a:xfrm>
            <a:off x="8666314" y="3031411"/>
            <a:ext cx="953174" cy="352485"/>
          </a:xfrm>
          <a:prstGeom prst="rightArrow">
            <a:avLst/>
          </a:prstGeom>
          <a:solidFill>
            <a:schemeClr val="accent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49" name="Rectangle 48">
            <a:extLst>
              <a:ext uri="{FF2B5EF4-FFF2-40B4-BE49-F238E27FC236}">
                <a16:creationId xmlns:a16="http://schemas.microsoft.com/office/drawing/2014/main" id="{BF96754C-FA8A-A4F0-B14C-03485F32AD9B}"/>
              </a:ext>
            </a:extLst>
          </p:cNvPr>
          <p:cNvSpPr/>
          <p:nvPr/>
        </p:nvSpPr>
        <p:spPr>
          <a:xfrm>
            <a:off x="3110400" y="1792800"/>
            <a:ext cx="5126400" cy="2791960"/>
          </a:xfrm>
          <a:prstGeom prst="rect">
            <a:avLst/>
          </a:prstGeom>
          <a:noFill/>
          <a:ln>
            <a:solidFill>
              <a:schemeClr val="tx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cxnSp>
        <p:nvCxnSpPr>
          <p:cNvPr id="51" name="Straight Connector 50">
            <a:extLst>
              <a:ext uri="{FF2B5EF4-FFF2-40B4-BE49-F238E27FC236}">
                <a16:creationId xmlns:a16="http://schemas.microsoft.com/office/drawing/2014/main" id="{0D58E40F-D3E2-CA5F-932E-AA65E4A4C611}"/>
              </a:ext>
            </a:extLst>
          </p:cNvPr>
          <p:cNvCxnSpPr/>
          <p:nvPr/>
        </p:nvCxnSpPr>
        <p:spPr>
          <a:xfrm flipV="1">
            <a:off x="2154008" y="1792800"/>
            <a:ext cx="956392" cy="336342"/>
          </a:xfrm>
          <a:prstGeom prst="line">
            <a:avLst/>
          </a:prstGeom>
          <a:ln/>
        </p:spPr>
        <p:style>
          <a:lnRef idx="2">
            <a:schemeClr val="dk1"/>
          </a:lnRef>
          <a:fillRef idx="0">
            <a:schemeClr val="dk1"/>
          </a:fillRef>
          <a:effectRef idx="1">
            <a:schemeClr val="dk1"/>
          </a:effectRef>
          <a:fontRef idx="minor">
            <a:schemeClr val="tx1"/>
          </a:fontRef>
        </p:style>
      </p:cxnSp>
      <p:cxnSp>
        <p:nvCxnSpPr>
          <p:cNvPr id="53" name="Straight Connector 52">
            <a:extLst>
              <a:ext uri="{FF2B5EF4-FFF2-40B4-BE49-F238E27FC236}">
                <a16:creationId xmlns:a16="http://schemas.microsoft.com/office/drawing/2014/main" id="{2240D610-FAE2-3C5A-43B5-7F991773367C}"/>
              </a:ext>
            </a:extLst>
          </p:cNvPr>
          <p:cNvCxnSpPr/>
          <p:nvPr/>
        </p:nvCxnSpPr>
        <p:spPr>
          <a:xfrm>
            <a:off x="2154008" y="3144129"/>
            <a:ext cx="956392" cy="1440631"/>
          </a:xfrm>
          <a:prstGeom prst="line">
            <a:avLst/>
          </a:prstGeom>
          <a:ln/>
        </p:spPr>
        <p:style>
          <a:lnRef idx="2">
            <a:schemeClr val="dk1"/>
          </a:lnRef>
          <a:fillRef idx="0">
            <a:schemeClr val="dk1"/>
          </a:fillRef>
          <a:effectRef idx="1">
            <a:schemeClr val="dk1"/>
          </a:effectRef>
          <a:fontRef idx="minor">
            <a:schemeClr val="tx1"/>
          </a:fontRef>
        </p:style>
      </p:cxnSp>
      <p:sp>
        <p:nvSpPr>
          <p:cNvPr id="14" name="Rectangle 13">
            <a:extLst>
              <a:ext uri="{FF2B5EF4-FFF2-40B4-BE49-F238E27FC236}">
                <a16:creationId xmlns:a16="http://schemas.microsoft.com/office/drawing/2014/main" id="{D0C5AA73-77EB-F41A-BBE7-C85663D99A17}"/>
              </a:ext>
            </a:extLst>
          </p:cNvPr>
          <p:cNvSpPr/>
          <p:nvPr/>
        </p:nvSpPr>
        <p:spPr>
          <a:xfrm>
            <a:off x="6945169" y="2893007"/>
            <a:ext cx="1131208" cy="702573"/>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solidFill>
                  <a:schemeClr val="tx1">
                    <a:lumMod val="50000"/>
                  </a:schemeClr>
                </a:solidFill>
              </a:rPr>
              <a:t>Mapping search Engine </a:t>
            </a:r>
          </a:p>
        </p:txBody>
      </p:sp>
      <p:sp>
        <p:nvSpPr>
          <p:cNvPr id="15" name="Text Placeholder 4">
            <a:extLst>
              <a:ext uri="{FF2B5EF4-FFF2-40B4-BE49-F238E27FC236}">
                <a16:creationId xmlns:a16="http://schemas.microsoft.com/office/drawing/2014/main" id="{57AA3E90-3F88-9DD1-41F9-8828BD3C1CF3}"/>
              </a:ext>
            </a:extLst>
          </p:cNvPr>
          <p:cNvSpPr>
            <a:spLocks noGrp="1"/>
          </p:cNvSpPr>
          <p:nvPr>
            <p:ph type="body" sz="quarter" idx="13"/>
          </p:nvPr>
        </p:nvSpPr>
        <p:spPr>
          <a:xfrm>
            <a:off x="160630" y="576315"/>
            <a:ext cx="8753475" cy="369332"/>
          </a:xfrm>
        </p:spPr>
        <p:txBody>
          <a:bodyPr/>
          <a:lstStyle/>
          <a:p>
            <a:r>
              <a:rPr lang="en-US" dirty="0"/>
              <a:t>Component Reuse and Novel Contributions</a:t>
            </a:r>
            <a:endParaRPr lang="en-GB" dirty="0"/>
          </a:p>
        </p:txBody>
      </p:sp>
    </p:spTree>
    <p:extLst>
      <p:ext uri="{BB962C8B-B14F-4D97-AF65-F5344CB8AC3E}">
        <p14:creationId xmlns:p14="http://schemas.microsoft.com/office/powerpoint/2010/main" val="3270541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fade">
                                      <p:cBhvr>
                                        <p:cTn id="12" dur="500"/>
                                        <p:tgtEl>
                                          <p:spTgt spid="53"/>
                                        </p:tgtEl>
                                      </p:cBhvr>
                                    </p:animEffect>
                                  </p:childTnLst>
                                </p:cTn>
                              </p:par>
                              <p:par>
                                <p:cTn id="13" presetID="10" presetClass="entr" presetSubtype="0" fill="hold" nodeType="with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fade">
                                      <p:cBhvr>
                                        <p:cTn id="15" dur="500"/>
                                        <p:tgtEl>
                                          <p:spTgt spid="5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fade">
                                      <p:cBhvr>
                                        <p:cTn id="18" dur="500"/>
                                        <p:tgtEl>
                                          <p:spTgt spid="4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par>
                                <p:cTn id="37" presetID="10"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par>
                                <p:cTn id="40" presetID="10"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par>
                                <p:cTn id="43" presetID="10"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500"/>
                                        <p:tgtEl>
                                          <p:spTgt spid="28"/>
                                        </p:tgtEl>
                                      </p:cBhvr>
                                    </p:animEffect>
                                  </p:childTnLst>
                                </p:cTn>
                              </p:par>
                              <p:par>
                                <p:cTn id="46" presetID="10" presetClass="entr" presetSubtype="0" fill="hold"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500"/>
                                        <p:tgtEl>
                                          <p:spTgt spid="3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fade">
                                      <p:cBhvr>
                                        <p:cTn id="51" dur="500"/>
                                        <p:tgtEl>
                                          <p:spTgt spid="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5"/>
                                        </p:tgtEl>
                                        <p:attrNameLst>
                                          <p:attrName>style.visibility</p:attrName>
                                        </p:attrNameLst>
                                      </p:cBhvr>
                                      <p:to>
                                        <p:strVal val="visible"/>
                                      </p:to>
                                    </p:set>
                                    <p:animEffect transition="in" filter="fade">
                                      <p:cBhvr>
                                        <p:cTn id="59" dur="500"/>
                                        <p:tgtEl>
                                          <p:spTgt spid="4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fade">
                                      <p:cBhvr>
                                        <p:cTn id="62" dur="500"/>
                                        <p:tgtEl>
                                          <p:spTgt spid="4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4"/>
                                        </p:tgtEl>
                                        <p:attrNameLst>
                                          <p:attrName>style.visibility</p:attrName>
                                        </p:attrNameLst>
                                      </p:cBhvr>
                                      <p:to>
                                        <p:strVal val="visible"/>
                                      </p:to>
                                    </p:set>
                                    <p:animEffect transition="in" filter="fade">
                                      <p:cBhvr>
                                        <p:cTn id="65" dur="500"/>
                                        <p:tgtEl>
                                          <p:spTgt spid="4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fade">
                                      <p:cBhvr>
                                        <p:cTn id="7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1" grpId="0" animBg="1"/>
      <p:bldP spid="12" grpId="0" animBg="1"/>
      <p:bldP spid="13" grpId="0" animBg="1"/>
      <p:bldP spid="19" grpId="0" animBg="1"/>
      <p:bldP spid="20" grpId="0"/>
      <p:bldP spid="21" grpId="0"/>
      <p:bldP spid="22" grpId="0"/>
      <p:bldP spid="39" grpId="0" animBg="1"/>
      <p:bldP spid="43" grpId="0" animBg="1"/>
      <p:bldP spid="44" grpId="0" animBg="1"/>
      <p:bldP spid="45" grpId="0" animBg="1"/>
      <p:bldP spid="49" grpId="0" animBg="1"/>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3982E-4D38-7121-8BF5-E090DECBD3A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94691C5-DB5F-171F-7B9F-31FAC602575C}"/>
              </a:ext>
            </a:extLst>
          </p:cNvPr>
          <p:cNvSpPr>
            <a:spLocks noGrp="1"/>
          </p:cNvSpPr>
          <p:nvPr>
            <p:ph type="sldNum" sz="quarter" idx="12"/>
          </p:nvPr>
        </p:nvSpPr>
        <p:spPr/>
        <p:txBody>
          <a:bodyPr/>
          <a:lstStyle/>
          <a:p>
            <a:fld id="{8836216C-5BC3-7C44-80F8-E30864FFC228}" type="slidenum">
              <a:rPr lang="en-US" smtClean="0"/>
              <a:t>32</a:t>
            </a:fld>
            <a:endParaRPr lang="en-US"/>
          </a:p>
        </p:txBody>
      </p:sp>
      <p:sp>
        <p:nvSpPr>
          <p:cNvPr id="14" name="Arrow: Right 13">
            <a:extLst>
              <a:ext uri="{FF2B5EF4-FFF2-40B4-BE49-F238E27FC236}">
                <a16:creationId xmlns:a16="http://schemas.microsoft.com/office/drawing/2014/main" id="{9DD6251E-DD02-D74B-72C5-8E0136486501}"/>
              </a:ext>
            </a:extLst>
          </p:cNvPr>
          <p:cNvSpPr/>
          <p:nvPr/>
        </p:nvSpPr>
        <p:spPr>
          <a:xfrm>
            <a:off x="-1" y="3045798"/>
            <a:ext cx="665280" cy="301977"/>
          </a:xfrm>
          <a:prstGeom prst="rightArrow">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27" name="Rectangle 26">
            <a:extLst>
              <a:ext uri="{FF2B5EF4-FFF2-40B4-BE49-F238E27FC236}">
                <a16:creationId xmlns:a16="http://schemas.microsoft.com/office/drawing/2014/main" id="{B88B1EF3-8F90-0DAF-40C2-A106646437CC}"/>
              </a:ext>
            </a:extLst>
          </p:cNvPr>
          <p:cNvSpPr/>
          <p:nvPr/>
        </p:nvSpPr>
        <p:spPr>
          <a:xfrm>
            <a:off x="665279" y="2014757"/>
            <a:ext cx="6716597" cy="2077754"/>
          </a:xfrm>
          <a:prstGeom prst="rect">
            <a:avLst/>
          </a:prstGeom>
          <a:noFill/>
          <a:ln>
            <a:solidFill>
              <a:schemeClr val="tx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32" name="Rectangle 31">
            <a:extLst>
              <a:ext uri="{FF2B5EF4-FFF2-40B4-BE49-F238E27FC236}">
                <a16:creationId xmlns:a16="http://schemas.microsoft.com/office/drawing/2014/main" id="{E82BBBB4-CF4A-50E6-9290-B63B809CE9D7}"/>
              </a:ext>
            </a:extLst>
          </p:cNvPr>
          <p:cNvSpPr/>
          <p:nvPr/>
        </p:nvSpPr>
        <p:spPr>
          <a:xfrm>
            <a:off x="4267714" y="2648776"/>
            <a:ext cx="1328782" cy="782470"/>
          </a:xfrm>
          <a:prstGeom prst="rect">
            <a:avLst/>
          </a:prstGeom>
          <a:solidFill>
            <a:schemeClr val="bg2">
              <a:lumMod val="60000"/>
              <a:lumOff val="40000"/>
            </a:schemeClr>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solidFill>
                  <a:srgbClr val="3C3C3B"/>
                </a:solidFill>
              </a:rPr>
              <a:t>Mapping Search block</a:t>
            </a:r>
          </a:p>
        </p:txBody>
      </p:sp>
      <p:sp>
        <p:nvSpPr>
          <p:cNvPr id="36" name="Rectangle 35">
            <a:extLst>
              <a:ext uri="{FF2B5EF4-FFF2-40B4-BE49-F238E27FC236}">
                <a16:creationId xmlns:a16="http://schemas.microsoft.com/office/drawing/2014/main" id="{09FA6DA6-32DE-139C-352C-B419AB902B31}"/>
              </a:ext>
            </a:extLst>
          </p:cNvPr>
          <p:cNvSpPr/>
          <p:nvPr/>
        </p:nvSpPr>
        <p:spPr>
          <a:xfrm>
            <a:off x="2590575" y="2648776"/>
            <a:ext cx="1328782" cy="782471"/>
          </a:xfrm>
          <a:prstGeom prst="rect">
            <a:avLst/>
          </a:prstGeom>
          <a:solidFill>
            <a:schemeClr val="bg2">
              <a:lumMod val="60000"/>
              <a:lumOff val="40000"/>
            </a:schemeClr>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solidFill>
                  <a:schemeClr val="tx1">
                    <a:lumMod val="50000"/>
                  </a:schemeClr>
                </a:solidFill>
              </a:rPr>
              <a:t>Mapping space generation</a:t>
            </a:r>
          </a:p>
        </p:txBody>
      </p:sp>
      <p:sp>
        <p:nvSpPr>
          <p:cNvPr id="38" name="Rectangle 37">
            <a:extLst>
              <a:ext uri="{FF2B5EF4-FFF2-40B4-BE49-F238E27FC236}">
                <a16:creationId xmlns:a16="http://schemas.microsoft.com/office/drawing/2014/main" id="{6CB55FE2-3A01-FF1C-C122-DD716348AE74}"/>
              </a:ext>
            </a:extLst>
          </p:cNvPr>
          <p:cNvSpPr/>
          <p:nvPr/>
        </p:nvSpPr>
        <p:spPr>
          <a:xfrm>
            <a:off x="467836" y="809753"/>
            <a:ext cx="1961148" cy="890058"/>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GB" sz="1000" b="1" u="sng">
                <a:solidFill>
                  <a:schemeClr val="tx1">
                    <a:lumMod val="50000"/>
                  </a:schemeClr>
                </a:solidFill>
              </a:rPr>
              <a:t>Inputs: </a:t>
            </a:r>
            <a:br>
              <a:rPr lang="en-GB" sz="1000">
                <a:solidFill>
                  <a:schemeClr val="tx1">
                    <a:lumMod val="50000"/>
                  </a:schemeClr>
                </a:solidFill>
              </a:rPr>
            </a:br>
            <a:r>
              <a:rPr lang="en-GB" sz="1000">
                <a:solidFill>
                  <a:schemeClr val="tx1">
                    <a:lumMod val="50000"/>
                  </a:schemeClr>
                </a:solidFill>
              </a:rPr>
              <a:t>1. High level Architecture Representation</a:t>
            </a:r>
          </a:p>
          <a:p>
            <a:r>
              <a:rPr lang="en-GB" sz="1000">
                <a:solidFill>
                  <a:schemeClr val="tx1">
                    <a:lumMod val="50000"/>
                  </a:schemeClr>
                </a:solidFill>
              </a:rPr>
              <a:t>2.Model configuration</a:t>
            </a:r>
          </a:p>
          <a:p>
            <a:r>
              <a:rPr lang="en-GB" sz="1000">
                <a:solidFill>
                  <a:schemeClr val="tx1">
                    <a:lumMod val="50000"/>
                  </a:schemeClr>
                </a:solidFill>
              </a:rPr>
              <a:t>3.Mapping constraints</a:t>
            </a:r>
            <a:endParaRPr lang="en-IN" sz="1000">
              <a:solidFill>
                <a:schemeClr val="tx1">
                  <a:lumMod val="50000"/>
                </a:schemeClr>
              </a:solidFill>
            </a:endParaRPr>
          </a:p>
        </p:txBody>
      </p:sp>
      <p:cxnSp>
        <p:nvCxnSpPr>
          <p:cNvPr id="49" name="Straight Arrow Connector 48">
            <a:extLst>
              <a:ext uri="{FF2B5EF4-FFF2-40B4-BE49-F238E27FC236}">
                <a16:creationId xmlns:a16="http://schemas.microsoft.com/office/drawing/2014/main" id="{6AAC4D0D-8568-05A9-BD35-5B4B7B5627DE}"/>
              </a:ext>
            </a:extLst>
          </p:cNvPr>
          <p:cNvCxnSpPr>
            <a:stCxn id="38" idx="2"/>
          </p:cNvCxnSpPr>
          <p:nvPr/>
        </p:nvCxnSpPr>
        <p:spPr>
          <a:xfrm>
            <a:off x="1448410" y="1699811"/>
            <a:ext cx="0" cy="314946"/>
          </a:xfrm>
          <a:prstGeom prst="straightConnector1">
            <a:avLst/>
          </a:prstGeom>
          <a:ln w="31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56" name="Rectangle 55">
            <a:extLst>
              <a:ext uri="{FF2B5EF4-FFF2-40B4-BE49-F238E27FC236}">
                <a16:creationId xmlns:a16="http://schemas.microsoft.com/office/drawing/2014/main" id="{82382927-7B1D-80EA-8837-4E619B979CA3}"/>
              </a:ext>
            </a:extLst>
          </p:cNvPr>
          <p:cNvSpPr/>
          <p:nvPr/>
        </p:nvSpPr>
        <p:spPr>
          <a:xfrm>
            <a:off x="5686530" y="60960"/>
            <a:ext cx="2672610" cy="890058"/>
          </a:xfrm>
          <a:prstGeom prst="rect">
            <a:avLst/>
          </a:prstGeom>
          <a:noFill/>
          <a:ln>
            <a:solidFill>
              <a:schemeClr val="tx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57" name="Rectangle 56">
            <a:extLst>
              <a:ext uri="{FF2B5EF4-FFF2-40B4-BE49-F238E27FC236}">
                <a16:creationId xmlns:a16="http://schemas.microsoft.com/office/drawing/2014/main" id="{1050E7A5-4E7C-1381-7371-C9E498C6F034}"/>
              </a:ext>
            </a:extLst>
          </p:cNvPr>
          <p:cNvSpPr/>
          <p:nvPr/>
        </p:nvSpPr>
        <p:spPr>
          <a:xfrm>
            <a:off x="5735054" y="181770"/>
            <a:ext cx="952697" cy="297180"/>
          </a:xfrm>
          <a:prstGeom prst="rect">
            <a:avLst/>
          </a:prstGeom>
          <a:noFill/>
          <a:ln>
            <a:solidFill>
              <a:schemeClr val="tx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58" name="Rectangle 57">
            <a:extLst>
              <a:ext uri="{FF2B5EF4-FFF2-40B4-BE49-F238E27FC236}">
                <a16:creationId xmlns:a16="http://schemas.microsoft.com/office/drawing/2014/main" id="{9798B402-6C82-8B89-A579-1C4773398E34}"/>
              </a:ext>
            </a:extLst>
          </p:cNvPr>
          <p:cNvSpPr/>
          <p:nvPr/>
        </p:nvSpPr>
        <p:spPr>
          <a:xfrm>
            <a:off x="5735054" y="599760"/>
            <a:ext cx="952697" cy="297180"/>
          </a:xfrm>
          <a:prstGeom prst="rect">
            <a:avLst/>
          </a:prstGeom>
          <a:solidFill>
            <a:schemeClr val="bg2">
              <a:lumMod val="60000"/>
              <a:lumOff val="40000"/>
            </a:schemeClr>
          </a:solidFill>
          <a:ln>
            <a:solidFill>
              <a:schemeClr val="tx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59" name="TextBox 58">
            <a:extLst>
              <a:ext uri="{FF2B5EF4-FFF2-40B4-BE49-F238E27FC236}">
                <a16:creationId xmlns:a16="http://schemas.microsoft.com/office/drawing/2014/main" id="{D17F60A4-0C5B-F139-281D-80537E6496FD}"/>
              </a:ext>
            </a:extLst>
          </p:cNvPr>
          <p:cNvSpPr txBox="1"/>
          <p:nvPr/>
        </p:nvSpPr>
        <p:spPr>
          <a:xfrm>
            <a:off x="6685693" y="181770"/>
            <a:ext cx="1670113" cy="276999"/>
          </a:xfrm>
          <a:prstGeom prst="rect">
            <a:avLst/>
          </a:prstGeom>
          <a:noFill/>
        </p:spPr>
        <p:txBody>
          <a:bodyPr wrap="square" lIns="91440" tIns="45720" rIns="91440" bIns="45720" rtlCol="0" anchor="t">
            <a:spAutoFit/>
          </a:bodyPr>
          <a:lstStyle/>
          <a:p>
            <a:pPr algn="ctr"/>
            <a:r>
              <a:rPr lang="en-GB" sz="1200"/>
              <a:t>Taken from Zigzag</a:t>
            </a:r>
            <a:endParaRPr lang="en-IN" sz="1200" err="1"/>
          </a:p>
        </p:txBody>
      </p:sp>
      <p:sp>
        <p:nvSpPr>
          <p:cNvPr id="60" name="TextBox 59">
            <a:extLst>
              <a:ext uri="{FF2B5EF4-FFF2-40B4-BE49-F238E27FC236}">
                <a16:creationId xmlns:a16="http://schemas.microsoft.com/office/drawing/2014/main" id="{061ADC51-9120-B1A9-587F-85916B1391C9}"/>
              </a:ext>
            </a:extLst>
          </p:cNvPr>
          <p:cNvSpPr txBox="1"/>
          <p:nvPr/>
        </p:nvSpPr>
        <p:spPr>
          <a:xfrm>
            <a:off x="6821424" y="574030"/>
            <a:ext cx="1484376" cy="276999"/>
          </a:xfrm>
          <a:prstGeom prst="rect">
            <a:avLst/>
          </a:prstGeom>
          <a:noFill/>
        </p:spPr>
        <p:txBody>
          <a:bodyPr wrap="square" rtlCol="0">
            <a:spAutoFit/>
          </a:bodyPr>
          <a:lstStyle/>
          <a:p>
            <a:pPr algn="ctr"/>
            <a:r>
              <a:rPr lang="en-GB" sz="1200"/>
              <a:t>Contribution 1</a:t>
            </a:r>
            <a:endParaRPr lang="en-IN" sz="1200" err="1"/>
          </a:p>
        </p:txBody>
      </p:sp>
      <p:sp>
        <p:nvSpPr>
          <p:cNvPr id="61" name="Rectangle 60">
            <a:extLst>
              <a:ext uri="{FF2B5EF4-FFF2-40B4-BE49-F238E27FC236}">
                <a16:creationId xmlns:a16="http://schemas.microsoft.com/office/drawing/2014/main" id="{A627239A-37E6-1E37-C9AE-26B5C322F6CB}"/>
              </a:ext>
            </a:extLst>
          </p:cNvPr>
          <p:cNvSpPr/>
          <p:nvPr/>
        </p:nvSpPr>
        <p:spPr>
          <a:xfrm>
            <a:off x="7969607" y="2698674"/>
            <a:ext cx="1018228" cy="704517"/>
          </a:xfrm>
          <a:prstGeom prst="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dirty="0">
                <a:solidFill>
                  <a:schemeClr val="tx1">
                    <a:lumMod val="50000"/>
                  </a:schemeClr>
                </a:solidFill>
              </a:rPr>
              <a:t>Optimal event driven map</a:t>
            </a:r>
          </a:p>
        </p:txBody>
      </p:sp>
      <p:sp>
        <p:nvSpPr>
          <p:cNvPr id="62" name="Rectangle 61">
            <a:extLst>
              <a:ext uri="{FF2B5EF4-FFF2-40B4-BE49-F238E27FC236}">
                <a16:creationId xmlns:a16="http://schemas.microsoft.com/office/drawing/2014/main" id="{FCF1A513-FE7B-60DC-3CF2-2A11ACE7B243}"/>
              </a:ext>
            </a:extLst>
          </p:cNvPr>
          <p:cNvSpPr/>
          <p:nvPr/>
        </p:nvSpPr>
        <p:spPr>
          <a:xfrm>
            <a:off x="7993096" y="3859224"/>
            <a:ext cx="1014666" cy="653811"/>
          </a:xfrm>
          <a:prstGeom prst="rect">
            <a:avLst/>
          </a:prstGeom>
          <a:solidFill>
            <a:schemeClr val="tx1">
              <a:lumMod val="40000"/>
              <a:lumOff val="60000"/>
            </a:schemeClr>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solidFill>
                  <a:schemeClr val="tx1">
                    <a:lumMod val="50000"/>
                  </a:schemeClr>
                </a:solidFill>
              </a:rPr>
              <a:t>Overall Utilisation Statistics</a:t>
            </a:r>
          </a:p>
        </p:txBody>
      </p:sp>
      <p:cxnSp>
        <p:nvCxnSpPr>
          <p:cNvPr id="80" name="Straight Arrow Connector 79">
            <a:extLst>
              <a:ext uri="{FF2B5EF4-FFF2-40B4-BE49-F238E27FC236}">
                <a16:creationId xmlns:a16="http://schemas.microsoft.com/office/drawing/2014/main" id="{82A8AF03-DDC8-B1A2-1FD8-D094D766327C}"/>
              </a:ext>
            </a:extLst>
          </p:cNvPr>
          <p:cNvCxnSpPr>
            <a:cxnSpLocks/>
            <a:stCxn id="27" idx="3"/>
            <a:endCxn id="61" idx="1"/>
          </p:cNvCxnSpPr>
          <p:nvPr/>
        </p:nvCxnSpPr>
        <p:spPr>
          <a:xfrm flipV="1">
            <a:off x="7381876" y="3050933"/>
            <a:ext cx="587731" cy="2701"/>
          </a:xfrm>
          <a:prstGeom prst="bentConnector3">
            <a:avLst>
              <a:gd name="adj1" fmla="val 50000"/>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B3E9F840-81B7-516A-89E7-C7E9A5C10F6C}"/>
              </a:ext>
            </a:extLst>
          </p:cNvPr>
          <p:cNvCxnSpPr>
            <a:cxnSpLocks/>
            <a:stCxn id="27" idx="3"/>
            <a:endCxn id="62" idx="1"/>
          </p:cNvCxnSpPr>
          <p:nvPr/>
        </p:nvCxnSpPr>
        <p:spPr>
          <a:xfrm>
            <a:off x="7381876" y="3053634"/>
            <a:ext cx="611220" cy="1132496"/>
          </a:xfrm>
          <a:prstGeom prst="bentConnector3">
            <a:avLst>
              <a:gd name="adj1" fmla="val 49554"/>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2F5C3177-23D3-003F-AF0A-9FD7CFE15982}"/>
              </a:ext>
            </a:extLst>
          </p:cNvPr>
          <p:cNvSpPr/>
          <p:nvPr/>
        </p:nvSpPr>
        <p:spPr>
          <a:xfrm>
            <a:off x="5844653" y="2648776"/>
            <a:ext cx="1328781" cy="782470"/>
          </a:xfrm>
          <a:prstGeom prst="rect">
            <a:avLst/>
          </a:prstGeom>
          <a:solidFill>
            <a:schemeClr val="bg2">
              <a:lumMod val="60000"/>
              <a:lumOff val="40000"/>
            </a:schemeClr>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IN" sz="1400">
                <a:solidFill>
                  <a:schemeClr val="tx1"/>
                </a:solidFill>
              </a:rPr>
              <a:t>Cost analysis &amp;</a:t>
            </a:r>
            <a:br>
              <a:rPr lang="en-IN" sz="1400"/>
            </a:br>
            <a:r>
              <a:rPr lang="en-IN" sz="1400">
                <a:solidFill>
                  <a:schemeClr val="tx1"/>
                </a:solidFill>
              </a:rPr>
              <a:t>Stats calculations</a:t>
            </a:r>
          </a:p>
        </p:txBody>
      </p:sp>
      <p:sp>
        <p:nvSpPr>
          <p:cNvPr id="3" name="Rectangle 2">
            <a:extLst>
              <a:ext uri="{FF2B5EF4-FFF2-40B4-BE49-F238E27FC236}">
                <a16:creationId xmlns:a16="http://schemas.microsoft.com/office/drawing/2014/main" id="{719075E9-059F-AEC2-E718-692EBD5386AD}"/>
              </a:ext>
            </a:extLst>
          </p:cNvPr>
          <p:cNvSpPr/>
          <p:nvPr/>
        </p:nvSpPr>
        <p:spPr>
          <a:xfrm>
            <a:off x="7993096" y="1484856"/>
            <a:ext cx="1018228" cy="735944"/>
          </a:xfrm>
          <a:prstGeom prst="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dirty="0">
                <a:solidFill>
                  <a:schemeClr val="tx1">
                    <a:lumMod val="50000"/>
                  </a:schemeClr>
                </a:solidFill>
              </a:rPr>
              <a:t>Energy and latency estimations</a:t>
            </a:r>
          </a:p>
        </p:txBody>
      </p:sp>
      <p:cxnSp>
        <p:nvCxnSpPr>
          <p:cNvPr id="10" name="Straight Arrow Connector 9">
            <a:extLst>
              <a:ext uri="{FF2B5EF4-FFF2-40B4-BE49-F238E27FC236}">
                <a16:creationId xmlns:a16="http://schemas.microsoft.com/office/drawing/2014/main" id="{C4BF9DC6-7A48-FBC0-E2AC-E71CE5150044}"/>
              </a:ext>
            </a:extLst>
          </p:cNvPr>
          <p:cNvCxnSpPr>
            <a:cxnSpLocks/>
            <a:stCxn id="36" idx="3"/>
            <a:endCxn id="32" idx="1"/>
          </p:cNvCxnSpPr>
          <p:nvPr/>
        </p:nvCxnSpPr>
        <p:spPr>
          <a:xfrm flipV="1">
            <a:off x="3919357" y="3040011"/>
            <a:ext cx="348357" cy="1"/>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Connector: Elbow 18">
            <a:extLst>
              <a:ext uri="{FF2B5EF4-FFF2-40B4-BE49-F238E27FC236}">
                <a16:creationId xmlns:a16="http://schemas.microsoft.com/office/drawing/2014/main" id="{6E975676-C5BA-C4B6-DCEB-84BCEE30D71C}"/>
              </a:ext>
            </a:extLst>
          </p:cNvPr>
          <p:cNvCxnSpPr>
            <a:cxnSpLocks/>
            <a:stCxn id="27" idx="3"/>
            <a:endCxn id="3" idx="1"/>
          </p:cNvCxnSpPr>
          <p:nvPr/>
        </p:nvCxnSpPr>
        <p:spPr>
          <a:xfrm flipV="1">
            <a:off x="7381876" y="1852828"/>
            <a:ext cx="611220" cy="1200806"/>
          </a:xfrm>
          <a:prstGeom prst="bentConnector3">
            <a:avLst>
              <a:gd name="adj1" fmla="val 50000"/>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CB01983A-161E-68BA-B8F7-75CDA82E66D0}"/>
              </a:ext>
            </a:extLst>
          </p:cNvPr>
          <p:cNvCxnSpPr>
            <a:cxnSpLocks/>
            <a:stCxn id="32" idx="3"/>
            <a:endCxn id="2" idx="1"/>
          </p:cNvCxnSpPr>
          <p:nvPr/>
        </p:nvCxnSpPr>
        <p:spPr>
          <a:xfrm>
            <a:off x="5596496" y="3040011"/>
            <a:ext cx="248157" cy="0"/>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4B56ADB-8EC0-94E0-344C-D3E86128255A}"/>
              </a:ext>
            </a:extLst>
          </p:cNvPr>
          <p:cNvCxnSpPr>
            <a:cxnSpLocks/>
            <a:stCxn id="2" idx="3"/>
            <a:endCxn id="27" idx="3"/>
          </p:cNvCxnSpPr>
          <p:nvPr/>
        </p:nvCxnSpPr>
        <p:spPr>
          <a:xfrm>
            <a:off x="7173434" y="3040011"/>
            <a:ext cx="208442" cy="13623"/>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54F35BA2-4D90-22A0-1A68-FDC530855A48}"/>
              </a:ext>
            </a:extLst>
          </p:cNvPr>
          <p:cNvSpPr/>
          <p:nvPr/>
        </p:nvSpPr>
        <p:spPr>
          <a:xfrm>
            <a:off x="738545" y="2685989"/>
            <a:ext cx="1516743" cy="708425"/>
          </a:xfrm>
          <a:prstGeom prst="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solidFill>
                  <a:schemeClr val="tx1"/>
                </a:solidFill>
              </a:rPr>
              <a:t>Hardware Cost Estimators</a:t>
            </a:r>
            <a:endParaRPr lang="en-IN" sz="1600">
              <a:solidFill>
                <a:schemeClr val="tx1"/>
              </a:solidFill>
            </a:endParaRPr>
          </a:p>
        </p:txBody>
      </p:sp>
      <p:cxnSp>
        <p:nvCxnSpPr>
          <p:cNvPr id="53" name="Straight Arrow Connector 52">
            <a:extLst>
              <a:ext uri="{FF2B5EF4-FFF2-40B4-BE49-F238E27FC236}">
                <a16:creationId xmlns:a16="http://schemas.microsoft.com/office/drawing/2014/main" id="{8B14A447-7B41-264D-24B2-C895B0F17CF4}"/>
              </a:ext>
            </a:extLst>
          </p:cNvPr>
          <p:cNvCxnSpPr>
            <a:cxnSpLocks/>
            <a:stCxn id="51" idx="3"/>
            <a:endCxn id="36" idx="1"/>
          </p:cNvCxnSpPr>
          <p:nvPr/>
        </p:nvCxnSpPr>
        <p:spPr>
          <a:xfrm flipV="1">
            <a:off x="2255288" y="3040012"/>
            <a:ext cx="335287" cy="190"/>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A38EA25C-DA76-DE22-997E-15006EF5A022}"/>
              </a:ext>
            </a:extLst>
          </p:cNvPr>
          <p:cNvSpPr/>
          <p:nvPr/>
        </p:nvSpPr>
        <p:spPr>
          <a:xfrm>
            <a:off x="2582633" y="3476362"/>
            <a:ext cx="1328782" cy="321556"/>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t>Extend</a:t>
            </a:r>
            <a:endParaRPr lang="en-NL" sz="1400"/>
          </a:p>
        </p:txBody>
      </p:sp>
      <p:sp>
        <p:nvSpPr>
          <p:cNvPr id="6" name="Rectangle 5">
            <a:extLst>
              <a:ext uri="{FF2B5EF4-FFF2-40B4-BE49-F238E27FC236}">
                <a16:creationId xmlns:a16="http://schemas.microsoft.com/office/drawing/2014/main" id="{B9FA397D-97BB-2E4B-CDB1-D0CD37A233C7}"/>
              </a:ext>
            </a:extLst>
          </p:cNvPr>
          <p:cNvSpPr/>
          <p:nvPr/>
        </p:nvSpPr>
        <p:spPr>
          <a:xfrm>
            <a:off x="5828767" y="3476362"/>
            <a:ext cx="1328781" cy="354066"/>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t>Extend</a:t>
            </a:r>
            <a:endParaRPr lang="en-NL" sz="1400"/>
          </a:p>
        </p:txBody>
      </p:sp>
      <p:sp>
        <p:nvSpPr>
          <p:cNvPr id="9" name="Rectangle 8">
            <a:extLst>
              <a:ext uri="{FF2B5EF4-FFF2-40B4-BE49-F238E27FC236}">
                <a16:creationId xmlns:a16="http://schemas.microsoft.com/office/drawing/2014/main" id="{CCA18C73-C48C-5310-BC1B-69F69E8E6625}"/>
              </a:ext>
            </a:extLst>
          </p:cNvPr>
          <p:cNvSpPr/>
          <p:nvPr/>
        </p:nvSpPr>
        <p:spPr>
          <a:xfrm>
            <a:off x="7993096" y="4557574"/>
            <a:ext cx="1014666" cy="321556"/>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t>Extend</a:t>
            </a:r>
            <a:endParaRPr lang="en-NL" sz="1400"/>
          </a:p>
        </p:txBody>
      </p:sp>
      <p:sp>
        <p:nvSpPr>
          <p:cNvPr id="11" name="Rectangle 10">
            <a:extLst>
              <a:ext uri="{FF2B5EF4-FFF2-40B4-BE49-F238E27FC236}">
                <a16:creationId xmlns:a16="http://schemas.microsoft.com/office/drawing/2014/main" id="{D8A08DBF-7FB2-4218-4125-32FDAEFB4AAA}"/>
              </a:ext>
            </a:extLst>
          </p:cNvPr>
          <p:cNvSpPr/>
          <p:nvPr/>
        </p:nvSpPr>
        <p:spPr>
          <a:xfrm>
            <a:off x="8009782" y="2263747"/>
            <a:ext cx="1021789" cy="290135"/>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t>Reuse</a:t>
            </a:r>
            <a:endParaRPr lang="en-NL" sz="1400"/>
          </a:p>
        </p:txBody>
      </p:sp>
      <p:sp>
        <p:nvSpPr>
          <p:cNvPr id="17" name="Rectangle 16">
            <a:extLst>
              <a:ext uri="{FF2B5EF4-FFF2-40B4-BE49-F238E27FC236}">
                <a16:creationId xmlns:a16="http://schemas.microsoft.com/office/drawing/2014/main" id="{8AEF103E-E625-EB37-A7D8-63D3B92788E8}"/>
              </a:ext>
            </a:extLst>
          </p:cNvPr>
          <p:cNvSpPr/>
          <p:nvPr/>
        </p:nvSpPr>
        <p:spPr>
          <a:xfrm>
            <a:off x="7969607" y="3422912"/>
            <a:ext cx="1014640" cy="332538"/>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t>Reuse</a:t>
            </a:r>
            <a:endParaRPr lang="en-NL" sz="1400"/>
          </a:p>
        </p:txBody>
      </p:sp>
      <p:sp>
        <p:nvSpPr>
          <p:cNvPr id="18" name="Rectangle 17">
            <a:extLst>
              <a:ext uri="{FF2B5EF4-FFF2-40B4-BE49-F238E27FC236}">
                <a16:creationId xmlns:a16="http://schemas.microsoft.com/office/drawing/2014/main" id="{4D6C6E11-840A-1BC1-1D4C-38D6E6610B0E}"/>
              </a:ext>
            </a:extLst>
          </p:cNvPr>
          <p:cNvSpPr/>
          <p:nvPr/>
        </p:nvSpPr>
        <p:spPr>
          <a:xfrm>
            <a:off x="4259772" y="3483934"/>
            <a:ext cx="1328781" cy="34649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t>Extend</a:t>
            </a:r>
            <a:endParaRPr lang="en-NL" sz="1400"/>
          </a:p>
        </p:txBody>
      </p:sp>
      <p:sp>
        <p:nvSpPr>
          <p:cNvPr id="7" name="Rectangle 6">
            <a:extLst>
              <a:ext uri="{FF2B5EF4-FFF2-40B4-BE49-F238E27FC236}">
                <a16:creationId xmlns:a16="http://schemas.microsoft.com/office/drawing/2014/main" id="{391EFB0F-FFCF-3BCA-372C-8AB9538583B5}"/>
              </a:ext>
            </a:extLst>
          </p:cNvPr>
          <p:cNvSpPr/>
          <p:nvPr/>
        </p:nvSpPr>
        <p:spPr>
          <a:xfrm>
            <a:off x="738545" y="3443705"/>
            <a:ext cx="1495730" cy="321556"/>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t>Reuse</a:t>
            </a:r>
            <a:endParaRPr lang="en-NL" sz="1400"/>
          </a:p>
        </p:txBody>
      </p:sp>
    </p:spTree>
    <p:extLst>
      <p:ext uri="{BB962C8B-B14F-4D97-AF65-F5344CB8AC3E}">
        <p14:creationId xmlns:p14="http://schemas.microsoft.com/office/powerpoint/2010/main" val="85442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par>
                                <p:cTn id="11" presetID="10" presetClass="entr" presetSubtype="0" fill="hold" nodeType="withEffect">
                                  <p:stCondLst>
                                    <p:cond delay="0"/>
                                  </p:stCondLst>
                                  <p:childTnLst>
                                    <p:set>
                                      <p:cBhvr>
                                        <p:cTn id="12" dur="1" fill="hold">
                                          <p:stCondLst>
                                            <p:cond delay="0"/>
                                          </p:stCondLst>
                                        </p:cTn>
                                        <p:tgtEl>
                                          <p:spTgt spid="82"/>
                                        </p:tgtEl>
                                        <p:attrNameLst>
                                          <p:attrName>style.visibility</p:attrName>
                                        </p:attrNameLst>
                                      </p:cBhvr>
                                      <p:to>
                                        <p:strVal val="visible"/>
                                      </p:to>
                                    </p:set>
                                    <p:animEffect transition="in" filter="fade">
                                      <p:cBhvr>
                                        <p:cTn id="13" dur="500"/>
                                        <p:tgtEl>
                                          <p:spTgt spid="8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par>
                                <p:cTn id="17" presetID="10"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500"/>
                                        <p:tgtEl>
                                          <p:spTgt spid="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2"/>
                                        </p:tgtEl>
                                        <p:attrNameLst>
                                          <p:attrName>style.visibility</p:attrName>
                                        </p:attrNameLst>
                                      </p:cBhvr>
                                      <p:to>
                                        <p:strVal val="visible"/>
                                      </p:to>
                                    </p:set>
                                    <p:animEffect transition="in" filter="fade">
                                      <p:cBhvr>
                                        <p:cTn id="28" dur="500"/>
                                        <p:tgtEl>
                                          <p:spTgt spid="62"/>
                                        </p:tgtEl>
                                      </p:cBhvr>
                                    </p:animEffect>
                                  </p:childTnLst>
                                </p:cTn>
                              </p:par>
                              <p:par>
                                <p:cTn id="29" presetID="10"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barn(inVertical)">
                                      <p:cBhvr>
                                        <p:cTn id="36" dur="500"/>
                                        <p:tgtEl>
                                          <p:spTgt spid="5"/>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barn(inVertical)">
                                      <p:cBhvr>
                                        <p:cTn id="39" dur="500"/>
                                        <p:tgtEl>
                                          <p:spTgt spid="18"/>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arn(inVertical)">
                                      <p:cBhvr>
                                        <p:cTn id="42" dur="500"/>
                                        <p:tgtEl>
                                          <p:spTgt spid="6"/>
                                        </p:tgtEl>
                                      </p:cBhvr>
                                    </p:animEffect>
                                  </p:childTnLst>
                                </p:cTn>
                              </p:par>
                              <p:par>
                                <p:cTn id="43" presetID="16" presetClass="entr" presetSubtype="21"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barn(inVertical)">
                                      <p:cBhvr>
                                        <p:cTn id="4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6" grpId="0" animBg="1"/>
      <p:bldP spid="62" grpId="0" animBg="1"/>
      <p:bldP spid="2" grpId="0" animBg="1"/>
      <p:bldP spid="5" grpId="0" animBg="1"/>
      <p:bldP spid="6" grpId="0" animBg="1"/>
      <p:bldP spid="9" grpId="0" animBg="1"/>
      <p:bldP spid="1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7DA96-1157-72B0-98A6-602D185C5042}"/>
              </a:ext>
            </a:extLst>
          </p:cNvPr>
          <p:cNvSpPr>
            <a:spLocks noGrp="1"/>
          </p:cNvSpPr>
          <p:nvPr>
            <p:ph type="title"/>
          </p:nvPr>
        </p:nvSpPr>
        <p:spPr/>
        <p:txBody>
          <a:bodyPr/>
          <a:lstStyle/>
          <a:p>
            <a:r>
              <a:rPr lang="en-US" dirty="0"/>
              <a:t>Mapping Space Optimization</a:t>
            </a:r>
            <a:endParaRPr lang="en-GB" dirty="0"/>
          </a:p>
        </p:txBody>
      </p:sp>
      <p:sp>
        <p:nvSpPr>
          <p:cNvPr id="4" name="Slide Number Placeholder 3">
            <a:extLst>
              <a:ext uri="{FF2B5EF4-FFF2-40B4-BE49-F238E27FC236}">
                <a16:creationId xmlns:a16="http://schemas.microsoft.com/office/drawing/2014/main" id="{0E7EF1E8-13AA-2941-E60C-ABF911BB008B}"/>
              </a:ext>
            </a:extLst>
          </p:cNvPr>
          <p:cNvSpPr>
            <a:spLocks noGrp="1"/>
          </p:cNvSpPr>
          <p:nvPr>
            <p:ph type="sldNum" sz="quarter" idx="12"/>
          </p:nvPr>
        </p:nvSpPr>
        <p:spPr/>
        <p:txBody>
          <a:bodyPr/>
          <a:lstStyle/>
          <a:p>
            <a:fld id="{8836216C-5BC3-7C44-80F8-E30864FFC228}" type="slidenum">
              <a:rPr lang="en-US" smtClean="0"/>
              <a:t>33</a:t>
            </a:fld>
            <a:endParaRPr lang="en-US"/>
          </a:p>
        </p:txBody>
      </p:sp>
      <p:sp>
        <p:nvSpPr>
          <p:cNvPr id="5" name="Text Placeholder 4">
            <a:extLst>
              <a:ext uri="{FF2B5EF4-FFF2-40B4-BE49-F238E27FC236}">
                <a16:creationId xmlns:a16="http://schemas.microsoft.com/office/drawing/2014/main" id="{B36E339D-4D0F-3DFD-77AC-376A4C54B2BF}"/>
              </a:ext>
            </a:extLst>
          </p:cNvPr>
          <p:cNvSpPr>
            <a:spLocks noGrp="1"/>
          </p:cNvSpPr>
          <p:nvPr>
            <p:ph type="body" sz="quarter" idx="13"/>
          </p:nvPr>
        </p:nvSpPr>
        <p:spPr/>
        <p:txBody>
          <a:bodyPr/>
          <a:lstStyle/>
          <a:p>
            <a:r>
              <a:rPr lang="en-US" dirty="0"/>
              <a:t>Heuristic Reduction of Exhaustive Search Complexity</a:t>
            </a:r>
            <a:endParaRPr lang="en-GB" dirty="0"/>
          </a:p>
        </p:txBody>
      </p:sp>
      <p:pic>
        <p:nvPicPr>
          <p:cNvPr id="7" name="Picture 6">
            <a:extLst>
              <a:ext uri="{FF2B5EF4-FFF2-40B4-BE49-F238E27FC236}">
                <a16:creationId xmlns:a16="http://schemas.microsoft.com/office/drawing/2014/main" id="{C977C056-F265-69C5-9FF9-F6624E394B38}"/>
              </a:ext>
            </a:extLst>
          </p:cNvPr>
          <p:cNvPicPr>
            <a:picLocks noChangeAspect="1"/>
          </p:cNvPicPr>
          <p:nvPr/>
        </p:nvPicPr>
        <p:blipFill>
          <a:blip r:embed="rId4"/>
          <a:stretch>
            <a:fillRect/>
          </a:stretch>
        </p:blipFill>
        <p:spPr>
          <a:xfrm>
            <a:off x="5243855" y="2219497"/>
            <a:ext cx="3682733" cy="532368"/>
          </a:xfrm>
          <a:prstGeom prst="rect">
            <a:avLst/>
          </a:prstGeom>
          <a:ln>
            <a:solidFill>
              <a:schemeClr val="tx1"/>
            </a:solidFill>
          </a:ln>
        </p:spPr>
      </p:pic>
      <p:pic>
        <p:nvPicPr>
          <p:cNvPr id="6" name="Picture 5">
            <a:extLst>
              <a:ext uri="{FF2B5EF4-FFF2-40B4-BE49-F238E27FC236}">
                <a16:creationId xmlns:a16="http://schemas.microsoft.com/office/drawing/2014/main" id="{FC425A6D-E35B-2AEF-3CCE-A5431A792CC0}"/>
              </a:ext>
            </a:extLst>
          </p:cNvPr>
          <p:cNvPicPr>
            <a:picLocks noChangeAspect="1"/>
          </p:cNvPicPr>
          <p:nvPr/>
        </p:nvPicPr>
        <p:blipFill>
          <a:blip r:embed="rId5"/>
          <a:stretch>
            <a:fillRect/>
          </a:stretch>
        </p:blipFill>
        <p:spPr>
          <a:xfrm>
            <a:off x="452242" y="1127973"/>
            <a:ext cx="4551558" cy="2407043"/>
          </a:xfrm>
          <a:prstGeom prst="rect">
            <a:avLst/>
          </a:prstGeom>
        </p:spPr>
      </p:pic>
      <p:sp>
        <p:nvSpPr>
          <p:cNvPr id="3" name="Content Placeholder 2">
            <a:extLst>
              <a:ext uri="{FF2B5EF4-FFF2-40B4-BE49-F238E27FC236}">
                <a16:creationId xmlns:a16="http://schemas.microsoft.com/office/drawing/2014/main" id="{044744D3-8ABF-4D62-C902-D0E74B0916A7}"/>
              </a:ext>
            </a:extLst>
          </p:cNvPr>
          <p:cNvSpPr>
            <a:spLocks noGrp="1"/>
          </p:cNvSpPr>
          <p:nvPr>
            <p:ph idx="1"/>
          </p:nvPr>
        </p:nvSpPr>
        <p:spPr>
          <a:xfrm>
            <a:off x="195262" y="3717343"/>
            <a:ext cx="8753475" cy="616744"/>
          </a:xfrm>
        </p:spPr>
        <p:txBody>
          <a:bodyPr vert="horz" lIns="91440" tIns="45720" rIns="91440" bIns="45720" rtlCol="0" anchor="t">
            <a:normAutofit lnSpcReduction="10000"/>
          </a:bodyPr>
          <a:lstStyle/>
          <a:p>
            <a:pPr marL="0" indent="0">
              <a:buNone/>
            </a:pPr>
            <a:r>
              <a:rPr lang="en-GB" b="1" dirty="0">
                <a:latin typeface="Gill Sans MT"/>
                <a:cs typeface="Gill Sans"/>
              </a:rPr>
              <a:t>Optimisation Criteria</a:t>
            </a:r>
            <a:r>
              <a:rPr lang="en-GB" dirty="0">
                <a:latin typeface="Gill Sans MT"/>
                <a:cs typeface="Gill Sans"/>
              </a:rPr>
              <a:t>: Lump the smallest Loop Prime Factors (LPFs) of the loop type with the most factors while preserving large LPFs individually [1]</a:t>
            </a:r>
            <a:endParaRPr lang="en-GB" dirty="0"/>
          </a:p>
        </p:txBody>
      </p:sp>
      <p:sp>
        <p:nvSpPr>
          <p:cNvPr id="8" name="TextBox 7">
            <a:extLst>
              <a:ext uri="{FF2B5EF4-FFF2-40B4-BE49-F238E27FC236}">
                <a16:creationId xmlns:a16="http://schemas.microsoft.com/office/drawing/2014/main" id="{358B0FF4-DDA7-A960-884F-C80152071383}"/>
              </a:ext>
            </a:extLst>
          </p:cNvPr>
          <p:cNvSpPr txBox="1"/>
          <p:nvPr/>
        </p:nvSpPr>
        <p:spPr>
          <a:xfrm>
            <a:off x="91440" y="4531995"/>
            <a:ext cx="890016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a:solidFill>
                  <a:schemeClr val="bg2">
                    <a:lumMod val="60000"/>
                    <a:lumOff val="40000"/>
                  </a:schemeClr>
                </a:solidFill>
              </a:rPr>
              <a:t> LOMA: </a:t>
            </a:r>
            <a:r>
              <a:rPr lang="en-GB" sz="1000">
                <a:solidFill>
                  <a:schemeClr val="bg2">
                    <a:lumMod val="60000"/>
                    <a:lumOff val="40000"/>
                  </a:schemeClr>
                </a:solidFill>
                <a:ea typeface="+mn-lt"/>
                <a:cs typeface="+mn-lt"/>
              </a:rPr>
              <a:t>Fast Auto-Scheduling on DNN Accelerators through Loop-Order-based Memory Allocation</a:t>
            </a:r>
            <a:endParaRPr lang="en-GB" sz="1000">
              <a:solidFill>
                <a:schemeClr val="bg2">
                  <a:lumMod val="60000"/>
                  <a:lumOff val="40000"/>
                </a:schemeClr>
              </a:solidFill>
            </a:endParaRPr>
          </a:p>
        </p:txBody>
      </p:sp>
    </p:spTree>
    <p:extLst>
      <p:ext uri="{BB962C8B-B14F-4D97-AF65-F5344CB8AC3E}">
        <p14:creationId xmlns:p14="http://schemas.microsoft.com/office/powerpoint/2010/main" val="17758609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Lst>
  </p:timing>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1FB34-9FA5-B1F3-3558-E58C1E26C927}"/>
              </a:ext>
            </a:extLst>
          </p:cNvPr>
          <p:cNvSpPr>
            <a:spLocks noGrp="1"/>
          </p:cNvSpPr>
          <p:nvPr>
            <p:ph type="title"/>
          </p:nvPr>
        </p:nvSpPr>
        <p:spPr>
          <a:xfrm>
            <a:off x="160631" y="206094"/>
            <a:ext cx="8753475" cy="461665"/>
          </a:xfrm>
        </p:spPr>
        <p:txBody>
          <a:bodyPr/>
          <a:lstStyle/>
          <a:p>
            <a:r>
              <a:rPr lang="en-US" dirty="0"/>
              <a:t>Mapping Space Efficiency Analysis</a:t>
            </a:r>
            <a:endParaRPr lang="en-GB" dirty="0">
              <a:solidFill>
                <a:srgbClr val="000000"/>
              </a:solidFill>
              <a:latin typeface="Gill Sans MT"/>
              <a:cs typeface="Gill Sans"/>
            </a:endParaRPr>
          </a:p>
        </p:txBody>
      </p:sp>
      <p:sp>
        <p:nvSpPr>
          <p:cNvPr id="4" name="Slide Number Placeholder 3">
            <a:extLst>
              <a:ext uri="{FF2B5EF4-FFF2-40B4-BE49-F238E27FC236}">
                <a16:creationId xmlns:a16="http://schemas.microsoft.com/office/drawing/2014/main" id="{D5031937-087D-BAB7-F993-D7BF7FE3A487}"/>
              </a:ext>
            </a:extLst>
          </p:cNvPr>
          <p:cNvSpPr>
            <a:spLocks noGrp="1"/>
          </p:cNvSpPr>
          <p:nvPr>
            <p:ph type="sldNum" sz="quarter" idx="12"/>
          </p:nvPr>
        </p:nvSpPr>
        <p:spPr/>
        <p:txBody>
          <a:bodyPr/>
          <a:lstStyle/>
          <a:p>
            <a:fld id="{8836216C-5BC3-7C44-80F8-E30864FFC228}" type="slidenum">
              <a:rPr lang="en-US" smtClean="0"/>
              <a:t>34</a:t>
            </a:fld>
            <a:endParaRPr lang="en-US"/>
          </a:p>
        </p:txBody>
      </p:sp>
      <p:sp>
        <p:nvSpPr>
          <p:cNvPr id="5" name="Text Placeholder 4">
            <a:extLst>
              <a:ext uri="{FF2B5EF4-FFF2-40B4-BE49-F238E27FC236}">
                <a16:creationId xmlns:a16="http://schemas.microsoft.com/office/drawing/2014/main" id="{8D6A596B-02D7-ECE2-C836-8FD98AABC3FC}"/>
              </a:ext>
            </a:extLst>
          </p:cNvPr>
          <p:cNvSpPr>
            <a:spLocks noGrp="1"/>
          </p:cNvSpPr>
          <p:nvPr>
            <p:ph type="body" sz="quarter" idx="13"/>
          </p:nvPr>
        </p:nvSpPr>
        <p:spPr/>
        <p:txBody>
          <a:bodyPr/>
          <a:lstStyle/>
          <a:p>
            <a:r>
              <a:rPr lang="en-US" dirty="0"/>
              <a:t>AeDAM vs </a:t>
            </a:r>
            <a:r>
              <a:rPr lang="en-US" dirty="0" err="1"/>
              <a:t>ZigZag</a:t>
            </a:r>
            <a:r>
              <a:rPr lang="en-US" dirty="0"/>
              <a:t>: Specialized vs General-Purpose Exploration</a:t>
            </a:r>
            <a:endParaRPr lang="en-GB" dirty="0"/>
          </a:p>
        </p:txBody>
      </p:sp>
      <p:pic>
        <p:nvPicPr>
          <p:cNvPr id="3" name="Picture 2">
            <a:extLst>
              <a:ext uri="{FF2B5EF4-FFF2-40B4-BE49-F238E27FC236}">
                <a16:creationId xmlns:a16="http://schemas.microsoft.com/office/drawing/2014/main" id="{B46FD662-7814-8E2E-75CE-B4325D729910}"/>
              </a:ext>
            </a:extLst>
          </p:cNvPr>
          <p:cNvPicPr>
            <a:picLocks noChangeAspect="1"/>
          </p:cNvPicPr>
          <p:nvPr/>
        </p:nvPicPr>
        <p:blipFill>
          <a:blip r:embed="rId3"/>
          <a:stretch>
            <a:fillRect/>
          </a:stretch>
        </p:blipFill>
        <p:spPr>
          <a:xfrm>
            <a:off x="1454942" y="1126331"/>
            <a:ext cx="6241257" cy="2890838"/>
          </a:xfrm>
          <a:prstGeom prst="rect">
            <a:avLst/>
          </a:prstGeom>
        </p:spPr>
      </p:pic>
      <p:sp>
        <p:nvSpPr>
          <p:cNvPr id="7" name="TextBox 6">
            <a:extLst>
              <a:ext uri="{FF2B5EF4-FFF2-40B4-BE49-F238E27FC236}">
                <a16:creationId xmlns:a16="http://schemas.microsoft.com/office/drawing/2014/main" id="{3F65A7E3-596A-D94B-90FB-8B882ABF1412}"/>
              </a:ext>
            </a:extLst>
          </p:cNvPr>
          <p:cNvSpPr txBox="1"/>
          <p:nvPr/>
        </p:nvSpPr>
        <p:spPr>
          <a:xfrm>
            <a:off x="585893" y="4017169"/>
            <a:ext cx="8328212" cy="341632"/>
          </a:xfrm>
          <a:prstGeom prst="rect">
            <a:avLst/>
          </a:prstGeom>
          <a:noFill/>
        </p:spPr>
        <p:txBody>
          <a:bodyPr wrap="square">
            <a:spAutoFit/>
          </a:bodyPr>
          <a:lstStyle/>
          <a:p>
            <a:pPr algn="ctr"/>
            <a:r>
              <a:rPr lang="en-US" sz="1600" dirty="0"/>
              <a:t>AeDAM's specialized event-driven map space results in fewer total options than zigzag.</a:t>
            </a:r>
            <a:endParaRPr lang="en-IN" sz="1600" dirty="0"/>
          </a:p>
        </p:txBody>
      </p:sp>
    </p:spTree>
    <p:extLst>
      <p:ext uri="{BB962C8B-B14F-4D97-AF65-F5344CB8AC3E}">
        <p14:creationId xmlns:p14="http://schemas.microsoft.com/office/powerpoint/2010/main" val="12649425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31A2-2A1B-2FB5-907C-C7C283F2D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580576-D2F5-41F2-372D-83C56ADDEB6A}"/>
              </a:ext>
            </a:extLst>
          </p:cNvPr>
          <p:cNvSpPr>
            <a:spLocks noGrp="1"/>
          </p:cNvSpPr>
          <p:nvPr>
            <p:ph type="title"/>
          </p:nvPr>
        </p:nvSpPr>
        <p:spPr/>
        <p:txBody>
          <a:bodyPr/>
          <a:lstStyle/>
          <a:p>
            <a:r>
              <a:rPr lang="en-US" dirty="0"/>
              <a:t>Exploration Performance Comparison</a:t>
            </a:r>
            <a:endParaRPr lang="en-GB" dirty="0"/>
          </a:p>
        </p:txBody>
      </p:sp>
      <p:sp>
        <p:nvSpPr>
          <p:cNvPr id="4" name="Slide Number Placeholder 3">
            <a:extLst>
              <a:ext uri="{FF2B5EF4-FFF2-40B4-BE49-F238E27FC236}">
                <a16:creationId xmlns:a16="http://schemas.microsoft.com/office/drawing/2014/main" id="{C0F9F5BE-D150-B628-D15E-D1C25E3B9526}"/>
              </a:ext>
            </a:extLst>
          </p:cNvPr>
          <p:cNvSpPr>
            <a:spLocks noGrp="1"/>
          </p:cNvSpPr>
          <p:nvPr>
            <p:ph type="sldNum" sz="quarter" idx="12"/>
          </p:nvPr>
        </p:nvSpPr>
        <p:spPr/>
        <p:txBody>
          <a:bodyPr/>
          <a:lstStyle/>
          <a:p>
            <a:fld id="{8836216C-5BC3-7C44-80F8-E30864FFC228}" type="slidenum">
              <a:rPr lang="en-US" smtClean="0"/>
              <a:t>35</a:t>
            </a:fld>
            <a:endParaRPr lang="en-US"/>
          </a:p>
        </p:txBody>
      </p:sp>
      <p:sp>
        <p:nvSpPr>
          <p:cNvPr id="9" name="Rectangle 8">
            <a:extLst>
              <a:ext uri="{FF2B5EF4-FFF2-40B4-BE49-F238E27FC236}">
                <a16:creationId xmlns:a16="http://schemas.microsoft.com/office/drawing/2014/main" id="{9AE93226-E79F-4945-6992-30A4B3EBF6C9}"/>
              </a:ext>
            </a:extLst>
          </p:cNvPr>
          <p:cNvSpPr/>
          <p:nvPr/>
        </p:nvSpPr>
        <p:spPr>
          <a:xfrm>
            <a:off x="200023" y="1785937"/>
            <a:ext cx="1500186" cy="300038"/>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a:solidFill>
                  <a:schemeClr val="tx1"/>
                </a:solidFill>
              </a:rPr>
              <a:t>Exploration time</a:t>
            </a:r>
          </a:p>
        </p:txBody>
      </p:sp>
      <p:sp>
        <p:nvSpPr>
          <p:cNvPr id="11" name="Rectangle 10">
            <a:extLst>
              <a:ext uri="{FF2B5EF4-FFF2-40B4-BE49-F238E27FC236}">
                <a16:creationId xmlns:a16="http://schemas.microsoft.com/office/drawing/2014/main" id="{1C491C8A-5676-6F4F-89B1-D63F3EECC07F}"/>
              </a:ext>
            </a:extLst>
          </p:cNvPr>
          <p:cNvSpPr/>
          <p:nvPr/>
        </p:nvSpPr>
        <p:spPr>
          <a:xfrm>
            <a:off x="200022" y="2307431"/>
            <a:ext cx="1500186"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200">
                <a:solidFill>
                  <a:srgbClr val="929497"/>
                </a:solidFill>
              </a:rPr>
              <a:t>Word access count</a:t>
            </a:r>
          </a:p>
        </p:txBody>
      </p:sp>
      <p:sp>
        <p:nvSpPr>
          <p:cNvPr id="6" name="Rectangle 5">
            <a:extLst>
              <a:ext uri="{FF2B5EF4-FFF2-40B4-BE49-F238E27FC236}">
                <a16:creationId xmlns:a16="http://schemas.microsoft.com/office/drawing/2014/main" id="{BF2E30FA-77A2-A9EF-9F10-69165D4B13E3}"/>
              </a:ext>
            </a:extLst>
          </p:cNvPr>
          <p:cNvSpPr/>
          <p:nvPr/>
        </p:nvSpPr>
        <p:spPr>
          <a:xfrm>
            <a:off x="200021" y="2757487"/>
            <a:ext cx="1500186"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200">
                <a:solidFill>
                  <a:srgbClr val="929497"/>
                </a:solidFill>
              </a:rPr>
              <a:t>Latency breakdown</a:t>
            </a:r>
          </a:p>
        </p:txBody>
      </p:sp>
      <p:sp>
        <p:nvSpPr>
          <p:cNvPr id="7" name="Rectangle 6">
            <a:extLst>
              <a:ext uri="{FF2B5EF4-FFF2-40B4-BE49-F238E27FC236}">
                <a16:creationId xmlns:a16="http://schemas.microsoft.com/office/drawing/2014/main" id="{B9332B62-69F8-1284-66E8-438CB68A7C80}"/>
              </a:ext>
            </a:extLst>
          </p:cNvPr>
          <p:cNvSpPr/>
          <p:nvPr/>
        </p:nvSpPr>
        <p:spPr>
          <a:xfrm>
            <a:off x="200020" y="3271837"/>
            <a:ext cx="1500186"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200">
                <a:solidFill>
                  <a:srgbClr val="929497"/>
                </a:solidFill>
              </a:rPr>
              <a:t>Energy breakdown</a:t>
            </a:r>
          </a:p>
        </p:txBody>
      </p:sp>
      <p:pic>
        <p:nvPicPr>
          <p:cNvPr id="8" name="Picture 7">
            <a:extLst>
              <a:ext uri="{FF2B5EF4-FFF2-40B4-BE49-F238E27FC236}">
                <a16:creationId xmlns:a16="http://schemas.microsoft.com/office/drawing/2014/main" id="{26E56F8F-4F08-06AA-8E7F-09D7A260BE28}"/>
              </a:ext>
            </a:extLst>
          </p:cNvPr>
          <p:cNvPicPr>
            <a:picLocks noChangeAspect="1"/>
          </p:cNvPicPr>
          <p:nvPr/>
        </p:nvPicPr>
        <p:blipFill>
          <a:blip r:embed="rId3"/>
          <a:stretch>
            <a:fillRect/>
          </a:stretch>
        </p:blipFill>
        <p:spPr>
          <a:xfrm>
            <a:off x="2540793" y="1164431"/>
            <a:ext cx="4919663" cy="2821782"/>
          </a:xfrm>
          <a:prstGeom prst="rect">
            <a:avLst/>
          </a:prstGeom>
        </p:spPr>
      </p:pic>
      <p:sp>
        <p:nvSpPr>
          <p:cNvPr id="10" name="Text Placeholder 9">
            <a:extLst>
              <a:ext uri="{FF2B5EF4-FFF2-40B4-BE49-F238E27FC236}">
                <a16:creationId xmlns:a16="http://schemas.microsoft.com/office/drawing/2014/main" id="{FC4338C9-8038-51D1-BBEC-56848496DA5C}"/>
              </a:ext>
            </a:extLst>
          </p:cNvPr>
          <p:cNvSpPr>
            <a:spLocks noGrp="1"/>
          </p:cNvSpPr>
          <p:nvPr>
            <p:ph type="body" sz="quarter" idx="13"/>
          </p:nvPr>
        </p:nvSpPr>
        <p:spPr/>
        <p:txBody>
          <a:bodyPr/>
          <a:lstStyle/>
          <a:p>
            <a:r>
              <a:rPr lang="en-US" dirty="0"/>
              <a:t>AeDAM vs </a:t>
            </a:r>
            <a:r>
              <a:rPr lang="en-US" dirty="0" err="1"/>
              <a:t>ZigZag</a:t>
            </a:r>
            <a:r>
              <a:rPr lang="en-US" dirty="0"/>
              <a:t>: Speed and Efficiency in Mapping Exploration</a:t>
            </a:r>
            <a:endParaRPr lang="en-NL" dirty="0"/>
          </a:p>
        </p:txBody>
      </p:sp>
    </p:spTree>
    <p:extLst>
      <p:ext uri="{BB962C8B-B14F-4D97-AF65-F5344CB8AC3E}">
        <p14:creationId xmlns:p14="http://schemas.microsoft.com/office/powerpoint/2010/main" val="6941248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66BA8-1BD5-9451-717A-093E85F38890}"/>
              </a:ext>
            </a:extLst>
          </p:cNvPr>
          <p:cNvSpPr>
            <a:spLocks noGrp="1"/>
          </p:cNvSpPr>
          <p:nvPr>
            <p:ph type="title"/>
          </p:nvPr>
        </p:nvSpPr>
        <p:spPr/>
        <p:txBody>
          <a:bodyPr/>
          <a:lstStyle/>
          <a:p>
            <a:r>
              <a:rPr lang="en-US" dirty="0"/>
              <a:t>Word Access comparison Results</a:t>
            </a:r>
            <a:endParaRPr lang="en-GB" dirty="0"/>
          </a:p>
        </p:txBody>
      </p:sp>
      <p:sp>
        <p:nvSpPr>
          <p:cNvPr id="4" name="Slide Number Placeholder 3">
            <a:extLst>
              <a:ext uri="{FF2B5EF4-FFF2-40B4-BE49-F238E27FC236}">
                <a16:creationId xmlns:a16="http://schemas.microsoft.com/office/drawing/2014/main" id="{7BCACFE6-1BF9-2935-7558-C0AB3ECCF48E}"/>
              </a:ext>
            </a:extLst>
          </p:cNvPr>
          <p:cNvSpPr>
            <a:spLocks noGrp="1"/>
          </p:cNvSpPr>
          <p:nvPr>
            <p:ph type="sldNum" sz="quarter" idx="12"/>
          </p:nvPr>
        </p:nvSpPr>
        <p:spPr/>
        <p:txBody>
          <a:bodyPr/>
          <a:lstStyle/>
          <a:p>
            <a:fld id="{8836216C-5BC3-7C44-80F8-E30864FFC228}" type="slidenum">
              <a:rPr lang="en-US" smtClean="0"/>
              <a:t>36</a:t>
            </a:fld>
            <a:endParaRPr lang="en-US"/>
          </a:p>
        </p:txBody>
      </p:sp>
      <p:sp>
        <p:nvSpPr>
          <p:cNvPr id="5" name="Text Placeholder 4">
            <a:extLst>
              <a:ext uri="{FF2B5EF4-FFF2-40B4-BE49-F238E27FC236}">
                <a16:creationId xmlns:a16="http://schemas.microsoft.com/office/drawing/2014/main" id="{6E5F34B2-9A09-1CCC-AABF-6801473443CE}"/>
              </a:ext>
            </a:extLst>
          </p:cNvPr>
          <p:cNvSpPr>
            <a:spLocks noGrp="1"/>
          </p:cNvSpPr>
          <p:nvPr>
            <p:ph type="body" sz="quarter" idx="13"/>
          </p:nvPr>
        </p:nvSpPr>
        <p:spPr>
          <a:xfrm>
            <a:off x="160630" y="600075"/>
            <a:ext cx="8753475" cy="369332"/>
          </a:xfrm>
        </p:spPr>
        <p:txBody>
          <a:bodyPr/>
          <a:lstStyle/>
          <a:p>
            <a:r>
              <a:rPr lang="en-US" dirty="0"/>
              <a:t>AeDAM vs </a:t>
            </a:r>
            <a:r>
              <a:rPr lang="en-US" dirty="0" err="1"/>
              <a:t>ZigZag</a:t>
            </a:r>
            <a:r>
              <a:rPr lang="en-US" dirty="0"/>
              <a:t>: Memory Access Count for </a:t>
            </a:r>
            <a:r>
              <a:rPr lang="en-US" dirty="0" err="1"/>
              <a:t>VGGNet</a:t>
            </a:r>
            <a:r>
              <a:rPr lang="en-US" dirty="0"/>
              <a:t> Layers</a:t>
            </a:r>
            <a:endParaRPr lang="en-GB" dirty="0">
              <a:latin typeface="Gill Sans MT"/>
              <a:cs typeface="Gill Sans"/>
            </a:endParaRPr>
          </a:p>
        </p:txBody>
      </p:sp>
      <p:pic>
        <p:nvPicPr>
          <p:cNvPr id="6" name="Picture 5">
            <a:extLst>
              <a:ext uri="{FF2B5EF4-FFF2-40B4-BE49-F238E27FC236}">
                <a16:creationId xmlns:a16="http://schemas.microsoft.com/office/drawing/2014/main" id="{E1AC685B-7171-DF8F-E016-AD2133D37B21}"/>
              </a:ext>
            </a:extLst>
          </p:cNvPr>
          <p:cNvPicPr>
            <a:picLocks noChangeAspect="1"/>
          </p:cNvPicPr>
          <p:nvPr/>
        </p:nvPicPr>
        <p:blipFill>
          <a:blip r:embed="rId4"/>
          <a:stretch>
            <a:fillRect/>
          </a:stretch>
        </p:blipFill>
        <p:spPr>
          <a:xfrm>
            <a:off x="2178843" y="1288019"/>
            <a:ext cx="6393657" cy="2860354"/>
          </a:xfrm>
          <a:prstGeom prst="rect">
            <a:avLst/>
          </a:prstGeom>
        </p:spPr>
      </p:pic>
      <p:sp>
        <p:nvSpPr>
          <p:cNvPr id="3" name="Rectangle 2">
            <a:extLst>
              <a:ext uri="{FF2B5EF4-FFF2-40B4-BE49-F238E27FC236}">
                <a16:creationId xmlns:a16="http://schemas.microsoft.com/office/drawing/2014/main" id="{B6F77DC2-C2DF-9822-5CF5-473500E9CD9F}"/>
              </a:ext>
            </a:extLst>
          </p:cNvPr>
          <p:cNvSpPr/>
          <p:nvPr/>
        </p:nvSpPr>
        <p:spPr>
          <a:xfrm>
            <a:off x="200023" y="1785937"/>
            <a:ext cx="1500186"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200">
                <a:solidFill>
                  <a:srgbClr val="929497"/>
                </a:solidFill>
              </a:rPr>
              <a:t>Exploration time</a:t>
            </a:r>
          </a:p>
        </p:txBody>
      </p:sp>
      <p:sp>
        <p:nvSpPr>
          <p:cNvPr id="8" name="Rectangle 7">
            <a:extLst>
              <a:ext uri="{FF2B5EF4-FFF2-40B4-BE49-F238E27FC236}">
                <a16:creationId xmlns:a16="http://schemas.microsoft.com/office/drawing/2014/main" id="{49497137-7E68-8C2D-118C-B2B38171C289}"/>
              </a:ext>
            </a:extLst>
          </p:cNvPr>
          <p:cNvSpPr/>
          <p:nvPr/>
        </p:nvSpPr>
        <p:spPr>
          <a:xfrm>
            <a:off x="200022" y="2307431"/>
            <a:ext cx="1500186" cy="300038"/>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a:solidFill>
                  <a:schemeClr val="tx1"/>
                </a:solidFill>
              </a:rPr>
              <a:t>Word access count</a:t>
            </a:r>
          </a:p>
        </p:txBody>
      </p:sp>
      <p:sp>
        <p:nvSpPr>
          <p:cNvPr id="9" name="Rectangle 8">
            <a:extLst>
              <a:ext uri="{FF2B5EF4-FFF2-40B4-BE49-F238E27FC236}">
                <a16:creationId xmlns:a16="http://schemas.microsoft.com/office/drawing/2014/main" id="{3709B80B-B166-4994-8FC4-04AC49D953EC}"/>
              </a:ext>
            </a:extLst>
          </p:cNvPr>
          <p:cNvSpPr/>
          <p:nvPr/>
        </p:nvSpPr>
        <p:spPr>
          <a:xfrm>
            <a:off x="200021" y="2757487"/>
            <a:ext cx="1500186"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200">
                <a:solidFill>
                  <a:srgbClr val="929497"/>
                </a:solidFill>
              </a:rPr>
              <a:t>Latency breakdown</a:t>
            </a:r>
          </a:p>
        </p:txBody>
      </p:sp>
      <p:sp>
        <p:nvSpPr>
          <p:cNvPr id="11" name="Rectangle 10">
            <a:extLst>
              <a:ext uri="{FF2B5EF4-FFF2-40B4-BE49-F238E27FC236}">
                <a16:creationId xmlns:a16="http://schemas.microsoft.com/office/drawing/2014/main" id="{DC60C008-B555-CBC2-57CB-08AB88D76B12}"/>
              </a:ext>
            </a:extLst>
          </p:cNvPr>
          <p:cNvSpPr/>
          <p:nvPr/>
        </p:nvSpPr>
        <p:spPr>
          <a:xfrm>
            <a:off x="200020" y="3271837"/>
            <a:ext cx="1500186"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200">
                <a:solidFill>
                  <a:srgbClr val="929497"/>
                </a:solidFill>
              </a:rPr>
              <a:t>Energy breakdown</a:t>
            </a:r>
          </a:p>
        </p:txBody>
      </p:sp>
      <p:sp>
        <p:nvSpPr>
          <p:cNvPr id="7" name="TextBox 6">
            <a:extLst>
              <a:ext uri="{FF2B5EF4-FFF2-40B4-BE49-F238E27FC236}">
                <a16:creationId xmlns:a16="http://schemas.microsoft.com/office/drawing/2014/main" id="{42F756C6-5DD1-1876-72DA-DBF79484F64C}"/>
              </a:ext>
            </a:extLst>
          </p:cNvPr>
          <p:cNvSpPr txBox="1"/>
          <p:nvPr/>
        </p:nvSpPr>
        <p:spPr>
          <a:xfrm>
            <a:off x="2384611" y="4174187"/>
            <a:ext cx="6113929" cy="523220"/>
          </a:xfrm>
          <a:prstGeom prst="rect">
            <a:avLst/>
          </a:prstGeom>
          <a:noFill/>
        </p:spPr>
        <p:txBody>
          <a:bodyPr wrap="square" rtlCol="0">
            <a:spAutoFit/>
          </a:bodyPr>
          <a:lstStyle/>
          <a:p>
            <a:pPr algn="ctr"/>
            <a:r>
              <a:rPr lang="en-US" sz="1400" dirty="0"/>
              <a:t>Word access comparison showing AeDAM achieves lower memory accesses especially for input and output than </a:t>
            </a:r>
            <a:r>
              <a:rPr lang="en-US" sz="1400" dirty="0" err="1"/>
              <a:t>ZigZag</a:t>
            </a:r>
            <a:r>
              <a:rPr lang="en-US" sz="1400" dirty="0"/>
              <a:t> across </a:t>
            </a:r>
            <a:r>
              <a:rPr lang="en-US" sz="1400" dirty="0" err="1"/>
              <a:t>VGGNet</a:t>
            </a:r>
            <a:r>
              <a:rPr lang="en-US" sz="1400" dirty="0"/>
              <a:t> layers</a:t>
            </a:r>
            <a:endParaRPr lang="en-NL" sz="1400" dirty="0"/>
          </a:p>
        </p:txBody>
      </p:sp>
    </p:spTree>
    <p:extLst>
      <p:ext uri="{BB962C8B-B14F-4D97-AF65-F5344CB8AC3E}">
        <p14:creationId xmlns:p14="http://schemas.microsoft.com/office/powerpoint/2010/main" val="9396975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263B3-C1DE-7016-4502-D2A86692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4F7A12-0694-AC90-2904-713EE289E411}"/>
              </a:ext>
            </a:extLst>
          </p:cNvPr>
          <p:cNvSpPr>
            <a:spLocks noGrp="1"/>
          </p:cNvSpPr>
          <p:nvPr>
            <p:ph type="title"/>
          </p:nvPr>
        </p:nvSpPr>
        <p:spPr/>
        <p:txBody>
          <a:bodyPr/>
          <a:lstStyle/>
          <a:p>
            <a:r>
              <a:rPr lang="en-US" dirty="0"/>
              <a:t>Latency Performance Analysis</a:t>
            </a:r>
            <a:endParaRPr lang="en-GB" dirty="0"/>
          </a:p>
        </p:txBody>
      </p:sp>
      <p:sp>
        <p:nvSpPr>
          <p:cNvPr id="4" name="Slide Number Placeholder 3">
            <a:extLst>
              <a:ext uri="{FF2B5EF4-FFF2-40B4-BE49-F238E27FC236}">
                <a16:creationId xmlns:a16="http://schemas.microsoft.com/office/drawing/2014/main" id="{C210ABB6-DFCD-0C7D-DC6F-89FF753FFC5C}"/>
              </a:ext>
            </a:extLst>
          </p:cNvPr>
          <p:cNvSpPr>
            <a:spLocks noGrp="1"/>
          </p:cNvSpPr>
          <p:nvPr>
            <p:ph type="sldNum" sz="quarter" idx="12"/>
          </p:nvPr>
        </p:nvSpPr>
        <p:spPr/>
        <p:txBody>
          <a:bodyPr/>
          <a:lstStyle/>
          <a:p>
            <a:fld id="{8836216C-5BC3-7C44-80F8-E30864FFC228}" type="slidenum">
              <a:rPr lang="en-US" smtClean="0"/>
              <a:t>37</a:t>
            </a:fld>
            <a:endParaRPr lang="en-US"/>
          </a:p>
        </p:txBody>
      </p:sp>
      <p:sp>
        <p:nvSpPr>
          <p:cNvPr id="5" name="Text Placeholder 4">
            <a:extLst>
              <a:ext uri="{FF2B5EF4-FFF2-40B4-BE49-F238E27FC236}">
                <a16:creationId xmlns:a16="http://schemas.microsoft.com/office/drawing/2014/main" id="{5FAA8208-E649-E6FB-CA98-8867711F5F57}"/>
              </a:ext>
            </a:extLst>
          </p:cNvPr>
          <p:cNvSpPr>
            <a:spLocks noGrp="1"/>
          </p:cNvSpPr>
          <p:nvPr>
            <p:ph type="body" sz="quarter" idx="13"/>
          </p:nvPr>
        </p:nvSpPr>
        <p:spPr/>
        <p:txBody>
          <a:bodyPr/>
          <a:lstStyle/>
          <a:p>
            <a:r>
              <a:rPr lang="en-US" dirty="0"/>
              <a:t>AeDAM vs </a:t>
            </a:r>
            <a:r>
              <a:rPr lang="en-US" dirty="0" err="1"/>
              <a:t>ZigZag</a:t>
            </a:r>
            <a:r>
              <a:rPr lang="en-US" dirty="0"/>
              <a:t>: Execution Cycle Reduction for </a:t>
            </a:r>
            <a:r>
              <a:rPr lang="en-US" dirty="0" err="1"/>
              <a:t>VGGNet</a:t>
            </a:r>
            <a:r>
              <a:rPr lang="en-US" dirty="0"/>
              <a:t> Layers</a:t>
            </a:r>
            <a:endParaRPr lang="en-GB" dirty="0">
              <a:latin typeface="Gill Sans MT"/>
              <a:cs typeface="Gill Sans"/>
            </a:endParaRPr>
          </a:p>
        </p:txBody>
      </p:sp>
      <p:pic>
        <p:nvPicPr>
          <p:cNvPr id="3" name="Picture 2">
            <a:extLst>
              <a:ext uri="{FF2B5EF4-FFF2-40B4-BE49-F238E27FC236}">
                <a16:creationId xmlns:a16="http://schemas.microsoft.com/office/drawing/2014/main" id="{A83D7216-5F2A-FBB9-5175-F6A28B750868}"/>
              </a:ext>
            </a:extLst>
          </p:cNvPr>
          <p:cNvPicPr>
            <a:picLocks noChangeAspect="1"/>
          </p:cNvPicPr>
          <p:nvPr/>
        </p:nvPicPr>
        <p:blipFill>
          <a:blip r:embed="rId3"/>
          <a:stretch>
            <a:fillRect/>
          </a:stretch>
        </p:blipFill>
        <p:spPr>
          <a:xfrm>
            <a:off x="1864519" y="1336399"/>
            <a:ext cx="6550819" cy="2770739"/>
          </a:xfrm>
          <a:prstGeom prst="rect">
            <a:avLst/>
          </a:prstGeom>
        </p:spPr>
      </p:pic>
      <p:sp>
        <p:nvSpPr>
          <p:cNvPr id="6" name="Rectangle 5">
            <a:extLst>
              <a:ext uri="{FF2B5EF4-FFF2-40B4-BE49-F238E27FC236}">
                <a16:creationId xmlns:a16="http://schemas.microsoft.com/office/drawing/2014/main" id="{424CDDD7-74FD-A06C-69EE-0337FE6AFFB4}"/>
              </a:ext>
            </a:extLst>
          </p:cNvPr>
          <p:cNvSpPr/>
          <p:nvPr/>
        </p:nvSpPr>
        <p:spPr>
          <a:xfrm>
            <a:off x="200023" y="1785937"/>
            <a:ext cx="1500186"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200">
                <a:solidFill>
                  <a:srgbClr val="929497"/>
                </a:solidFill>
              </a:rPr>
              <a:t>Exploration time</a:t>
            </a:r>
          </a:p>
        </p:txBody>
      </p:sp>
      <p:sp>
        <p:nvSpPr>
          <p:cNvPr id="8" name="Rectangle 7">
            <a:extLst>
              <a:ext uri="{FF2B5EF4-FFF2-40B4-BE49-F238E27FC236}">
                <a16:creationId xmlns:a16="http://schemas.microsoft.com/office/drawing/2014/main" id="{D9A3E022-1D3E-4D5F-357F-43B445441EDE}"/>
              </a:ext>
            </a:extLst>
          </p:cNvPr>
          <p:cNvSpPr/>
          <p:nvPr/>
        </p:nvSpPr>
        <p:spPr>
          <a:xfrm>
            <a:off x="200022" y="2307431"/>
            <a:ext cx="1500186"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200">
                <a:solidFill>
                  <a:srgbClr val="929497"/>
                </a:solidFill>
              </a:rPr>
              <a:t>Word access count</a:t>
            </a:r>
          </a:p>
        </p:txBody>
      </p:sp>
      <p:sp>
        <p:nvSpPr>
          <p:cNvPr id="9" name="Rectangle 8">
            <a:extLst>
              <a:ext uri="{FF2B5EF4-FFF2-40B4-BE49-F238E27FC236}">
                <a16:creationId xmlns:a16="http://schemas.microsoft.com/office/drawing/2014/main" id="{B7BA991B-EC8D-0706-6964-D9DD4B2E991F}"/>
              </a:ext>
            </a:extLst>
          </p:cNvPr>
          <p:cNvSpPr/>
          <p:nvPr/>
        </p:nvSpPr>
        <p:spPr>
          <a:xfrm>
            <a:off x="200021" y="2757487"/>
            <a:ext cx="1500186" cy="300038"/>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a:solidFill>
                  <a:schemeClr val="tx1"/>
                </a:solidFill>
              </a:rPr>
              <a:t>Latency breakdown</a:t>
            </a:r>
          </a:p>
        </p:txBody>
      </p:sp>
      <p:sp>
        <p:nvSpPr>
          <p:cNvPr id="11" name="Rectangle 10">
            <a:extLst>
              <a:ext uri="{FF2B5EF4-FFF2-40B4-BE49-F238E27FC236}">
                <a16:creationId xmlns:a16="http://schemas.microsoft.com/office/drawing/2014/main" id="{B070D2B9-E43C-260F-8EF5-2A036A819C46}"/>
              </a:ext>
            </a:extLst>
          </p:cNvPr>
          <p:cNvSpPr/>
          <p:nvPr/>
        </p:nvSpPr>
        <p:spPr>
          <a:xfrm>
            <a:off x="200020" y="3271837"/>
            <a:ext cx="1500186"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200">
                <a:solidFill>
                  <a:srgbClr val="929497"/>
                </a:solidFill>
              </a:rPr>
              <a:t>Energy breakdown</a:t>
            </a:r>
          </a:p>
        </p:txBody>
      </p:sp>
      <p:sp>
        <p:nvSpPr>
          <p:cNvPr id="7" name="TextBox 6">
            <a:extLst>
              <a:ext uri="{FF2B5EF4-FFF2-40B4-BE49-F238E27FC236}">
                <a16:creationId xmlns:a16="http://schemas.microsoft.com/office/drawing/2014/main" id="{D70B54E4-2907-9C70-56F9-06EBB2BEB760}"/>
              </a:ext>
            </a:extLst>
          </p:cNvPr>
          <p:cNvSpPr txBox="1"/>
          <p:nvPr/>
        </p:nvSpPr>
        <p:spPr>
          <a:xfrm>
            <a:off x="1945341" y="4107138"/>
            <a:ext cx="6469997" cy="461665"/>
          </a:xfrm>
          <a:prstGeom prst="rect">
            <a:avLst/>
          </a:prstGeom>
          <a:noFill/>
        </p:spPr>
        <p:txBody>
          <a:bodyPr wrap="square" rtlCol="0">
            <a:spAutoFit/>
          </a:bodyPr>
          <a:lstStyle/>
          <a:p>
            <a:pPr algn="ctr"/>
            <a:r>
              <a:rPr lang="en-US" sz="1200"/>
              <a:t>Latency comparison showing AeDAM achieves lower cycle counts than </a:t>
            </a:r>
            <a:r>
              <a:rPr lang="en-US" sz="1200" err="1"/>
              <a:t>ZigZag</a:t>
            </a:r>
            <a:r>
              <a:rPr lang="en-US" sz="1200"/>
              <a:t> for both </a:t>
            </a:r>
            <a:r>
              <a:rPr lang="en-US" sz="1200" err="1"/>
              <a:t>VGGNet</a:t>
            </a:r>
            <a:r>
              <a:rPr lang="en-US" sz="1200"/>
              <a:t> layers.</a:t>
            </a:r>
            <a:endParaRPr lang="en-NL" sz="1200"/>
          </a:p>
        </p:txBody>
      </p:sp>
    </p:spTree>
    <p:extLst>
      <p:ext uri="{BB962C8B-B14F-4D97-AF65-F5344CB8AC3E}">
        <p14:creationId xmlns:p14="http://schemas.microsoft.com/office/powerpoint/2010/main" val="31324056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26B76-2F23-DC3B-F18B-CDE449ED8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08BCA-DC8D-D6B0-6362-5644D3765ABC}"/>
              </a:ext>
            </a:extLst>
          </p:cNvPr>
          <p:cNvSpPr>
            <a:spLocks noGrp="1"/>
          </p:cNvSpPr>
          <p:nvPr>
            <p:ph type="title"/>
          </p:nvPr>
        </p:nvSpPr>
        <p:spPr/>
        <p:txBody>
          <a:bodyPr/>
          <a:lstStyle/>
          <a:p>
            <a:r>
              <a:rPr lang="en-US" dirty="0"/>
              <a:t>Energy Consumption Trade-offs</a:t>
            </a:r>
            <a:endParaRPr lang="en-GB" dirty="0"/>
          </a:p>
        </p:txBody>
      </p:sp>
      <p:sp>
        <p:nvSpPr>
          <p:cNvPr id="4" name="Slide Number Placeholder 3">
            <a:extLst>
              <a:ext uri="{FF2B5EF4-FFF2-40B4-BE49-F238E27FC236}">
                <a16:creationId xmlns:a16="http://schemas.microsoft.com/office/drawing/2014/main" id="{19FB8D42-388C-FE8D-46AD-BD1255129AA4}"/>
              </a:ext>
            </a:extLst>
          </p:cNvPr>
          <p:cNvSpPr>
            <a:spLocks noGrp="1"/>
          </p:cNvSpPr>
          <p:nvPr>
            <p:ph type="sldNum" sz="quarter" idx="12"/>
          </p:nvPr>
        </p:nvSpPr>
        <p:spPr/>
        <p:txBody>
          <a:bodyPr/>
          <a:lstStyle/>
          <a:p>
            <a:fld id="{8836216C-5BC3-7C44-80F8-E30864FFC228}" type="slidenum">
              <a:rPr lang="en-US" smtClean="0"/>
              <a:t>38</a:t>
            </a:fld>
            <a:endParaRPr lang="en-US"/>
          </a:p>
        </p:txBody>
      </p:sp>
      <p:sp>
        <p:nvSpPr>
          <p:cNvPr id="5" name="Text Placeholder 4">
            <a:extLst>
              <a:ext uri="{FF2B5EF4-FFF2-40B4-BE49-F238E27FC236}">
                <a16:creationId xmlns:a16="http://schemas.microsoft.com/office/drawing/2014/main" id="{CD39F7F1-E57B-21A8-7BAD-FE36B040A92D}"/>
              </a:ext>
            </a:extLst>
          </p:cNvPr>
          <p:cNvSpPr>
            <a:spLocks noGrp="1"/>
          </p:cNvSpPr>
          <p:nvPr>
            <p:ph type="body" sz="quarter" idx="13"/>
          </p:nvPr>
        </p:nvSpPr>
        <p:spPr>
          <a:xfrm>
            <a:off x="160630" y="576315"/>
            <a:ext cx="8753475" cy="369332"/>
          </a:xfrm>
        </p:spPr>
        <p:txBody>
          <a:bodyPr/>
          <a:lstStyle/>
          <a:p>
            <a:r>
              <a:rPr lang="en-US" dirty="0"/>
              <a:t>AeDAM vs </a:t>
            </a:r>
            <a:r>
              <a:rPr lang="en-US" dirty="0" err="1"/>
              <a:t>ZigZag</a:t>
            </a:r>
            <a:r>
              <a:rPr lang="en-US" dirty="0"/>
              <a:t>: Energy Efficiency Analysis for </a:t>
            </a:r>
            <a:r>
              <a:rPr lang="en-US" dirty="0" err="1"/>
              <a:t>VGGNet</a:t>
            </a:r>
            <a:r>
              <a:rPr lang="en-US" dirty="0"/>
              <a:t> Layers</a:t>
            </a:r>
            <a:endParaRPr lang="en-GB" dirty="0">
              <a:latin typeface="Gill Sans MT"/>
              <a:cs typeface="Gill Sans"/>
            </a:endParaRPr>
          </a:p>
        </p:txBody>
      </p:sp>
      <p:pic>
        <p:nvPicPr>
          <p:cNvPr id="3" name="Picture 2">
            <a:extLst>
              <a:ext uri="{FF2B5EF4-FFF2-40B4-BE49-F238E27FC236}">
                <a16:creationId xmlns:a16="http://schemas.microsoft.com/office/drawing/2014/main" id="{4EF1B462-4F7C-322E-0040-EAB9F37D152E}"/>
              </a:ext>
            </a:extLst>
          </p:cNvPr>
          <p:cNvPicPr>
            <a:picLocks noChangeAspect="1"/>
          </p:cNvPicPr>
          <p:nvPr/>
        </p:nvPicPr>
        <p:blipFill>
          <a:blip r:embed="rId3"/>
          <a:stretch>
            <a:fillRect/>
          </a:stretch>
        </p:blipFill>
        <p:spPr>
          <a:xfrm>
            <a:off x="1907380" y="1250674"/>
            <a:ext cx="6543676" cy="3006483"/>
          </a:xfrm>
          <a:prstGeom prst="rect">
            <a:avLst/>
          </a:prstGeom>
        </p:spPr>
      </p:pic>
      <p:sp>
        <p:nvSpPr>
          <p:cNvPr id="6" name="Rectangle 5">
            <a:extLst>
              <a:ext uri="{FF2B5EF4-FFF2-40B4-BE49-F238E27FC236}">
                <a16:creationId xmlns:a16="http://schemas.microsoft.com/office/drawing/2014/main" id="{3EFD5AFE-66A6-9841-FA07-CC54A01E590D}"/>
              </a:ext>
            </a:extLst>
          </p:cNvPr>
          <p:cNvSpPr/>
          <p:nvPr/>
        </p:nvSpPr>
        <p:spPr>
          <a:xfrm>
            <a:off x="200023" y="1785937"/>
            <a:ext cx="1500186"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200">
                <a:solidFill>
                  <a:srgbClr val="929497"/>
                </a:solidFill>
              </a:rPr>
              <a:t>Exploration time</a:t>
            </a:r>
          </a:p>
        </p:txBody>
      </p:sp>
      <p:sp>
        <p:nvSpPr>
          <p:cNvPr id="8" name="Rectangle 7">
            <a:extLst>
              <a:ext uri="{FF2B5EF4-FFF2-40B4-BE49-F238E27FC236}">
                <a16:creationId xmlns:a16="http://schemas.microsoft.com/office/drawing/2014/main" id="{84B5D51C-83F9-0996-BD53-6E747A370FDE}"/>
              </a:ext>
            </a:extLst>
          </p:cNvPr>
          <p:cNvSpPr/>
          <p:nvPr/>
        </p:nvSpPr>
        <p:spPr>
          <a:xfrm>
            <a:off x="200022" y="2307431"/>
            <a:ext cx="1500186"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200">
                <a:solidFill>
                  <a:srgbClr val="929497"/>
                </a:solidFill>
              </a:rPr>
              <a:t>Word access count</a:t>
            </a:r>
          </a:p>
        </p:txBody>
      </p:sp>
      <p:sp>
        <p:nvSpPr>
          <p:cNvPr id="9" name="Rectangle 8">
            <a:extLst>
              <a:ext uri="{FF2B5EF4-FFF2-40B4-BE49-F238E27FC236}">
                <a16:creationId xmlns:a16="http://schemas.microsoft.com/office/drawing/2014/main" id="{E1B03620-0AE8-0736-163A-96CFD27147A3}"/>
              </a:ext>
            </a:extLst>
          </p:cNvPr>
          <p:cNvSpPr/>
          <p:nvPr/>
        </p:nvSpPr>
        <p:spPr>
          <a:xfrm>
            <a:off x="200021" y="2757487"/>
            <a:ext cx="1500186"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200">
                <a:solidFill>
                  <a:srgbClr val="929497"/>
                </a:solidFill>
              </a:rPr>
              <a:t>Latency breakdown</a:t>
            </a:r>
          </a:p>
        </p:txBody>
      </p:sp>
      <p:sp>
        <p:nvSpPr>
          <p:cNvPr id="11" name="Rectangle 10">
            <a:extLst>
              <a:ext uri="{FF2B5EF4-FFF2-40B4-BE49-F238E27FC236}">
                <a16:creationId xmlns:a16="http://schemas.microsoft.com/office/drawing/2014/main" id="{FCFE35FB-2365-CEA2-9DA4-B26B03D1D83E}"/>
              </a:ext>
            </a:extLst>
          </p:cNvPr>
          <p:cNvSpPr/>
          <p:nvPr/>
        </p:nvSpPr>
        <p:spPr>
          <a:xfrm>
            <a:off x="200020" y="3271837"/>
            <a:ext cx="1500186" cy="300038"/>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a:solidFill>
                  <a:schemeClr val="tx1"/>
                </a:solidFill>
              </a:rPr>
              <a:t>Energy breakdown</a:t>
            </a:r>
          </a:p>
        </p:txBody>
      </p:sp>
      <p:sp>
        <p:nvSpPr>
          <p:cNvPr id="7" name="TextBox 6">
            <a:extLst>
              <a:ext uri="{FF2B5EF4-FFF2-40B4-BE49-F238E27FC236}">
                <a16:creationId xmlns:a16="http://schemas.microsoft.com/office/drawing/2014/main" id="{327D4B16-ABBD-9B3A-83C6-B63321E4907C}"/>
              </a:ext>
            </a:extLst>
          </p:cNvPr>
          <p:cNvSpPr txBox="1"/>
          <p:nvPr/>
        </p:nvSpPr>
        <p:spPr>
          <a:xfrm>
            <a:off x="1907381" y="4257157"/>
            <a:ext cx="6543676" cy="523220"/>
          </a:xfrm>
          <a:prstGeom prst="rect">
            <a:avLst/>
          </a:prstGeom>
          <a:noFill/>
        </p:spPr>
        <p:txBody>
          <a:bodyPr wrap="square" rtlCol="0">
            <a:spAutoFit/>
          </a:bodyPr>
          <a:lstStyle/>
          <a:p>
            <a:pPr algn="ctr"/>
            <a:r>
              <a:rPr lang="en-US" sz="1400" dirty="0"/>
              <a:t>Energy breakdown showing </a:t>
            </a:r>
            <a:r>
              <a:rPr lang="en-US" sz="1400" dirty="0" err="1"/>
              <a:t>AcDAM</a:t>
            </a:r>
            <a:r>
              <a:rPr lang="en-US" sz="1400" dirty="0"/>
              <a:t> reduces input/output energy consumption but increases weight access energy compared to </a:t>
            </a:r>
            <a:r>
              <a:rPr lang="en-US" sz="1400" dirty="0" err="1"/>
              <a:t>ZigZag</a:t>
            </a:r>
            <a:r>
              <a:rPr lang="en-US" sz="1400" dirty="0"/>
              <a:t>.</a:t>
            </a:r>
            <a:endParaRPr lang="en-NL" sz="1400" dirty="0"/>
          </a:p>
        </p:txBody>
      </p:sp>
    </p:spTree>
    <p:extLst>
      <p:ext uri="{BB962C8B-B14F-4D97-AF65-F5344CB8AC3E}">
        <p14:creationId xmlns:p14="http://schemas.microsoft.com/office/powerpoint/2010/main" val="7143342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A2107-EE68-768B-0B4A-C3BCD5C267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1611E-3C53-DB17-4D56-1A79ED717A6B}"/>
              </a:ext>
            </a:extLst>
          </p:cNvPr>
          <p:cNvSpPr>
            <a:spLocks noGrp="1"/>
          </p:cNvSpPr>
          <p:nvPr>
            <p:ph type="title"/>
          </p:nvPr>
        </p:nvSpPr>
        <p:spPr/>
        <p:txBody>
          <a:bodyPr/>
          <a:lstStyle/>
          <a:p>
            <a:r>
              <a:rPr lang="en-GB" dirty="0" err="1">
                <a:latin typeface="Gill Sans MT"/>
                <a:cs typeface="Gill Sans"/>
              </a:rPr>
              <a:t>Comparision</a:t>
            </a:r>
            <a:r>
              <a:rPr lang="en-GB" dirty="0">
                <a:latin typeface="Gill Sans MT"/>
                <a:cs typeface="Gill Sans"/>
              </a:rPr>
              <a:t> Summary</a:t>
            </a:r>
            <a:endParaRPr lang="en-GB" dirty="0"/>
          </a:p>
        </p:txBody>
      </p:sp>
      <p:sp>
        <p:nvSpPr>
          <p:cNvPr id="4" name="Slide Number Placeholder 3">
            <a:extLst>
              <a:ext uri="{FF2B5EF4-FFF2-40B4-BE49-F238E27FC236}">
                <a16:creationId xmlns:a16="http://schemas.microsoft.com/office/drawing/2014/main" id="{74DEF405-42F4-5D20-1DF9-EAA757B18976}"/>
              </a:ext>
            </a:extLst>
          </p:cNvPr>
          <p:cNvSpPr>
            <a:spLocks noGrp="1"/>
          </p:cNvSpPr>
          <p:nvPr>
            <p:ph type="sldNum" sz="quarter" idx="12"/>
          </p:nvPr>
        </p:nvSpPr>
        <p:spPr/>
        <p:txBody>
          <a:bodyPr/>
          <a:lstStyle/>
          <a:p>
            <a:fld id="{8836216C-5BC3-7C44-80F8-E30864FFC228}" type="slidenum">
              <a:rPr lang="en-US" smtClean="0"/>
              <a:t>39</a:t>
            </a:fld>
            <a:endParaRPr lang="en-US"/>
          </a:p>
        </p:txBody>
      </p:sp>
      <p:sp>
        <p:nvSpPr>
          <p:cNvPr id="5" name="Text Placeholder 4">
            <a:extLst>
              <a:ext uri="{FF2B5EF4-FFF2-40B4-BE49-F238E27FC236}">
                <a16:creationId xmlns:a16="http://schemas.microsoft.com/office/drawing/2014/main" id="{4C7038ED-69F5-CC89-6C45-AEBF6F256B91}"/>
              </a:ext>
            </a:extLst>
          </p:cNvPr>
          <p:cNvSpPr>
            <a:spLocks noGrp="1"/>
          </p:cNvSpPr>
          <p:nvPr>
            <p:ph type="body" sz="quarter" idx="13"/>
          </p:nvPr>
        </p:nvSpPr>
        <p:spPr/>
        <p:txBody>
          <a:bodyPr/>
          <a:lstStyle/>
          <a:p>
            <a:r>
              <a:rPr lang="en-US" dirty="0"/>
              <a:t>Quantified Performance Improvements and Architectural Trade-offs</a:t>
            </a:r>
            <a:endParaRPr lang="en-GB" dirty="0"/>
          </a:p>
        </p:txBody>
      </p:sp>
      <p:graphicFrame>
        <p:nvGraphicFramePr>
          <p:cNvPr id="6" name="Table 5">
            <a:extLst>
              <a:ext uri="{FF2B5EF4-FFF2-40B4-BE49-F238E27FC236}">
                <a16:creationId xmlns:a16="http://schemas.microsoft.com/office/drawing/2014/main" id="{EC7172EA-507D-7525-E75D-E73EAC864A71}"/>
              </a:ext>
            </a:extLst>
          </p:cNvPr>
          <p:cNvGraphicFramePr>
            <a:graphicFrameLocks noGrp="1"/>
          </p:cNvGraphicFramePr>
          <p:nvPr>
            <p:extLst>
              <p:ext uri="{D42A27DB-BD31-4B8C-83A1-F6EECF244321}">
                <p14:modId xmlns:p14="http://schemas.microsoft.com/office/powerpoint/2010/main" val="3993373250"/>
              </p:ext>
            </p:extLst>
          </p:nvPr>
        </p:nvGraphicFramePr>
        <p:xfrm>
          <a:off x="536288" y="1037980"/>
          <a:ext cx="8071423" cy="3742675"/>
        </p:xfrm>
        <a:graphic>
          <a:graphicData uri="http://schemas.openxmlformats.org/drawingml/2006/table">
            <a:tbl>
              <a:tblPr firstRow="1" bandRow="1">
                <a:tableStyleId>{5C22544A-7EE6-4342-B048-85BDC9FD1C3A}</a:tableStyleId>
              </a:tblPr>
              <a:tblGrid>
                <a:gridCol w="1373118">
                  <a:extLst>
                    <a:ext uri="{9D8B030D-6E8A-4147-A177-3AD203B41FA5}">
                      <a16:colId xmlns:a16="http://schemas.microsoft.com/office/drawing/2014/main" val="429319486"/>
                    </a:ext>
                  </a:extLst>
                </a:gridCol>
                <a:gridCol w="2153773">
                  <a:extLst>
                    <a:ext uri="{9D8B030D-6E8A-4147-A177-3AD203B41FA5}">
                      <a16:colId xmlns:a16="http://schemas.microsoft.com/office/drawing/2014/main" val="3385533146"/>
                    </a:ext>
                  </a:extLst>
                </a:gridCol>
                <a:gridCol w="2272266">
                  <a:extLst>
                    <a:ext uri="{9D8B030D-6E8A-4147-A177-3AD203B41FA5}">
                      <a16:colId xmlns:a16="http://schemas.microsoft.com/office/drawing/2014/main" val="2965184462"/>
                    </a:ext>
                  </a:extLst>
                </a:gridCol>
                <a:gridCol w="2272266">
                  <a:extLst>
                    <a:ext uri="{9D8B030D-6E8A-4147-A177-3AD203B41FA5}">
                      <a16:colId xmlns:a16="http://schemas.microsoft.com/office/drawing/2014/main" val="3110090812"/>
                    </a:ext>
                  </a:extLst>
                </a:gridCol>
              </a:tblGrid>
              <a:tr h="472484">
                <a:tc>
                  <a:txBody>
                    <a:bodyPr/>
                    <a:lstStyle/>
                    <a:p>
                      <a:r>
                        <a:rPr lang="en-US" sz="1400" b="1"/>
                        <a:t>Metric</a:t>
                      </a:r>
                      <a:endParaRPr lang="en-US" sz="1400"/>
                    </a:p>
                  </a:txBody>
                  <a:tcPr/>
                </a:tc>
                <a:tc>
                  <a:txBody>
                    <a:bodyPr/>
                    <a:lstStyle/>
                    <a:p>
                      <a:pPr algn="ctr"/>
                      <a:r>
                        <a:rPr lang="en-GB" sz="1400"/>
                        <a:t>Zigzag</a:t>
                      </a:r>
                    </a:p>
                  </a:txBody>
                  <a:tcPr/>
                </a:tc>
                <a:tc>
                  <a:txBody>
                    <a:bodyPr/>
                    <a:lstStyle/>
                    <a:p>
                      <a:pPr algn="ctr"/>
                      <a:r>
                        <a:rPr lang="en-GB" sz="1400"/>
                        <a:t>AeDAM</a:t>
                      </a:r>
                    </a:p>
                  </a:txBody>
                  <a:tcPr/>
                </a:tc>
                <a:tc>
                  <a:txBody>
                    <a:bodyPr/>
                    <a:lstStyle/>
                    <a:p>
                      <a:pPr marL="0" marR="0" lvl="0" indent="0" algn="ctr" defTabSz="411480" rtl="0" eaLnBrk="1" fontAlgn="auto" latinLnBrk="0" hangingPunct="1">
                        <a:lnSpc>
                          <a:spcPct val="100000"/>
                        </a:lnSpc>
                        <a:spcBef>
                          <a:spcPts val="0"/>
                        </a:spcBef>
                        <a:spcAft>
                          <a:spcPts val="0"/>
                        </a:spcAft>
                        <a:buClrTx/>
                        <a:buSzTx/>
                        <a:buFontTx/>
                        <a:buNone/>
                        <a:tabLst/>
                        <a:defRPr/>
                      </a:pPr>
                      <a:r>
                        <a:rPr lang="en-US" sz="1400" b="1"/>
                        <a:t>Improvement</a:t>
                      </a:r>
                      <a:endParaRPr lang="en-US" sz="1400"/>
                    </a:p>
                    <a:p>
                      <a:pPr algn="ctr"/>
                      <a:endParaRPr lang="en-GB" sz="1400"/>
                    </a:p>
                  </a:txBody>
                  <a:tcPr/>
                </a:tc>
                <a:extLst>
                  <a:ext uri="{0D108BD9-81ED-4DB2-BD59-A6C34878D82A}">
                    <a16:rowId xmlns:a16="http://schemas.microsoft.com/office/drawing/2014/main" val="1432885399"/>
                  </a:ext>
                </a:extLst>
              </a:tr>
              <a:tr h="667036">
                <a:tc>
                  <a:txBody>
                    <a:bodyPr/>
                    <a:lstStyle/>
                    <a:p>
                      <a:r>
                        <a:rPr lang="en-US" sz="1400" b="1" err="1"/>
                        <a:t>Mapspace</a:t>
                      </a:r>
                      <a:endParaRPr lang="en-US" sz="1400"/>
                    </a:p>
                  </a:txBody>
                  <a:tcPr anchor="ctr"/>
                </a:tc>
                <a:tc>
                  <a:txBody>
                    <a:bodyPr/>
                    <a:lstStyle/>
                    <a:p>
                      <a:r>
                        <a:rPr lang="en-US" sz="1400"/>
                        <a:t>720 maps (Input, Weight and output stationary </a:t>
                      </a:r>
                      <a:r>
                        <a:rPr lang="en-US" sz="1400" err="1"/>
                        <a:t>mapspace</a:t>
                      </a:r>
                      <a:r>
                        <a:rPr lang="en-US" sz="1400"/>
                        <a:t>)</a:t>
                      </a:r>
                    </a:p>
                  </a:txBody>
                  <a:tcPr anchor="ctr"/>
                </a:tc>
                <a:tc>
                  <a:txBody>
                    <a:bodyPr/>
                    <a:lstStyle/>
                    <a:p>
                      <a:r>
                        <a:rPr lang="en-US" sz="1400"/>
                        <a:t>36-1 maps (Event stationary </a:t>
                      </a:r>
                      <a:r>
                        <a:rPr lang="en-US" sz="1400" err="1"/>
                        <a:t>mapspace</a:t>
                      </a:r>
                      <a:r>
                        <a:rPr lang="en-US" sz="1400"/>
                        <a:t>)</a:t>
                      </a:r>
                    </a:p>
                  </a:txBody>
                  <a:tcPr anchor="ctr"/>
                </a:tc>
                <a:tc>
                  <a:txBody>
                    <a:bodyPr/>
                    <a:lstStyle/>
                    <a:p>
                      <a:r>
                        <a:rPr lang="en-NL" sz="1400"/>
                        <a:t>20-720×</a:t>
                      </a:r>
                      <a:r>
                        <a:rPr lang="en-US" sz="1400"/>
                        <a:t> less </a:t>
                      </a:r>
                      <a:r>
                        <a:rPr lang="en-US" sz="1400" err="1"/>
                        <a:t>mapspace</a:t>
                      </a:r>
                      <a:r>
                        <a:rPr lang="en-US" sz="1400"/>
                        <a:t> to search for</a:t>
                      </a:r>
                      <a:endParaRPr lang="en-NL" sz="1400"/>
                    </a:p>
                  </a:txBody>
                  <a:tcPr anchor="ctr"/>
                </a:tc>
                <a:extLst>
                  <a:ext uri="{0D108BD9-81ED-4DB2-BD59-A6C34878D82A}">
                    <a16:rowId xmlns:a16="http://schemas.microsoft.com/office/drawing/2014/main" val="1879196572"/>
                  </a:ext>
                </a:extLst>
              </a:tr>
              <a:tr h="729772">
                <a:tc>
                  <a:txBody>
                    <a:bodyPr/>
                    <a:lstStyle/>
                    <a:p>
                      <a:r>
                        <a:rPr lang="en-US" sz="1400" b="1"/>
                        <a:t>Exploration Time</a:t>
                      </a:r>
                      <a:endParaRPr lang="en-US" sz="1400"/>
                    </a:p>
                  </a:txBody>
                  <a:tcPr anchor="ctr"/>
                </a:tc>
                <a:tc>
                  <a:txBody>
                    <a:bodyPr/>
                    <a:lstStyle/>
                    <a:p>
                      <a:r>
                        <a:rPr lang="en-US" sz="1400"/>
                        <a:t>254s (</a:t>
                      </a:r>
                      <a:r>
                        <a:rPr lang="en-US" sz="1400" err="1"/>
                        <a:t>VGGNet</a:t>
                      </a:r>
                      <a:r>
                        <a:rPr lang="en-US" sz="1400"/>
                        <a:t>)</a:t>
                      </a:r>
                      <a:br>
                        <a:rPr lang="en-US" sz="1400"/>
                      </a:br>
                      <a:r>
                        <a:rPr lang="en-US" sz="1400"/>
                        <a:t>281s (ResNet-8)</a:t>
                      </a:r>
                    </a:p>
                  </a:txBody>
                  <a:tcPr anchor="ctr"/>
                </a:tc>
                <a:tc>
                  <a:txBody>
                    <a:bodyPr/>
                    <a:lstStyle/>
                    <a:p>
                      <a:r>
                        <a:rPr lang="en-US" sz="1400"/>
                        <a:t>100s (</a:t>
                      </a:r>
                      <a:r>
                        <a:rPr lang="en-US" sz="1400" err="1"/>
                        <a:t>VGGNet</a:t>
                      </a:r>
                      <a:r>
                        <a:rPr lang="en-US" sz="1400"/>
                        <a:t>)</a:t>
                      </a:r>
                      <a:br>
                        <a:rPr lang="en-US" sz="1400"/>
                      </a:br>
                      <a:r>
                        <a:rPr lang="en-US" sz="1400"/>
                        <a:t>120s (ResNet-8)</a:t>
                      </a:r>
                    </a:p>
                  </a:txBody>
                  <a:tcPr anchor="ctr"/>
                </a:tc>
                <a:tc>
                  <a:txBody>
                    <a:bodyPr/>
                    <a:lstStyle/>
                    <a:p>
                      <a:r>
                        <a:rPr lang="en-NL" sz="1400"/>
                        <a:t>2.3-2.5×</a:t>
                      </a:r>
                      <a:r>
                        <a:rPr lang="en-US" sz="1400"/>
                        <a:t> Faster exploration</a:t>
                      </a:r>
                      <a:endParaRPr lang="en-NL" sz="1400"/>
                    </a:p>
                  </a:txBody>
                  <a:tcPr anchor="ctr"/>
                </a:tc>
                <a:extLst>
                  <a:ext uri="{0D108BD9-81ED-4DB2-BD59-A6C34878D82A}">
                    <a16:rowId xmlns:a16="http://schemas.microsoft.com/office/drawing/2014/main" val="3458316242"/>
                  </a:ext>
                </a:extLst>
              </a:tr>
              <a:tr h="513543">
                <a:tc>
                  <a:txBody>
                    <a:bodyPr/>
                    <a:lstStyle/>
                    <a:p>
                      <a:r>
                        <a:rPr lang="en-US" sz="1400" b="1"/>
                        <a:t>Latency (Cycles)</a:t>
                      </a:r>
                      <a:endParaRPr lang="en-US" sz="1400"/>
                    </a:p>
                  </a:txBody>
                  <a:tcPr anchor="ctr"/>
                </a:tc>
                <a:tc>
                  <a:txBody>
                    <a:bodyPr/>
                    <a:lstStyle/>
                    <a:p>
                      <a:r>
                        <a:rPr lang="en-US" sz="1400"/>
                        <a:t>L1: 12.0M</a:t>
                      </a:r>
                      <a:br>
                        <a:rPr lang="en-US" sz="1400"/>
                      </a:br>
                      <a:r>
                        <a:rPr lang="en-US" sz="1400"/>
                        <a:t>L7: 154.1M</a:t>
                      </a:r>
                    </a:p>
                  </a:txBody>
                  <a:tcPr anchor="ctr"/>
                </a:tc>
                <a:tc>
                  <a:txBody>
                    <a:bodyPr/>
                    <a:lstStyle/>
                    <a:p>
                      <a:r>
                        <a:rPr lang="en-US" sz="1400"/>
                        <a:t>L1: 11.0M</a:t>
                      </a:r>
                      <a:br>
                        <a:rPr lang="en-US" sz="1400"/>
                      </a:br>
                      <a:r>
                        <a:rPr lang="en-US" sz="1400"/>
                        <a:t>L7: 116.0M</a:t>
                      </a:r>
                    </a:p>
                  </a:txBody>
                  <a:tcPr anchor="ctr"/>
                </a:tc>
                <a:tc>
                  <a:txBody>
                    <a:bodyPr/>
                    <a:lstStyle/>
                    <a:p>
                      <a:r>
                        <a:rPr lang="en-NL" sz="1400"/>
                        <a:t>1.1-1.3×</a:t>
                      </a:r>
                      <a:r>
                        <a:rPr lang="en-US" sz="1400"/>
                        <a:t> Better mapping</a:t>
                      </a:r>
                      <a:endParaRPr lang="en-NL" sz="1400"/>
                    </a:p>
                  </a:txBody>
                  <a:tcPr anchor="ctr"/>
                </a:tc>
                <a:extLst>
                  <a:ext uri="{0D108BD9-81ED-4DB2-BD59-A6C34878D82A}">
                    <a16:rowId xmlns:a16="http://schemas.microsoft.com/office/drawing/2014/main" val="2811905294"/>
                  </a:ext>
                </a:extLst>
              </a:tr>
              <a:tr h="729772">
                <a:tc>
                  <a:txBody>
                    <a:bodyPr/>
                    <a:lstStyle/>
                    <a:p>
                      <a:r>
                        <a:rPr lang="en-US" sz="1400" b="1"/>
                        <a:t>Energy</a:t>
                      </a:r>
                      <a:endParaRPr lang="en-US" sz="1400"/>
                    </a:p>
                  </a:txBody>
                  <a:tcPr anchor="ctr"/>
                </a:tc>
                <a:tc>
                  <a:txBody>
                    <a:bodyPr/>
                    <a:lstStyle/>
                    <a:p>
                      <a:r>
                        <a:rPr lang="en-US" sz="1400"/>
                        <a:t>Lower weight access</a:t>
                      </a:r>
                      <a:br>
                        <a:rPr lang="en-US" sz="1400"/>
                      </a:br>
                      <a:r>
                        <a:rPr lang="en-US" sz="1400"/>
                        <a:t>Higher I/O energy</a:t>
                      </a:r>
                    </a:p>
                  </a:txBody>
                  <a:tcPr anchor="ctr"/>
                </a:tc>
                <a:tc>
                  <a:txBody>
                    <a:bodyPr/>
                    <a:lstStyle/>
                    <a:p>
                      <a:r>
                        <a:rPr lang="en-US" sz="1400"/>
                        <a:t>Higher weight access</a:t>
                      </a:r>
                      <a:br>
                        <a:rPr lang="en-US" sz="1400"/>
                      </a:br>
                      <a:r>
                        <a:rPr lang="en-US" sz="1400"/>
                        <a:t>Lower I/O energy</a:t>
                      </a:r>
                    </a:p>
                  </a:txBody>
                  <a:tcPr anchor="ctr"/>
                </a:tc>
                <a:tc>
                  <a:txBody>
                    <a:bodyPr/>
                    <a:lstStyle/>
                    <a:p>
                      <a:r>
                        <a:rPr lang="en-US" sz="1400"/>
                        <a:t>2-5× (I/O) Better energy savings</a:t>
                      </a:r>
                      <a:br>
                        <a:rPr lang="en-US" sz="1400"/>
                      </a:br>
                      <a:r>
                        <a:rPr lang="en-US" sz="1400"/>
                        <a:t>Trade-off (weights)</a:t>
                      </a:r>
                    </a:p>
                  </a:txBody>
                  <a:tcPr anchor="ctr"/>
                </a:tc>
                <a:extLst>
                  <a:ext uri="{0D108BD9-81ED-4DB2-BD59-A6C34878D82A}">
                    <a16:rowId xmlns:a16="http://schemas.microsoft.com/office/drawing/2014/main" val="4155801135"/>
                  </a:ext>
                </a:extLst>
              </a:tr>
              <a:tr h="513543">
                <a:tc>
                  <a:txBody>
                    <a:bodyPr/>
                    <a:lstStyle/>
                    <a:p>
                      <a:r>
                        <a:rPr lang="en-US" sz="1400" b="1"/>
                        <a:t>Architecture</a:t>
                      </a:r>
                      <a:endParaRPr lang="en-US" sz="1400"/>
                    </a:p>
                  </a:txBody>
                  <a:tcPr anchor="ctr"/>
                </a:tc>
                <a:tc>
                  <a:txBody>
                    <a:bodyPr/>
                    <a:lstStyle/>
                    <a:p>
                      <a:r>
                        <a:rPr lang="en-US" sz="1400"/>
                        <a:t>General purpose</a:t>
                      </a:r>
                    </a:p>
                  </a:txBody>
                  <a:tcPr anchor="ctr"/>
                </a:tc>
                <a:tc>
                  <a:txBody>
                    <a:bodyPr/>
                    <a:lstStyle/>
                    <a:p>
                      <a:r>
                        <a:rPr lang="en-US" sz="1400"/>
                        <a:t>Event-driven specialized</a:t>
                      </a:r>
                    </a:p>
                  </a:txBody>
                  <a:tcPr anchor="ctr"/>
                </a:tc>
                <a:tc>
                  <a:txBody>
                    <a:bodyPr/>
                    <a:lstStyle/>
                    <a:p>
                      <a:r>
                        <a:rPr lang="en-US" sz="1400"/>
                        <a:t>Targeted</a:t>
                      </a:r>
                    </a:p>
                  </a:txBody>
                  <a:tcPr anchor="ctr"/>
                </a:tc>
                <a:extLst>
                  <a:ext uri="{0D108BD9-81ED-4DB2-BD59-A6C34878D82A}">
                    <a16:rowId xmlns:a16="http://schemas.microsoft.com/office/drawing/2014/main" val="3554483173"/>
                  </a:ext>
                </a:extLst>
              </a:tr>
            </a:tbl>
          </a:graphicData>
        </a:graphic>
      </p:graphicFrame>
      <p:sp>
        <p:nvSpPr>
          <p:cNvPr id="3" name="Rectangle 2">
            <a:extLst>
              <a:ext uri="{FF2B5EF4-FFF2-40B4-BE49-F238E27FC236}">
                <a16:creationId xmlns:a16="http://schemas.microsoft.com/office/drawing/2014/main" id="{3555A116-7B43-CB71-FEA6-3A7A803133FD}"/>
              </a:ext>
            </a:extLst>
          </p:cNvPr>
          <p:cNvSpPr/>
          <p:nvPr/>
        </p:nvSpPr>
        <p:spPr>
          <a:xfrm>
            <a:off x="516080" y="1534886"/>
            <a:ext cx="8111837" cy="75111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7" name="Rectangle 6">
            <a:extLst>
              <a:ext uri="{FF2B5EF4-FFF2-40B4-BE49-F238E27FC236}">
                <a16:creationId xmlns:a16="http://schemas.microsoft.com/office/drawing/2014/main" id="{0661365C-5BF6-31C8-B587-8C9EEB947318}"/>
              </a:ext>
            </a:extLst>
          </p:cNvPr>
          <p:cNvSpPr/>
          <p:nvPr/>
        </p:nvSpPr>
        <p:spPr>
          <a:xfrm>
            <a:off x="536287" y="2302331"/>
            <a:ext cx="8111837" cy="76603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8" name="Rectangle 7">
            <a:extLst>
              <a:ext uri="{FF2B5EF4-FFF2-40B4-BE49-F238E27FC236}">
                <a16:creationId xmlns:a16="http://schemas.microsoft.com/office/drawing/2014/main" id="{266BEB1E-5791-995D-D4C9-B03F1FCED0FA}"/>
              </a:ext>
            </a:extLst>
          </p:cNvPr>
          <p:cNvSpPr/>
          <p:nvPr/>
        </p:nvSpPr>
        <p:spPr>
          <a:xfrm>
            <a:off x="455462" y="3068365"/>
            <a:ext cx="8192662" cy="4758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9" name="Rectangle 8">
            <a:extLst>
              <a:ext uri="{FF2B5EF4-FFF2-40B4-BE49-F238E27FC236}">
                <a16:creationId xmlns:a16="http://schemas.microsoft.com/office/drawing/2014/main" id="{6870FB91-41CF-B8BF-9DD1-3DBA81B55416}"/>
              </a:ext>
            </a:extLst>
          </p:cNvPr>
          <p:cNvSpPr/>
          <p:nvPr/>
        </p:nvSpPr>
        <p:spPr>
          <a:xfrm>
            <a:off x="495875" y="3544262"/>
            <a:ext cx="8111837" cy="72454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
        <p:nvSpPr>
          <p:cNvPr id="10" name="Rectangle 9">
            <a:extLst>
              <a:ext uri="{FF2B5EF4-FFF2-40B4-BE49-F238E27FC236}">
                <a16:creationId xmlns:a16="http://schemas.microsoft.com/office/drawing/2014/main" id="{B6D15A11-BA79-CABA-DDE1-8B89995B116B}"/>
              </a:ext>
            </a:extLst>
          </p:cNvPr>
          <p:cNvSpPr/>
          <p:nvPr/>
        </p:nvSpPr>
        <p:spPr>
          <a:xfrm>
            <a:off x="536288" y="4252479"/>
            <a:ext cx="8111837" cy="54450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400"/>
          </a:p>
        </p:txBody>
      </p:sp>
    </p:spTree>
    <p:extLst>
      <p:ext uri="{BB962C8B-B14F-4D97-AF65-F5344CB8AC3E}">
        <p14:creationId xmlns:p14="http://schemas.microsoft.com/office/powerpoint/2010/main" val="3829710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0" nodeType="clickEffect">
                                  <p:stCondLst>
                                    <p:cond delay="0"/>
                                  </p:stCondLst>
                                  <p:childTnLst>
                                    <p:animEffect transition="out" filter="fade">
                                      <p:cBhvr>
                                        <p:cTn id="26" dur="500"/>
                                        <p:tgtEl>
                                          <p:spTgt spid="9"/>
                                        </p:tgtEl>
                                      </p:cBhvr>
                                    </p:animEffect>
                                    <p:set>
                                      <p:cBhvr>
                                        <p:cTn id="27" dur="1" fill="hold">
                                          <p:stCondLst>
                                            <p:cond delay="499"/>
                                          </p:stCondLst>
                                        </p:cTn>
                                        <p:tgtEl>
                                          <p:spTgt spid="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0" nodeType="clickEffect">
                                  <p:stCondLst>
                                    <p:cond delay="0"/>
                                  </p:stCondLst>
                                  <p:childTnLst>
                                    <p:animEffect transition="out" filter="fade">
                                      <p:cBhvr>
                                        <p:cTn id="31" dur="500"/>
                                        <p:tgtEl>
                                          <p:spTgt spid="10"/>
                                        </p:tgtEl>
                                      </p:cBhvr>
                                    </p:animEffect>
                                    <p:set>
                                      <p:cBhvr>
                                        <p:cTn id="3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P spid="9" grpId="0" animBg="1"/>
      <p:bldP spid="1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ABC54-1C78-344C-7DEB-63F01B5BC387}"/>
              </a:ext>
            </a:extLst>
          </p:cNvPr>
          <p:cNvSpPr>
            <a:spLocks noGrp="1"/>
          </p:cNvSpPr>
          <p:nvPr>
            <p:ph type="title"/>
          </p:nvPr>
        </p:nvSpPr>
        <p:spPr/>
        <p:txBody>
          <a:bodyPr/>
          <a:lstStyle/>
          <a:p>
            <a:r>
              <a:rPr lang="en-US" dirty="0"/>
              <a:t>Design Space Exploration Case Study</a:t>
            </a:r>
            <a:endParaRPr lang="en-GB" dirty="0">
              <a:latin typeface="Gill Sans MT"/>
              <a:cs typeface="Gill Sans"/>
            </a:endParaRPr>
          </a:p>
        </p:txBody>
      </p:sp>
      <p:sp>
        <p:nvSpPr>
          <p:cNvPr id="3" name="Content Placeholder 2">
            <a:extLst>
              <a:ext uri="{FF2B5EF4-FFF2-40B4-BE49-F238E27FC236}">
                <a16:creationId xmlns:a16="http://schemas.microsoft.com/office/drawing/2014/main" id="{95FA5E95-35E6-395C-7F25-C73754587439}"/>
              </a:ext>
            </a:extLst>
          </p:cNvPr>
          <p:cNvSpPr>
            <a:spLocks noGrp="1"/>
          </p:cNvSpPr>
          <p:nvPr>
            <p:ph idx="1"/>
          </p:nvPr>
        </p:nvSpPr>
        <p:spPr>
          <a:xfrm>
            <a:off x="160629" y="1136964"/>
            <a:ext cx="8753475" cy="1552575"/>
          </a:xfrm>
        </p:spPr>
        <p:txBody>
          <a:bodyPr>
            <a:normAutofit lnSpcReduction="10000"/>
          </a:bodyPr>
          <a:lstStyle/>
          <a:p>
            <a:pPr marL="0" indent="0">
              <a:buNone/>
            </a:pPr>
            <a:r>
              <a:rPr lang="en-GB" dirty="0">
                <a:latin typeface="Gill Sans MT"/>
                <a:cs typeface="Gill Sans"/>
              </a:rPr>
              <a:t>Goal: For a given NN, optimal configuration of the SENECA</a:t>
            </a:r>
          </a:p>
          <a:p>
            <a:pPr marL="0" indent="0">
              <a:buNone/>
            </a:pPr>
            <a:br>
              <a:rPr lang="en-GB" dirty="0"/>
            </a:br>
            <a:r>
              <a:rPr lang="en-GB" dirty="0">
                <a:latin typeface="Gill Sans MT"/>
                <a:cs typeface="Gill Sans"/>
              </a:rPr>
              <a:t>For the </a:t>
            </a:r>
            <a:r>
              <a:rPr lang="en-GB" dirty="0" err="1">
                <a:latin typeface="Gill Sans MT"/>
                <a:cs typeface="Gill Sans"/>
              </a:rPr>
              <a:t>VGGnet</a:t>
            </a:r>
            <a:r>
              <a:rPr lang="en-GB" dirty="0">
                <a:latin typeface="Gill Sans MT"/>
                <a:cs typeface="Gill Sans"/>
              </a:rPr>
              <a:t> model </a:t>
            </a:r>
            <a:endParaRPr lang="en-GB" dirty="0"/>
          </a:p>
          <a:p>
            <a:pPr>
              <a:buFont typeface="Arial" panose="020B0604020202020204" pitchFamily="34" charset="0"/>
              <a:buChar char="•"/>
            </a:pPr>
            <a:r>
              <a:rPr lang="en-GB" dirty="0">
                <a:latin typeface="Gill Sans MT"/>
                <a:cs typeface="Gill Sans"/>
              </a:rPr>
              <a:t>SRAM Configuration [Capacity &amp; Bandwidth]</a:t>
            </a:r>
            <a:endParaRPr lang="en-GB" dirty="0"/>
          </a:p>
          <a:p>
            <a:pPr>
              <a:buFont typeface="Arial" panose="020B0604020202020204" pitchFamily="34" charset="0"/>
              <a:buChar char="•"/>
            </a:pPr>
            <a:r>
              <a:rPr lang="en-GB" dirty="0">
                <a:latin typeface="Gill Sans MT"/>
                <a:cs typeface="Gill Sans"/>
              </a:rPr>
              <a:t>PE arrangement</a:t>
            </a:r>
            <a:endParaRPr lang="en-GB" dirty="0"/>
          </a:p>
        </p:txBody>
      </p:sp>
      <p:sp>
        <p:nvSpPr>
          <p:cNvPr id="4" name="Slide Number Placeholder 3">
            <a:extLst>
              <a:ext uri="{FF2B5EF4-FFF2-40B4-BE49-F238E27FC236}">
                <a16:creationId xmlns:a16="http://schemas.microsoft.com/office/drawing/2014/main" id="{360AE4F2-A3B4-79D4-1B1E-3BD6AF911CB1}"/>
              </a:ext>
            </a:extLst>
          </p:cNvPr>
          <p:cNvSpPr>
            <a:spLocks noGrp="1"/>
          </p:cNvSpPr>
          <p:nvPr>
            <p:ph type="sldNum" sz="quarter" idx="12"/>
          </p:nvPr>
        </p:nvSpPr>
        <p:spPr/>
        <p:txBody>
          <a:bodyPr/>
          <a:lstStyle/>
          <a:p>
            <a:fld id="{8836216C-5BC3-7C44-80F8-E30864FFC228}" type="slidenum">
              <a:rPr lang="en-US" smtClean="0"/>
              <a:t>40</a:t>
            </a:fld>
            <a:endParaRPr lang="en-US"/>
          </a:p>
        </p:txBody>
      </p:sp>
      <p:sp>
        <p:nvSpPr>
          <p:cNvPr id="5" name="Text Placeholder 4">
            <a:extLst>
              <a:ext uri="{FF2B5EF4-FFF2-40B4-BE49-F238E27FC236}">
                <a16:creationId xmlns:a16="http://schemas.microsoft.com/office/drawing/2014/main" id="{930FED13-AB4C-A67F-855B-30BB118B594C}"/>
              </a:ext>
            </a:extLst>
          </p:cNvPr>
          <p:cNvSpPr>
            <a:spLocks noGrp="1"/>
          </p:cNvSpPr>
          <p:nvPr>
            <p:ph type="body" sz="quarter" idx="13"/>
          </p:nvPr>
        </p:nvSpPr>
        <p:spPr/>
        <p:txBody>
          <a:bodyPr/>
          <a:lstStyle/>
          <a:p>
            <a:r>
              <a:rPr lang="en-US" dirty="0"/>
              <a:t>SENECA Architecture Optimization for </a:t>
            </a:r>
            <a:r>
              <a:rPr lang="en-US" dirty="0" err="1"/>
              <a:t>VGGNet</a:t>
            </a:r>
            <a:endParaRPr lang="en-GB" dirty="0"/>
          </a:p>
        </p:txBody>
      </p:sp>
    </p:spTree>
    <p:extLst>
      <p:ext uri="{BB962C8B-B14F-4D97-AF65-F5344CB8AC3E}">
        <p14:creationId xmlns:p14="http://schemas.microsoft.com/office/powerpoint/2010/main" val="3987166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AAA01-CA40-64D0-F641-A151BDD675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4133F6-35DA-7258-3627-403651E68AF1}"/>
              </a:ext>
            </a:extLst>
          </p:cNvPr>
          <p:cNvSpPr>
            <a:spLocks noGrp="1"/>
          </p:cNvSpPr>
          <p:nvPr>
            <p:ph type="title"/>
          </p:nvPr>
        </p:nvSpPr>
        <p:spPr/>
        <p:txBody>
          <a:bodyPr/>
          <a:lstStyle/>
          <a:p>
            <a:r>
              <a:rPr lang="en-US" dirty="0"/>
              <a:t>SRAM Configuration Analysis</a:t>
            </a:r>
            <a:endParaRPr lang="en-GB" dirty="0"/>
          </a:p>
        </p:txBody>
      </p:sp>
      <p:sp>
        <p:nvSpPr>
          <p:cNvPr id="4" name="Slide Number Placeholder 3">
            <a:extLst>
              <a:ext uri="{FF2B5EF4-FFF2-40B4-BE49-F238E27FC236}">
                <a16:creationId xmlns:a16="http://schemas.microsoft.com/office/drawing/2014/main" id="{D8E843EB-A9E6-A525-88E7-A117A7669A56}"/>
              </a:ext>
            </a:extLst>
          </p:cNvPr>
          <p:cNvSpPr>
            <a:spLocks noGrp="1"/>
          </p:cNvSpPr>
          <p:nvPr>
            <p:ph type="sldNum" sz="quarter" idx="12"/>
          </p:nvPr>
        </p:nvSpPr>
        <p:spPr/>
        <p:txBody>
          <a:bodyPr/>
          <a:lstStyle/>
          <a:p>
            <a:fld id="{8836216C-5BC3-7C44-80F8-E30864FFC228}" type="slidenum">
              <a:rPr lang="en-US" smtClean="0"/>
              <a:t>41</a:t>
            </a:fld>
            <a:endParaRPr lang="en-US"/>
          </a:p>
        </p:txBody>
      </p:sp>
      <p:sp>
        <p:nvSpPr>
          <p:cNvPr id="5" name="Text Placeholder 4">
            <a:extLst>
              <a:ext uri="{FF2B5EF4-FFF2-40B4-BE49-F238E27FC236}">
                <a16:creationId xmlns:a16="http://schemas.microsoft.com/office/drawing/2014/main" id="{3A529CD4-73E7-5414-CDD7-6D091064D996}"/>
              </a:ext>
            </a:extLst>
          </p:cNvPr>
          <p:cNvSpPr>
            <a:spLocks noGrp="1"/>
          </p:cNvSpPr>
          <p:nvPr>
            <p:ph type="body" sz="quarter" idx="13"/>
          </p:nvPr>
        </p:nvSpPr>
        <p:spPr/>
        <p:txBody>
          <a:bodyPr/>
          <a:lstStyle/>
          <a:p>
            <a:r>
              <a:rPr lang="en-US" dirty="0"/>
              <a:t>Capacity and Bandwidth Trade-off Evaluation</a:t>
            </a:r>
            <a:endParaRPr lang="en-GB" dirty="0"/>
          </a:p>
        </p:txBody>
      </p:sp>
      <p:pic>
        <p:nvPicPr>
          <p:cNvPr id="3" name="Picture 2" descr="A graph of energy&#10;&#10;AI-generated content may be incorrect.">
            <a:extLst>
              <a:ext uri="{FF2B5EF4-FFF2-40B4-BE49-F238E27FC236}">
                <a16:creationId xmlns:a16="http://schemas.microsoft.com/office/drawing/2014/main" id="{2D1B41D3-7881-1052-191E-881853320B3F}"/>
              </a:ext>
            </a:extLst>
          </p:cNvPr>
          <p:cNvPicPr>
            <a:picLocks noChangeAspect="1"/>
          </p:cNvPicPr>
          <p:nvPr/>
        </p:nvPicPr>
        <p:blipFill>
          <a:blip r:embed="rId3"/>
          <a:stretch>
            <a:fillRect/>
          </a:stretch>
        </p:blipFill>
        <p:spPr>
          <a:xfrm>
            <a:off x="145825" y="1224643"/>
            <a:ext cx="4240258" cy="2919023"/>
          </a:xfrm>
          <a:prstGeom prst="rect">
            <a:avLst/>
          </a:prstGeom>
        </p:spPr>
      </p:pic>
      <p:sp>
        <p:nvSpPr>
          <p:cNvPr id="6" name="Rectangle 5">
            <a:extLst>
              <a:ext uri="{FF2B5EF4-FFF2-40B4-BE49-F238E27FC236}">
                <a16:creationId xmlns:a16="http://schemas.microsoft.com/office/drawing/2014/main" id="{C5444BE7-2280-371A-F720-2173EA7CED95}"/>
              </a:ext>
            </a:extLst>
          </p:cNvPr>
          <p:cNvSpPr/>
          <p:nvPr/>
        </p:nvSpPr>
        <p:spPr>
          <a:xfrm>
            <a:off x="1703677" y="1331323"/>
            <a:ext cx="2612434" cy="2532130"/>
          </a:xfrm>
          <a:prstGeom prst="rect">
            <a:avLst/>
          </a:prstGeom>
          <a:solidFill>
            <a:srgbClr val="FF0000">
              <a:alpha val="16863"/>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sz="1400"/>
          </a:p>
        </p:txBody>
      </p:sp>
      <p:sp>
        <p:nvSpPr>
          <p:cNvPr id="7" name="Rectangle 6">
            <a:extLst>
              <a:ext uri="{FF2B5EF4-FFF2-40B4-BE49-F238E27FC236}">
                <a16:creationId xmlns:a16="http://schemas.microsoft.com/office/drawing/2014/main" id="{E1724A35-DEEB-9B6A-35B2-F9E367B850C5}"/>
              </a:ext>
            </a:extLst>
          </p:cNvPr>
          <p:cNvSpPr/>
          <p:nvPr/>
        </p:nvSpPr>
        <p:spPr>
          <a:xfrm>
            <a:off x="1091102" y="1309623"/>
            <a:ext cx="620934" cy="2527592"/>
          </a:xfrm>
          <a:prstGeom prst="rect">
            <a:avLst/>
          </a:prstGeom>
          <a:solidFill>
            <a:srgbClr val="00B050">
              <a:alpha val="16863"/>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sz="1400"/>
          </a:p>
        </p:txBody>
      </p:sp>
      <p:sp>
        <p:nvSpPr>
          <p:cNvPr id="8" name="Rectangle 7">
            <a:extLst>
              <a:ext uri="{FF2B5EF4-FFF2-40B4-BE49-F238E27FC236}">
                <a16:creationId xmlns:a16="http://schemas.microsoft.com/office/drawing/2014/main" id="{87DFCEA7-2705-5AAE-1DF0-7B33F0B33015}"/>
              </a:ext>
            </a:extLst>
          </p:cNvPr>
          <p:cNvSpPr/>
          <p:nvPr/>
        </p:nvSpPr>
        <p:spPr>
          <a:xfrm>
            <a:off x="455610" y="1309624"/>
            <a:ext cx="624709" cy="2523952"/>
          </a:xfrm>
          <a:prstGeom prst="rect">
            <a:avLst/>
          </a:prstGeom>
          <a:solidFill>
            <a:srgbClr val="FFFF00">
              <a:alpha val="16863"/>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sz="1400">
              <a:solidFill>
                <a:schemeClr val="tx1"/>
              </a:solidFill>
            </a:endParaRPr>
          </a:p>
        </p:txBody>
      </p:sp>
      <p:sp>
        <p:nvSpPr>
          <p:cNvPr id="12" name="TextBox 11">
            <a:extLst>
              <a:ext uri="{FF2B5EF4-FFF2-40B4-BE49-F238E27FC236}">
                <a16:creationId xmlns:a16="http://schemas.microsoft.com/office/drawing/2014/main" id="{9DA1A903-C9DB-CB99-93C9-9EEA921C2E43}"/>
              </a:ext>
            </a:extLst>
          </p:cNvPr>
          <p:cNvSpPr txBox="1"/>
          <p:nvPr/>
        </p:nvSpPr>
        <p:spPr>
          <a:xfrm>
            <a:off x="534032" y="879208"/>
            <a:ext cx="3879782" cy="469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200"/>
              <a:t>Energy vs Latency plot of varying SRAM configurations (Capacity &amp; Bandwidth)</a:t>
            </a:r>
          </a:p>
        </p:txBody>
      </p:sp>
      <p:pic>
        <p:nvPicPr>
          <p:cNvPr id="10" name="Picture 9" descr="A graph of energy and energy&#10;&#10;AI-generated content may be incorrect.">
            <a:extLst>
              <a:ext uri="{FF2B5EF4-FFF2-40B4-BE49-F238E27FC236}">
                <a16:creationId xmlns:a16="http://schemas.microsoft.com/office/drawing/2014/main" id="{782491FF-8EDE-0261-07E8-E747A22B00D9}"/>
              </a:ext>
            </a:extLst>
          </p:cNvPr>
          <p:cNvPicPr>
            <a:picLocks noChangeAspect="1"/>
          </p:cNvPicPr>
          <p:nvPr/>
        </p:nvPicPr>
        <p:blipFill>
          <a:blip r:embed="rId4"/>
          <a:stretch>
            <a:fillRect/>
          </a:stretch>
        </p:blipFill>
        <p:spPr>
          <a:xfrm>
            <a:off x="4757919" y="1279099"/>
            <a:ext cx="4211647" cy="2782019"/>
          </a:xfrm>
          <a:prstGeom prst="rect">
            <a:avLst/>
          </a:prstGeom>
        </p:spPr>
      </p:pic>
      <p:sp>
        <p:nvSpPr>
          <p:cNvPr id="13" name="Rectangle 12">
            <a:extLst>
              <a:ext uri="{FF2B5EF4-FFF2-40B4-BE49-F238E27FC236}">
                <a16:creationId xmlns:a16="http://schemas.microsoft.com/office/drawing/2014/main" id="{28E0C1EE-4502-7B4D-FFF0-B38A68DF86F8}"/>
              </a:ext>
            </a:extLst>
          </p:cNvPr>
          <p:cNvSpPr/>
          <p:nvPr/>
        </p:nvSpPr>
        <p:spPr>
          <a:xfrm>
            <a:off x="6301671" y="1300143"/>
            <a:ext cx="2612434" cy="2456649"/>
          </a:xfrm>
          <a:prstGeom prst="rect">
            <a:avLst/>
          </a:prstGeom>
          <a:solidFill>
            <a:srgbClr val="FF0000">
              <a:alpha val="16863"/>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sz="1400"/>
          </a:p>
        </p:txBody>
      </p:sp>
      <p:sp>
        <p:nvSpPr>
          <p:cNvPr id="14" name="Rectangle 13">
            <a:extLst>
              <a:ext uri="{FF2B5EF4-FFF2-40B4-BE49-F238E27FC236}">
                <a16:creationId xmlns:a16="http://schemas.microsoft.com/office/drawing/2014/main" id="{CFCE95BD-A3D6-5347-C2B2-4A5DC4AB3D20}"/>
              </a:ext>
            </a:extLst>
          </p:cNvPr>
          <p:cNvSpPr/>
          <p:nvPr/>
        </p:nvSpPr>
        <p:spPr>
          <a:xfrm>
            <a:off x="5641535" y="1309622"/>
            <a:ext cx="677365" cy="2462894"/>
          </a:xfrm>
          <a:prstGeom prst="rect">
            <a:avLst/>
          </a:prstGeom>
          <a:solidFill>
            <a:srgbClr val="00B050">
              <a:alpha val="16863"/>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sz="1400"/>
          </a:p>
        </p:txBody>
      </p:sp>
      <p:sp>
        <p:nvSpPr>
          <p:cNvPr id="15" name="Rectangle 14">
            <a:extLst>
              <a:ext uri="{FF2B5EF4-FFF2-40B4-BE49-F238E27FC236}">
                <a16:creationId xmlns:a16="http://schemas.microsoft.com/office/drawing/2014/main" id="{45E57A3A-6AB4-5349-0F00-7102ADFF6D91}"/>
              </a:ext>
            </a:extLst>
          </p:cNvPr>
          <p:cNvSpPr/>
          <p:nvPr/>
        </p:nvSpPr>
        <p:spPr>
          <a:xfrm>
            <a:off x="5006044" y="1288058"/>
            <a:ext cx="635492" cy="2480820"/>
          </a:xfrm>
          <a:prstGeom prst="rect">
            <a:avLst/>
          </a:prstGeom>
          <a:solidFill>
            <a:srgbClr val="FFFF00">
              <a:alpha val="16863"/>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sz="1400"/>
          </a:p>
        </p:txBody>
      </p:sp>
      <p:sp>
        <p:nvSpPr>
          <p:cNvPr id="16" name="TextBox 15">
            <a:extLst>
              <a:ext uri="{FF2B5EF4-FFF2-40B4-BE49-F238E27FC236}">
                <a16:creationId xmlns:a16="http://schemas.microsoft.com/office/drawing/2014/main" id="{2C9D73D7-D8CD-5E3F-E3B9-846440B111C2}"/>
              </a:ext>
            </a:extLst>
          </p:cNvPr>
          <p:cNvSpPr txBox="1"/>
          <p:nvPr/>
        </p:nvSpPr>
        <p:spPr>
          <a:xfrm>
            <a:off x="455610" y="4034590"/>
            <a:ext cx="2604076" cy="738664"/>
          </a:xfrm>
          <a:prstGeom prst="rect">
            <a:avLst/>
          </a:prstGeom>
          <a:solidFill>
            <a:srgbClr val="FFFF00">
              <a:alpha val="76078"/>
            </a:srgbClr>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dirty="0"/>
              <a:t>Capacity</a:t>
            </a:r>
            <a:r>
              <a:rPr lang="en-GB" sz="1400" dirty="0"/>
              <a:t>: </a:t>
            </a:r>
            <a:r>
              <a:rPr lang="en-GB" sz="1400" dirty="0">
                <a:latin typeface="Arial"/>
                <a:cs typeface="Arial"/>
              </a:rPr>
              <a:t>96 KB – 256 KB</a:t>
            </a:r>
            <a:br>
              <a:rPr lang="en-GB" sz="1400" dirty="0">
                <a:latin typeface="Arial"/>
                <a:cs typeface="Arial"/>
              </a:rPr>
            </a:br>
            <a:r>
              <a:rPr lang="en-GB" sz="1400" b="1" dirty="0">
                <a:latin typeface="Arial"/>
                <a:cs typeface="Arial"/>
              </a:rPr>
              <a:t>Bandwidth</a:t>
            </a:r>
            <a:r>
              <a:rPr lang="en-GB" sz="1400" dirty="0">
                <a:latin typeface="Arial"/>
                <a:cs typeface="Arial"/>
              </a:rPr>
              <a:t>: 64, 128, 256 bits</a:t>
            </a:r>
            <a:br>
              <a:rPr lang="en-GB" sz="1400" dirty="0">
                <a:latin typeface="Arial"/>
                <a:cs typeface="Arial"/>
              </a:rPr>
            </a:br>
            <a:r>
              <a:rPr lang="en-GB" sz="1400" b="1" dirty="0">
                <a:latin typeface="Arial"/>
                <a:cs typeface="Arial"/>
              </a:rPr>
              <a:t>Area</a:t>
            </a:r>
            <a:r>
              <a:rPr lang="en-GB" sz="1400" dirty="0">
                <a:latin typeface="Arial"/>
                <a:cs typeface="Arial"/>
              </a:rPr>
              <a:t>: 0.14 mm2 – 0.43 mm2</a:t>
            </a:r>
            <a:endParaRPr lang="en-GB" sz="1400" dirty="0"/>
          </a:p>
        </p:txBody>
      </p:sp>
      <p:sp>
        <p:nvSpPr>
          <p:cNvPr id="17" name="TextBox 16">
            <a:extLst>
              <a:ext uri="{FF2B5EF4-FFF2-40B4-BE49-F238E27FC236}">
                <a16:creationId xmlns:a16="http://schemas.microsoft.com/office/drawing/2014/main" id="{D33C3B29-FEC3-492C-DF47-6101F3CD7FEA}"/>
              </a:ext>
            </a:extLst>
          </p:cNvPr>
          <p:cNvSpPr txBox="1"/>
          <p:nvPr/>
        </p:nvSpPr>
        <p:spPr>
          <a:xfrm>
            <a:off x="3272503" y="4034590"/>
            <a:ext cx="2612434" cy="738664"/>
          </a:xfrm>
          <a:prstGeom prst="rect">
            <a:avLst/>
          </a:prstGeom>
          <a:solidFill>
            <a:srgbClr val="92D050">
              <a:alpha val="74902"/>
            </a:srgbClr>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dirty="0"/>
              <a:t>Capacity</a:t>
            </a:r>
            <a:r>
              <a:rPr lang="en-GB" sz="1400" dirty="0"/>
              <a:t>:  512 KB</a:t>
            </a:r>
            <a:r>
              <a:rPr lang="en-GB" sz="1400" dirty="0">
                <a:cs typeface="Arial"/>
              </a:rPr>
              <a:t> </a:t>
            </a:r>
            <a:r>
              <a:rPr lang="en-GB" sz="1400" dirty="0">
                <a:latin typeface="Arial"/>
                <a:cs typeface="Arial"/>
              </a:rPr>
              <a:t>– 3MB</a:t>
            </a:r>
            <a:br>
              <a:rPr lang="en-GB" sz="1400" dirty="0">
                <a:latin typeface="Arial"/>
                <a:cs typeface="Arial"/>
              </a:rPr>
            </a:br>
            <a:r>
              <a:rPr lang="en-GB" sz="1400" b="1" dirty="0">
                <a:latin typeface="Arial"/>
                <a:cs typeface="Arial"/>
              </a:rPr>
              <a:t>Bandwidth</a:t>
            </a:r>
            <a:r>
              <a:rPr lang="en-GB" sz="1400" dirty="0">
                <a:latin typeface="Arial"/>
                <a:cs typeface="Arial"/>
              </a:rPr>
              <a:t>: 128 - 1024 bits</a:t>
            </a:r>
            <a:br>
              <a:rPr lang="en-GB" sz="1400" dirty="0">
                <a:latin typeface="Arial"/>
                <a:cs typeface="Arial"/>
              </a:rPr>
            </a:br>
            <a:r>
              <a:rPr lang="en-GB" sz="1400" b="1" dirty="0">
                <a:latin typeface="Arial"/>
                <a:cs typeface="Arial"/>
              </a:rPr>
              <a:t>Area</a:t>
            </a:r>
            <a:r>
              <a:rPr lang="en-GB" sz="1400" dirty="0">
                <a:latin typeface="Arial"/>
                <a:cs typeface="Arial"/>
              </a:rPr>
              <a:t>: 0.97 mm2 – 4.57 mm2</a:t>
            </a:r>
            <a:endParaRPr lang="en-GB" sz="1400" dirty="0"/>
          </a:p>
        </p:txBody>
      </p:sp>
      <p:sp>
        <p:nvSpPr>
          <p:cNvPr id="18" name="TextBox 17">
            <a:extLst>
              <a:ext uri="{FF2B5EF4-FFF2-40B4-BE49-F238E27FC236}">
                <a16:creationId xmlns:a16="http://schemas.microsoft.com/office/drawing/2014/main" id="{DA1AF30E-AA49-C00D-CDC8-5C22658B2512}"/>
              </a:ext>
            </a:extLst>
          </p:cNvPr>
          <p:cNvSpPr txBox="1"/>
          <p:nvPr/>
        </p:nvSpPr>
        <p:spPr>
          <a:xfrm>
            <a:off x="6084315" y="4045013"/>
            <a:ext cx="2829790" cy="738664"/>
          </a:xfrm>
          <a:prstGeom prst="rect">
            <a:avLst/>
          </a:prstGeom>
          <a:solidFill>
            <a:srgbClr val="FF0000">
              <a:alpha val="56078"/>
            </a:srgbClr>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dirty="0"/>
              <a:t>Capacity</a:t>
            </a:r>
            <a:r>
              <a:rPr lang="en-GB" sz="1400" dirty="0"/>
              <a:t>: </a:t>
            </a:r>
            <a:r>
              <a:rPr lang="en-GB" sz="1400" dirty="0">
                <a:latin typeface="Arial"/>
                <a:cs typeface="Arial"/>
              </a:rPr>
              <a:t>4MB – 64 MB</a:t>
            </a:r>
            <a:br>
              <a:rPr lang="en-GB" sz="1400" dirty="0">
                <a:latin typeface="Arial"/>
                <a:cs typeface="Arial"/>
              </a:rPr>
            </a:br>
            <a:r>
              <a:rPr lang="en-GB" sz="1400" b="1" dirty="0">
                <a:latin typeface="Arial"/>
                <a:cs typeface="Arial"/>
              </a:rPr>
              <a:t>Bandwidth</a:t>
            </a:r>
            <a:r>
              <a:rPr lang="en-GB" sz="1400" dirty="0">
                <a:latin typeface="Arial"/>
                <a:cs typeface="Arial"/>
              </a:rPr>
              <a:t>: 128 bits</a:t>
            </a:r>
            <a:br>
              <a:rPr lang="en-GB" sz="1400" dirty="0">
                <a:latin typeface="Arial"/>
                <a:cs typeface="Arial"/>
              </a:rPr>
            </a:br>
            <a:r>
              <a:rPr lang="en-GB" sz="1400" b="1" dirty="0">
                <a:latin typeface="Arial"/>
                <a:cs typeface="Arial"/>
              </a:rPr>
              <a:t>Area</a:t>
            </a:r>
            <a:r>
              <a:rPr lang="en-GB" sz="1400" dirty="0">
                <a:latin typeface="Arial"/>
                <a:cs typeface="Arial"/>
              </a:rPr>
              <a:t>: 6.08 mm2 – 96.60 mm2</a:t>
            </a:r>
            <a:endParaRPr lang="en-GB" sz="1400" dirty="0"/>
          </a:p>
        </p:txBody>
      </p:sp>
      <p:sp>
        <p:nvSpPr>
          <p:cNvPr id="20" name="TextBox 19">
            <a:extLst>
              <a:ext uri="{FF2B5EF4-FFF2-40B4-BE49-F238E27FC236}">
                <a16:creationId xmlns:a16="http://schemas.microsoft.com/office/drawing/2014/main" id="{D27DACF1-24B1-7918-4304-87FFC76370A9}"/>
              </a:ext>
            </a:extLst>
          </p:cNvPr>
          <p:cNvSpPr txBox="1"/>
          <p:nvPr/>
        </p:nvSpPr>
        <p:spPr>
          <a:xfrm>
            <a:off x="5011305" y="826630"/>
            <a:ext cx="3879782" cy="469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200"/>
              <a:t>Energy vs area plot of varying SRAM configurations (Capacity &amp; Bandwidth)</a:t>
            </a:r>
          </a:p>
        </p:txBody>
      </p:sp>
    </p:spTree>
    <p:extLst>
      <p:ext uri="{BB962C8B-B14F-4D97-AF65-F5344CB8AC3E}">
        <p14:creationId xmlns:p14="http://schemas.microsoft.com/office/powerpoint/2010/main" val="30587064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500"/>
                                        <p:tgtEl>
                                          <p:spTgt spid="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p:bldP spid="13" grpId="0" animBg="1"/>
      <p:bldP spid="14" grpId="0" animBg="1"/>
      <p:bldP spid="15" grpId="0" animBg="1"/>
      <p:bldP spid="16" grpId="0" animBg="1"/>
      <p:bldP spid="17" grpId="0" animBg="1"/>
      <p:bldP spid="18" grpId="0" animBg="1"/>
      <p:bldP spid="2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7DED2-7666-971B-878A-1E8C50D515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6C2377-3D7E-7579-910B-C5BB35972E94}"/>
              </a:ext>
            </a:extLst>
          </p:cNvPr>
          <p:cNvSpPr>
            <a:spLocks noGrp="1"/>
          </p:cNvSpPr>
          <p:nvPr>
            <p:ph type="title"/>
          </p:nvPr>
        </p:nvSpPr>
        <p:spPr/>
        <p:txBody>
          <a:bodyPr/>
          <a:lstStyle/>
          <a:p>
            <a:r>
              <a:rPr lang="en-US" dirty="0"/>
              <a:t>SRAM Optimization Results</a:t>
            </a:r>
            <a:endParaRPr lang="en-GB" dirty="0"/>
          </a:p>
        </p:txBody>
      </p:sp>
      <p:sp>
        <p:nvSpPr>
          <p:cNvPr id="4" name="Slide Number Placeholder 3">
            <a:extLst>
              <a:ext uri="{FF2B5EF4-FFF2-40B4-BE49-F238E27FC236}">
                <a16:creationId xmlns:a16="http://schemas.microsoft.com/office/drawing/2014/main" id="{2A1C8458-7324-9DCE-4A3D-29D21AAC71FA}"/>
              </a:ext>
            </a:extLst>
          </p:cNvPr>
          <p:cNvSpPr>
            <a:spLocks noGrp="1"/>
          </p:cNvSpPr>
          <p:nvPr>
            <p:ph type="sldNum" sz="quarter" idx="12"/>
          </p:nvPr>
        </p:nvSpPr>
        <p:spPr/>
        <p:txBody>
          <a:bodyPr/>
          <a:lstStyle/>
          <a:p>
            <a:fld id="{8836216C-5BC3-7C44-80F8-E30864FFC228}" type="slidenum">
              <a:rPr lang="en-US" smtClean="0"/>
              <a:t>42</a:t>
            </a:fld>
            <a:endParaRPr lang="en-US"/>
          </a:p>
        </p:txBody>
      </p:sp>
      <p:sp>
        <p:nvSpPr>
          <p:cNvPr id="5" name="Text Placeholder 4">
            <a:extLst>
              <a:ext uri="{FF2B5EF4-FFF2-40B4-BE49-F238E27FC236}">
                <a16:creationId xmlns:a16="http://schemas.microsoft.com/office/drawing/2014/main" id="{057EB053-3026-AD7E-DBCC-497C7B46429A}"/>
              </a:ext>
            </a:extLst>
          </p:cNvPr>
          <p:cNvSpPr>
            <a:spLocks noGrp="1"/>
          </p:cNvSpPr>
          <p:nvPr>
            <p:ph type="body" sz="quarter" idx="13"/>
          </p:nvPr>
        </p:nvSpPr>
        <p:spPr/>
        <p:txBody>
          <a:bodyPr/>
          <a:lstStyle/>
          <a:p>
            <a:r>
              <a:rPr lang="en-US" dirty="0"/>
              <a:t>Identifying Efficiency Saturation Points</a:t>
            </a:r>
            <a:endParaRPr lang="en-GB" dirty="0"/>
          </a:p>
        </p:txBody>
      </p:sp>
      <p:pic>
        <p:nvPicPr>
          <p:cNvPr id="3" name="Picture 2">
            <a:extLst>
              <a:ext uri="{FF2B5EF4-FFF2-40B4-BE49-F238E27FC236}">
                <a16:creationId xmlns:a16="http://schemas.microsoft.com/office/drawing/2014/main" id="{DE1DE3CA-3BFB-D162-A076-3A85B3CAE351}"/>
              </a:ext>
            </a:extLst>
          </p:cNvPr>
          <p:cNvPicPr>
            <a:picLocks noChangeAspect="1"/>
          </p:cNvPicPr>
          <p:nvPr/>
        </p:nvPicPr>
        <p:blipFill>
          <a:blip r:embed="rId2"/>
          <a:stretch>
            <a:fillRect/>
          </a:stretch>
        </p:blipFill>
        <p:spPr>
          <a:xfrm>
            <a:off x="256459" y="1037980"/>
            <a:ext cx="4747341" cy="3176925"/>
          </a:xfrm>
          <a:prstGeom prst="rect">
            <a:avLst/>
          </a:prstGeom>
        </p:spPr>
      </p:pic>
      <p:sp>
        <p:nvSpPr>
          <p:cNvPr id="6" name="TextBox 5">
            <a:extLst>
              <a:ext uri="{FF2B5EF4-FFF2-40B4-BE49-F238E27FC236}">
                <a16:creationId xmlns:a16="http://schemas.microsoft.com/office/drawing/2014/main" id="{B5C53810-1B45-B938-F2BB-E4F23A4F846D}"/>
              </a:ext>
            </a:extLst>
          </p:cNvPr>
          <p:cNvSpPr txBox="1"/>
          <p:nvPr/>
        </p:nvSpPr>
        <p:spPr>
          <a:xfrm>
            <a:off x="673692" y="4294742"/>
            <a:ext cx="8328991"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400" b="1" dirty="0">
                <a:ea typeface="+mn-lt"/>
                <a:cs typeface="+mn-lt"/>
              </a:rPr>
              <a:t>Left → Right:</a:t>
            </a:r>
            <a:r>
              <a:rPr lang="en-GB" sz="1400" dirty="0">
                <a:ea typeface="+mn-lt"/>
                <a:cs typeface="+mn-lt"/>
              </a:rPr>
              <a:t> </a:t>
            </a:r>
            <a:r>
              <a:rPr lang="en-GB" sz="1400" dirty="0"/>
              <a:t>Capacity Increase [512 KB – 3 MB]</a:t>
            </a:r>
            <a:br>
              <a:rPr lang="en-GB" sz="1400" dirty="0"/>
            </a:br>
            <a:r>
              <a:rPr lang="en-GB" sz="1400" b="1" dirty="0">
                <a:ea typeface="+mn-lt"/>
                <a:cs typeface="+mn-lt"/>
              </a:rPr>
              <a:t>Bottom → Top:</a:t>
            </a:r>
            <a:r>
              <a:rPr lang="en-GB" sz="1400" dirty="0">
                <a:ea typeface="+mn-lt"/>
                <a:cs typeface="+mn-lt"/>
              </a:rPr>
              <a:t> </a:t>
            </a:r>
            <a:r>
              <a:rPr lang="en-GB" sz="1400" dirty="0"/>
              <a:t>The bandwidth increases [128 bits – 1024 bits]</a:t>
            </a:r>
          </a:p>
          <a:p>
            <a:pPr algn="ctr"/>
            <a:br>
              <a:rPr lang="en-GB" sz="1400" dirty="0"/>
            </a:br>
            <a:endParaRPr lang="en-GB" sz="1400" dirty="0"/>
          </a:p>
        </p:txBody>
      </p:sp>
      <p:sp>
        <p:nvSpPr>
          <p:cNvPr id="8" name="Rectangle 7">
            <a:extLst>
              <a:ext uri="{FF2B5EF4-FFF2-40B4-BE49-F238E27FC236}">
                <a16:creationId xmlns:a16="http://schemas.microsoft.com/office/drawing/2014/main" id="{82D6EF6B-4C1C-5790-D8F3-C77CCCCEC288}"/>
              </a:ext>
            </a:extLst>
          </p:cNvPr>
          <p:cNvSpPr/>
          <p:nvPr/>
        </p:nvSpPr>
        <p:spPr>
          <a:xfrm>
            <a:off x="511438" y="1195323"/>
            <a:ext cx="4398492" cy="2795177"/>
          </a:xfrm>
          <a:prstGeom prst="rect">
            <a:avLst/>
          </a:prstGeom>
          <a:solidFill>
            <a:srgbClr val="00B050">
              <a:alpha val="16863"/>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sz="1400"/>
          </a:p>
        </p:txBody>
      </p:sp>
      <p:sp>
        <p:nvSpPr>
          <p:cNvPr id="9" name="Rectangle 8">
            <a:extLst>
              <a:ext uri="{FF2B5EF4-FFF2-40B4-BE49-F238E27FC236}">
                <a16:creationId xmlns:a16="http://schemas.microsoft.com/office/drawing/2014/main" id="{C0E7EFD1-1C93-1259-5061-D7FFF5575BA7}"/>
              </a:ext>
            </a:extLst>
          </p:cNvPr>
          <p:cNvSpPr/>
          <p:nvPr/>
        </p:nvSpPr>
        <p:spPr>
          <a:xfrm>
            <a:off x="1155863" y="3250091"/>
            <a:ext cx="2071687" cy="542925"/>
          </a:xfrm>
          <a:prstGeom prst="rect">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solidFill>
                  <a:schemeClr val="tx1"/>
                </a:solidFill>
              </a:rPr>
              <a:t>Capacity 4Mb &amp; 128 bits bandwidth </a:t>
            </a:r>
          </a:p>
        </p:txBody>
      </p:sp>
      <p:sp>
        <p:nvSpPr>
          <p:cNvPr id="10" name="Arrow: Right 9">
            <a:extLst>
              <a:ext uri="{FF2B5EF4-FFF2-40B4-BE49-F238E27FC236}">
                <a16:creationId xmlns:a16="http://schemas.microsoft.com/office/drawing/2014/main" id="{1752D185-96DB-1E2B-D9D6-FE9470FC5DCA}"/>
              </a:ext>
            </a:extLst>
          </p:cNvPr>
          <p:cNvSpPr/>
          <p:nvPr/>
        </p:nvSpPr>
        <p:spPr>
          <a:xfrm>
            <a:off x="876821" y="4188221"/>
            <a:ext cx="3722915" cy="169277"/>
          </a:xfrm>
          <a:prstGeom prst="rightArrow">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sz="1400"/>
          </a:p>
        </p:txBody>
      </p:sp>
      <p:sp>
        <p:nvSpPr>
          <p:cNvPr id="11" name="Arrow: Up 10">
            <a:extLst>
              <a:ext uri="{FF2B5EF4-FFF2-40B4-BE49-F238E27FC236}">
                <a16:creationId xmlns:a16="http://schemas.microsoft.com/office/drawing/2014/main" id="{E2B72265-317A-787B-A758-E1958EDD3B7E}"/>
              </a:ext>
            </a:extLst>
          </p:cNvPr>
          <p:cNvSpPr/>
          <p:nvPr/>
        </p:nvSpPr>
        <p:spPr>
          <a:xfrm>
            <a:off x="5001690" y="1117817"/>
            <a:ext cx="176904" cy="2845999"/>
          </a:xfrm>
          <a:prstGeom prst="upArrow">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sz="1400"/>
          </a:p>
        </p:txBody>
      </p:sp>
      <p:cxnSp>
        <p:nvCxnSpPr>
          <p:cNvPr id="13" name="Straight Connector 12">
            <a:extLst>
              <a:ext uri="{FF2B5EF4-FFF2-40B4-BE49-F238E27FC236}">
                <a16:creationId xmlns:a16="http://schemas.microsoft.com/office/drawing/2014/main" id="{B75ACA91-232E-89A5-D353-E5E62834E9AD}"/>
              </a:ext>
            </a:extLst>
          </p:cNvPr>
          <p:cNvCxnSpPr>
            <a:cxnSpLocks/>
          </p:cNvCxnSpPr>
          <p:nvPr/>
        </p:nvCxnSpPr>
        <p:spPr>
          <a:xfrm flipV="1">
            <a:off x="577516" y="3250090"/>
            <a:ext cx="578347" cy="395053"/>
          </a:xfrm>
          <a:prstGeom prst="line">
            <a:avLst/>
          </a:prstGeom>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0C5682A3-B76A-A66A-40F2-EEEBB0D01AD6}"/>
              </a:ext>
            </a:extLst>
          </p:cNvPr>
          <p:cNvCxnSpPr>
            <a:cxnSpLocks/>
          </p:cNvCxnSpPr>
          <p:nvPr/>
        </p:nvCxnSpPr>
        <p:spPr>
          <a:xfrm>
            <a:off x="597780" y="3728898"/>
            <a:ext cx="558083" cy="64118"/>
          </a:xfrm>
          <a:prstGeom prst="line">
            <a:avLst/>
          </a:prstGeom>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6A17AAF7-C449-71CE-DCF6-2EA8FC475D3A}"/>
              </a:ext>
            </a:extLst>
          </p:cNvPr>
          <p:cNvSpPr txBox="1"/>
          <p:nvPr/>
        </p:nvSpPr>
        <p:spPr>
          <a:xfrm>
            <a:off x="5258779" y="1792399"/>
            <a:ext cx="3518452" cy="1815882"/>
          </a:xfrm>
          <a:prstGeom prst="rect">
            <a:avLst/>
          </a:prstGeom>
          <a:noFill/>
        </p:spPr>
        <p:txBody>
          <a:bodyPr wrap="square" rtlCol="0">
            <a:spAutoFit/>
          </a:bodyPr>
          <a:lstStyle/>
          <a:p>
            <a:pPr marL="171450" indent="-171450" algn="just">
              <a:buFont typeface="Arial" panose="020B0604020202020204" pitchFamily="34" charset="0"/>
              <a:buChar char="•"/>
            </a:pPr>
            <a:r>
              <a:rPr lang="en-US" sz="1600" dirty="0"/>
              <a:t>Observed latency drop is insignificant but, bandwidth increase caused the energy to increase</a:t>
            </a:r>
          </a:p>
          <a:p>
            <a:pPr marL="171450" indent="-171450" algn="just">
              <a:buFont typeface="Arial" panose="020B0604020202020204" pitchFamily="34" charset="0"/>
              <a:buChar char="•"/>
            </a:pPr>
            <a:r>
              <a:rPr lang="en-US" sz="1600" dirty="0"/>
              <a:t>Capacity increase led not only increase in the energy but also increase in the area this indicated a saturation.</a:t>
            </a:r>
            <a:endParaRPr lang="en-NL" sz="1600" dirty="0"/>
          </a:p>
        </p:txBody>
      </p:sp>
    </p:spTree>
    <p:extLst>
      <p:ext uri="{BB962C8B-B14F-4D97-AF65-F5344CB8AC3E}">
        <p14:creationId xmlns:p14="http://schemas.microsoft.com/office/powerpoint/2010/main" val="23082006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xEl>
                                              <p:pRg st="0" end="0"/>
                                            </p:txEl>
                                          </p:spTgt>
                                        </p:tgtEl>
                                        <p:attrNameLst>
                                          <p:attrName>style.visibility</p:attrName>
                                        </p:attrNameLst>
                                      </p:cBhvr>
                                      <p:to>
                                        <p:strVal val="visible"/>
                                      </p:to>
                                    </p:set>
                                    <p:animEffect transition="in" filter="fade">
                                      <p:cBhvr>
                                        <p:cTn id="18" dur="500"/>
                                        <p:tgtEl>
                                          <p:spTgt spid="20">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nodeType="withEffect">
                                  <p:stCondLst>
                                    <p:cond delay="0"/>
                                  </p:stCondLst>
                                  <p:childTnLst>
                                    <p:set>
                                      <p:cBhvr>
                                        <p:cTn id="25" dur="1" fill="hold">
                                          <p:stCondLst>
                                            <p:cond delay="0"/>
                                          </p:stCondLst>
                                        </p:cTn>
                                        <p:tgtEl>
                                          <p:spTgt spid="20">
                                            <p:txEl>
                                              <p:pRg st="1" end="1"/>
                                            </p:txEl>
                                          </p:spTgt>
                                        </p:tgtEl>
                                        <p:attrNameLst>
                                          <p:attrName>style.visibility</p:attrName>
                                        </p:attrNameLst>
                                      </p:cBhvr>
                                      <p:to>
                                        <p:strVal val="visible"/>
                                      </p:to>
                                    </p:set>
                                    <p:animEffect transition="in" filter="fade">
                                      <p:cBhvr>
                                        <p:cTn id="26" dur="500"/>
                                        <p:tgtEl>
                                          <p:spTgt spid="20">
                                            <p:txEl>
                                              <p:pRg st="1" end="1"/>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6">
                                            <p:txEl>
                                              <p:pRg st="0" end="0"/>
                                            </p:txEl>
                                          </p:spTgt>
                                        </p:tgtEl>
                                        <p:attrNameLst>
                                          <p:attrName>style.visibility</p:attrName>
                                        </p:attrNameLst>
                                      </p:cBhvr>
                                      <p:to>
                                        <p:strVal val="visible"/>
                                      </p:to>
                                    </p:set>
                                    <p:animEffect transition="in" filter="fade">
                                      <p:cBhvr>
                                        <p:cTn id="29" dur="500"/>
                                        <p:tgtEl>
                                          <p:spTgt spid="6">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barn(inVertical)">
                                      <p:cBhvr>
                                        <p:cTn id="34" dur="500"/>
                                        <p:tgtEl>
                                          <p:spTgt spid="9"/>
                                        </p:tgtEl>
                                      </p:cBhvr>
                                    </p:animEffect>
                                  </p:childTnLst>
                                </p:cTn>
                              </p:par>
                              <p:par>
                                <p:cTn id="35" presetID="16" presetClass="entr" presetSubtype="21"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arn(inVertical)">
                                      <p:cBhvr>
                                        <p:cTn id="37" dur="500"/>
                                        <p:tgtEl>
                                          <p:spTgt spid="13"/>
                                        </p:tgtEl>
                                      </p:cBhvr>
                                    </p:animEffect>
                                  </p:childTnLst>
                                </p:cTn>
                              </p:par>
                              <p:par>
                                <p:cTn id="38" presetID="16" presetClass="entr" presetSubtype="21"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barn(inVertical)">
                                      <p:cBhvr>
                                        <p:cTn id="4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CA9AA-445F-ACB0-FB89-22BA8688A1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C83E70-DB38-6458-47FE-B35C327A65E4}"/>
              </a:ext>
            </a:extLst>
          </p:cNvPr>
          <p:cNvSpPr>
            <a:spLocks noGrp="1"/>
          </p:cNvSpPr>
          <p:nvPr>
            <p:ph type="title"/>
          </p:nvPr>
        </p:nvSpPr>
        <p:spPr/>
        <p:txBody>
          <a:bodyPr/>
          <a:lstStyle/>
          <a:p>
            <a:r>
              <a:rPr lang="en-US" dirty="0"/>
              <a:t>Processing Element Configuration Study</a:t>
            </a:r>
            <a:endParaRPr lang="en-GB" dirty="0"/>
          </a:p>
        </p:txBody>
      </p:sp>
      <p:sp>
        <p:nvSpPr>
          <p:cNvPr id="4" name="Slide Number Placeholder 3">
            <a:extLst>
              <a:ext uri="{FF2B5EF4-FFF2-40B4-BE49-F238E27FC236}">
                <a16:creationId xmlns:a16="http://schemas.microsoft.com/office/drawing/2014/main" id="{B29D738A-9386-E1B1-6006-068DDF28B9EC}"/>
              </a:ext>
            </a:extLst>
          </p:cNvPr>
          <p:cNvSpPr>
            <a:spLocks noGrp="1"/>
          </p:cNvSpPr>
          <p:nvPr>
            <p:ph type="sldNum" sz="quarter" idx="12"/>
          </p:nvPr>
        </p:nvSpPr>
        <p:spPr/>
        <p:txBody>
          <a:bodyPr/>
          <a:lstStyle/>
          <a:p>
            <a:fld id="{8836216C-5BC3-7C44-80F8-E30864FFC228}" type="slidenum">
              <a:rPr lang="en-US" smtClean="0"/>
              <a:t>43</a:t>
            </a:fld>
            <a:endParaRPr lang="en-US"/>
          </a:p>
        </p:txBody>
      </p:sp>
      <p:sp>
        <p:nvSpPr>
          <p:cNvPr id="5" name="Text Placeholder 4">
            <a:extLst>
              <a:ext uri="{FF2B5EF4-FFF2-40B4-BE49-F238E27FC236}">
                <a16:creationId xmlns:a16="http://schemas.microsoft.com/office/drawing/2014/main" id="{8DA05E3A-5B82-743F-328F-021293B3923B}"/>
              </a:ext>
            </a:extLst>
          </p:cNvPr>
          <p:cNvSpPr>
            <a:spLocks noGrp="1"/>
          </p:cNvSpPr>
          <p:nvPr>
            <p:ph type="body" sz="quarter" idx="13"/>
          </p:nvPr>
        </p:nvSpPr>
        <p:spPr/>
        <p:txBody>
          <a:bodyPr/>
          <a:lstStyle/>
          <a:p>
            <a:r>
              <a:rPr lang="it-IT" dirty="0"/>
              <a:t>Single vs Multi-Dimensional Array Performance</a:t>
            </a:r>
            <a:endParaRPr lang="en-GB" dirty="0"/>
          </a:p>
        </p:txBody>
      </p:sp>
      <p:pic>
        <p:nvPicPr>
          <p:cNvPr id="12" name="Picture 11" descr="A graph with numbers and symbols&#10;&#10;AI-generated content may be incorrect.">
            <a:extLst>
              <a:ext uri="{FF2B5EF4-FFF2-40B4-BE49-F238E27FC236}">
                <a16:creationId xmlns:a16="http://schemas.microsoft.com/office/drawing/2014/main" id="{8D13021D-3576-BD4E-F0D2-B00B76771254}"/>
              </a:ext>
            </a:extLst>
          </p:cNvPr>
          <p:cNvPicPr>
            <a:picLocks noChangeAspect="1"/>
          </p:cNvPicPr>
          <p:nvPr/>
        </p:nvPicPr>
        <p:blipFill>
          <a:blip r:embed="rId2"/>
          <a:stretch>
            <a:fillRect/>
          </a:stretch>
        </p:blipFill>
        <p:spPr>
          <a:xfrm>
            <a:off x="160630" y="952145"/>
            <a:ext cx="4470964" cy="3162683"/>
          </a:xfrm>
          <a:prstGeom prst="rect">
            <a:avLst/>
          </a:prstGeom>
        </p:spPr>
      </p:pic>
      <p:sp>
        <p:nvSpPr>
          <p:cNvPr id="7" name="Rectangle 6">
            <a:extLst>
              <a:ext uri="{FF2B5EF4-FFF2-40B4-BE49-F238E27FC236}">
                <a16:creationId xmlns:a16="http://schemas.microsoft.com/office/drawing/2014/main" id="{6713DA36-0796-49F2-3431-EACDFA8B8CE2}"/>
              </a:ext>
            </a:extLst>
          </p:cNvPr>
          <p:cNvSpPr/>
          <p:nvPr/>
        </p:nvSpPr>
        <p:spPr>
          <a:xfrm>
            <a:off x="596898" y="1133323"/>
            <a:ext cx="3961356" cy="1438426"/>
          </a:xfrm>
          <a:prstGeom prst="rect">
            <a:avLst/>
          </a:prstGeom>
          <a:solidFill>
            <a:srgbClr val="FF0000">
              <a:alpha val="16863"/>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chemeClr val="tx1"/>
                </a:solidFill>
              </a:rPr>
              <a:t>Region 1</a:t>
            </a:r>
            <a:endParaRPr lang="en-NL" sz="1400">
              <a:solidFill>
                <a:schemeClr val="tx1"/>
              </a:solidFill>
            </a:endParaRPr>
          </a:p>
        </p:txBody>
      </p:sp>
      <p:sp>
        <p:nvSpPr>
          <p:cNvPr id="8" name="Rectangle 7">
            <a:extLst>
              <a:ext uri="{FF2B5EF4-FFF2-40B4-BE49-F238E27FC236}">
                <a16:creationId xmlns:a16="http://schemas.microsoft.com/office/drawing/2014/main" id="{326F531D-6B23-3CBF-C2A2-9C7E600DB104}"/>
              </a:ext>
            </a:extLst>
          </p:cNvPr>
          <p:cNvSpPr/>
          <p:nvPr/>
        </p:nvSpPr>
        <p:spPr>
          <a:xfrm>
            <a:off x="596899" y="2571750"/>
            <a:ext cx="3961355" cy="1131138"/>
          </a:xfrm>
          <a:prstGeom prst="rect">
            <a:avLst/>
          </a:prstGeom>
          <a:solidFill>
            <a:srgbClr val="00B050">
              <a:alpha val="16863"/>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chemeClr val="tx1"/>
                </a:solidFill>
              </a:rPr>
              <a:t>Region 2</a:t>
            </a:r>
            <a:endParaRPr lang="en-NL" sz="1400">
              <a:solidFill>
                <a:schemeClr val="tx1"/>
              </a:solidFill>
            </a:endParaRPr>
          </a:p>
        </p:txBody>
      </p:sp>
      <p:sp>
        <p:nvSpPr>
          <p:cNvPr id="9" name="TextBox 8">
            <a:extLst>
              <a:ext uri="{FF2B5EF4-FFF2-40B4-BE49-F238E27FC236}">
                <a16:creationId xmlns:a16="http://schemas.microsoft.com/office/drawing/2014/main" id="{98479120-30DA-BB4E-CA22-613E4E9FD2B1}"/>
              </a:ext>
            </a:extLst>
          </p:cNvPr>
          <p:cNvSpPr txBox="1"/>
          <p:nvPr/>
        </p:nvSpPr>
        <p:spPr>
          <a:xfrm>
            <a:off x="4602304" y="980841"/>
            <a:ext cx="4470963" cy="3539430"/>
          </a:xfrm>
          <a:prstGeom prst="rect">
            <a:avLst/>
          </a:prstGeom>
          <a:noFill/>
        </p:spPr>
        <p:txBody>
          <a:bodyPr wrap="square" lIns="91440" tIns="45720" rIns="91440" bIns="45720" rtlCol="0" anchor="t">
            <a:spAutoFit/>
          </a:bodyPr>
          <a:lstStyle/>
          <a:p>
            <a:r>
              <a:rPr lang="en-US" sz="1600" b="1" dirty="0"/>
              <a:t>Region 1: Singe Dimension PE arrangement</a:t>
            </a:r>
            <a:r>
              <a:rPr lang="en-US" sz="1600" dirty="0"/>
              <a:t>:</a:t>
            </a:r>
          </a:p>
          <a:p>
            <a:pPr marL="171450" indent="-171450">
              <a:buFont typeface="Arial"/>
              <a:buChar char="•"/>
            </a:pPr>
            <a:r>
              <a:rPr lang="en-US" sz="1600" dirty="0"/>
              <a:t>Total latency ranges from - </a:t>
            </a:r>
            <a:r>
              <a:rPr lang="en-US" sz="1600" dirty="0">
                <a:ea typeface="+mn-lt"/>
                <a:cs typeface="+mn-lt"/>
              </a:rPr>
              <a:t>1.85 – 1.93 × 10⁹ cycles</a:t>
            </a:r>
          </a:p>
          <a:p>
            <a:pPr marL="171450" indent="-171450">
              <a:buFont typeface="Arial"/>
              <a:buChar char="•"/>
            </a:pPr>
            <a:r>
              <a:rPr lang="en-US" sz="1600" dirty="0">
                <a:ea typeface="+mn-lt"/>
                <a:cs typeface="+mn-lt"/>
              </a:rPr>
              <a:t>~3× higher EDP → wastes energy</a:t>
            </a:r>
            <a:endParaRPr lang="en-US" sz="1600" dirty="0"/>
          </a:p>
          <a:p>
            <a:pPr marL="171450" indent="-171450">
              <a:buFont typeface="Arial"/>
              <a:buChar char="•"/>
            </a:pPr>
            <a:r>
              <a:rPr lang="en-US" sz="1600" dirty="0">
                <a:ea typeface="+mn-lt"/>
                <a:cs typeface="+mn-lt"/>
              </a:rPr>
              <a:t>Energy rises but latency hardly drops → memory-bound</a:t>
            </a:r>
            <a:endParaRPr lang="en-US" sz="1600" dirty="0"/>
          </a:p>
          <a:p>
            <a:pPr marL="171450" indent="-171450">
              <a:buFont typeface="Arial"/>
              <a:buChar char="•"/>
            </a:pPr>
            <a:endParaRPr lang="en-US" sz="1600" dirty="0"/>
          </a:p>
          <a:p>
            <a:endParaRPr lang="en-US" sz="1600" dirty="0"/>
          </a:p>
          <a:p>
            <a:r>
              <a:rPr lang="en-US" sz="1600" b="1" dirty="0"/>
              <a:t>Region 2: Multi Dimension PE arrangement:</a:t>
            </a:r>
          </a:p>
          <a:p>
            <a:pPr marL="171450" indent="-171450">
              <a:buFont typeface="Arial"/>
              <a:buChar char="•"/>
            </a:pPr>
            <a:r>
              <a:rPr lang="en-US" sz="1600" dirty="0"/>
              <a:t>Total latency ranges from - </a:t>
            </a:r>
            <a:r>
              <a:rPr lang="en-US" sz="1600" dirty="0">
                <a:ea typeface="+mn-lt"/>
                <a:cs typeface="+mn-lt"/>
              </a:rPr>
              <a:t>0.63 – 0.66 × 10⁹ cycles</a:t>
            </a:r>
          </a:p>
          <a:p>
            <a:pPr marL="171450" indent="-171450">
              <a:buFont typeface="Arial"/>
              <a:buChar char="•"/>
            </a:pPr>
            <a:r>
              <a:rPr lang="en-US" sz="1600" dirty="0">
                <a:ea typeface="+mn-lt"/>
                <a:cs typeface="+mn-lt"/>
              </a:rPr>
              <a:t>~3× lower EDP → best performance per joule</a:t>
            </a:r>
          </a:p>
          <a:p>
            <a:pPr marL="171450" indent="-171450">
              <a:buFont typeface="Arial"/>
              <a:buChar char="•"/>
            </a:pPr>
            <a:r>
              <a:rPr lang="en-US" sz="1600" dirty="0">
                <a:ea typeface="+mn-lt"/>
                <a:cs typeface="+mn-lt"/>
              </a:rPr>
              <a:t>Latency flat while energy scales → hides memory stalls</a:t>
            </a:r>
            <a:endParaRPr lang="en-US" sz="1600" dirty="0"/>
          </a:p>
        </p:txBody>
      </p:sp>
      <p:sp>
        <p:nvSpPr>
          <p:cNvPr id="3" name="TextBox 2">
            <a:extLst>
              <a:ext uri="{FF2B5EF4-FFF2-40B4-BE49-F238E27FC236}">
                <a16:creationId xmlns:a16="http://schemas.microsoft.com/office/drawing/2014/main" id="{E806B086-B92D-FF1B-C054-E8C5D8D27084}"/>
              </a:ext>
            </a:extLst>
          </p:cNvPr>
          <p:cNvSpPr txBox="1"/>
          <p:nvPr/>
        </p:nvSpPr>
        <p:spPr>
          <a:xfrm>
            <a:off x="692910" y="4197105"/>
            <a:ext cx="3769331"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400" b="1" dirty="0">
                <a:ea typeface="+mn-lt"/>
                <a:cs typeface="+mn-lt"/>
              </a:rPr>
              <a:t>Left → Right:</a:t>
            </a:r>
            <a:r>
              <a:rPr lang="en-GB" sz="1400" dirty="0">
                <a:ea typeface="+mn-lt"/>
                <a:cs typeface="+mn-lt"/>
              </a:rPr>
              <a:t> </a:t>
            </a:r>
            <a:r>
              <a:rPr lang="en-GB" sz="1400" dirty="0"/>
              <a:t>The PE count increases: </a:t>
            </a:r>
            <a:br>
              <a:rPr lang="en-GB" sz="1400" dirty="0"/>
            </a:br>
            <a:r>
              <a:rPr lang="en-GB" sz="1400" dirty="0"/>
              <a:t>Single row [8 – 256]</a:t>
            </a:r>
            <a:br>
              <a:rPr lang="en-GB" sz="1400" dirty="0"/>
            </a:br>
            <a:r>
              <a:rPr lang="en-GB" sz="1400" dirty="0"/>
              <a:t>Multi dimension [8*3 – 16*64]</a:t>
            </a:r>
          </a:p>
        </p:txBody>
      </p:sp>
      <p:sp>
        <p:nvSpPr>
          <p:cNvPr id="10" name="Arrow: Right 9">
            <a:extLst>
              <a:ext uri="{FF2B5EF4-FFF2-40B4-BE49-F238E27FC236}">
                <a16:creationId xmlns:a16="http://schemas.microsoft.com/office/drawing/2014/main" id="{9D5B740D-C38B-3C8A-DB5C-7D2F991D091C}"/>
              </a:ext>
            </a:extLst>
          </p:cNvPr>
          <p:cNvSpPr/>
          <p:nvPr/>
        </p:nvSpPr>
        <p:spPr>
          <a:xfrm>
            <a:off x="803781" y="4078379"/>
            <a:ext cx="3591642" cy="168558"/>
          </a:xfrm>
          <a:prstGeom prst="rightArrow">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sz="1400"/>
          </a:p>
        </p:txBody>
      </p:sp>
    </p:spTree>
    <p:extLst>
      <p:ext uri="{BB962C8B-B14F-4D97-AF65-F5344CB8AC3E}">
        <p14:creationId xmlns:p14="http://schemas.microsoft.com/office/powerpoint/2010/main" val="13623317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arn(inVertical)">
                                      <p:cBhvr>
                                        <p:cTn id="20" dur="500"/>
                                        <p:tgtEl>
                                          <p:spTgt spid="7"/>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arn(inVertical)">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animEffect transition="in" filter="fade">
                                      <p:cBhvr>
                                        <p:cTn id="28" dur="500"/>
                                        <p:tgtEl>
                                          <p:spTgt spid="9">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9">
                                            <p:txEl>
                                              <p:pRg st="6" end="6"/>
                                            </p:txEl>
                                          </p:spTgt>
                                        </p:tgtEl>
                                        <p:attrNameLst>
                                          <p:attrName>style.visibility</p:attrName>
                                        </p:attrNameLst>
                                      </p:cBhvr>
                                      <p:to>
                                        <p:strVal val="visible"/>
                                      </p:to>
                                    </p:set>
                                    <p:animEffect transition="in" filter="fade">
                                      <p:cBhvr>
                                        <p:cTn id="33" dur="500"/>
                                        <p:tgtEl>
                                          <p:spTgt spid="9">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9">
                                            <p:txEl>
                                              <p:pRg st="1" end="1"/>
                                            </p:txEl>
                                          </p:spTgt>
                                        </p:tgtEl>
                                        <p:attrNameLst>
                                          <p:attrName>style.visibility</p:attrName>
                                        </p:attrNameLst>
                                      </p:cBhvr>
                                      <p:to>
                                        <p:strVal val="visible"/>
                                      </p:to>
                                    </p:set>
                                    <p:animEffect transition="in" filter="fade">
                                      <p:cBhvr>
                                        <p:cTn id="38" dur="500"/>
                                        <p:tgtEl>
                                          <p:spTgt spid="9">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500"/>
                                        <p:tgtEl>
                                          <p:spTgt spid="9">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9">
                                            <p:txEl>
                                              <p:pRg st="2" end="2"/>
                                            </p:txEl>
                                          </p:spTgt>
                                        </p:tgtEl>
                                        <p:attrNameLst>
                                          <p:attrName>style.visibility</p:attrName>
                                        </p:attrNameLst>
                                      </p:cBhvr>
                                      <p:to>
                                        <p:strVal val="visible"/>
                                      </p:to>
                                    </p:set>
                                    <p:animEffect transition="in" filter="fade">
                                      <p:cBhvr>
                                        <p:cTn id="48" dur="500"/>
                                        <p:tgtEl>
                                          <p:spTgt spid="9">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9">
                                            <p:txEl>
                                              <p:pRg st="8" end="8"/>
                                            </p:txEl>
                                          </p:spTgt>
                                        </p:tgtEl>
                                        <p:attrNameLst>
                                          <p:attrName>style.visibility</p:attrName>
                                        </p:attrNameLst>
                                      </p:cBhvr>
                                      <p:to>
                                        <p:strVal val="visible"/>
                                      </p:to>
                                    </p:set>
                                    <p:animEffect transition="in" filter="fade">
                                      <p:cBhvr>
                                        <p:cTn id="53" dur="500"/>
                                        <p:tgtEl>
                                          <p:spTgt spid="9">
                                            <p:txEl>
                                              <p:pRg st="8" end="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9">
                                            <p:txEl>
                                              <p:pRg st="3" end="3"/>
                                            </p:txEl>
                                          </p:spTgt>
                                        </p:tgtEl>
                                        <p:attrNameLst>
                                          <p:attrName>style.visibility</p:attrName>
                                        </p:attrNameLst>
                                      </p:cBhvr>
                                      <p:to>
                                        <p:strVal val="visible"/>
                                      </p:to>
                                    </p:set>
                                    <p:animEffect transition="in" filter="fade">
                                      <p:cBhvr>
                                        <p:cTn id="58" dur="500"/>
                                        <p:tgtEl>
                                          <p:spTgt spid="9">
                                            <p:txEl>
                                              <p:pRg st="3" end="3"/>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9">
                                            <p:txEl>
                                              <p:pRg st="9" end="9"/>
                                            </p:txEl>
                                          </p:spTgt>
                                        </p:tgtEl>
                                        <p:attrNameLst>
                                          <p:attrName>style.visibility</p:attrName>
                                        </p:attrNameLst>
                                      </p:cBhvr>
                                      <p:to>
                                        <p:strVal val="visible"/>
                                      </p:to>
                                    </p:set>
                                    <p:animEffect transition="in" filter="fade">
                                      <p:cBhvr>
                                        <p:cTn id="63"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3" grpId="0"/>
      <p:bldP spid="1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6EFB2-F838-84EF-987C-E53EE469EF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640A76-09DD-27A1-784A-8EA4A5FBF8EC}"/>
              </a:ext>
            </a:extLst>
          </p:cNvPr>
          <p:cNvSpPr>
            <a:spLocks noGrp="1"/>
          </p:cNvSpPr>
          <p:nvPr>
            <p:ph type="title"/>
          </p:nvPr>
        </p:nvSpPr>
        <p:spPr/>
        <p:txBody>
          <a:bodyPr/>
          <a:lstStyle/>
          <a:p>
            <a:r>
              <a:rPr lang="en-US" dirty="0"/>
              <a:t>PE Arrangement Optimization</a:t>
            </a:r>
            <a:endParaRPr lang="en-GB" dirty="0"/>
          </a:p>
        </p:txBody>
      </p:sp>
      <p:sp>
        <p:nvSpPr>
          <p:cNvPr id="4" name="Slide Number Placeholder 3">
            <a:extLst>
              <a:ext uri="{FF2B5EF4-FFF2-40B4-BE49-F238E27FC236}">
                <a16:creationId xmlns:a16="http://schemas.microsoft.com/office/drawing/2014/main" id="{5FDFC56A-3EA5-7BA4-35F7-D11EE94492E7}"/>
              </a:ext>
            </a:extLst>
          </p:cNvPr>
          <p:cNvSpPr>
            <a:spLocks noGrp="1"/>
          </p:cNvSpPr>
          <p:nvPr>
            <p:ph type="sldNum" sz="quarter" idx="12"/>
          </p:nvPr>
        </p:nvSpPr>
        <p:spPr/>
        <p:txBody>
          <a:bodyPr/>
          <a:lstStyle/>
          <a:p>
            <a:fld id="{8836216C-5BC3-7C44-80F8-E30864FFC228}" type="slidenum">
              <a:rPr lang="en-US" smtClean="0"/>
              <a:t>44</a:t>
            </a:fld>
            <a:endParaRPr lang="en-US"/>
          </a:p>
        </p:txBody>
      </p:sp>
      <p:sp>
        <p:nvSpPr>
          <p:cNvPr id="5" name="Text Placeholder 4">
            <a:extLst>
              <a:ext uri="{FF2B5EF4-FFF2-40B4-BE49-F238E27FC236}">
                <a16:creationId xmlns:a16="http://schemas.microsoft.com/office/drawing/2014/main" id="{A22C4E19-4CB7-47B2-2012-E51B2A9BC1FA}"/>
              </a:ext>
            </a:extLst>
          </p:cNvPr>
          <p:cNvSpPr>
            <a:spLocks noGrp="1"/>
          </p:cNvSpPr>
          <p:nvPr>
            <p:ph type="body" sz="quarter" idx="13"/>
          </p:nvPr>
        </p:nvSpPr>
        <p:spPr/>
        <p:txBody>
          <a:bodyPr/>
          <a:lstStyle/>
          <a:p>
            <a:r>
              <a:rPr lang="en-US" dirty="0"/>
              <a:t>Energy-Latency Trade-off Analysis</a:t>
            </a:r>
            <a:endParaRPr lang="en-GB" dirty="0"/>
          </a:p>
        </p:txBody>
      </p:sp>
      <p:pic>
        <p:nvPicPr>
          <p:cNvPr id="3" name="Picture 2" descr="A graph with numbers and symbols&#10;&#10;AI-generated content may be incorrect.">
            <a:extLst>
              <a:ext uri="{FF2B5EF4-FFF2-40B4-BE49-F238E27FC236}">
                <a16:creationId xmlns:a16="http://schemas.microsoft.com/office/drawing/2014/main" id="{F4AC6521-153C-4752-C3E3-EFBB025E61ED}"/>
              </a:ext>
            </a:extLst>
          </p:cNvPr>
          <p:cNvPicPr>
            <a:picLocks noChangeAspect="1"/>
          </p:cNvPicPr>
          <p:nvPr/>
        </p:nvPicPr>
        <p:blipFill>
          <a:blip r:embed="rId2"/>
          <a:stretch>
            <a:fillRect/>
          </a:stretch>
        </p:blipFill>
        <p:spPr>
          <a:xfrm>
            <a:off x="233820" y="1137475"/>
            <a:ext cx="4260807" cy="3014670"/>
          </a:xfrm>
          <a:prstGeom prst="rect">
            <a:avLst/>
          </a:prstGeom>
        </p:spPr>
      </p:pic>
      <p:sp>
        <p:nvSpPr>
          <p:cNvPr id="8" name="Rectangle 7">
            <a:extLst>
              <a:ext uri="{FF2B5EF4-FFF2-40B4-BE49-F238E27FC236}">
                <a16:creationId xmlns:a16="http://schemas.microsoft.com/office/drawing/2014/main" id="{2F30A208-61D8-346D-848F-BB90D3B04CAA}"/>
              </a:ext>
            </a:extLst>
          </p:cNvPr>
          <p:cNvSpPr/>
          <p:nvPr/>
        </p:nvSpPr>
        <p:spPr>
          <a:xfrm>
            <a:off x="720916" y="1308844"/>
            <a:ext cx="749154" cy="2497813"/>
          </a:xfrm>
          <a:prstGeom prst="rect">
            <a:avLst/>
          </a:prstGeom>
          <a:solidFill>
            <a:srgbClr val="00B050">
              <a:alpha val="16863"/>
            </a:srgb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400">
              <a:solidFill>
                <a:schemeClr val="tx1"/>
              </a:solidFill>
            </a:endParaRPr>
          </a:p>
        </p:txBody>
      </p:sp>
      <p:pic>
        <p:nvPicPr>
          <p:cNvPr id="6" name="Picture 5" descr="A graph with numbers and symbols&#10;&#10;AI-generated content may be incorrect.">
            <a:extLst>
              <a:ext uri="{FF2B5EF4-FFF2-40B4-BE49-F238E27FC236}">
                <a16:creationId xmlns:a16="http://schemas.microsoft.com/office/drawing/2014/main" id="{5D72FCF6-F7CD-C57F-65A5-BA17B84E5B2F}"/>
              </a:ext>
            </a:extLst>
          </p:cNvPr>
          <p:cNvPicPr>
            <a:picLocks noChangeAspect="1"/>
          </p:cNvPicPr>
          <p:nvPr/>
        </p:nvPicPr>
        <p:blipFill>
          <a:blip r:embed="rId3"/>
          <a:stretch>
            <a:fillRect/>
          </a:stretch>
        </p:blipFill>
        <p:spPr>
          <a:xfrm>
            <a:off x="4952240" y="1239380"/>
            <a:ext cx="3777187" cy="2768077"/>
          </a:xfrm>
          <a:prstGeom prst="rect">
            <a:avLst/>
          </a:prstGeom>
        </p:spPr>
      </p:pic>
      <p:sp>
        <p:nvSpPr>
          <p:cNvPr id="11" name="Rectangle 10">
            <a:extLst>
              <a:ext uri="{FF2B5EF4-FFF2-40B4-BE49-F238E27FC236}">
                <a16:creationId xmlns:a16="http://schemas.microsoft.com/office/drawing/2014/main" id="{77C61B9D-E7F7-9823-B9DB-FEC862766E7E}"/>
              </a:ext>
            </a:extLst>
          </p:cNvPr>
          <p:cNvSpPr/>
          <p:nvPr/>
        </p:nvSpPr>
        <p:spPr>
          <a:xfrm>
            <a:off x="5318355" y="1315868"/>
            <a:ext cx="675017" cy="2356708"/>
          </a:xfrm>
          <a:prstGeom prst="rect">
            <a:avLst/>
          </a:prstGeom>
          <a:solidFill>
            <a:srgbClr val="00B050">
              <a:alpha val="16863"/>
            </a:srgb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400">
              <a:solidFill>
                <a:schemeClr val="tx1"/>
              </a:solidFill>
            </a:endParaRPr>
          </a:p>
        </p:txBody>
      </p:sp>
      <p:sp>
        <p:nvSpPr>
          <p:cNvPr id="10" name="Rectangle 9">
            <a:extLst>
              <a:ext uri="{FF2B5EF4-FFF2-40B4-BE49-F238E27FC236}">
                <a16:creationId xmlns:a16="http://schemas.microsoft.com/office/drawing/2014/main" id="{1E56A8C4-186E-90D5-F61A-4CD0A7082A47}"/>
              </a:ext>
            </a:extLst>
          </p:cNvPr>
          <p:cNvSpPr/>
          <p:nvPr/>
        </p:nvSpPr>
        <p:spPr>
          <a:xfrm>
            <a:off x="1470070" y="1308843"/>
            <a:ext cx="2997492" cy="2472609"/>
          </a:xfrm>
          <a:prstGeom prst="rect">
            <a:avLst/>
          </a:prstGeom>
          <a:solidFill>
            <a:srgbClr val="FF0000">
              <a:alpha val="16863"/>
            </a:srgb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400">
              <a:solidFill>
                <a:schemeClr val="tx1"/>
              </a:solidFill>
            </a:endParaRPr>
          </a:p>
        </p:txBody>
      </p:sp>
      <p:sp>
        <p:nvSpPr>
          <p:cNvPr id="12" name="Rectangle 11">
            <a:extLst>
              <a:ext uri="{FF2B5EF4-FFF2-40B4-BE49-F238E27FC236}">
                <a16:creationId xmlns:a16="http://schemas.microsoft.com/office/drawing/2014/main" id="{3E342C7B-755D-F786-DEE8-26BF501388DB}"/>
              </a:ext>
            </a:extLst>
          </p:cNvPr>
          <p:cNvSpPr/>
          <p:nvPr/>
        </p:nvSpPr>
        <p:spPr>
          <a:xfrm>
            <a:off x="6009987" y="1274421"/>
            <a:ext cx="2656936" cy="2391130"/>
          </a:xfrm>
          <a:prstGeom prst="rect">
            <a:avLst/>
          </a:prstGeom>
          <a:solidFill>
            <a:srgbClr val="FF0000">
              <a:alpha val="16863"/>
            </a:srgb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400">
              <a:solidFill>
                <a:schemeClr val="tx1"/>
              </a:solidFill>
            </a:endParaRPr>
          </a:p>
        </p:txBody>
      </p:sp>
      <p:sp>
        <p:nvSpPr>
          <p:cNvPr id="7" name="TextBox 6">
            <a:extLst>
              <a:ext uri="{FF2B5EF4-FFF2-40B4-BE49-F238E27FC236}">
                <a16:creationId xmlns:a16="http://schemas.microsoft.com/office/drawing/2014/main" id="{E9FE8146-5277-FC0F-D973-2184320D40DC}"/>
              </a:ext>
            </a:extLst>
          </p:cNvPr>
          <p:cNvSpPr txBox="1"/>
          <p:nvPr/>
        </p:nvSpPr>
        <p:spPr>
          <a:xfrm>
            <a:off x="571103" y="4291490"/>
            <a:ext cx="829238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200" b="1" dirty="0">
                <a:ea typeface="+mn-lt"/>
                <a:cs typeface="+mn-lt"/>
              </a:rPr>
              <a:t>Left → Right:</a:t>
            </a:r>
            <a:r>
              <a:rPr lang="en-GB" sz="1200" dirty="0">
                <a:ea typeface="+mn-lt"/>
                <a:cs typeface="+mn-lt"/>
              </a:rPr>
              <a:t> adding more PEs pushes energy up almost in a straight line.</a:t>
            </a:r>
            <a:endParaRPr lang="en-US" sz="1200" dirty="0"/>
          </a:p>
          <a:p>
            <a:pPr algn="ctr"/>
            <a:r>
              <a:rPr lang="en-GB" sz="1200" b="1" dirty="0">
                <a:ea typeface="+mn-lt"/>
                <a:cs typeface="+mn-lt"/>
              </a:rPr>
              <a:t>Bottom → Top:</a:t>
            </a:r>
            <a:r>
              <a:rPr lang="en-GB" sz="1200" dirty="0">
                <a:ea typeface="+mn-lt"/>
                <a:cs typeface="+mn-lt"/>
              </a:rPr>
              <a:t> adding more PEs hardly speeds things up because the 512 KB SRAM, not the compute array, limits latency.</a:t>
            </a:r>
            <a:endParaRPr lang="en-GB" sz="1200" dirty="0"/>
          </a:p>
        </p:txBody>
      </p:sp>
      <p:sp>
        <p:nvSpPr>
          <p:cNvPr id="9" name="Flowchart: Connector 8">
            <a:extLst>
              <a:ext uri="{FF2B5EF4-FFF2-40B4-BE49-F238E27FC236}">
                <a16:creationId xmlns:a16="http://schemas.microsoft.com/office/drawing/2014/main" id="{CF3C7C94-21AE-054E-523C-9769A816B975}"/>
              </a:ext>
            </a:extLst>
          </p:cNvPr>
          <p:cNvSpPr/>
          <p:nvPr/>
        </p:nvSpPr>
        <p:spPr>
          <a:xfrm>
            <a:off x="884031" y="2492646"/>
            <a:ext cx="101361" cy="122927"/>
          </a:xfrm>
          <a:prstGeom prst="flowChartConnector">
            <a:avLst/>
          </a:prstGeom>
          <a:no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3" name="Flowchart: Connector 12">
            <a:extLst>
              <a:ext uri="{FF2B5EF4-FFF2-40B4-BE49-F238E27FC236}">
                <a16:creationId xmlns:a16="http://schemas.microsoft.com/office/drawing/2014/main" id="{E857F171-B632-AB26-E8B6-3F05DFAD4A4F}"/>
              </a:ext>
            </a:extLst>
          </p:cNvPr>
          <p:cNvSpPr/>
          <p:nvPr/>
        </p:nvSpPr>
        <p:spPr>
          <a:xfrm>
            <a:off x="5428216" y="3455718"/>
            <a:ext cx="97093" cy="111157"/>
          </a:xfrm>
          <a:prstGeom prst="flowChartConnector">
            <a:avLst/>
          </a:prstGeom>
          <a:no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5" name="TextBox 14">
            <a:extLst>
              <a:ext uri="{FF2B5EF4-FFF2-40B4-BE49-F238E27FC236}">
                <a16:creationId xmlns:a16="http://schemas.microsoft.com/office/drawing/2014/main" id="{6E31EEE0-618A-3021-00C9-BC0872306E49}"/>
              </a:ext>
            </a:extLst>
          </p:cNvPr>
          <p:cNvSpPr txBox="1"/>
          <p:nvPr/>
        </p:nvSpPr>
        <p:spPr>
          <a:xfrm>
            <a:off x="692766" y="920739"/>
            <a:ext cx="3894827" cy="307777"/>
          </a:xfrm>
          <a:prstGeom prst="rect">
            <a:avLst/>
          </a:prstGeom>
          <a:noFill/>
        </p:spPr>
        <p:txBody>
          <a:bodyPr wrap="square">
            <a:spAutoFit/>
          </a:bodyPr>
          <a:lstStyle/>
          <a:p>
            <a:r>
              <a:rPr lang="en-GB" sz="1400"/>
              <a:t>Energy vs Latency plot of varying PE configurations</a:t>
            </a:r>
          </a:p>
        </p:txBody>
      </p:sp>
      <p:sp>
        <p:nvSpPr>
          <p:cNvPr id="16" name="TextBox 15">
            <a:extLst>
              <a:ext uri="{FF2B5EF4-FFF2-40B4-BE49-F238E27FC236}">
                <a16:creationId xmlns:a16="http://schemas.microsoft.com/office/drawing/2014/main" id="{1C813C83-F5D2-6303-EDDF-4168EF1E2D20}"/>
              </a:ext>
            </a:extLst>
          </p:cNvPr>
          <p:cNvSpPr txBox="1"/>
          <p:nvPr/>
        </p:nvSpPr>
        <p:spPr>
          <a:xfrm>
            <a:off x="5119729" y="889648"/>
            <a:ext cx="3894827" cy="307777"/>
          </a:xfrm>
          <a:prstGeom prst="rect">
            <a:avLst/>
          </a:prstGeom>
          <a:noFill/>
        </p:spPr>
        <p:txBody>
          <a:bodyPr wrap="square">
            <a:spAutoFit/>
          </a:bodyPr>
          <a:lstStyle/>
          <a:p>
            <a:r>
              <a:rPr lang="en-GB" sz="1400"/>
              <a:t>Area vs Energy plot of varying PE configurations</a:t>
            </a:r>
          </a:p>
        </p:txBody>
      </p:sp>
      <p:sp>
        <p:nvSpPr>
          <p:cNvPr id="17" name="Arrow: Right 16">
            <a:extLst>
              <a:ext uri="{FF2B5EF4-FFF2-40B4-BE49-F238E27FC236}">
                <a16:creationId xmlns:a16="http://schemas.microsoft.com/office/drawing/2014/main" id="{90B1E3CE-1D49-10B2-A424-68D98E078DA4}"/>
              </a:ext>
            </a:extLst>
          </p:cNvPr>
          <p:cNvSpPr/>
          <p:nvPr/>
        </p:nvSpPr>
        <p:spPr>
          <a:xfrm>
            <a:off x="720916" y="4121825"/>
            <a:ext cx="8008511" cy="189378"/>
          </a:xfrm>
          <a:prstGeom prst="rightArrow">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sz="1400"/>
          </a:p>
        </p:txBody>
      </p:sp>
      <p:sp>
        <p:nvSpPr>
          <p:cNvPr id="18" name="Arrow: Up 17">
            <a:extLst>
              <a:ext uri="{FF2B5EF4-FFF2-40B4-BE49-F238E27FC236}">
                <a16:creationId xmlns:a16="http://schemas.microsoft.com/office/drawing/2014/main" id="{96D1BA45-D3A3-12C7-D946-2FB3AB3763C6}"/>
              </a:ext>
            </a:extLst>
          </p:cNvPr>
          <p:cNvSpPr/>
          <p:nvPr/>
        </p:nvSpPr>
        <p:spPr>
          <a:xfrm>
            <a:off x="4546107" y="1251790"/>
            <a:ext cx="171186" cy="2650620"/>
          </a:xfrm>
          <a:prstGeom prst="upArrow">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sz="1400"/>
          </a:p>
        </p:txBody>
      </p:sp>
      <p:sp>
        <p:nvSpPr>
          <p:cNvPr id="19" name="TextBox 18">
            <a:extLst>
              <a:ext uri="{FF2B5EF4-FFF2-40B4-BE49-F238E27FC236}">
                <a16:creationId xmlns:a16="http://schemas.microsoft.com/office/drawing/2014/main" id="{983F8826-CA31-3C60-A087-91356FDE1A4F}"/>
              </a:ext>
            </a:extLst>
          </p:cNvPr>
          <p:cNvSpPr txBox="1"/>
          <p:nvPr/>
        </p:nvSpPr>
        <p:spPr>
          <a:xfrm>
            <a:off x="2081893" y="1502229"/>
            <a:ext cx="1951264" cy="523220"/>
          </a:xfrm>
          <a:prstGeom prst="rect">
            <a:avLst/>
          </a:prstGeom>
          <a:solidFill>
            <a:schemeClr val="bg2">
              <a:lumMod val="60000"/>
              <a:lumOff val="40000"/>
            </a:schemeClr>
          </a:solidFill>
          <a:ln>
            <a:solidFill>
              <a:schemeClr val="tx1"/>
            </a:solidFill>
          </a:ln>
        </p:spPr>
        <p:txBody>
          <a:bodyPr wrap="square" rtlCol="0">
            <a:spAutoFit/>
          </a:bodyPr>
          <a:lstStyle/>
          <a:p>
            <a:pPr algn="ctr"/>
            <a:r>
              <a:rPr lang="en-US" sz="1400" dirty="0"/>
              <a:t>The PE configuration 8*3 is optimal</a:t>
            </a:r>
            <a:endParaRPr lang="en-NL" sz="1400" dirty="0"/>
          </a:p>
        </p:txBody>
      </p:sp>
      <p:cxnSp>
        <p:nvCxnSpPr>
          <p:cNvPr id="21" name="Straight Arrow Connector 20">
            <a:extLst>
              <a:ext uri="{FF2B5EF4-FFF2-40B4-BE49-F238E27FC236}">
                <a16:creationId xmlns:a16="http://schemas.microsoft.com/office/drawing/2014/main" id="{EA0D0CA5-55C0-AE1A-86B1-243639CD2EF7}"/>
              </a:ext>
            </a:extLst>
          </p:cNvPr>
          <p:cNvCxnSpPr>
            <a:cxnSpLocks/>
            <a:stCxn id="19" idx="1"/>
            <a:endCxn id="9" idx="7"/>
          </p:cNvCxnSpPr>
          <p:nvPr/>
        </p:nvCxnSpPr>
        <p:spPr>
          <a:xfrm flipH="1">
            <a:off x="970548" y="1763839"/>
            <a:ext cx="1111345" cy="7468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172FC541-44D7-F048-D2F2-E638AD1D1786}"/>
              </a:ext>
            </a:extLst>
          </p:cNvPr>
          <p:cNvCxnSpPr>
            <a:cxnSpLocks/>
            <a:stCxn id="19" idx="3"/>
            <a:endCxn id="13" idx="1"/>
          </p:cNvCxnSpPr>
          <p:nvPr/>
        </p:nvCxnSpPr>
        <p:spPr>
          <a:xfrm>
            <a:off x="4033157" y="1763839"/>
            <a:ext cx="1409278" cy="17081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Arrow: Up 19">
            <a:extLst>
              <a:ext uri="{FF2B5EF4-FFF2-40B4-BE49-F238E27FC236}">
                <a16:creationId xmlns:a16="http://schemas.microsoft.com/office/drawing/2014/main" id="{108E4852-5172-6763-64B5-90E1B90FC2C8}"/>
              </a:ext>
            </a:extLst>
          </p:cNvPr>
          <p:cNvSpPr/>
          <p:nvPr/>
        </p:nvSpPr>
        <p:spPr>
          <a:xfrm>
            <a:off x="8793188" y="1258980"/>
            <a:ext cx="171186" cy="2650620"/>
          </a:xfrm>
          <a:prstGeom prst="upArrow">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sz="1400"/>
          </a:p>
        </p:txBody>
      </p:sp>
    </p:spTree>
    <p:extLst>
      <p:ext uri="{BB962C8B-B14F-4D97-AF65-F5344CB8AC3E}">
        <p14:creationId xmlns:p14="http://schemas.microsoft.com/office/powerpoint/2010/main" val="2694554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childTnLst>
                                </p:cTn>
                              </p:par>
                              <p:par>
                                <p:cTn id="10" presetID="10"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inVertical)">
                                      <p:cBhvr>
                                        <p:cTn id="25" dur="500"/>
                                        <p:tgtEl>
                                          <p:spTgt spid="8"/>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arn(inVertical)">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nodeType="withEffect">
                                  <p:stCondLst>
                                    <p:cond delay="0"/>
                                  </p:stCondLst>
                                  <p:childTnLst>
                                    <p:set>
                                      <p:cBhvr>
                                        <p:cTn id="35" dur="1" fill="hold">
                                          <p:stCondLst>
                                            <p:cond delay="0"/>
                                          </p:stCondLst>
                                        </p:cTn>
                                        <p:tgtEl>
                                          <p:spTgt spid="7">
                                            <p:txEl>
                                              <p:pRg st="0" end="0"/>
                                            </p:txEl>
                                          </p:spTgt>
                                        </p:tgtEl>
                                        <p:attrNameLst>
                                          <p:attrName>style.visibility</p:attrName>
                                        </p:attrNameLst>
                                      </p:cBhvr>
                                      <p:to>
                                        <p:strVal val="visible"/>
                                      </p:to>
                                    </p:set>
                                    <p:animEffect transition="in" filter="fade">
                                      <p:cBhvr>
                                        <p:cTn id="36" dur="500"/>
                                        <p:tgtEl>
                                          <p:spTgt spid="7">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10" presetClass="entr" presetSubtype="0" fill="hold" nodeType="withEffect">
                                  <p:stCondLst>
                                    <p:cond delay="0"/>
                                  </p:stCondLst>
                                  <p:childTnLst>
                                    <p:set>
                                      <p:cBhvr>
                                        <p:cTn id="46" dur="1" fill="hold">
                                          <p:stCondLst>
                                            <p:cond delay="0"/>
                                          </p:stCondLst>
                                        </p:cTn>
                                        <p:tgtEl>
                                          <p:spTgt spid="7">
                                            <p:txEl>
                                              <p:pRg st="1" end="1"/>
                                            </p:txEl>
                                          </p:spTgt>
                                        </p:tgtEl>
                                        <p:attrNameLst>
                                          <p:attrName>style.visibility</p:attrName>
                                        </p:attrNameLst>
                                      </p:cBhvr>
                                      <p:to>
                                        <p:strVal val="visible"/>
                                      </p:to>
                                    </p:set>
                                    <p:animEffect transition="in" filter="fade">
                                      <p:cBhvr>
                                        <p:cTn id="47" dur="500"/>
                                        <p:tgtEl>
                                          <p:spTgt spid="7">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childTnLst>
                                </p:cTn>
                              </p:par>
                              <p:par>
                                <p:cTn id="53" presetID="10" presetClass="entr" presetSubtype="0"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0" grpId="0" animBg="1"/>
      <p:bldP spid="12" grpId="0" animBg="1"/>
      <p:bldP spid="9" grpId="0" animBg="1"/>
      <p:bldP spid="13" grpId="0" animBg="1"/>
      <p:bldP spid="15" grpId="0"/>
      <p:bldP spid="16" grpId="0"/>
      <p:bldP spid="17" grpId="0" animBg="1"/>
      <p:bldP spid="18" grpId="0" animBg="1"/>
      <p:bldP spid="19" grpId="0" animBg="1"/>
      <p:bldP spid="2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C1C5F-0DBE-3D89-5C3A-EE0E401F3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190F5-0C5B-EE40-05DE-46AF9219B0C5}"/>
              </a:ext>
            </a:extLst>
          </p:cNvPr>
          <p:cNvSpPr>
            <a:spLocks noGrp="1"/>
          </p:cNvSpPr>
          <p:nvPr>
            <p:ph type="title"/>
          </p:nvPr>
        </p:nvSpPr>
        <p:spPr/>
        <p:txBody>
          <a:bodyPr/>
          <a:lstStyle/>
          <a:p>
            <a:r>
              <a:rPr lang="en-US" dirty="0"/>
              <a:t>Optimal Architecture Configuration</a:t>
            </a:r>
            <a:endParaRPr lang="en-GB" dirty="0"/>
          </a:p>
        </p:txBody>
      </p:sp>
      <p:sp>
        <p:nvSpPr>
          <p:cNvPr id="4" name="Slide Number Placeholder 3">
            <a:extLst>
              <a:ext uri="{FF2B5EF4-FFF2-40B4-BE49-F238E27FC236}">
                <a16:creationId xmlns:a16="http://schemas.microsoft.com/office/drawing/2014/main" id="{54B63417-4417-5847-7177-4FD24EB7DFB4}"/>
              </a:ext>
            </a:extLst>
          </p:cNvPr>
          <p:cNvSpPr>
            <a:spLocks noGrp="1"/>
          </p:cNvSpPr>
          <p:nvPr>
            <p:ph type="sldNum" sz="quarter" idx="12"/>
          </p:nvPr>
        </p:nvSpPr>
        <p:spPr/>
        <p:txBody>
          <a:bodyPr/>
          <a:lstStyle/>
          <a:p>
            <a:fld id="{8836216C-5BC3-7C44-80F8-E30864FFC228}" type="slidenum">
              <a:rPr lang="en-US" smtClean="0"/>
              <a:t>45</a:t>
            </a:fld>
            <a:endParaRPr lang="en-US"/>
          </a:p>
        </p:txBody>
      </p:sp>
      <p:sp>
        <p:nvSpPr>
          <p:cNvPr id="5" name="Text Placeholder 4">
            <a:extLst>
              <a:ext uri="{FF2B5EF4-FFF2-40B4-BE49-F238E27FC236}">
                <a16:creationId xmlns:a16="http://schemas.microsoft.com/office/drawing/2014/main" id="{2FEB2ADB-0296-B3F9-74E4-9AF3A12FDBD6}"/>
              </a:ext>
            </a:extLst>
          </p:cNvPr>
          <p:cNvSpPr>
            <a:spLocks noGrp="1"/>
          </p:cNvSpPr>
          <p:nvPr>
            <p:ph type="body" sz="quarter" idx="13"/>
          </p:nvPr>
        </p:nvSpPr>
        <p:spPr/>
        <p:txBody>
          <a:bodyPr/>
          <a:lstStyle/>
          <a:p>
            <a:r>
              <a:rPr lang="en-US" dirty="0"/>
              <a:t>Quantified Performance Improvements and Design Trade-offs</a:t>
            </a:r>
            <a:endParaRPr lang="en-GB" dirty="0"/>
          </a:p>
        </p:txBody>
      </p:sp>
      <p:graphicFrame>
        <p:nvGraphicFramePr>
          <p:cNvPr id="6" name="Table 5">
            <a:extLst>
              <a:ext uri="{FF2B5EF4-FFF2-40B4-BE49-F238E27FC236}">
                <a16:creationId xmlns:a16="http://schemas.microsoft.com/office/drawing/2014/main" id="{19A80533-4544-9B28-78DE-2D2F4A28E416}"/>
              </a:ext>
            </a:extLst>
          </p:cNvPr>
          <p:cNvGraphicFramePr>
            <a:graphicFrameLocks noGrp="1"/>
          </p:cNvGraphicFramePr>
          <p:nvPr>
            <p:extLst>
              <p:ext uri="{D42A27DB-BD31-4B8C-83A1-F6EECF244321}">
                <p14:modId xmlns:p14="http://schemas.microsoft.com/office/powerpoint/2010/main" val="3353287042"/>
              </p:ext>
            </p:extLst>
          </p:nvPr>
        </p:nvGraphicFramePr>
        <p:xfrm>
          <a:off x="350043" y="1150144"/>
          <a:ext cx="8441199" cy="3175117"/>
        </p:xfrm>
        <a:graphic>
          <a:graphicData uri="http://schemas.openxmlformats.org/drawingml/2006/table">
            <a:tbl>
              <a:tblPr firstRow="1" bandRow="1">
                <a:tableStyleId>{5C22544A-7EE6-4342-B048-85BDC9FD1C3A}</a:tableStyleId>
              </a:tblPr>
              <a:tblGrid>
                <a:gridCol w="1575486">
                  <a:extLst>
                    <a:ext uri="{9D8B030D-6E8A-4147-A177-3AD203B41FA5}">
                      <a16:colId xmlns:a16="http://schemas.microsoft.com/office/drawing/2014/main" val="2540402958"/>
                    </a:ext>
                  </a:extLst>
                </a:gridCol>
                <a:gridCol w="2015692">
                  <a:extLst>
                    <a:ext uri="{9D8B030D-6E8A-4147-A177-3AD203B41FA5}">
                      <a16:colId xmlns:a16="http://schemas.microsoft.com/office/drawing/2014/main" val="3514259088"/>
                    </a:ext>
                  </a:extLst>
                </a:gridCol>
                <a:gridCol w="1953910">
                  <a:extLst>
                    <a:ext uri="{9D8B030D-6E8A-4147-A177-3AD203B41FA5}">
                      <a16:colId xmlns:a16="http://schemas.microsoft.com/office/drawing/2014/main" val="815816664"/>
                    </a:ext>
                  </a:extLst>
                </a:gridCol>
                <a:gridCol w="2896111">
                  <a:extLst>
                    <a:ext uri="{9D8B030D-6E8A-4147-A177-3AD203B41FA5}">
                      <a16:colId xmlns:a16="http://schemas.microsoft.com/office/drawing/2014/main" val="3933007113"/>
                    </a:ext>
                  </a:extLst>
                </a:gridCol>
              </a:tblGrid>
              <a:tr h="431249">
                <a:tc>
                  <a:txBody>
                    <a:bodyPr/>
                    <a:lstStyle/>
                    <a:p>
                      <a:pPr lvl="0">
                        <a:buNone/>
                      </a:pPr>
                      <a:r>
                        <a:rPr lang="en-GB" sz="1400"/>
                        <a:t>Metrics</a:t>
                      </a:r>
                    </a:p>
                  </a:txBody>
                  <a:tcPr/>
                </a:tc>
                <a:tc>
                  <a:txBody>
                    <a:bodyPr/>
                    <a:lstStyle/>
                    <a:p>
                      <a:r>
                        <a:rPr lang="en-GB" sz="1400"/>
                        <a:t>Baseline</a:t>
                      </a:r>
                    </a:p>
                  </a:txBody>
                  <a:tcPr/>
                </a:tc>
                <a:tc>
                  <a:txBody>
                    <a:bodyPr/>
                    <a:lstStyle/>
                    <a:p>
                      <a:r>
                        <a:rPr lang="en-GB" sz="1400"/>
                        <a:t>Optimal</a:t>
                      </a:r>
                    </a:p>
                  </a:txBody>
                  <a:tcPr/>
                </a:tc>
                <a:tc>
                  <a:txBody>
                    <a:bodyPr/>
                    <a:lstStyle/>
                    <a:p>
                      <a:pPr lvl="0">
                        <a:buNone/>
                      </a:pPr>
                      <a:r>
                        <a:rPr lang="en-GB" sz="1400"/>
                        <a:t>Changes (Optimal vs Baseline)</a:t>
                      </a:r>
                    </a:p>
                  </a:txBody>
                  <a:tcPr/>
                </a:tc>
                <a:extLst>
                  <a:ext uri="{0D108BD9-81ED-4DB2-BD59-A6C34878D82A}">
                    <a16:rowId xmlns:a16="http://schemas.microsoft.com/office/drawing/2014/main" val="716987981"/>
                  </a:ext>
                </a:extLst>
              </a:tr>
              <a:tr h="179687">
                <a:tc rowSpan="4">
                  <a:txBody>
                    <a:bodyPr/>
                    <a:lstStyle/>
                    <a:p>
                      <a:pPr lvl="0" algn="l">
                        <a:lnSpc>
                          <a:spcPct val="100000"/>
                        </a:lnSpc>
                        <a:spcBef>
                          <a:spcPts val="0"/>
                        </a:spcBef>
                        <a:spcAft>
                          <a:spcPts val="0"/>
                        </a:spcAft>
                        <a:buNone/>
                      </a:pPr>
                      <a:r>
                        <a:rPr lang="en-GB" sz="1400" b="1" i="0" u="none" strike="noStrike" noProof="0" dirty="0">
                          <a:solidFill>
                            <a:srgbClr val="3C3C3B"/>
                          </a:solidFill>
                          <a:latin typeface="Gill Sans MT"/>
                        </a:rPr>
                        <a:t>Configuration </a:t>
                      </a:r>
                      <a:br>
                        <a:rPr lang="en-GB" sz="1400" b="1" i="0" u="none" strike="noStrike" noProof="0" dirty="0">
                          <a:solidFill>
                            <a:srgbClr val="3C3C3B"/>
                          </a:solidFill>
                          <a:latin typeface="Gill Sans MT"/>
                        </a:rPr>
                      </a:br>
                      <a:endParaRPr lang="en-GB" sz="1400" b="1" i="0" u="none" strike="noStrike" noProof="0" dirty="0">
                        <a:solidFill>
                          <a:srgbClr val="3C3C3B"/>
                        </a:solidFill>
                        <a:latin typeface="Gill Sans MT"/>
                      </a:endParaRPr>
                    </a:p>
                  </a:txBody>
                  <a:tcPr anchor="ctr"/>
                </a:tc>
                <a:tc>
                  <a:txBody>
                    <a:bodyPr/>
                    <a:lstStyle/>
                    <a:p>
                      <a:pPr lvl="0">
                        <a:buNone/>
                      </a:pPr>
                      <a:r>
                        <a:rPr lang="en-GB" sz="1400" b="0" i="0" u="none" strike="noStrike" noProof="0">
                          <a:solidFill>
                            <a:srgbClr val="3C3C3B"/>
                          </a:solidFill>
                          <a:latin typeface="Gill Sans MT"/>
                        </a:rPr>
                        <a:t>PE: 8</a:t>
                      </a:r>
                    </a:p>
                  </a:txBody>
                  <a:tcPr/>
                </a:tc>
                <a:tc>
                  <a:txBody>
                    <a:bodyPr/>
                    <a:lstStyle/>
                    <a:p>
                      <a:pPr lvl="0">
                        <a:buNone/>
                      </a:pPr>
                      <a:r>
                        <a:rPr lang="en-GB" sz="1400" b="0" i="0" u="none" strike="noStrike" noProof="0">
                          <a:solidFill>
                            <a:srgbClr val="3C3C3B"/>
                          </a:solidFill>
                          <a:latin typeface="Gill Sans MT"/>
                        </a:rPr>
                        <a:t>PE: 8*3</a:t>
                      </a:r>
                      <a:endParaRPr lang="en-US" sz="1400"/>
                    </a:p>
                  </a:txBody>
                  <a:tcPr/>
                </a:tc>
                <a:tc rowSpan="4">
                  <a:txBody>
                    <a:bodyPr/>
                    <a:lstStyle/>
                    <a:p>
                      <a:pPr marL="285750" lvl="0" indent="-285750" algn="l">
                        <a:lnSpc>
                          <a:spcPct val="100000"/>
                        </a:lnSpc>
                        <a:spcBef>
                          <a:spcPts val="0"/>
                        </a:spcBef>
                        <a:spcAft>
                          <a:spcPts val="0"/>
                        </a:spcAft>
                        <a:buFont typeface="Arial"/>
                        <a:buChar char="•"/>
                      </a:pPr>
                      <a:r>
                        <a:rPr lang="en-GB" sz="1400" b="0" i="0" u="none" strike="noStrike" noProof="0">
                          <a:latin typeface="Gill Sans MT"/>
                        </a:rPr>
                        <a:t>SRAM capacity increased by 2×</a:t>
                      </a:r>
                      <a:br>
                        <a:rPr lang="en-GB" sz="1400" b="0" i="0" u="none" strike="noStrike" noProof="0">
                          <a:latin typeface="Gill Sans MT"/>
                        </a:rPr>
                      </a:br>
                      <a:endParaRPr lang="en-US" sz="1400"/>
                    </a:p>
                    <a:p>
                      <a:pPr marL="285750" lvl="0" indent="-285750">
                        <a:buFont typeface="Arial"/>
                        <a:buChar char="•"/>
                      </a:pPr>
                      <a:r>
                        <a:rPr lang="en-GB" sz="1400" b="0" i="0" u="none" strike="noStrike" noProof="0">
                          <a:latin typeface="Gill Sans MT"/>
                        </a:rPr>
                        <a:t>Energy per bit increased by 1.42×</a:t>
                      </a:r>
                      <a:endParaRPr lang="en-GB" sz="1400"/>
                    </a:p>
                  </a:txBody>
                  <a:tcPr/>
                </a:tc>
                <a:extLst>
                  <a:ext uri="{0D108BD9-81ED-4DB2-BD59-A6C34878D82A}">
                    <a16:rowId xmlns:a16="http://schemas.microsoft.com/office/drawing/2014/main" val="3801761837"/>
                  </a:ext>
                </a:extLst>
              </a:tr>
              <a:tr h="305468">
                <a:tc vMerge="1">
                  <a:txBody>
                    <a:bodyPr/>
                    <a:lstStyle/>
                    <a:p>
                      <a:endParaRPr lang="en-US"/>
                    </a:p>
                  </a:txBody>
                  <a:tcPr/>
                </a:tc>
                <a:tc>
                  <a:txBody>
                    <a:bodyPr/>
                    <a:lstStyle/>
                    <a:p>
                      <a:pPr lvl="0">
                        <a:buNone/>
                      </a:pPr>
                      <a:r>
                        <a:rPr lang="en-GB" sz="1400" b="0" i="0" u="none" strike="noStrike" noProof="0">
                          <a:solidFill>
                            <a:srgbClr val="3C3C3B"/>
                          </a:solidFill>
                          <a:latin typeface="Gill Sans MT"/>
                        </a:rPr>
                        <a:t>SRAM Capacity: 256 KB</a:t>
                      </a:r>
                    </a:p>
                  </a:txBody>
                  <a:tcPr/>
                </a:tc>
                <a:tc>
                  <a:txBody>
                    <a:bodyPr/>
                    <a:lstStyle/>
                    <a:p>
                      <a:pPr lvl="0">
                        <a:buNone/>
                      </a:pPr>
                      <a:r>
                        <a:rPr lang="en-GB" sz="1400" b="0" i="0" u="none" strike="noStrike" noProof="0">
                          <a:solidFill>
                            <a:srgbClr val="3C3C3B"/>
                          </a:solidFill>
                          <a:latin typeface="Gill Sans MT"/>
                        </a:rPr>
                        <a:t>SRAM Capacity: 512 KB</a:t>
                      </a:r>
                    </a:p>
                  </a:txBody>
                  <a:tcPr/>
                </a:tc>
                <a:tc vMerge="1">
                  <a:txBody>
                    <a:bodyPr/>
                    <a:lstStyle/>
                    <a:p>
                      <a:endParaRPr lang="en-US"/>
                    </a:p>
                  </a:txBody>
                  <a:tcPr/>
                </a:tc>
                <a:extLst>
                  <a:ext uri="{0D108BD9-81ED-4DB2-BD59-A6C34878D82A}">
                    <a16:rowId xmlns:a16="http://schemas.microsoft.com/office/drawing/2014/main" val="3660871796"/>
                  </a:ext>
                </a:extLst>
              </a:tr>
              <a:tr h="179687">
                <a:tc vMerge="1">
                  <a:txBody>
                    <a:bodyPr/>
                    <a:lstStyle/>
                    <a:p>
                      <a:endParaRPr lang="en-US"/>
                    </a:p>
                  </a:txBody>
                  <a:tcPr/>
                </a:tc>
                <a:tc>
                  <a:txBody>
                    <a:bodyPr/>
                    <a:lstStyle/>
                    <a:p>
                      <a:pPr lvl="0">
                        <a:buNone/>
                      </a:pPr>
                      <a:r>
                        <a:rPr lang="en-GB" sz="1400" b="0" i="0" u="none" strike="noStrike" noProof="0" dirty="0">
                          <a:solidFill>
                            <a:srgbClr val="3C3C3B"/>
                          </a:solidFill>
                          <a:latin typeface="Gill Sans MT"/>
                        </a:rPr>
                        <a:t>Bandwidth: 128 bits</a:t>
                      </a:r>
                    </a:p>
                  </a:txBody>
                  <a:tcPr/>
                </a:tc>
                <a:tc>
                  <a:txBody>
                    <a:bodyPr/>
                    <a:lstStyle/>
                    <a:p>
                      <a:pPr lvl="0">
                        <a:buNone/>
                      </a:pPr>
                      <a:r>
                        <a:rPr lang="en-GB" sz="1400" b="0" i="0" u="none" strike="noStrike" noProof="0">
                          <a:solidFill>
                            <a:srgbClr val="3C3C3B"/>
                          </a:solidFill>
                          <a:latin typeface="Gill Sans MT"/>
                        </a:rPr>
                        <a:t>Bandwidth: 128 bits</a:t>
                      </a:r>
                    </a:p>
                  </a:txBody>
                  <a:tcPr/>
                </a:tc>
                <a:tc vMerge="1">
                  <a:txBody>
                    <a:bodyPr/>
                    <a:lstStyle/>
                    <a:p>
                      <a:endParaRPr lang="en-US"/>
                    </a:p>
                  </a:txBody>
                  <a:tcPr/>
                </a:tc>
                <a:extLst>
                  <a:ext uri="{0D108BD9-81ED-4DB2-BD59-A6C34878D82A}">
                    <a16:rowId xmlns:a16="http://schemas.microsoft.com/office/drawing/2014/main" val="3199580213"/>
                  </a:ext>
                </a:extLst>
              </a:tr>
              <a:tr h="179687">
                <a:tc vMerge="1">
                  <a:txBody>
                    <a:bodyPr/>
                    <a:lstStyle/>
                    <a:p>
                      <a:endParaRPr lang="en-US"/>
                    </a:p>
                  </a:txBody>
                  <a:tcPr/>
                </a:tc>
                <a:tc>
                  <a:txBody>
                    <a:bodyPr/>
                    <a:lstStyle/>
                    <a:p>
                      <a:pPr lvl="0">
                        <a:buNone/>
                      </a:pPr>
                      <a:r>
                        <a:rPr lang="en-GB" sz="1400" dirty="0" err="1"/>
                        <a:t>E_bit</a:t>
                      </a:r>
                      <a:r>
                        <a:rPr lang="en-GB" sz="1400" dirty="0"/>
                        <a:t>: 0.18 </a:t>
                      </a:r>
                      <a:r>
                        <a:rPr lang="en-GB" sz="1400" dirty="0" err="1"/>
                        <a:t>Pj</a:t>
                      </a:r>
                      <a:r>
                        <a:rPr lang="en-GB" sz="1400" dirty="0"/>
                        <a:t> </a:t>
                      </a:r>
                    </a:p>
                  </a:txBody>
                  <a:tcPr/>
                </a:tc>
                <a:tc>
                  <a:txBody>
                    <a:bodyPr/>
                    <a:lstStyle/>
                    <a:p>
                      <a:pPr lvl="0">
                        <a:buNone/>
                      </a:pPr>
                      <a:r>
                        <a:rPr lang="en-GB" sz="1400" dirty="0" err="1"/>
                        <a:t>E_bit</a:t>
                      </a:r>
                      <a:r>
                        <a:rPr lang="en-GB" sz="1400" dirty="0"/>
                        <a:t>: 0.255 </a:t>
                      </a:r>
                      <a:r>
                        <a:rPr lang="en-GB" sz="1400" dirty="0" err="1"/>
                        <a:t>Pj</a:t>
                      </a:r>
                      <a:endParaRPr lang="en-GB" sz="1400" dirty="0"/>
                    </a:p>
                  </a:txBody>
                  <a:tcPr/>
                </a:tc>
                <a:tc vMerge="1">
                  <a:txBody>
                    <a:bodyPr/>
                    <a:lstStyle/>
                    <a:p>
                      <a:endParaRPr lang="en-US"/>
                    </a:p>
                  </a:txBody>
                  <a:tcPr/>
                </a:tc>
                <a:extLst>
                  <a:ext uri="{0D108BD9-81ED-4DB2-BD59-A6C34878D82A}">
                    <a16:rowId xmlns:a16="http://schemas.microsoft.com/office/drawing/2014/main" val="1651393431"/>
                  </a:ext>
                </a:extLst>
              </a:tr>
              <a:tr h="179687">
                <a:tc>
                  <a:txBody>
                    <a:bodyPr/>
                    <a:lstStyle/>
                    <a:p>
                      <a:pPr lvl="0" algn="l">
                        <a:buNone/>
                      </a:pPr>
                      <a:r>
                        <a:rPr lang="en-GB" sz="1400" b="1"/>
                        <a:t>Latency (cycles)</a:t>
                      </a:r>
                    </a:p>
                  </a:txBody>
                  <a:tcPr anchor="ctr"/>
                </a:tc>
                <a:tc>
                  <a:txBody>
                    <a:bodyPr/>
                    <a:lstStyle/>
                    <a:p>
                      <a:pPr lvl="0">
                        <a:buNone/>
                      </a:pPr>
                      <a:r>
                        <a:rPr lang="en-GB" sz="1400" b="0" i="0" u="none" strike="noStrike" noProof="0">
                          <a:latin typeface="Gill Sans MT"/>
                        </a:rPr>
                        <a:t>1,930,172,842</a:t>
                      </a:r>
                      <a:endParaRPr lang="en-US" sz="1400"/>
                    </a:p>
                  </a:txBody>
                  <a:tcPr/>
                </a:tc>
                <a:tc>
                  <a:txBody>
                    <a:bodyPr/>
                    <a:lstStyle/>
                    <a:p>
                      <a:pPr lvl="0">
                        <a:buNone/>
                      </a:pPr>
                      <a:r>
                        <a:rPr lang="en-GB" sz="1400" b="0" i="0" u="none" strike="noStrike" noProof="0" dirty="0">
                          <a:latin typeface="Gill Sans MT"/>
                        </a:rPr>
                        <a:t>651,109,076</a:t>
                      </a:r>
                      <a:endParaRPr lang="en-US" sz="1400" dirty="0"/>
                    </a:p>
                  </a:txBody>
                  <a:tcPr/>
                </a:tc>
                <a:tc>
                  <a:txBody>
                    <a:bodyPr/>
                    <a:lstStyle/>
                    <a:p>
                      <a:pPr lvl="0">
                        <a:buNone/>
                      </a:pPr>
                      <a:r>
                        <a:rPr lang="en-GB" sz="1400" b="0" i="0" u="none" strike="noStrike" noProof="0">
                          <a:latin typeface="Gill Sans MT"/>
                        </a:rPr>
                        <a:t>2.96× reduction in latency</a:t>
                      </a:r>
                      <a:endParaRPr lang="en-US" sz="1400"/>
                    </a:p>
                  </a:txBody>
                  <a:tcPr/>
                </a:tc>
                <a:extLst>
                  <a:ext uri="{0D108BD9-81ED-4DB2-BD59-A6C34878D82A}">
                    <a16:rowId xmlns:a16="http://schemas.microsoft.com/office/drawing/2014/main" val="293991904"/>
                  </a:ext>
                </a:extLst>
              </a:tr>
              <a:tr h="179687">
                <a:tc>
                  <a:txBody>
                    <a:bodyPr/>
                    <a:lstStyle/>
                    <a:p>
                      <a:pPr lvl="0" algn="l">
                        <a:buNone/>
                      </a:pPr>
                      <a:r>
                        <a:rPr lang="en-GB" sz="1400" b="1"/>
                        <a:t>Energy (</a:t>
                      </a:r>
                      <a:r>
                        <a:rPr lang="en-GB" sz="1400" b="1" err="1"/>
                        <a:t>pJ</a:t>
                      </a:r>
                      <a:r>
                        <a:rPr lang="en-GB" sz="1400" b="1"/>
                        <a:t>)</a:t>
                      </a:r>
                    </a:p>
                  </a:txBody>
                  <a:tcPr anchor="ctr"/>
                </a:tc>
                <a:tc>
                  <a:txBody>
                    <a:bodyPr/>
                    <a:lstStyle/>
                    <a:p>
                      <a:pPr lvl="0">
                        <a:buNone/>
                      </a:pPr>
                      <a:r>
                        <a:rPr lang="en-GB" sz="1400" b="0" i="0" u="none" strike="noStrike" noProof="0">
                          <a:latin typeface="Gill Sans MT"/>
                        </a:rPr>
                        <a:t>5,099,335,477</a:t>
                      </a:r>
                      <a:endParaRPr lang="en-US" sz="1400"/>
                    </a:p>
                  </a:txBody>
                  <a:tcPr/>
                </a:tc>
                <a:tc>
                  <a:txBody>
                    <a:bodyPr/>
                    <a:lstStyle/>
                    <a:p>
                      <a:pPr lvl="0">
                        <a:buNone/>
                      </a:pPr>
                      <a:r>
                        <a:rPr lang="en-GB" sz="1400" b="0" i="0" u="none" strike="noStrike" noProof="0" dirty="0">
                          <a:solidFill>
                            <a:srgbClr val="3C3C3B"/>
                          </a:solidFill>
                        </a:rPr>
                        <a:t>4,203,655,191</a:t>
                      </a:r>
                      <a:endParaRPr lang="en-US" sz="1400" dirty="0"/>
                    </a:p>
                  </a:txBody>
                  <a:tcPr/>
                </a:tc>
                <a:tc>
                  <a:txBody>
                    <a:bodyPr/>
                    <a:lstStyle/>
                    <a:p>
                      <a:pPr lvl="0">
                        <a:buNone/>
                      </a:pPr>
                      <a:r>
                        <a:rPr lang="en-GB" sz="1400" b="0" i="0" u="none" strike="noStrike" noProof="0">
                          <a:solidFill>
                            <a:srgbClr val="3C3C3B"/>
                          </a:solidFill>
                        </a:rPr>
                        <a:t>1.21× reduction in total energy</a:t>
                      </a:r>
                      <a:endParaRPr lang="en-US" sz="1400"/>
                    </a:p>
                  </a:txBody>
                  <a:tcPr/>
                </a:tc>
                <a:extLst>
                  <a:ext uri="{0D108BD9-81ED-4DB2-BD59-A6C34878D82A}">
                    <a16:rowId xmlns:a16="http://schemas.microsoft.com/office/drawing/2014/main" val="4127242047"/>
                  </a:ext>
                </a:extLst>
              </a:tr>
              <a:tr h="179687">
                <a:tc>
                  <a:txBody>
                    <a:bodyPr/>
                    <a:lstStyle/>
                    <a:p>
                      <a:pPr lvl="0" algn="l">
                        <a:buNone/>
                      </a:pPr>
                      <a:r>
                        <a:rPr lang="en-GB" sz="1400" b="1"/>
                        <a:t>Area (mm</a:t>
                      </a:r>
                      <a:r>
                        <a:rPr lang="en-GB" sz="1400" b="1" baseline="30000"/>
                        <a:t>2</a:t>
                      </a:r>
                      <a:r>
                        <a:rPr lang="en-GB" sz="1400" b="1"/>
                        <a:t>)</a:t>
                      </a:r>
                    </a:p>
                  </a:txBody>
                  <a:tcPr anchor="ctr"/>
                </a:tc>
                <a:tc>
                  <a:txBody>
                    <a:bodyPr/>
                    <a:lstStyle/>
                    <a:p>
                      <a:pPr lvl="0">
                        <a:buNone/>
                      </a:pPr>
                      <a:r>
                        <a:rPr lang="en-GB" sz="1400" b="0" i="0" u="none" strike="noStrike" noProof="0"/>
                        <a:t>0.6577</a:t>
                      </a:r>
                      <a:endParaRPr lang="en-US" sz="1400"/>
                    </a:p>
                  </a:txBody>
                  <a:tcPr/>
                </a:tc>
                <a:tc>
                  <a:txBody>
                    <a:bodyPr/>
                    <a:lstStyle/>
                    <a:p>
                      <a:pPr lvl="0">
                        <a:buNone/>
                      </a:pPr>
                      <a:r>
                        <a:rPr lang="en-GB" sz="1400" b="0" i="0" u="none" strike="noStrike" noProof="0"/>
                        <a:t>1.3860</a:t>
                      </a:r>
                      <a:endParaRPr lang="en-US" sz="1400"/>
                    </a:p>
                  </a:txBody>
                  <a:tcPr/>
                </a:tc>
                <a:tc>
                  <a:txBody>
                    <a:bodyPr/>
                    <a:lstStyle/>
                    <a:p>
                      <a:pPr lvl="0">
                        <a:buNone/>
                      </a:pPr>
                      <a:r>
                        <a:rPr lang="en-GB" sz="1400" b="0" i="0" u="none" strike="noStrike" noProof="0" dirty="0"/>
                        <a:t>2.11× increase in area</a:t>
                      </a:r>
                      <a:endParaRPr lang="en-US" sz="1400" dirty="0"/>
                    </a:p>
                  </a:txBody>
                  <a:tcPr/>
                </a:tc>
                <a:extLst>
                  <a:ext uri="{0D108BD9-81ED-4DB2-BD59-A6C34878D82A}">
                    <a16:rowId xmlns:a16="http://schemas.microsoft.com/office/drawing/2014/main" val="3759138403"/>
                  </a:ext>
                </a:extLst>
              </a:tr>
              <a:tr h="179687">
                <a:tc>
                  <a:txBody>
                    <a:bodyPr/>
                    <a:lstStyle/>
                    <a:p>
                      <a:pPr lvl="0" algn="l">
                        <a:buNone/>
                      </a:pPr>
                      <a:r>
                        <a:rPr lang="en-GB" sz="1400" b="1"/>
                        <a:t>ExD</a:t>
                      </a:r>
                      <a:r>
                        <a:rPr lang="en-GB" sz="1400" b="1" baseline="30000"/>
                        <a:t>2</a:t>
                      </a:r>
                    </a:p>
                  </a:txBody>
                  <a:tcPr anchor="ctr"/>
                </a:tc>
                <a:tc>
                  <a:txBody>
                    <a:bodyPr/>
                    <a:lstStyle/>
                    <a:p>
                      <a:pPr lvl="0">
                        <a:buNone/>
                      </a:pPr>
                      <a:r>
                        <a:rPr lang="en-GB" sz="1400" b="0" i="0" u="none" strike="noStrike" noProof="0"/>
                        <a:t>2.14E+28</a:t>
                      </a:r>
                      <a:endParaRPr lang="en-US" sz="1400"/>
                    </a:p>
                  </a:txBody>
                  <a:tcPr/>
                </a:tc>
                <a:tc>
                  <a:txBody>
                    <a:bodyPr/>
                    <a:lstStyle/>
                    <a:p>
                      <a:pPr lvl="0">
                        <a:buNone/>
                      </a:pPr>
                      <a:r>
                        <a:rPr lang="en-GB" sz="1400" b="0" i="0" u="none" strike="noStrike" noProof="0"/>
                        <a:t>1.78E+27</a:t>
                      </a:r>
                      <a:endParaRPr lang="en-US" sz="1400"/>
                    </a:p>
                  </a:txBody>
                  <a:tcPr/>
                </a:tc>
                <a:tc>
                  <a:txBody>
                    <a:bodyPr/>
                    <a:lstStyle/>
                    <a:p>
                      <a:pPr lvl="0">
                        <a:buNone/>
                      </a:pPr>
                      <a:r>
                        <a:rPr lang="en-GB" sz="1400" b="0" i="0" u="none" strike="noStrike" noProof="0" dirty="0"/>
                        <a:t>12.0× reduction in E×D</a:t>
                      </a:r>
                      <a:r>
                        <a:rPr lang="en-GB" sz="1400" b="0" i="0" u="none" strike="noStrike" baseline="30000" noProof="0" dirty="0"/>
                        <a:t>2</a:t>
                      </a:r>
                      <a:endParaRPr lang="en-US" sz="1400" baseline="30000" dirty="0"/>
                    </a:p>
                  </a:txBody>
                  <a:tcPr/>
                </a:tc>
                <a:extLst>
                  <a:ext uri="{0D108BD9-81ED-4DB2-BD59-A6C34878D82A}">
                    <a16:rowId xmlns:a16="http://schemas.microsoft.com/office/drawing/2014/main" val="2557808384"/>
                  </a:ext>
                </a:extLst>
              </a:tr>
              <a:tr h="179687">
                <a:tc>
                  <a:txBody>
                    <a:bodyPr/>
                    <a:lstStyle/>
                    <a:p>
                      <a:pPr lvl="0" algn="l">
                        <a:buNone/>
                      </a:pPr>
                      <a:r>
                        <a:rPr lang="en-GB" sz="1400" b="1" err="1"/>
                        <a:t>ExA</a:t>
                      </a:r>
                      <a:endParaRPr lang="en-GB" sz="1400" b="1"/>
                    </a:p>
                  </a:txBody>
                  <a:tcPr anchor="ctr"/>
                </a:tc>
                <a:tc>
                  <a:txBody>
                    <a:bodyPr/>
                    <a:lstStyle/>
                    <a:p>
                      <a:pPr lvl="0">
                        <a:buNone/>
                      </a:pPr>
                      <a:r>
                        <a:rPr lang="en-GB" sz="1400" b="0" i="0" u="none" strike="noStrike" noProof="0"/>
                        <a:t>3,781,880,057</a:t>
                      </a:r>
                      <a:endParaRPr lang="en-US" sz="1400"/>
                    </a:p>
                  </a:txBody>
                  <a:tcPr/>
                </a:tc>
                <a:tc>
                  <a:txBody>
                    <a:bodyPr/>
                    <a:lstStyle/>
                    <a:p>
                      <a:pPr lvl="0">
                        <a:buNone/>
                      </a:pPr>
                      <a:r>
                        <a:rPr lang="en-GB" sz="1400" b="0" i="0" u="none" strike="noStrike" noProof="0"/>
                        <a:t>5,826,224,444</a:t>
                      </a:r>
                      <a:endParaRPr lang="en-US" sz="1400"/>
                    </a:p>
                  </a:txBody>
                  <a:tcPr/>
                </a:tc>
                <a:tc>
                  <a:txBody>
                    <a:bodyPr/>
                    <a:lstStyle/>
                    <a:p>
                      <a:pPr lvl="0">
                        <a:buNone/>
                      </a:pPr>
                      <a:r>
                        <a:rPr lang="en-GB" sz="1400" b="0" i="0" u="none" strike="noStrike" noProof="0" dirty="0"/>
                        <a:t>1.54× increase in E×A</a:t>
                      </a:r>
                      <a:endParaRPr lang="en-US" sz="1400" dirty="0"/>
                    </a:p>
                  </a:txBody>
                  <a:tcPr/>
                </a:tc>
                <a:extLst>
                  <a:ext uri="{0D108BD9-81ED-4DB2-BD59-A6C34878D82A}">
                    <a16:rowId xmlns:a16="http://schemas.microsoft.com/office/drawing/2014/main" val="1395470061"/>
                  </a:ext>
                </a:extLst>
              </a:tr>
            </a:tbl>
          </a:graphicData>
        </a:graphic>
      </p:graphicFrame>
    </p:spTree>
    <p:extLst>
      <p:ext uri="{BB962C8B-B14F-4D97-AF65-F5344CB8AC3E}">
        <p14:creationId xmlns:p14="http://schemas.microsoft.com/office/powerpoint/2010/main" val="4288746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4EFA0-DF46-3C76-C8C3-A588A698D5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7AA8F9-9C18-53C4-0EB0-893D47BCDEC8}"/>
              </a:ext>
            </a:extLst>
          </p:cNvPr>
          <p:cNvSpPr>
            <a:spLocks noGrp="1"/>
          </p:cNvSpPr>
          <p:nvPr>
            <p:ph type="title"/>
          </p:nvPr>
        </p:nvSpPr>
        <p:spPr>
          <a:xfrm>
            <a:off x="160631" y="395585"/>
            <a:ext cx="8753475" cy="461665"/>
          </a:xfrm>
        </p:spPr>
        <p:txBody>
          <a:bodyPr/>
          <a:lstStyle/>
          <a:p>
            <a:r>
              <a:rPr lang="en-GB" dirty="0"/>
              <a:t>Outline</a:t>
            </a:r>
          </a:p>
        </p:txBody>
      </p:sp>
      <p:sp>
        <p:nvSpPr>
          <p:cNvPr id="4" name="Slide Number Placeholder 3">
            <a:extLst>
              <a:ext uri="{FF2B5EF4-FFF2-40B4-BE49-F238E27FC236}">
                <a16:creationId xmlns:a16="http://schemas.microsoft.com/office/drawing/2014/main" id="{99C42BE4-EC94-C295-E851-D555334E1AF8}"/>
              </a:ext>
            </a:extLst>
          </p:cNvPr>
          <p:cNvSpPr>
            <a:spLocks noGrp="1"/>
          </p:cNvSpPr>
          <p:nvPr>
            <p:ph type="sldNum" sz="quarter" idx="12"/>
          </p:nvPr>
        </p:nvSpPr>
        <p:spPr/>
        <p:txBody>
          <a:bodyPr/>
          <a:lstStyle/>
          <a:p>
            <a:fld id="{8836216C-5BC3-7C44-80F8-E30864FFC228}" type="slidenum">
              <a:rPr lang="en-US" smtClean="0"/>
              <a:t>46</a:t>
            </a:fld>
            <a:endParaRPr lang="en-US"/>
          </a:p>
        </p:txBody>
      </p:sp>
      <p:sp>
        <p:nvSpPr>
          <p:cNvPr id="7" name="TextBox 6">
            <a:extLst>
              <a:ext uri="{FF2B5EF4-FFF2-40B4-BE49-F238E27FC236}">
                <a16:creationId xmlns:a16="http://schemas.microsoft.com/office/drawing/2014/main" id="{455C6EBE-F3A1-B053-E872-A329FDBDB0AB}"/>
              </a:ext>
            </a:extLst>
          </p:cNvPr>
          <p:cNvSpPr txBox="1"/>
          <p:nvPr/>
        </p:nvSpPr>
        <p:spPr>
          <a:xfrm>
            <a:off x="272374" y="857250"/>
            <a:ext cx="8641732" cy="2554545"/>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000">
                <a:solidFill>
                  <a:schemeClr val="bg2">
                    <a:lumMod val="60000"/>
                    <a:lumOff val="40000"/>
                  </a:schemeClr>
                </a:solidFill>
              </a:rPr>
              <a:t>Introduction</a:t>
            </a:r>
          </a:p>
          <a:p>
            <a:pPr marL="457200" indent="-457200">
              <a:buFont typeface="Arial" panose="020B0604020202020204" pitchFamily="34" charset="0"/>
              <a:buChar char="•"/>
            </a:pPr>
            <a:r>
              <a:rPr lang="en-US" sz="2000">
                <a:solidFill>
                  <a:schemeClr val="bg2">
                    <a:lumMod val="60000"/>
                    <a:lumOff val="40000"/>
                  </a:schemeClr>
                </a:solidFill>
              </a:rPr>
              <a:t>Background</a:t>
            </a:r>
          </a:p>
          <a:p>
            <a:pPr marL="868680" lvl="1" indent="-457200">
              <a:buFont typeface="Courier New" panose="020B0604020202020204" pitchFamily="34" charset="0"/>
              <a:buChar char="o"/>
            </a:pPr>
            <a:r>
              <a:rPr lang="en-US" sz="2000">
                <a:solidFill>
                  <a:schemeClr val="bg2">
                    <a:lumMod val="60000"/>
                    <a:lumOff val="40000"/>
                  </a:schemeClr>
                </a:solidFill>
              </a:rPr>
              <a:t>Exploration process</a:t>
            </a:r>
          </a:p>
          <a:p>
            <a:pPr marL="868680" lvl="1" indent="-457200">
              <a:buFont typeface="Courier New" panose="020B0604020202020204" pitchFamily="34" charset="0"/>
              <a:buChar char="o"/>
            </a:pPr>
            <a:r>
              <a:rPr lang="en-US" sz="2000">
                <a:solidFill>
                  <a:schemeClr val="bg2">
                    <a:lumMod val="60000"/>
                    <a:lumOff val="40000"/>
                  </a:schemeClr>
                </a:solidFill>
              </a:rPr>
              <a:t>Different dataflow strategies</a:t>
            </a:r>
          </a:p>
          <a:p>
            <a:pPr marL="457200" indent="-457200">
              <a:buFont typeface="Arial" panose="020B0604020202020204" pitchFamily="34" charset="0"/>
              <a:buChar char="•"/>
            </a:pPr>
            <a:r>
              <a:rPr lang="en-US" sz="2000">
                <a:solidFill>
                  <a:schemeClr val="bg2">
                    <a:lumMod val="60000"/>
                    <a:lumOff val="40000"/>
                  </a:schemeClr>
                </a:solidFill>
              </a:rPr>
              <a:t>Related work</a:t>
            </a:r>
          </a:p>
          <a:p>
            <a:pPr marL="457200" indent="-457200">
              <a:buFont typeface="Arial" panose="020B0604020202020204" pitchFamily="34" charset="0"/>
              <a:buChar char="•"/>
            </a:pPr>
            <a:r>
              <a:rPr lang="en-US" sz="2000">
                <a:solidFill>
                  <a:schemeClr val="bg2">
                    <a:lumMod val="60000"/>
                    <a:lumOff val="40000"/>
                  </a:schemeClr>
                </a:solidFill>
              </a:rPr>
              <a:t>Thesis Contribution &amp; Proposed AeDAM framework </a:t>
            </a:r>
          </a:p>
          <a:p>
            <a:pPr marL="457200" indent="-457200">
              <a:buFont typeface="Arial" panose="020B0604020202020204" pitchFamily="34" charset="0"/>
              <a:buChar char="•"/>
            </a:pPr>
            <a:r>
              <a:rPr lang="en-US" sz="2000">
                <a:solidFill>
                  <a:schemeClr val="bg2">
                    <a:lumMod val="60000"/>
                    <a:lumOff val="40000"/>
                  </a:schemeClr>
                </a:solidFill>
              </a:rPr>
              <a:t>Results &amp; Analysis</a:t>
            </a:r>
          </a:p>
          <a:p>
            <a:pPr marL="457200" indent="-457200">
              <a:buFont typeface="Arial" panose="020B0604020202020204" pitchFamily="34" charset="0"/>
              <a:buChar char="•"/>
            </a:pPr>
            <a:r>
              <a:rPr lang="en-US" sz="2000"/>
              <a:t>Conclusion and Future Work </a:t>
            </a:r>
          </a:p>
        </p:txBody>
      </p:sp>
    </p:spTree>
    <p:extLst>
      <p:ext uri="{BB962C8B-B14F-4D97-AF65-F5344CB8AC3E}">
        <p14:creationId xmlns:p14="http://schemas.microsoft.com/office/powerpoint/2010/main" val="3275717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13891-9701-0B50-02BB-6825FE65B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A87EFB-437E-C787-97B9-4137F79A1027}"/>
              </a:ext>
            </a:extLst>
          </p:cNvPr>
          <p:cNvSpPr>
            <a:spLocks noGrp="1"/>
          </p:cNvSpPr>
          <p:nvPr>
            <p:ph type="title"/>
          </p:nvPr>
        </p:nvSpPr>
        <p:spPr/>
        <p:txBody>
          <a:bodyPr/>
          <a:lstStyle/>
          <a:p>
            <a:r>
              <a:rPr lang="en-GB">
                <a:latin typeface="Gill Sans MT"/>
                <a:cs typeface="Gill Sans"/>
              </a:rPr>
              <a:t>Conclusion</a:t>
            </a:r>
          </a:p>
        </p:txBody>
      </p:sp>
      <p:sp>
        <p:nvSpPr>
          <p:cNvPr id="3" name="Content Placeholder 2">
            <a:extLst>
              <a:ext uri="{FF2B5EF4-FFF2-40B4-BE49-F238E27FC236}">
                <a16:creationId xmlns:a16="http://schemas.microsoft.com/office/drawing/2014/main" id="{3FA4DD3D-8320-DFE5-F528-0442BE3FB1F0}"/>
              </a:ext>
            </a:extLst>
          </p:cNvPr>
          <p:cNvSpPr>
            <a:spLocks noGrp="1"/>
          </p:cNvSpPr>
          <p:nvPr>
            <p:ph idx="1"/>
          </p:nvPr>
        </p:nvSpPr>
        <p:spPr>
          <a:xfrm>
            <a:off x="160631" y="663892"/>
            <a:ext cx="2374107" cy="366713"/>
          </a:xfrm>
        </p:spPr>
        <p:txBody>
          <a:bodyPr vert="horz" lIns="91440" tIns="45720" rIns="91440" bIns="45720" rtlCol="0" anchor="t">
            <a:normAutofit/>
          </a:bodyPr>
          <a:lstStyle/>
          <a:p>
            <a:pPr marL="0" indent="0">
              <a:buNone/>
            </a:pPr>
            <a:r>
              <a:rPr lang="en-GB" sz="1400" b="1">
                <a:latin typeface="Gill Sans MT"/>
                <a:cs typeface="Gill Sans"/>
              </a:rPr>
              <a:t>Problem Statement</a:t>
            </a:r>
          </a:p>
          <a:p>
            <a:pPr marL="0" indent="0">
              <a:buNone/>
            </a:pPr>
            <a:endParaRPr lang="en-GB" sz="1400" b="1">
              <a:latin typeface="Gill Sans MT"/>
            </a:endParaRPr>
          </a:p>
          <a:p>
            <a:pPr marL="0" indent="0">
              <a:buNone/>
            </a:pPr>
            <a:endParaRPr lang="en-GB" sz="1400" b="1">
              <a:latin typeface="Gill Sans MT"/>
            </a:endParaRPr>
          </a:p>
        </p:txBody>
      </p:sp>
      <p:sp>
        <p:nvSpPr>
          <p:cNvPr id="4" name="Slide Number Placeholder 3">
            <a:extLst>
              <a:ext uri="{FF2B5EF4-FFF2-40B4-BE49-F238E27FC236}">
                <a16:creationId xmlns:a16="http://schemas.microsoft.com/office/drawing/2014/main" id="{C620F394-400A-4079-7AA4-23434D9D0765}"/>
              </a:ext>
            </a:extLst>
          </p:cNvPr>
          <p:cNvSpPr>
            <a:spLocks noGrp="1"/>
          </p:cNvSpPr>
          <p:nvPr>
            <p:ph type="sldNum" sz="quarter" idx="12"/>
          </p:nvPr>
        </p:nvSpPr>
        <p:spPr/>
        <p:txBody>
          <a:bodyPr/>
          <a:lstStyle/>
          <a:p>
            <a:fld id="{8836216C-5BC3-7C44-80F8-E30864FFC228}" type="slidenum">
              <a:rPr lang="en-US" smtClean="0"/>
              <a:t>47</a:t>
            </a:fld>
            <a:endParaRPr lang="en-US"/>
          </a:p>
        </p:txBody>
      </p:sp>
      <p:sp>
        <p:nvSpPr>
          <p:cNvPr id="6" name="TextBox 5">
            <a:extLst>
              <a:ext uri="{FF2B5EF4-FFF2-40B4-BE49-F238E27FC236}">
                <a16:creationId xmlns:a16="http://schemas.microsoft.com/office/drawing/2014/main" id="{827DE418-4C50-BF27-6999-8B045E5B5859}"/>
              </a:ext>
            </a:extLst>
          </p:cNvPr>
          <p:cNvSpPr txBox="1"/>
          <p:nvPr/>
        </p:nvSpPr>
        <p:spPr>
          <a:xfrm>
            <a:off x="160254" y="877971"/>
            <a:ext cx="87175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solidFill>
                  <a:schemeClr val="tx1">
                    <a:lumMod val="49000"/>
                  </a:schemeClr>
                </a:solidFill>
                <a:ea typeface="+mn-lt"/>
                <a:cs typeface="+mn-lt"/>
              </a:rPr>
              <a:t>Mapping tools designed for synchronous accelerators are inefficient for event-driven architectures.</a:t>
            </a:r>
            <a:endParaRPr lang="en-US" sz="1400" dirty="0">
              <a:solidFill>
                <a:schemeClr val="tx1">
                  <a:lumMod val="49000"/>
                </a:schemeClr>
              </a:solidFill>
              <a:ea typeface="+mn-lt"/>
              <a:cs typeface="+mn-lt"/>
            </a:endParaRPr>
          </a:p>
        </p:txBody>
      </p:sp>
      <p:sp>
        <p:nvSpPr>
          <p:cNvPr id="10" name="Content Placeholder 2">
            <a:extLst>
              <a:ext uri="{FF2B5EF4-FFF2-40B4-BE49-F238E27FC236}">
                <a16:creationId xmlns:a16="http://schemas.microsoft.com/office/drawing/2014/main" id="{DE425850-C1FF-7BB4-0467-8BF2E9E006E5}"/>
              </a:ext>
            </a:extLst>
          </p:cNvPr>
          <p:cNvSpPr txBox="1">
            <a:spLocks/>
          </p:cNvSpPr>
          <p:nvPr/>
        </p:nvSpPr>
        <p:spPr>
          <a:xfrm>
            <a:off x="163012" y="1184264"/>
            <a:ext cx="2381250" cy="366713"/>
          </a:xfrm>
          <a:prstGeom prst="rect">
            <a:avLst/>
          </a:prstGeom>
        </p:spPr>
        <p:txBody>
          <a:bodyPr vert="horz" lIns="91440" tIns="45720" rIns="91440" bIns="45720" rtlCol="0" anchor="t">
            <a:normAutofit/>
          </a:bodyPr>
          <a:lstStyle>
            <a:lvl1pPr marL="308610" indent="-308610" algn="l" defTabSz="411480" rtl="0" eaLnBrk="1" latinLnBrk="0" hangingPunct="1">
              <a:spcBef>
                <a:spcPct val="20000"/>
              </a:spcBef>
              <a:buClr>
                <a:schemeClr val="tx2"/>
              </a:buClr>
              <a:buSzPct val="100000"/>
              <a:buFont typeface="Wingdings" charset="2"/>
              <a:buChar char="§"/>
              <a:defRPr sz="1800" b="0" i="0" kern="1200">
                <a:solidFill>
                  <a:srgbClr val="000000"/>
                </a:solidFill>
                <a:latin typeface="Gill Sans MT" panose="020B0502020104020203" pitchFamily="34" charset="77"/>
                <a:ea typeface="+mn-ea"/>
                <a:cs typeface="Gill Sans" panose="020B0502020104020203" pitchFamily="34" charset="-79"/>
              </a:defRPr>
            </a:lvl1pPr>
            <a:lvl2pPr marL="668655" indent="-257175" algn="l" defTabSz="411480" rtl="0" eaLnBrk="1" latinLnBrk="0" hangingPunct="1">
              <a:spcBef>
                <a:spcPct val="20000"/>
              </a:spcBef>
              <a:buClr>
                <a:schemeClr val="tx1"/>
              </a:buClr>
              <a:buSzPct val="100000"/>
              <a:buFont typeface="Wingdings" charset="2"/>
              <a:buChar char="§"/>
              <a:defRPr sz="1620" b="0" i="0" kern="1200">
                <a:solidFill>
                  <a:srgbClr val="000000"/>
                </a:solidFill>
                <a:latin typeface="Gill Sans MT" panose="020B0502020104020203" pitchFamily="34" charset="77"/>
                <a:ea typeface="+mn-ea"/>
                <a:cs typeface="Gill Sans" panose="020B0502020104020203" pitchFamily="34" charset="-79"/>
              </a:defRPr>
            </a:lvl2pPr>
            <a:lvl3pPr marL="102870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3pPr>
            <a:lvl4pPr marL="1440180" indent="-205740" algn="l" defTabSz="411480" rtl="0" eaLnBrk="1" latinLnBrk="0" hangingPunct="1">
              <a:spcBef>
                <a:spcPct val="20000"/>
              </a:spcBef>
              <a:buClr>
                <a:schemeClr val="tx1"/>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4pPr>
            <a:lvl5pPr marL="185166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GB" sz="1400" b="1">
                <a:latin typeface="Gill Sans MT"/>
                <a:cs typeface="Gill Sans"/>
              </a:rPr>
              <a:t>My Contributions</a:t>
            </a:r>
            <a:endParaRPr lang="en-GB" sz="1400" b="1">
              <a:latin typeface="Gill Sans MT"/>
            </a:endParaRPr>
          </a:p>
        </p:txBody>
      </p:sp>
      <p:sp>
        <p:nvSpPr>
          <p:cNvPr id="12" name="TextBox 11">
            <a:extLst>
              <a:ext uri="{FF2B5EF4-FFF2-40B4-BE49-F238E27FC236}">
                <a16:creationId xmlns:a16="http://schemas.microsoft.com/office/drawing/2014/main" id="{81DF345D-2CBB-B1FE-C2EA-93B46137108C}"/>
              </a:ext>
            </a:extLst>
          </p:cNvPr>
          <p:cNvSpPr txBox="1"/>
          <p:nvPr/>
        </p:nvSpPr>
        <p:spPr>
          <a:xfrm>
            <a:off x="234230" y="1365755"/>
            <a:ext cx="8753041" cy="10833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000000"/>
                </a:solidFill>
              </a:rPr>
              <a:t>An Exploration tool which performs the following:</a:t>
            </a:r>
          </a:p>
          <a:p>
            <a:pPr marL="342900" indent="-342900">
              <a:spcBef>
                <a:spcPct val="20000"/>
              </a:spcBef>
              <a:buAutoNum type="arabicPeriod"/>
            </a:pPr>
            <a:r>
              <a:rPr lang="en-US" sz="1400" dirty="0">
                <a:solidFill>
                  <a:srgbClr val="000000"/>
                </a:solidFill>
              </a:rPr>
              <a:t>Event driven intra-core spatial and temporal mapping exploration</a:t>
            </a:r>
            <a:endParaRPr lang="en-US" sz="1400" dirty="0">
              <a:solidFill>
                <a:srgbClr val="3C3C3B"/>
              </a:solidFill>
            </a:endParaRPr>
          </a:p>
          <a:p>
            <a:pPr marL="342900" indent="-342900">
              <a:spcBef>
                <a:spcPct val="20000"/>
              </a:spcBef>
              <a:buAutoNum type="arabicPeriod"/>
            </a:pPr>
            <a:r>
              <a:rPr lang="en-US" sz="1400" dirty="0">
                <a:solidFill>
                  <a:srgbClr val="000000"/>
                </a:solidFill>
              </a:rPr>
              <a:t>Design Space exploration of Event driven architectures</a:t>
            </a:r>
            <a:endParaRPr lang="en-US" sz="1400" dirty="0"/>
          </a:p>
          <a:p>
            <a:pPr marL="754380" lvl="1" indent="-342900">
              <a:spcBef>
                <a:spcPct val="20000"/>
              </a:spcBef>
              <a:buFont typeface="Courier New"/>
              <a:buChar char="o"/>
            </a:pPr>
            <a:r>
              <a:rPr lang="en-US" sz="1400" dirty="0">
                <a:solidFill>
                  <a:srgbClr val="000000"/>
                </a:solidFill>
              </a:rPr>
              <a:t>Different memory configuration, PE arrangements, memory technology</a:t>
            </a:r>
          </a:p>
        </p:txBody>
      </p:sp>
      <p:sp>
        <p:nvSpPr>
          <p:cNvPr id="7" name="Content Placeholder 2">
            <a:extLst>
              <a:ext uri="{FF2B5EF4-FFF2-40B4-BE49-F238E27FC236}">
                <a16:creationId xmlns:a16="http://schemas.microsoft.com/office/drawing/2014/main" id="{60B8B84E-DF0A-85C6-89E6-C04FB25FA4BB}"/>
              </a:ext>
            </a:extLst>
          </p:cNvPr>
          <p:cNvSpPr txBox="1">
            <a:spLocks/>
          </p:cNvSpPr>
          <p:nvPr/>
        </p:nvSpPr>
        <p:spPr>
          <a:xfrm>
            <a:off x="165393" y="2322503"/>
            <a:ext cx="2381250" cy="366713"/>
          </a:xfrm>
          <a:prstGeom prst="rect">
            <a:avLst/>
          </a:prstGeom>
        </p:spPr>
        <p:txBody>
          <a:bodyPr vert="horz" lIns="91440" tIns="45720" rIns="91440" bIns="45720" rtlCol="0" anchor="t">
            <a:normAutofit/>
          </a:bodyPr>
          <a:lstStyle>
            <a:lvl1pPr marL="308610" indent="-308610" algn="l" defTabSz="411480" rtl="0" eaLnBrk="1" latinLnBrk="0" hangingPunct="1">
              <a:spcBef>
                <a:spcPct val="20000"/>
              </a:spcBef>
              <a:buClr>
                <a:schemeClr val="tx2"/>
              </a:buClr>
              <a:buSzPct val="100000"/>
              <a:buFont typeface="Wingdings" charset="2"/>
              <a:buChar char="§"/>
              <a:defRPr sz="1800" b="0" i="0" kern="1200">
                <a:solidFill>
                  <a:srgbClr val="000000"/>
                </a:solidFill>
                <a:latin typeface="Gill Sans MT" panose="020B0502020104020203" pitchFamily="34" charset="77"/>
                <a:ea typeface="+mn-ea"/>
                <a:cs typeface="Gill Sans" panose="020B0502020104020203" pitchFamily="34" charset="-79"/>
              </a:defRPr>
            </a:lvl1pPr>
            <a:lvl2pPr marL="668655" indent="-257175" algn="l" defTabSz="411480" rtl="0" eaLnBrk="1" latinLnBrk="0" hangingPunct="1">
              <a:spcBef>
                <a:spcPct val="20000"/>
              </a:spcBef>
              <a:buClr>
                <a:schemeClr val="tx1"/>
              </a:buClr>
              <a:buSzPct val="100000"/>
              <a:buFont typeface="Wingdings" charset="2"/>
              <a:buChar char="§"/>
              <a:defRPr sz="1620" b="0" i="0" kern="1200">
                <a:solidFill>
                  <a:srgbClr val="000000"/>
                </a:solidFill>
                <a:latin typeface="Gill Sans MT" panose="020B0502020104020203" pitchFamily="34" charset="77"/>
                <a:ea typeface="+mn-ea"/>
                <a:cs typeface="Gill Sans" panose="020B0502020104020203" pitchFamily="34" charset="-79"/>
              </a:defRPr>
            </a:lvl2pPr>
            <a:lvl3pPr marL="102870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3pPr>
            <a:lvl4pPr marL="1440180" indent="-205740" algn="l" defTabSz="411480" rtl="0" eaLnBrk="1" latinLnBrk="0" hangingPunct="1">
              <a:spcBef>
                <a:spcPct val="20000"/>
              </a:spcBef>
              <a:buClr>
                <a:schemeClr val="tx1"/>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4pPr>
            <a:lvl5pPr marL="1851660" indent="-205740" algn="l" defTabSz="411480" rtl="0" eaLnBrk="1" latinLnBrk="0" hangingPunct="1">
              <a:spcBef>
                <a:spcPct val="20000"/>
              </a:spcBef>
              <a:buClr>
                <a:schemeClr val="tx2"/>
              </a:buClr>
              <a:buSzPct val="100000"/>
              <a:buFont typeface="Wingdings" charset="2"/>
              <a:buChar char="§"/>
              <a:defRPr sz="1440" b="0" i="0" kern="1200">
                <a:solidFill>
                  <a:srgbClr val="000000"/>
                </a:solidFill>
                <a:latin typeface="Gill Sans MT" panose="020B0502020104020203" pitchFamily="34" charset="77"/>
                <a:ea typeface="+mn-ea"/>
                <a:cs typeface="Gill Sans" panose="020B0502020104020203" pitchFamily="34" charset="-79"/>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GB" sz="1400" b="1">
                <a:latin typeface="Gill Sans MT"/>
                <a:cs typeface="Gill Sans"/>
              </a:rPr>
              <a:t>KPIs</a:t>
            </a:r>
            <a:endParaRPr lang="en-GB" sz="1400" b="1">
              <a:latin typeface="Gill Sans MT"/>
            </a:endParaRPr>
          </a:p>
        </p:txBody>
      </p:sp>
      <p:sp>
        <p:nvSpPr>
          <p:cNvPr id="11" name="TextBox 10">
            <a:extLst>
              <a:ext uri="{FF2B5EF4-FFF2-40B4-BE49-F238E27FC236}">
                <a16:creationId xmlns:a16="http://schemas.microsoft.com/office/drawing/2014/main" id="{8F3138E5-2AE1-8FD8-6607-E65B20DCDA21}"/>
              </a:ext>
            </a:extLst>
          </p:cNvPr>
          <p:cNvSpPr txBox="1"/>
          <p:nvPr/>
        </p:nvSpPr>
        <p:spPr>
          <a:xfrm>
            <a:off x="231197" y="2501610"/>
            <a:ext cx="8751093"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AutoNum type="arabicPeriod"/>
            </a:pPr>
            <a:r>
              <a:rPr lang="en-GB" sz="1400" dirty="0"/>
              <a:t>Performance: ~2x faster than </a:t>
            </a:r>
            <a:r>
              <a:rPr lang="en-GB" sz="1400" dirty="0" err="1"/>
              <a:t>SoTA</a:t>
            </a:r>
            <a:r>
              <a:rPr lang="en-GB" sz="1400" dirty="0"/>
              <a:t> exploration tool for </a:t>
            </a:r>
            <a:r>
              <a:rPr lang="en-GB" sz="1400" dirty="0" err="1"/>
              <a:t>VGGnet</a:t>
            </a:r>
            <a:endParaRPr lang="en-GB" sz="1400" dirty="0"/>
          </a:p>
          <a:p>
            <a:pPr marL="228600" indent="-228600">
              <a:buAutoNum type="arabicPeriod"/>
            </a:pPr>
            <a:r>
              <a:rPr lang="en-GB" sz="1400" dirty="0"/>
              <a:t>Quality of Exploration results: </a:t>
            </a:r>
          </a:p>
          <a:p>
            <a:pPr marL="640080" lvl="1" indent="-228600">
              <a:buFont typeface="Courier New"/>
              <a:buChar char="o"/>
            </a:pPr>
            <a:r>
              <a:rPr lang="en-GB" sz="1400" dirty="0"/>
              <a:t>Latency: ~1x better mapping than the </a:t>
            </a:r>
            <a:r>
              <a:rPr lang="en-GB" sz="1400" dirty="0" err="1"/>
              <a:t>SoTA</a:t>
            </a:r>
            <a:r>
              <a:rPr lang="en-GB" sz="1400" dirty="0"/>
              <a:t> for </a:t>
            </a:r>
            <a:r>
              <a:rPr lang="en-GB" sz="1400" dirty="0" err="1"/>
              <a:t>VGGnet</a:t>
            </a:r>
            <a:endParaRPr lang="en-GB" sz="1400" dirty="0"/>
          </a:p>
          <a:p>
            <a:pPr marL="640080" lvl="1" indent="-228600">
              <a:buFont typeface="Courier New"/>
              <a:buChar char="o"/>
            </a:pPr>
            <a:r>
              <a:rPr lang="en-GB" sz="1400" dirty="0"/>
              <a:t>Energy: ~2x less input energy consumption and ~5x less output energy consumption mappings than the </a:t>
            </a:r>
            <a:r>
              <a:rPr lang="en-GB" sz="1400" dirty="0" err="1"/>
              <a:t>SoTA</a:t>
            </a:r>
            <a:r>
              <a:rPr lang="en-GB" sz="1400" dirty="0"/>
              <a:t> for the </a:t>
            </a:r>
            <a:r>
              <a:rPr lang="en-GB" sz="1400" dirty="0" err="1"/>
              <a:t>VGGnet</a:t>
            </a:r>
            <a:endParaRPr lang="en-GB" sz="1400" dirty="0"/>
          </a:p>
          <a:p>
            <a:pPr marL="228600" indent="-228600">
              <a:buAutoNum type="arabicPeriod"/>
            </a:pPr>
            <a:r>
              <a:rPr lang="en-GB" sz="1400" dirty="0"/>
              <a:t>DSE</a:t>
            </a:r>
          </a:p>
          <a:p>
            <a:pPr marL="640080" lvl="1" indent="-228600">
              <a:buFont typeface="Courier New"/>
              <a:buChar char="o"/>
            </a:pPr>
            <a:r>
              <a:rPr lang="en-GB" sz="1400" dirty="0"/>
              <a:t>SRAM: </a:t>
            </a:r>
            <a:r>
              <a:rPr lang="en-GB" sz="1400" dirty="0">
                <a:ea typeface="+mn-lt"/>
                <a:cs typeface="+mn-lt"/>
              </a:rPr>
              <a:t>Three distinct operational regimes with clear efficiency transition points and saturation boundaries.</a:t>
            </a:r>
          </a:p>
          <a:p>
            <a:pPr marL="640080" lvl="1" indent="-228600">
              <a:buFont typeface="Courier New"/>
              <a:buChar char="o"/>
            </a:pPr>
            <a:r>
              <a:rPr lang="en-GB" sz="1400" dirty="0"/>
              <a:t>PE: </a:t>
            </a:r>
            <a:r>
              <a:rPr lang="en-GB" sz="1400" dirty="0">
                <a:ea typeface="+mn-lt"/>
                <a:cs typeface="+mn-lt"/>
              </a:rPr>
              <a:t>Multi-dimensional arrays consistently outperform single-dimension architectures in energy-delay optimization.</a:t>
            </a:r>
          </a:p>
          <a:p>
            <a:pPr marL="640080" lvl="1" indent="-228600">
              <a:buFont typeface="Courier New"/>
              <a:buChar char="o"/>
            </a:pPr>
            <a:r>
              <a:rPr lang="en-GB" sz="1400" dirty="0"/>
              <a:t>Overall:</a:t>
            </a:r>
            <a:r>
              <a:rPr lang="en-GB" sz="1400" dirty="0">
                <a:ea typeface="+mn-lt"/>
                <a:cs typeface="+mn-lt"/>
              </a:rPr>
              <a:t> Memory-compute co-optimization reveals significant architectural synergy opportunities.</a:t>
            </a:r>
          </a:p>
        </p:txBody>
      </p:sp>
    </p:spTree>
    <p:extLst>
      <p:ext uri="{BB962C8B-B14F-4D97-AF65-F5344CB8AC3E}">
        <p14:creationId xmlns:p14="http://schemas.microsoft.com/office/powerpoint/2010/main" val="2814333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10" grpId="0"/>
      <p:bldP spid="12" grpId="0"/>
      <p:bldP spid="7" grpId="0"/>
      <p:bldP spid="1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829CB-FC2B-19D1-23E3-3193185BD4F4}"/>
              </a:ext>
            </a:extLst>
          </p:cNvPr>
          <p:cNvSpPr>
            <a:spLocks noGrp="1"/>
          </p:cNvSpPr>
          <p:nvPr>
            <p:ph type="title"/>
          </p:nvPr>
        </p:nvSpPr>
        <p:spPr/>
        <p:txBody>
          <a:bodyPr/>
          <a:lstStyle/>
          <a:p>
            <a:r>
              <a:rPr lang="en-GB">
                <a:latin typeface="Gill Sans MT"/>
                <a:cs typeface="Gill Sans"/>
              </a:rPr>
              <a:t>Future work</a:t>
            </a:r>
            <a:endParaRPr lang="en-GB"/>
          </a:p>
        </p:txBody>
      </p:sp>
      <p:sp>
        <p:nvSpPr>
          <p:cNvPr id="3" name="Content Placeholder 2">
            <a:extLst>
              <a:ext uri="{FF2B5EF4-FFF2-40B4-BE49-F238E27FC236}">
                <a16:creationId xmlns:a16="http://schemas.microsoft.com/office/drawing/2014/main" id="{5F0FA95B-E14A-AEE9-AC62-A0400E35AB2D}"/>
              </a:ext>
            </a:extLst>
          </p:cNvPr>
          <p:cNvSpPr>
            <a:spLocks noGrp="1"/>
          </p:cNvSpPr>
          <p:nvPr>
            <p:ph idx="1"/>
          </p:nvPr>
        </p:nvSpPr>
        <p:spPr/>
        <p:txBody>
          <a:bodyPr vert="horz" lIns="91440" tIns="45720" rIns="91440" bIns="45720" rtlCol="0" anchor="t">
            <a:normAutofit/>
          </a:bodyPr>
          <a:lstStyle/>
          <a:p>
            <a:pPr>
              <a:buFont typeface="Arial" charset="2"/>
              <a:buChar char="•"/>
            </a:pPr>
            <a:r>
              <a:rPr lang="en-GB" dirty="0">
                <a:latin typeface="Gill Sans MT"/>
                <a:cs typeface="Gill Sans"/>
              </a:rPr>
              <a:t>Integration of event driven dataflow exploration for Multicore architectures</a:t>
            </a:r>
            <a:endParaRPr lang="en-GB" dirty="0"/>
          </a:p>
          <a:p>
            <a:pPr>
              <a:buFont typeface="Arial" charset="2"/>
              <a:buChar char="•"/>
            </a:pPr>
            <a:r>
              <a:rPr lang="en-GB" dirty="0">
                <a:latin typeface="Gill Sans MT"/>
                <a:cs typeface="Gill Sans"/>
              </a:rPr>
              <a:t>Implement weight and input sparsity for event driven dataflow architectures</a:t>
            </a:r>
          </a:p>
          <a:p>
            <a:pPr>
              <a:buFont typeface="Arial" charset="2"/>
              <a:buChar char="•"/>
            </a:pPr>
            <a:r>
              <a:rPr lang="en-GB" dirty="0">
                <a:latin typeface="Gill Sans MT"/>
                <a:cs typeface="Gill Sans"/>
              </a:rPr>
              <a:t>Extend the sparsity model to adapt for dynamic input sparsity</a:t>
            </a:r>
            <a:endParaRPr lang="en-GB" dirty="0"/>
          </a:p>
          <a:p>
            <a:pPr>
              <a:buFont typeface="Arial" charset="2"/>
              <a:buChar char="•"/>
            </a:pPr>
            <a:r>
              <a:rPr lang="en-GB" dirty="0">
                <a:latin typeface="Gill Sans MT"/>
                <a:cs typeface="Gill Sans"/>
              </a:rPr>
              <a:t>Extend the support for SNNs </a:t>
            </a:r>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11582EC3-89A2-0130-CE76-C844B0B02332}"/>
              </a:ext>
            </a:extLst>
          </p:cNvPr>
          <p:cNvSpPr>
            <a:spLocks noGrp="1"/>
          </p:cNvSpPr>
          <p:nvPr>
            <p:ph type="sldNum" sz="quarter" idx="12"/>
          </p:nvPr>
        </p:nvSpPr>
        <p:spPr/>
        <p:txBody>
          <a:bodyPr/>
          <a:lstStyle/>
          <a:p>
            <a:fld id="{8836216C-5BC3-7C44-80F8-E30864FFC228}" type="slidenum">
              <a:rPr lang="en-US" smtClean="0"/>
              <a:t>48</a:t>
            </a:fld>
            <a:endParaRPr lang="en-US"/>
          </a:p>
        </p:txBody>
      </p:sp>
      <p:sp>
        <p:nvSpPr>
          <p:cNvPr id="5" name="Text Placeholder 4">
            <a:extLst>
              <a:ext uri="{FF2B5EF4-FFF2-40B4-BE49-F238E27FC236}">
                <a16:creationId xmlns:a16="http://schemas.microsoft.com/office/drawing/2014/main" id="{78E35840-3DCD-805F-F649-3E632933675A}"/>
              </a:ext>
            </a:extLst>
          </p:cNvPr>
          <p:cNvSpPr>
            <a:spLocks noGrp="1"/>
          </p:cNvSpPr>
          <p:nvPr>
            <p:ph type="body" sz="quarter" idx="13"/>
          </p:nvPr>
        </p:nvSpPr>
        <p:spPr/>
        <p:txBody>
          <a:bodyPr/>
          <a:lstStyle/>
          <a:p>
            <a:endParaRPr lang="en-GB"/>
          </a:p>
        </p:txBody>
      </p:sp>
    </p:spTree>
    <p:extLst>
      <p:ext uri="{BB962C8B-B14F-4D97-AF65-F5344CB8AC3E}">
        <p14:creationId xmlns:p14="http://schemas.microsoft.com/office/powerpoint/2010/main" val="3057056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FDD57698-07A9-DD7E-D57F-6479EF2847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99BF64-9473-094F-E882-CA3F7D6BBFF7}"/>
              </a:ext>
            </a:extLst>
          </p:cNvPr>
          <p:cNvSpPr>
            <a:spLocks noGrp="1"/>
          </p:cNvSpPr>
          <p:nvPr>
            <p:ph type="title"/>
          </p:nvPr>
        </p:nvSpPr>
        <p:spPr>
          <a:xfrm>
            <a:off x="0" y="2133168"/>
            <a:ext cx="9143999" cy="646331"/>
          </a:xfrm>
        </p:spPr>
        <p:txBody>
          <a:bodyPr/>
          <a:lstStyle/>
          <a:p>
            <a:pPr algn="ctr"/>
            <a:r>
              <a:rPr lang="en-US" sz="3600">
                <a:solidFill>
                  <a:schemeClr val="bg1"/>
                </a:solidFill>
              </a:rPr>
              <a:t>Thank you</a:t>
            </a:r>
            <a:endParaRPr lang="en-US" sz="3600">
              <a:solidFill>
                <a:schemeClr val="bg1"/>
              </a:solidFill>
              <a:latin typeface="Gill Sans MT"/>
              <a:cs typeface="Gill Sans"/>
            </a:endParaRPr>
          </a:p>
        </p:txBody>
      </p:sp>
      <p:sp>
        <p:nvSpPr>
          <p:cNvPr id="4" name="Slide Number Placeholder 3">
            <a:extLst>
              <a:ext uri="{FF2B5EF4-FFF2-40B4-BE49-F238E27FC236}">
                <a16:creationId xmlns:a16="http://schemas.microsoft.com/office/drawing/2014/main" id="{B5C31BD0-2D75-C3B8-1B6B-A84B2E60A693}"/>
              </a:ext>
            </a:extLst>
          </p:cNvPr>
          <p:cNvSpPr>
            <a:spLocks noGrp="1"/>
          </p:cNvSpPr>
          <p:nvPr>
            <p:ph type="sldNum" sz="quarter" idx="12"/>
          </p:nvPr>
        </p:nvSpPr>
        <p:spPr/>
        <p:txBody>
          <a:bodyPr/>
          <a:lstStyle/>
          <a:p>
            <a:fld id="{8836216C-5BC3-7C44-80F8-E30864FFC228}" type="slidenum">
              <a:rPr lang="en-US" smtClean="0"/>
              <a:t>49</a:t>
            </a:fld>
            <a:endParaRPr lang="en-US"/>
          </a:p>
        </p:txBody>
      </p:sp>
    </p:spTree>
    <p:extLst>
      <p:ext uri="{BB962C8B-B14F-4D97-AF65-F5344CB8AC3E}">
        <p14:creationId xmlns:p14="http://schemas.microsoft.com/office/powerpoint/2010/main" val="3234948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34EB08EF-BBE4-241F-3392-BD39C86D6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1B34E-DB8F-20BE-D1EB-C444D0F8BB19}"/>
              </a:ext>
            </a:extLst>
          </p:cNvPr>
          <p:cNvSpPr>
            <a:spLocks noGrp="1"/>
          </p:cNvSpPr>
          <p:nvPr>
            <p:ph type="title"/>
          </p:nvPr>
        </p:nvSpPr>
        <p:spPr>
          <a:xfrm>
            <a:off x="0" y="2133168"/>
            <a:ext cx="9143999" cy="646331"/>
          </a:xfrm>
        </p:spPr>
        <p:txBody>
          <a:bodyPr/>
          <a:lstStyle/>
          <a:p>
            <a:pPr algn="ctr"/>
            <a:r>
              <a:rPr lang="en-GB" sz="3600">
                <a:solidFill>
                  <a:schemeClr val="bg1"/>
                </a:solidFill>
                <a:latin typeface="Gill Sans MT"/>
                <a:cs typeface="Gill Sans"/>
              </a:rPr>
              <a:t>Q&amp;A</a:t>
            </a:r>
            <a:endParaRPr lang="en-US" sz="3600">
              <a:solidFill>
                <a:schemeClr val="bg1"/>
              </a:solidFill>
              <a:latin typeface="Gill Sans MT"/>
              <a:cs typeface="Gill Sans"/>
            </a:endParaRPr>
          </a:p>
        </p:txBody>
      </p:sp>
      <p:sp>
        <p:nvSpPr>
          <p:cNvPr id="4" name="Slide Number Placeholder 3">
            <a:extLst>
              <a:ext uri="{FF2B5EF4-FFF2-40B4-BE49-F238E27FC236}">
                <a16:creationId xmlns:a16="http://schemas.microsoft.com/office/drawing/2014/main" id="{0901F2F7-2D4A-2439-1C76-436A2DF8F552}"/>
              </a:ext>
            </a:extLst>
          </p:cNvPr>
          <p:cNvSpPr>
            <a:spLocks noGrp="1"/>
          </p:cNvSpPr>
          <p:nvPr>
            <p:ph type="sldNum" sz="quarter" idx="12"/>
          </p:nvPr>
        </p:nvSpPr>
        <p:spPr/>
        <p:txBody>
          <a:bodyPr/>
          <a:lstStyle/>
          <a:p>
            <a:fld id="{8836216C-5BC3-7C44-80F8-E30864FFC228}" type="slidenum">
              <a:rPr lang="en-US" smtClean="0"/>
              <a:t>50</a:t>
            </a:fld>
            <a:endParaRPr lang="en-US"/>
          </a:p>
        </p:txBody>
      </p:sp>
    </p:spTree>
    <p:extLst>
      <p:ext uri="{BB962C8B-B14F-4D97-AF65-F5344CB8AC3E}">
        <p14:creationId xmlns:p14="http://schemas.microsoft.com/office/powerpoint/2010/main" val="2038071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9A2AD35D-4C93-E8CF-41CE-ED807800BC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49A1C4-D1DB-7768-1D6F-93F06AD7430F}"/>
              </a:ext>
            </a:extLst>
          </p:cNvPr>
          <p:cNvSpPr>
            <a:spLocks noGrp="1"/>
          </p:cNvSpPr>
          <p:nvPr>
            <p:ph type="title"/>
          </p:nvPr>
        </p:nvSpPr>
        <p:spPr>
          <a:xfrm>
            <a:off x="0" y="2133168"/>
            <a:ext cx="9143999" cy="646331"/>
          </a:xfrm>
        </p:spPr>
        <p:txBody>
          <a:bodyPr/>
          <a:lstStyle/>
          <a:p>
            <a:pPr algn="ctr"/>
            <a:r>
              <a:rPr lang="en-GB" sz="3600">
                <a:solidFill>
                  <a:schemeClr val="bg1"/>
                </a:solidFill>
                <a:latin typeface="Gill Sans MT"/>
                <a:cs typeface="Gill Sans"/>
              </a:rPr>
              <a:t>Backup</a:t>
            </a:r>
            <a:endParaRPr lang="en-US" sz="3600">
              <a:solidFill>
                <a:schemeClr val="bg1"/>
              </a:solidFill>
              <a:latin typeface="Gill Sans MT"/>
              <a:cs typeface="Gill Sans"/>
            </a:endParaRPr>
          </a:p>
        </p:txBody>
      </p:sp>
      <p:sp>
        <p:nvSpPr>
          <p:cNvPr id="4" name="Slide Number Placeholder 3">
            <a:extLst>
              <a:ext uri="{FF2B5EF4-FFF2-40B4-BE49-F238E27FC236}">
                <a16:creationId xmlns:a16="http://schemas.microsoft.com/office/drawing/2014/main" id="{A3E1C152-8121-6E55-B573-78254CD3B4D3}"/>
              </a:ext>
            </a:extLst>
          </p:cNvPr>
          <p:cNvSpPr>
            <a:spLocks noGrp="1"/>
          </p:cNvSpPr>
          <p:nvPr>
            <p:ph type="sldNum" sz="quarter" idx="12"/>
          </p:nvPr>
        </p:nvSpPr>
        <p:spPr/>
        <p:txBody>
          <a:bodyPr/>
          <a:lstStyle/>
          <a:p>
            <a:fld id="{8836216C-5BC3-7C44-80F8-E30864FFC228}" type="slidenum">
              <a:rPr lang="en-US" smtClean="0"/>
              <a:t>51</a:t>
            </a:fld>
            <a:endParaRPr lang="en-US"/>
          </a:p>
        </p:txBody>
      </p:sp>
    </p:spTree>
    <p:extLst>
      <p:ext uri="{BB962C8B-B14F-4D97-AF65-F5344CB8AC3E}">
        <p14:creationId xmlns:p14="http://schemas.microsoft.com/office/powerpoint/2010/main" val="1298827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1A09-B92E-F971-1C51-FE23925AA1FE}"/>
              </a:ext>
            </a:extLst>
          </p:cNvPr>
          <p:cNvSpPr>
            <a:spLocks noGrp="1"/>
          </p:cNvSpPr>
          <p:nvPr>
            <p:ph type="title"/>
          </p:nvPr>
        </p:nvSpPr>
        <p:spPr/>
        <p:txBody>
          <a:bodyPr/>
          <a:lstStyle/>
          <a:p>
            <a:r>
              <a:rPr lang="en-GB" dirty="0"/>
              <a:t>Architecture model</a:t>
            </a:r>
            <a:endParaRPr lang="en-NL" dirty="0"/>
          </a:p>
        </p:txBody>
      </p:sp>
      <p:sp>
        <p:nvSpPr>
          <p:cNvPr id="4" name="Slide Number Placeholder 3">
            <a:extLst>
              <a:ext uri="{FF2B5EF4-FFF2-40B4-BE49-F238E27FC236}">
                <a16:creationId xmlns:a16="http://schemas.microsoft.com/office/drawing/2014/main" id="{E512C502-880C-3614-7D87-4B9EABFA361D}"/>
              </a:ext>
            </a:extLst>
          </p:cNvPr>
          <p:cNvSpPr>
            <a:spLocks noGrp="1"/>
          </p:cNvSpPr>
          <p:nvPr>
            <p:ph type="sldNum" sz="quarter" idx="12"/>
          </p:nvPr>
        </p:nvSpPr>
        <p:spPr/>
        <p:txBody>
          <a:bodyPr/>
          <a:lstStyle/>
          <a:p>
            <a:fld id="{8836216C-5BC3-7C44-80F8-E30864FFC228}" type="slidenum">
              <a:rPr lang="en-US" smtClean="0"/>
              <a:t>52</a:t>
            </a:fld>
            <a:endParaRPr lang="en-US"/>
          </a:p>
        </p:txBody>
      </p:sp>
      <p:sp>
        <p:nvSpPr>
          <p:cNvPr id="5" name="Text Placeholder 4">
            <a:extLst>
              <a:ext uri="{FF2B5EF4-FFF2-40B4-BE49-F238E27FC236}">
                <a16:creationId xmlns:a16="http://schemas.microsoft.com/office/drawing/2014/main" id="{3F613D88-F84D-1E31-E9FA-157BC2F68EAC}"/>
              </a:ext>
            </a:extLst>
          </p:cNvPr>
          <p:cNvSpPr>
            <a:spLocks noGrp="1"/>
          </p:cNvSpPr>
          <p:nvPr>
            <p:ph type="body" sz="quarter" idx="13"/>
          </p:nvPr>
        </p:nvSpPr>
        <p:spPr/>
        <p:txBody>
          <a:bodyPr/>
          <a:lstStyle/>
          <a:p>
            <a:endParaRPr lang="en-NL"/>
          </a:p>
        </p:txBody>
      </p:sp>
      <p:pic>
        <p:nvPicPr>
          <p:cNvPr id="6" name="Picture 5" descr="A diagram of a computer&#10;&#10;AI-generated content may be incorrect.">
            <a:extLst>
              <a:ext uri="{FF2B5EF4-FFF2-40B4-BE49-F238E27FC236}">
                <a16:creationId xmlns:a16="http://schemas.microsoft.com/office/drawing/2014/main" id="{2C8B0730-A922-8497-AD49-B6442286CFA5}"/>
              </a:ext>
            </a:extLst>
          </p:cNvPr>
          <p:cNvPicPr>
            <a:picLocks noChangeAspect="1"/>
          </p:cNvPicPr>
          <p:nvPr/>
        </p:nvPicPr>
        <p:blipFill>
          <a:blip r:embed="rId2"/>
          <a:stretch>
            <a:fillRect/>
          </a:stretch>
        </p:blipFill>
        <p:spPr>
          <a:xfrm>
            <a:off x="2390102" y="945647"/>
            <a:ext cx="4363795" cy="3871171"/>
          </a:xfrm>
          <a:prstGeom prst="rect">
            <a:avLst/>
          </a:prstGeom>
          <a:ln w="19050">
            <a:solidFill>
              <a:schemeClr val="tx1"/>
            </a:solidFill>
          </a:ln>
        </p:spPr>
      </p:pic>
    </p:spTree>
    <p:extLst>
      <p:ext uri="{BB962C8B-B14F-4D97-AF65-F5344CB8AC3E}">
        <p14:creationId xmlns:p14="http://schemas.microsoft.com/office/powerpoint/2010/main" val="148230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3219BA8-1DDC-84EE-A26D-6A7075FF31DB}"/>
            </a:ext>
          </a:extLst>
        </p:cNvPr>
        <p:cNvGrpSpPr/>
        <p:nvPr/>
      </p:nvGrpSpPr>
      <p:grpSpPr>
        <a:xfrm>
          <a:off x="0" y="0"/>
          <a:ext cx="0" cy="0"/>
          <a:chOff x="0" y="0"/>
          <a:chExt cx="0" cy="0"/>
        </a:xfrm>
      </p:grpSpPr>
      <p:pic>
        <p:nvPicPr>
          <p:cNvPr id="7" name="Picture 6" descr="A diagram of different colored cubes&#10;&#10;AI-generated content may be incorrect.">
            <a:extLst>
              <a:ext uri="{FF2B5EF4-FFF2-40B4-BE49-F238E27FC236}">
                <a16:creationId xmlns:a16="http://schemas.microsoft.com/office/drawing/2014/main" id="{43295D3D-1E1E-3CE8-E68E-E10E18ABDD8E}"/>
              </a:ext>
            </a:extLst>
          </p:cNvPr>
          <p:cNvPicPr>
            <a:picLocks noChangeAspect="1"/>
          </p:cNvPicPr>
          <p:nvPr/>
        </p:nvPicPr>
        <p:blipFill>
          <a:blip r:embed="rId3"/>
          <a:stretch>
            <a:fillRect/>
          </a:stretch>
        </p:blipFill>
        <p:spPr>
          <a:xfrm>
            <a:off x="246597" y="1118975"/>
            <a:ext cx="2017697" cy="3239304"/>
          </a:xfrm>
          <a:prstGeom prst="rect">
            <a:avLst/>
          </a:prstGeom>
        </p:spPr>
      </p:pic>
      <p:sp>
        <p:nvSpPr>
          <p:cNvPr id="2" name="Title 1">
            <a:extLst>
              <a:ext uri="{FF2B5EF4-FFF2-40B4-BE49-F238E27FC236}">
                <a16:creationId xmlns:a16="http://schemas.microsoft.com/office/drawing/2014/main" id="{8F0B6C80-5A3F-1453-2461-C17F6A44C4CA}"/>
              </a:ext>
            </a:extLst>
          </p:cNvPr>
          <p:cNvSpPr>
            <a:spLocks noGrp="1"/>
          </p:cNvSpPr>
          <p:nvPr>
            <p:ph type="title"/>
          </p:nvPr>
        </p:nvSpPr>
        <p:spPr/>
        <p:txBody>
          <a:bodyPr/>
          <a:lstStyle/>
          <a:p>
            <a:r>
              <a:rPr lang="en-GB">
                <a:latin typeface="Gill Sans MT"/>
                <a:cs typeface="Gill Sans"/>
              </a:rPr>
              <a:t>Different Dataflow strategies</a:t>
            </a:r>
            <a:endParaRPr lang="en-GB"/>
          </a:p>
        </p:txBody>
      </p:sp>
      <p:sp>
        <p:nvSpPr>
          <p:cNvPr id="4" name="Slide Number Placeholder 3">
            <a:extLst>
              <a:ext uri="{FF2B5EF4-FFF2-40B4-BE49-F238E27FC236}">
                <a16:creationId xmlns:a16="http://schemas.microsoft.com/office/drawing/2014/main" id="{8B28555F-1111-29CC-205F-EB8482127BEB}"/>
              </a:ext>
            </a:extLst>
          </p:cNvPr>
          <p:cNvSpPr>
            <a:spLocks noGrp="1"/>
          </p:cNvSpPr>
          <p:nvPr>
            <p:ph type="sldNum" sz="quarter" idx="12"/>
          </p:nvPr>
        </p:nvSpPr>
        <p:spPr/>
        <p:txBody>
          <a:bodyPr/>
          <a:lstStyle/>
          <a:p>
            <a:fld id="{8836216C-5BC3-7C44-80F8-E30864FFC228}" type="slidenum">
              <a:rPr lang="en-US" smtClean="0"/>
              <a:t>53</a:t>
            </a:fld>
            <a:endParaRPr lang="en-US"/>
          </a:p>
        </p:txBody>
      </p:sp>
      <p:sp>
        <p:nvSpPr>
          <p:cNvPr id="5" name="Text Placeholder 4">
            <a:extLst>
              <a:ext uri="{FF2B5EF4-FFF2-40B4-BE49-F238E27FC236}">
                <a16:creationId xmlns:a16="http://schemas.microsoft.com/office/drawing/2014/main" id="{7F72EF71-77B4-6187-DF34-A340752DE557}"/>
              </a:ext>
            </a:extLst>
          </p:cNvPr>
          <p:cNvSpPr>
            <a:spLocks noGrp="1"/>
          </p:cNvSpPr>
          <p:nvPr>
            <p:ph type="body" sz="quarter" idx="13"/>
          </p:nvPr>
        </p:nvSpPr>
        <p:spPr>
          <a:xfrm>
            <a:off x="194749" y="567785"/>
            <a:ext cx="8753475" cy="369332"/>
          </a:xfrm>
        </p:spPr>
        <p:txBody>
          <a:bodyPr/>
          <a:lstStyle/>
          <a:p>
            <a:r>
              <a:rPr lang="en-GB">
                <a:latin typeface="Gill Sans MT"/>
                <a:cs typeface="Gill Sans"/>
              </a:rPr>
              <a:t>Weight stationary, Output stationary, Input stationary and Event driven dataflow</a:t>
            </a:r>
            <a:endParaRPr lang="en-GB"/>
          </a:p>
        </p:txBody>
      </p:sp>
      <p:sp>
        <p:nvSpPr>
          <p:cNvPr id="9" name="Rectangle 8">
            <a:extLst>
              <a:ext uri="{FF2B5EF4-FFF2-40B4-BE49-F238E27FC236}">
                <a16:creationId xmlns:a16="http://schemas.microsoft.com/office/drawing/2014/main" id="{14E40AC3-A059-55ED-F030-DCB64D0B6BB8}"/>
              </a:ext>
            </a:extLst>
          </p:cNvPr>
          <p:cNvSpPr/>
          <p:nvPr/>
        </p:nvSpPr>
        <p:spPr>
          <a:xfrm>
            <a:off x="235668" y="4418841"/>
            <a:ext cx="2021327" cy="413093"/>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t>Output Stationary</a:t>
            </a:r>
          </a:p>
        </p:txBody>
      </p:sp>
      <p:sp>
        <p:nvSpPr>
          <p:cNvPr id="3" name="Rectangle 2">
            <a:extLst>
              <a:ext uri="{FF2B5EF4-FFF2-40B4-BE49-F238E27FC236}">
                <a16:creationId xmlns:a16="http://schemas.microsoft.com/office/drawing/2014/main" id="{1CDAB3E0-F444-C8D0-B8C2-BCEEC1DB097B}"/>
              </a:ext>
            </a:extLst>
          </p:cNvPr>
          <p:cNvSpPr/>
          <p:nvPr/>
        </p:nvSpPr>
        <p:spPr>
          <a:xfrm>
            <a:off x="2601726" y="4447418"/>
            <a:ext cx="1972707" cy="349012"/>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t>Weight Stationary</a:t>
            </a:r>
          </a:p>
        </p:txBody>
      </p:sp>
      <p:pic>
        <p:nvPicPr>
          <p:cNvPr id="6" name="Picture 5" descr="A diagram of different colored cubes&#10;&#10;AI-generated content may be incorrect.">
            <a:extLst>
              <a:ext uri="{FF2B5EF4-FFF2-40B4-BE49-F238E27FC236}">
                <a16:creationId xmlns:a16="http://schemas.microsoft.com/office/drawing/2014/main" id="{7CA6C0A4-7411-4526-FFCD-70DCF51238EF}"/>
              </a:ext>
            </a:extLst>
          </p:cNvPr>
          <p:cNvPicPr>
            <a:picLocks noChangeAspect="1"/>
          </p:cNvPicPr>
          <p:nvPr/>
        </p:nvPicPr>
        <p:blipFill>
          <a:blip r:embed="rId4"/>
          <a:stretch>
            <a:fillRect/>
          </a:stretch>
        </p:blipFill>
        <p:spPr>
          <a:xfrm>
            <a:off x="2601506" y="936595"/>
            <a:ext cx="1970274" cy="3403611"/>
          </a:xfrm>
          <a:prstGeom prst="rect">
            <a:avLst/>
          </a:prstGeom>
        </p:spPr>
      </p:pic>
      <p:pic>
        <p:nvPicPr>
          <p:cNvPr id="8" name="Picture 7" descr="A diagram of a diagram of a diagram&#10;&#10;AI-generated content may be incorrect.">
            <a:extLst>
              <a:ext uri="{FF2B5EF4-FFF2-40B4-BE49-F238E27FC236}">
                <a16:creationId xmlns:a16="http://schemas.microsoft.com/office/drawing/2014/main" id="{F3842E7A-197E-1999-39C9-90DF179AE034}"/>
              </a:ext>
            </a:extLst>
          </p:cNvPr>
          <p:cNvPicPr>
            <a:picLocks noChangeAspect="1"/>
          </p:cNvPicPr>
          <p:nvPr/>
        </p:nvPicPr>
        <p:blipFill>
          <a:blip r:embed="rId5"/>
          <a:stretch>
            <a:fillRect/>
          </a:stretch>
        </p:blipFill>
        <p:spPr>
          <a:xfrm>
            <a:off x="4765541" y="987140"/>
            <a:ext cx="1915856" cy="3472594"/>
          </a:xfrm>
          <a:prstGeom prst="rect">
            <a:avLst/>
          </a:prstGeom>
        </p:spPr>
      </p:pic>
      <p:sp>
        <p:nvSpPr>
          <p:cNvPr id="10" name="Rectangle 9">
            <a:extLst>
              <a:ext uri="{FF2B5EF4-FFF2-40B4-BE49-F238E27FC236}">
                <a16:creationId xmlns:a16="http://schemas.microsoft.com/office/drawing/2014/main" id="{245E84AC-D49D-0058-C6CE-F3EA3F1F7FF0}"/>
              </a:ext>
            </a:extLst>
          </p:cNvPr>
          <p:cNvSpPr/>
          <p:nvPr/>
        </p:nvSpPr>
        <p:spPr>
          <a:xfrm>
            <a:off x="4743929" y="4445909"/>
            <a:ext cx="2029857" cy="363300"/>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t>Input Stationary</a:t>
            </a:r>
          </a:p>
        </p:txBody>
      </p:sp>
      <p:pic>
        <p:nvPicPr>
          <p:cNvPr id="12" name="Picture 11" descr="A diagram of a diagram of a diagram&#10;&#10;AI-generated content may be incorrect.">
            <a:extLst>
              <a:ext uri="{FF2B5EF4-FFF2-40B4-BE49-F238E27FC236}">
                <a16:creationId xmlns:a16="http://schemas.microsoft.com/office/drawing/2014/main" id="{BCCAC881-3459-2FD6-A1F8-BB17962C2908}"/>
              </a:ext>
            </a:extLst>
          </p:cNvPr>
          <p:cNvPicPr>
            <a:picLocks noChangeAspect="1"/>
          </p:cNvPicPr>
          <p:nvPr/>
        </p:nvPicPr>
        <p:blipFill>
          <a:blip r:embed="rId6"/>
          <a:stretch>
            <a:fillRect/>
          </a:stretch>
        </p:blipFill>
        <p:spPr>
          <a:xfrm>
            <a:off x="6963811" y="990771"/>
            <a:ext cx="1957009" cy="3317744"/>
          </a:xfrm>
          <a:prstGeom prst="rect">
            <a:avLst/>
          </a:prstGeom>
        </p:spPr>
      </p:pic>
      <p:sp>
        <p:nvSpPr>
          <p:cNvPr id="13" name="Rectangle 12">
            <a:extLst>
              <a:ext uri="{FF2B5EF4-FFF2-40B4-BE49-F238E27FC236}">
                <a16:creationId xmlns:a16="http://schemas.microsoft.com/office/drawing/2014/main" id="{99875EC4-C2BB-A71B-BA3E-D3D0E0451FF5}"/>
              </a:ext>
            </a:extLst>
          </p:cNvPr>
          <p:cNvSpPr/>
          <p:nvPr/>
        </p:nvSpPr>
        <p:spPr>
          <a:xfrm>
            <a:off x="6965412" y="4445909"/>
            <a:ext cx="1936989" cy="377586"/>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t>Event driven</a:t>
            </a:r>
          </a:p>
        </p:txBody>
      </p:sp>
      <p:sp>
        <p:nvSpPr>
          <p:cNvPr id="14" name="Rectangle 13">
            <a:extLst>
              <a:ext uri="{FF2B5EF4-FFF2-40B4-BE49-F238E27FC236}">
                <a16:creationId xmlns:a16="http://schemas.microsoft.com/office/drawing/2014/main" id="{06DA9AFC-AEAA-FC0E-B39C-FE399C7E880C}"/>
              </a:ext>
            </a:extLst>
          </p:cNvPr>
          <p:cNvSpPr/>
          <p:nvPr/>
        </p:nvSpPr>
        <p:spPr>
          <a:xfrm>
            <a:off x="223833" y="913840"/>
            <a:ext cx="2033162" cy="3464718"/>
          </a:xfrm>
          <a:prstGeom prst="rect">
            <a:avLst/>
          </a:prstGeom>
          <a:solidFill>
            <a:srgbClr val="929497">
              <a:alpha val="9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5" name="TextBox 14">
            <a:extLst>
              <a:ext uri="{FF2B5EF4-FFF2-40B4-BE49-F238E27FC236}">
                <a16:creationId xmlns:a16="http://schemas.microsoft.com/office/drawing/2014/main" id="{B2C21E1B-F7F9-173B-7D54-5656773A8540}"/>
              </a:ext>
            </a:extLst>
          </p:cNvPr>
          <p:cNvSpPr txBox="1"/>
          <p:nvPr/>
        </p:nvSpPr>
        <p:spPr>
          <a:xfrm>
            <a:off x="235668" y="1499050"/>
            <a:ext cx="1987209"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0"/>
              </a:spcBef>
            </a:pPr>
            <a:r>
              <a:rPr lang="en-GB" sz="1000" b="1"/>
              <a:t>Stationary element</a:t>
            </a:r>
            <a:r>
              <a:rPr lang="en-GB" sz="1000"/>
              <a:t>: </a:t>
            </a:r>
            <a:r>
              <a:rPr lang="en-GB" sz="1000">
                <a:solidFill>
                  <a:srgbClr val="1B1C1D"/>
                </a:solidFill>
                <a:ea typeface="+mn-lt"/>
                <a:cs typeface="+mn-lt"/>
              </a:rPr>
              <a:t>Partial Sums</a:t>
            </a:r>
            <a:endParaRPr lang="en-US"/>
          </a:p>
          <a:p>
            <a:pPr>
              <a:spcBef>
                <a:spcPct val="0"/>
              </a:spcBef>
            </a:pPr>
            <a:endParaRPr lang="en-GB" sz="1000"/>
          </a:p>
          <a:p>
            <a:pPr>
              <a:spcBef>
                <a:spcPct val="0"/>
              </a:spcBef>
            </a:pPr>
            <a:r>
              <a:rPr lang="en-GB" sz="1000" b="1">
                <a:ea typeface="+mn-lt"/>
                <a:cs typeface="+mn-lt"/>
              </a:rPr>
              <a:t>Implementation via Unrolling: </a:t>
            </a:r>
          </a:p>
          <a:p>
            <a:r>
              <a:rPr lang="en-GB" sz="1000">
                <a:solidFill>
                  <a:srgbClr val="1B1C1D"/>
                </a:solidFill>
                <a:ea typeface="+mn-lt"/>
                <a:cs typeface="+mn-lt"/>
              </a:rPr>
              <a:t>Spatial: K, X', Y'</a:t>
            </a:r>
            <a:br>
              <a:rPr lang="en-GB" sz="1000">
                <a:solidFill>
                  <a:srgbClr val="1B1C1D"/>
                </a:solidFill>
                <a:ea typeface="+mn-lt"/>
                <a:cs typeface="+mn-lt"/>
              </a:rPr>
            </a:br>
            <a:r>
              <a:rPr lang="en-GB" sz="1000">
                <a:solidFill>
                  <a:srgbClr val="1B1C1D"/>
                </a:solidFill>
                <a:ea typeface="+mn-lt"/>
                <a:cs typeface="+mn-lt"/>
              </a:rPr>
              <a:t>Temporal: C, R, S</a:t>
            </a:r>
            <a:endParaRPr lang="en-GB" sz="1000">
              <a:ea typeface="+mn-lt"/>
              <a:cs typeface="+mn-lt"/>
            </a:endParaRPr>
          </a:p>
          <a:p>
            <a:pPr>
              <a:spcBef>
                <a:spcPct val="0"/>
              </a:spcBef>
            </a:pPr>
            <a:endParaRPr lang="en-GB" sz="1000" b="1">
              <a:ea typeface="+mn-lt"/>
              <a:cs typeface="+mn-lt"/>
            </a:endParaRPr>
          </a:p>
          <a:p>
            <a:pPr>
              <a:spcBef>
                <a:spcPct val="0"/>
              </a:spcBef>
            </a:pPr>
            <a:r>
              <a:rPr lang="en-GB" sz="1000" b="1">
                <a:ea typeface="+mn-lt"/>
                <a:cs typeface="+mn-lt"/>
              </a:rPr>
              <a:t>Key Advantages</a:t>
            </a:r>
            <a:endParaRPr lang="en-GB" sz="1000">
              <a:ea typeface="+mn-lt"/>
              <a:cs typeface="+mn-lt"/>
            </a:endParaRPr>
          </a:p>
          <a:p>
            <a:pPr>
              <a:spcBef>
                <a:spcPct val="0"/>
              </a:spcBef>
            </a:pPr>
            <a:r>
              <a:rPr lang="en-GB" sz="1000">
                <a:ea typeface="+mn-lt"/>
                <a:cs typeface="+mn-lt"/>
              </a:rPr>
              <a:t>Efficient reduction of </a:t>
            </a:r>
            <a:r>
              <a:rPr lang="en-GB" sz="1000" err="1">
                <a:ea typeface="+mn-lt"/>
                <a:cs typeface="+mn-lt"/>
              </a:rPr>
              <a:t>PSum</a:t>
            </a:r>
            <a:r>
              <a:rPr lang="en-GB" sz="1000">
                <a:ea typeface="+mn-lt"/>
                <a:cs typeface="+mn-lt"/>
              </a:rPr>
              <a:t> movement</a:t>
            </a:r>
            <a:endParaRPr lang="en-GB"/>
          </a:p>
          <a:p>
            <a:pPr>
              <a:spcBef>
                <a:spcPct val="0"/>
              </a:spcBef>
            </a:pPr>
            <a:endParaRPr lang="en-GB" sz="1000"/>
          </a:p>
          <a:p>
            <a:pPr>
              <a:spcBef>
                <a:spcPct val="0"/>
              </a:spcBef>
            </a:pPr>
            <a:r>
              <a:rPr lang="en-GB" sz="1000" b="1"/>
              <a:t>Key Disadvantages</a:t>
            </a:r>
            <a:r>
              <a:rPr lang="en-GB" sz="1000"/>
              <a:t>:</a:t>
            </a:r>
          </a:p>
          <a:p>
            <a:pPr>
              <a:spcBef>
                <a:spcPct val="0"/>
              </a:spcBef>
            </a:pPr>
            <a:r>
              <a:rPr lang="en-GB" sz="1000">
                <a:ea typeface="+mn-lt"/>
                <a:cs typeface="+mn-lt"/>
              </a:rPr>
              <a:t>May require high weight &amp; input BW if </a:t>
            </a:r>
            <a:r>
              <a:rPr lang="en-GB" sz="1000" err="1">
                <a:ea typeface="+mn-lt"/>
                <a:cs typeface="+mn-lt"/>
              </a:rPr>
              <a:t>PSums</a:t>
            </a:r>
            <a:r>
              <a:rPr lang="en-GB" sz="1000">
                <a:ea typeface="+mn-lt"/>
                <a:cs typeface="+mn-lt"/>
              </a:rPr>
              <a:t> not buffered</a:t>
            </a:r>
            <a:endParaRPr lang="en-GB">
              <a:ea typeface="+mn-lt"/>
              <a:cs typeface="+mn-lt"/>
            </a:endParaRPr>
          </a:p>
          <a:p>
            <a:r>
              <a:rPr lang="en-GB" sz="1000">
                <a:solidFill>
                  <a:srgbClr val="1B1C1D"/>
                </a:solidFill>
                <a:ea typeface="+mn-lt"/>
                <a:cs typeface="+mn-lt"/>
              </a:rPr>
              <a:t>May need large RF</a:t>
            </a:r>
            <a:endParaRPr lang="en-GB" sz="1000">
              <a:ea typeface="+mn-lt"/>
              <a:cs typeface="+mn-lt"/>
            </a:endParaRPr>
          </a:p>
          <a:p>
            <a:pPr>
              <a:spcBef>
                <a:spcPct val="0"/>
              </a:spcBef>
            </a:pPr>
            <a:endParaRPr lang="en-GB" sz="1000"/>
          </a:p>
        </p:txBody>
      </p:sp>
      <p:sp>
        <p:nvSpPr>
          <p:cNvPr id="16" name="Rectangle 15">
            <a:extLst>
              <a:ext uri="{FF2B5EF4-FFF2-40B4-BE49-F238E27FC236}">
                <a16:creationId xmlns:a16="http://schemas.microsoft.com/office/drawing/2014/main" id="{DE1462BE-77E1-BF05-1FF4-CAC8ADEFEE4B}"/>
              </a:ext>
            </a:extLst>
          </p:cNvPr>
          <p:cNvSpPr/>
          <p:nvPr/>
        </p:nvSpPr>
        <p:spPr>
          <a:xfrm>
            <a:off x="2614933" y="935937"/>
            <a:ext cx="1985962" cy="3464718"/>
          </a:xfrm>
          <a:prstGeom prst="rect">
            <a:avLst/>
          </a:prstGeom>
          <a:solidFill>
            <a:srgbClr val="929497">
              <a:alpha val="9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7" name="TextBox 16">
            <a:extLst>
              <a:ext uri="{FF2B5EF4-FFF2-40B4-BE49-F238E27FC236}">
                <a16:creationId xmlns:a16="http://schemas.microsoft.com/office/drawing/2014/main" id="{E3DC498E-96B2-9A16-8D13-01B661ACD430}"/>
              </a:ext>
            </a:extLst>
          </p:cNvPr>
          <p:cNvSpPr txBox="1"/>
          <p:nvPr/>
        </p:nvSpPr>
        <p:spPr>
          <a:xfrm>
            <a:off x="2604164" y="1440692"/>
            <a:ext cx="1986494" cy="21954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0"/>
              </a:spcBef>
            </a:pPr>
            <a:r>
              <a:rPr lang="en-GB" sz="1000" b="1"/>
              <a:t>Stationary element</a:t>
            </a:r>
            <a:r>
              <a:rPr lang="en-GB" sz="1000"/>
              <a:t>: </a:t>
            </a:r>
            <a:r>
              <a:rPr lang="en-GB" sz="1000">
                <a:ea typeface="+mn-lt"/>
                <a:cs typeface="+mn-lt"/>
              </a:rPr>
              <a:t>Filter weights</a:t>
            </a:r>
            <a:endParaRPr lang="en-US"/>
          </a:p>
          <a:p>
            <a:pPr>
              <a:spcBef>
                <a:spcPct val="0"/>
              </a:spcBef>
            </a:pPr>
            <a:endParaRPr lang="en-GB" sz="1000"/>
          </a:p>
          <a:p>
            <a:pPr>
              <a:spcBef>
                <a:spcPct val="0"/>
              </a:spcBef>
            </a:pPr>
            <a:r>
              <a:rPr lang="en-GB" sz="1000" b="1">
                <a:ea typeface="+mn-lt"/>
                <a:cs typeface="+mn-lt"/>
              </a:rPr>
              <a:t>Implementation via Unrolling: </a:t>
            </a:r>
          </a:p>
          <a:p>
            <a:pPr>
              <a:spcBef>
                <a:spcPct val="0"/>
              </a:spcBef>
            </a:pPr>
            <a:r>
              <a:rPr lang="en-GB" sz="1000">
                <a:ea typeface="+mn-lt"/>
                <a:cs typeface="+mn-lt"/>
              </a:rPr>
              <a:t>Spatial: K, R,S</a:t>
            </a:r>
            <a:br>
              <a:rPr lang="en-GB" sz="1000">
                <a:ea typeface="+mn-lt"/>
                <a:cs typeface="+mn-lt"/>
              </a:rPr>
            </a:br>
            <a:r>
              <a:rPr lang="en-GB" sz="1000">
                <a:ea typeface="+mn-lt"/>
                <a:cs typeface="+mn-lt"/>
              </a:rPr>
              <a:t>Temporal: X, Y, C</a:t>
            </a:r>
          </a:p>
          <a:p>
            <a:pPr>
              <a:spcBef>
                <a:spcPct val="0"/>
              </a:spcBef>
            </a:pPr>
            <a:endParaRPr lang="en-GB" sz="1000" b="1"/>
          </a:p>
          <a:p>
            <a:pPr>
              <a:spcBef>
                <a:spcPct val="0"/>
              </a:spcBef>
            </a:pPr>
            <a:r>
              <a:rPr lang="en-GB" sz="1000" b="1">
                <a:ea typeface="+mn-lt"/>
                <a:cs typeface="+mn-lt"/>
              </a:rPr>
              <a:t>Key Advantages</a:t>
            </a:r>
            <a:endParaRPr lang="en-GB" sz="1000">
              <a:ea typeface="+mn-lt"/>
              <a:cs typeface="+mn-lt"/>
            </a:endParaRPr>
          </a:p>
          <a:p>
            <a:pPr>
              <a:spcBef>
                <a:spcPct val="0"/>
              </a:spcBef>
            </a:pPr>
            <a:r>
              <a:rPr lang="en-GB" sz="1000">
                <a:ea typeface="+mn-lt"/>
                <a:cs typeface="+mn-lt"/>
              </a:rPr>
              <a:t>Minimizes repeated weight fetches</a:t>
            </a:r>
            <a:endParaRPr lang="en-GB" sz="1000"/>
          </a:p>
          <a:p>
            <a:pPr>
              <a:spcBef>
                <a:spcPct val="0"/>
              </a:spcBef>
            </a:pPr>
            <a:endParaRPr lang="en-GB" sz="1000"/>
          </a:p>
          <a:p>
            <a:pPr>
              <a:spcBef>
                <a:spcPct val="0"/>
              </a:spcBef>
            </a:pPr>
            <a:r>
              <a:rPr lang="en-GB" sz="1000" b="1"/>
              <a:t>Key Disadvantages</a:t>
            </a:r>
            <a:r>
              <a:rPr lang="en-GB" sz="1000"/>
              <a:t>:</a:t>
            </a:r>
          </a:p>
          <a:p>
            <a:pPr>
              <a:spcBef>
                <a:spcPct val="0"/>
              </a:spcBef>
            </a:pPr>
            <a:r>
              <a:rPr lang="en-GB" sz="1000">
                <a:ea typeface="+mn-lt"/>
                <a:cs typeface="+mn-lt"/>
              </a:rPr>
              <a:t>May require high input/output BW if weights not buffered</a:t>
            </a:r>
            <a:endParaRPr lang="en-GB" sz="1000"/>
          </a:p>
          <a:p>
            <a:pPr>
              <a:spcBef>
                <a:spcPct val="0"/>
              </a:spcBef>
            </a:pPr>
            <a:endParaRPr lang="en-GB" sz="1000" baseline="30000">
              <a:ea typeface="+mn-lt"/>
              <a:cs typeface="+mn-lt"/>
            </a:endParaRPr>
          </a:p>
        </p:txBody>
      </p:sp>
      <p:sp>
        <p:nvSpPr>
          <p:cNvPr id="18" name="Rectangle 17">
            <a:extLst>
              <a:ext uri="{FF2B5EF4-FFF2-40B4-BE49-F238E27FC236}">
                <a16:creationId xmlns:a16="http://schemas.microsoft.com/office/drawing/2014/main" id="{09C1E79B-F669-4341-359A-8FAC037AA20A}"/>
              </a:ext>
            </a:extLst>
          </p:cNvPr>
          <p:cNvSpPr/>
          <p:nvPr/>
        </p:nvSpPr>
        <p:spPr>
          <a:xfrm>
            <a:off x="4765877" y="934268"/>
            <a:ext cx="1985962" cy="3464718"/>
          </a:xfrm>
          <a:prstGeom prst="rect">
            <a:avLst/>
          </a:prstGeom>
          <a:solidFill>
            <a:srgbClr val="929497">
              <a:alpha val="9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9" name="TextBox 18">
            <a:extLst>
              <a:ext uri="{FF2B5EF4-FFF2-40B4-BE49-F238E27FC236}">
                <a16:creationId xmlns:a16="http://schemas.microsoft.com/office/drawing/2014/main" id="{04CE16A2-FA6C-A5E8-6684-3302DFF8B7A3}"/>
              </a:ext>
            </a:extLst>
          </p:cNvPr>
          <p:cNvSpPr txBox="1"/>
          <p:nvPr/>
        </p:nvSpPr>
        <p:spPr>
          <a:xfrm>
            <a:off x="4790401" y="1558760"/>
            <a:ext cx="1986494"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0"/>
              </a:spcBef>
            </a:pPr>
            <a:r>
              <a:rPr lang="en-GB" sz="1000" b="1"/>
              <a:t>Stationary element</a:t>
            </a:r>
            <a:r>
              <a:rPr lang="en-GB" sz="1000"/>
              <a:t>: </a:t>
            </a:r>
            <a:r>
              <a:rPr lang="en-GB" sz="1000">
                <a:solidFill>
                  <a:srgbClr val="1B1C1D"/>
                </a:solidFill>
                <a:ea typeface="+mn-lt"/>
                <a:cs typeface="+mn-lt"/>
              </a:rPr>
              <a:t>Input Activations</a:t>
            </a:r>
            <a:endParaRPr lang="en-GB" sz="1000">
              <a:ea typeface="+mn-lt"/>
              <a:cs typeface="+mn-lt"/>
            </a:endParaRPr>
          </a:p>
          <a:p>
            <a:pPr>
              <a:spcBef>
                <a:spcPct val="0"/>
              </a:spcBef>
            </a:pPr>
            <a:endParaRPr lang="en-GB" sz="1000"/>
          </a:p>
          <a:p>
            <a:pPr>
              <a:spcBef>
                <a:spcPct val="0"/>
              </a:spcBef>
            </a:pPr>
            <a:endParaRPr lang="en-GB" sz="1000"/>
          </a:p>
          <a:p>
            <a:pPr>
              <a:spcBef>
                <a:spcPct val="0"/>
              </a:spcBef>
            </a:pPr>
            <a:r>
              <a:rPr lang="en-GB" sz="1000" b="1">
                <a:ea typeface="+mn-lt"/>
                <a:cs typeface="+mn-lt"/>
              </a:rPr>
              <a:t>Implementation via Unrolling: </a:t>
            </a:r>
          </a:p>
          <a:p>
            <a:r>
              <a:rPr lang="en-GB" sz="1000">
                <a:solidFill>
                  <a:srgbClr val="1B1C1D"/>
                </a:solidFill>
                <a:ea typeface="+mn-lt"/>
                <a:cs typeface="+mn-lt"/>
              </a:rPr>
              <a:t>Spatial: C, Y, X</a:t>
            </a:r>
            <a:br>
              <a:rPr lang="en-GB" sz="1000">
                <a:solidFill>
                  <a:srgbClr val="1B1C1D"/>
                </a:solidFill>
                <a:ea typeface="+mn-lt"/>
                <a:cs typeface="+mn-lt"/>
              </a:rPr>
            </a:br>
            <a:r>
              <a:rPr lang="en-GB" sz="1000">
                <a:solidFill>
                  <a:srgbClr val="1B1C1D"/>
                </a:solidFill>
                <a:ea typeface="+mn-lt"/>
                <a:cs typeface="+mn-lt"/>
              </a:rPr>
              <a:t>Temporal: K, R, S</a:t>
            </a:r>
            <a:endParaRPr lang="en-GB" sz="1000">
              <a:ea typeface="+mn-lt"/>
              <a:cs typeface="+mn-lt"/>
            </a:endParaRPr>
          </a:p>
          <a:p>
            <a:pPr>
              <a:spcBef>
                <a:spcPct val="0"/>
              </a:spcBef>
            </a:pPr>
            <a:endParaRPr lang="en-GB" sz="1000" b="1">
              <a:ea typeface="+mn-lt"/>
              <a:cs typeface="+mn-lt"/>
            </a:endParaRPr>
          </a:p>
          <a:p>
            <a:pPr>
              <a:spcBef>
                <a:spcPct val="0"/>
              </a:spcBef>
            </a:pPr>
            <a:r>
              <a:rPr lang="en-GB" sz="1000" b="1">
                <a:ea typeface="+mn-lt"/>
                <a:cs typeface="+mn-lt"/>
              </a:rPr>
              <a:t>Key Advantages</a:t>
            </a:r>
            <a:endParaRPr lang="en-GB" sz="1000">
              <a:ea typeface="+mn-lt"/>
              <a:cs typeface="+mn-lt"/>
            </a:endParaRPr>
          </a:p>
          <a:p>
            <a:pPr>
              <a:spcBef>
                <a:spcPct val="0"/>
              </a:spcBef>
            </a:pPr>
            <a:r>
              <a:rPr lang="en-GB" sz="1000">
                <a:ea typeface="+mn-lt"/>
                <a:cs typeface="+mn-lt"/>
              </a:rPr>
              <a:t>Minimizes repeated input fetches</a:t>
            </a:r>
            <a:endParaRPr lang="en-GB">
              <a:ea typeface="+mn-lt"/>
              <a:cs typeface="+mn-lt"/>
            </a:endParaRPr>
          </a:p>
          <a:p>
            <a:pPr>
              <a:spcBef>
                <a:spcPct val="0"/>
              </a:spcBef>
            </a:pPr>
            <a:endParaRPr lang="en-GB" sz="1000"/>
          </a:p>
          <a:p>
            <a:pPr>
              <a:spcBef>
                <a:spcPct val="0"/>
              </a:spcBef>
            </a:pPr>
            <a:r>
              <a:rPr lang="en-GB" sz="1000" b="1"/>
              <a:t>Key Disadvantages</a:t>
            </a:r>
            <a:r>
              <a:rPr lang="en-GB" sz="1000"/>
              <a:t>:</a:t>
            </a:r>
          </a:p>
          <a:p>
            <a:pPr>
              <a:spcBef>
                <a:spcPct val="0"/>
              </a:spcBef>
            </a:pPr>
            <a:r>
              <a:rPr lang="en-GB" sz="1000">
                <a:ea typeface="+mn-lt"/>
                <a:cs typeface="+mn-lt"/>
              </a:rPr>
              <a:t>May require high weight/PSum BW if inputs not buffered</a:t>
            </a:r>
            <a:endParaRPr lang="en-GB">
              <a:ea typeface="+mn-lt"/>
              <a:cs typeface="+mn-lt"/>
            </a:endParaRPr>
          </a:p>
          <a:p>
            <a:pPr>
              <a:spcBef>
                <a:spcPct val="0"/>
              </a:spcBef>
            </a:pPr>
            <a:endParaRPr lang="en-GB" sz="1000">
              <a:solidFill>
                <a:srgbClr val="1B1C1D"/>
              </a:solidFill>
            </a:endParaRPr>
          </a:p>
        </p:txBody>
      </p:sp>
      <p:sp>
        <p:nvSpPr>
          <p:cNvPr id="20" name="Rectangle 19">
            <a:extLst>
              <a:ext uri="{FF2B5EF4-FFF2-40B4-BE49-F238E27FC236}">
                <a16:creationId xmlns:a16="http://schemas.microsoft.com/office/drawing/2014/main" id="{0F79214D-F24B-2D76-930A-2BE0CDFC2F16}"/>
              </a:ext>
            </a:extLst>
          </p:cNvPr>
          <p:cNvSpPr/>
          <p:nvPr/>
        </p:nvSpPr>
        <p:spPr>
          <a:xfrm>
            <a:off x="6957622" y="934267"/>
            <a:ext cx="1985962" cy="3464718"/>
          </a:xfrm>
          <a:prstGeom prst="rect">
            <a:avLst/>
          </a:prstGeom>
          <a:solidFill>
            <a:srgbClr val="929497">
              <a:alpha val="9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1" name="TextBox 20">
            <a:extLst>
              <a:ext uri="{FF2B5EF4-FFF2-40B4-BE49-F238E27FC236}">
                <a16:creationId xmlns:a16="http://schemas.microsoft.com/office/drawing/2014/main" id="{836CA28C-685B-5B18-EE1E-18F68A7D65D5}"/>
              </a:ext>
            </a:extLst>
          </p:cNvPr>
          <p:cNvSpPr txBox="1"/>
          <p:nvPr/>
        </p:nvSpPr>
        <p:spPr>
          <a:xfrm>
            <a:off x="7007345" y="1561141"/>
            <a:ext cx="1986494" cy="25032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0"/>
              </a:spcBef>
            </a:pPr>
            <a:r>
              <a:rPr lang="en-GB" sz="1000" b="1"/>
              <a:t>Stationary element</a:t>
            </a:r>
            <a:r>
              <a:rPr lang="en-GB" sz="1000"/>
              <a:t>: </a:t>
            </a:r>
            <a:r>
              <a:rPr lang="en-GB" sz="1000">
                <a:ea typeface="+mn-lt"/>
                <a:cs typeface="+mn-lt"/>
              </a:rPr>
              <a:t>Non zero activation</a:t>
            </a:r>
            <a:endParaRPr lang="en-GB" sz="1000"/>
          </a:p>
          <a:p>
            <a:pPr>
              <a:spcBef>
                <a:spcPct val="0"/>
              </a:spcBef>
            </a:pPr>
            <a:endParaRPr lang="en-GB" sz="1000">
              <a:ea typeface="+mn-lt"/>
              <a:cs typeface="+mn-lt"/>
            </a:endParaRPr>
          </a:p>
          <a:p>
            <a:pPr>
              <a:spcBef>
                <a:spcPct val="0"/>
              </a:spcBef>
            </a:pPr>
            <a:r>
              <a:rPr lang="en-GB" sz="1000" b="1">
                <a:ea typeface="+mn-lt"/>
                <a:cs typeface="+mn-lt"/>
              </a:rPr>
              <a:t>Implementation via Unrolling: </a:t>
            </a:r>
          </a:p>
          <a:p>
            <a:pPr>
              <a:spcBef>
                <a:spcPct val="0"/>
              </a:spcBef>
            </a:pPr>
            <a:r>
              <a:rPr lang="en-GB" sz="1000">
                <a:ea typeface="+mn-lt"/>
                <a:cs typeface="+mn-lt"/>
              </a:rPr>
              <a:t>Spatial: K, R,S</a:t>
            </a:r>
            <a:br>
              <a:rPr lang="en-GB" sz="1000">
                <a:ea typeface="+mn-lt"/>
                <a:cs typeface="+mn-lt"/>
              </a:rPr>
            </a:br>
            <a:r>
              <a:rPr lang="en-GB" sz="1000">
                <a:ea typeface="+mn-lt"/>
                <a:cs typeface="+mn-lt"/>
              </a:rPr>
              <a:t>Temporal: X, Y, C</a:t>
            </a:r>
          </a:p>
          <a:p>
            <a:pPr>
              <a:spcBef>
                <a:spcPct val="0"/>
              </a:spcBef>
            </a:pPr>
            <a:endParaRPr lang="en-GB" sz="1000" b="1"/>
          </a:p>
          <a:p>
            <a:pPr>
              <a:spcBef>
                <a:spcPct val="0"/>
              </a:spcBef>
            </a:pPr>
            <a:r>
              <a:rPr lang="en-GB" sz="1000" b="1">
                <a:ea typeface="+mn-lt"/>
                <a:cs typeface="+mn-lt"/>
              </a:rPr>
              <a:t>Key Advantages</a:t>
            </a:r>
            <a:endParaRPr lang="en-GB" sz="1000">
              <a:ea typeface="+mn-lt"/>
              <a:cs typeface="+mn-lt"/>
            </a:endParaRPr>
          </a:p>
          <a:p>
            <a:r>
              <a:rPr lang="en-GB" sz="1000"/>
              <a:t>Triggered only when there is a non zero value, </a:t>
            </a:r>
            <a:r>
              <a:rPr lang="en-GB" sz="1000">
                <a:ea typeface="+mn-lt"/>
                <a:cs typeface="+mn-lt"/>
              </a:rPr>
              <a:t>PEs only run on real data,</a:t>
            </a:r>
            <a:endParaRPr lang="en-GB" sz="1000"/>
          </a:p>
          <a:p>
            <a:endParaRPr lang="en-GB" sz="1000"/>
          </a:p>
          <a:p>
            <a:pPr>
              <a:spcBef>
                <a:spcPct val="0"/>
              </a:spcBef>
            </a:pPr>
            <a:r>
              <a:rPr lang="en-GB" sz="1000" b="1"/>
              <a:t>Key Disadvantages</a:t>
            </a:r>
            <a:r>
              <a:rPr lang="en-GB" sz="1000"/>
              <a:t>:</a:t>
            </a:r>
            <a:endParaRPr lang="en-GB"/>
          </a:p>
          <a:p>
            <a:pPr>
              <a:spcBef>
                <a:spcPct val="0"/>
              </a:spcBef>
            </a:pPr>
            <a:r>
              <a:rPr lang="en-GB" sz="1000">
                <a:ea typeface="+mn-lt"/>
                <a:cs typeface="+mn-lt"/>
              </a:rPr>
              <a:t>irregular execution adds control overhead </a:t>
            </a:r>
            <a:endParaRPr lang="en-GB"/>
          </a:p>
          <a:p>
            <a:pPr>
              <a:spcBef>
                <a:spcPct val="0"/>
              </a:spcBef>
            </a:pPr>
            <a:endParaRPr lang="en-GB" sz="1000" baseline="30000">
              <a:ea typeface="+mn-lt"/>
              <a:cs typeface="+mn-lt"/>
            </a:endParaRPr>
          </a:p>
        </p:txBody>
      </p:sp>
    </p:spTree>
    <p:extLst>
      <p:ext uri="{BB962C8B-B14F-4D97-AF65-F5344CB8AC3E}">
        <p14:creationId xmlns:p14="http://schemas.microsoft.com/office/powerpoint/2010/main" val="2594028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barn(inVertical)">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barn(inVertical)">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barn(inVertical)">
                                      <p:cBhvr>
                                        <p:cTn id="58" dur="500"/>
                                        <p:tgtEl>
                                          <p:spTgt spid="1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animBg="1"/>
      <p:bldP spid="10" grpId="0" animBg="1"/>
      <p:bldP spid="13" grpId="0" animBg="1"/>
      <p:bldP spid="14" grpId="0" animBg="1"/>
      <p:bldP spid="15" grpId="0"/>
      <p:bldP spid="16" grpId="0" animBg="1"/>
      <p:bldP spid="17" grpId="0"/>
      <p:bldP spid="18" grpId="0" animBg="1"/>
      <p:bldP spid="19" grpId="0"/>
      <p:bldP spid="20" grpId="0" animBg="1"/>
      <p:bldP spid="21" grpId="0"/>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59FAD09-4E0A-4268-9283-D0236D699F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BAD3E-68CF-789E-AA19-2E01BD5CA263}"/>
              </a:ext>
            </a:extLst>
          </p:cNvPr>
          <p:cNvSpPr>
            <a:spLocks noGrp="1"/>
          </p:cNvSpPr>
          <p:nvPr>
            <p:ph type="title"/>
          </p:nvPr>
        </p:nvSpPr>
        <p:spPr>
          <a:xfrm>
            <a:off x="187915" y="130289"/>
            <a:ext cx="8753475" cy="461665"/>
          </a:xfrm>
        </p:spPr>
        <p:txBody>
          <a:bodyPr/>
          <a:lstStyle/>
          <a:p>
            <a:r>
              <a:rPr lang="en-GB">
                <a:latin typeface="Gill Sans MT"/>
                <a:cs typeface="Gill Sans"/>
              </a:rPr>
              <a:t>3.  Analytical cost model</a:t>
            </a:r>
            <a:endParaRPr lang="en-GB">
              <a:solidFill>
                <a:srgbClr val="000000"/>
              </a:solidFill>
              <a:cs typeface="Gill Sans"/>
            </a:endParaRPr>
          </a:p>
        </p:txBody>
      </p:sp>
      <p:sp>
        <p:nvSpPr>
          <p:cNvPr id="4" name="Slide Number Placeholder 3">
            <a:extLst>
              <a:ext uri="{FF2B5EF4-FFF2-40B4-BE49-F238E27FC236}">
                <a16:creationId xmlns:a16="http://schemas.microsoft.com/office/drawing/2014/main" id="{1F7DEC8B-E452-E673-A10A-65832D33AC28}"/>
              </a:ext>
            </a:extLst>
          </p:cNvPr>
          <p:cNvSpPr>
            <a:spLocks noGrp="1"/>
          </p:cNvSpPr>
          <p:nvPr>
            <p:ph type="sldNum" sz="quarter" idx="12"/>
          </p:nvPr>
        </p:nvSpPr>
        <p:spPr/>
        <p:txBody>
          <a:bodyPr/>
          <a:lstStyle/>
          <a:p>
            <a:fld id="{8836216C-5BC3-7C44-80F8-E30864FFC228}" type="slidenum">
              <a:rPr lang="en-US" smtClean="0"/>
              <a:t>54</a:t>
            </a:fld>
            <a:endParaRPr lang="en-US"/>
          </a:p>
        </p:txBody>
      </p:sp>
      <p:sp>
        <p:nvSpPr>
          <p:cNvPr id="5" name="Rectangle 4">
            <a:extLst>
              <a:ext uri="{FF2B5EF4-FFF2-40B4-BE49-F238E27FC236}">
                <a16:creationId xmlns:a16="http://schemas.microsoft.com/office/drawing/2014/main" id="{60351A49-2552-3622-FC1D-44D8B5D11118}"/>
              </a:ext>
            </a:extLst>
          </p:cNvPr>
          <p:cNvSpPr/>
          <p:nvPr/>
        </p:nvSpPr>
        <p:spPr>
          <a:xfrm>
            <a:off x="3979308" y="790375"/>
            <a:ext cx="1485900" cy="57822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t>Word access calculation</a:t>
            </a:r>
          </a:p>
        </p:txBody>
      </p:sp>
      <p:sp>
        <p:nvSpPr>
          <p:cNvPr id="12" name="Rectangle 11">
            <a:extLst>
              <a:ext uri="{FF2B5EF4-FFF2-40B4-BE49-F238E27FC236}">
                <a16:creationId xmlns:a16="http://schemas.microsoft.com/office/drawing/2014/main" id="{826513E4-73FF-A19F-9BD5-4CDB66283DF9}"/>
              </a:ext>
            </a:extLst>
          </p:cNvPr>
          <p:cNvSpPr/>
          <p:nvPr/>
        </p:nvSpPr>
        <p:spPr>
          <a:xfrm>
            <a:off x="6533377" y="2486365"/>
            <a:ext cx="1485900" cy="57822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t>Latency model</a:t>
            </a:r>
          </a:p>
        </p:txBody>
      </p:sp>
      <p:sp>
        <p:nvSpPr>
          <p:cNvPr id="15" name="Rectangle 14">
            <a:extLst>
              <a:ext uri="{FF2B5EF4-FFF2-40B4-BE49-F238E27FC236}">
                <a16:creationId xmlns:a16="http://schemas.microsoft.com/office/drawing/2014/main" id="{888016B3-3AF9-09D4-6E0F-CF4416296692}"/>
              </a:ext>
            </a:extLst>
          </p:cNvPr>
          <p:cNvSpPr/>
          <p:nvPr/>
        </p:nvSpPr>
        <p:spPr>
          <a:xfrm>
            <a:off x="6535736" y="787686"/>
            <a:ext cx="1485900" cy="57822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t>Energy model</a:t>
            </a:r>
          </a:p>
        </p:txBody>
      </p:sp>
      <p:sp>
        <p:nvSpPr>
          <p:cNvPr id="17" name="Rectangle 16">
            <a:extLst>
              <a:ext uri="{FF2B5EF4-FFF2-40B4-BE49-F238E27FC236}">
                <a16:creationId xmlns:a16="http://schemas.microsoft.com/office/drawing/2014/main" id="{4E474C71-85B9-5E8F-585C-90E07B7228C5}"/>
              </a:ext>
            </a:extLst>
          </p:cNvPr>
          <p:cNvSpPr/>
          <p:nvPr/>
        </p:nvSpPr>
        <p:spPr>
          <a:xfrm>
            <a:off x="1556027" y="790172"/>
            <a:ext cx="1596068" cy="57822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t>Data path and memory utilization</a:t>
            </a:r>
          </a:p>
        </p:txBody>
      </p:sp>
      <p:sp>
        <p:nvSpPr>
          <p:cNvPr id="6" name="Rectangle 5">
            <a:extLst>
              <a:ext uri="{FF2B5EF4-FFF2-40B4-BE49-F238E27FC236}">
                <a16:creationId xmlns:a16="http://schemas.microsoft.com/office/drawing/2014/main" id="{B20EC06C-4B14-AB6C-F8A8-6F7905F02B96}"/>
              </a:ext>
            </a:extLst>
          </p:cNvPr>
          <p:cNvSpPr/>
          <p:nvPr/>
        </p:nvSpPr>
        <p:spPr>
          <a:xfrm>
            <a:off x="197268" y="1514290"/>
            <a:ext cx="890966" cy="393434"/>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Inputs</a:t>
            </a:r>
          </a:p>
        </p:txBody>
      </p:sp>
      <p:sp>
        <p:nvSpPr>
          <p:cNvPr id="8" name="Rectangle 7">
            <a:extLst>
              <a:ext uri="{FF2B5EF4-FFF2-40B4-BE49-F238E27FC236}">
                <a16:creationId xmlns:a16="http://schemas.microsoft.com/office/drawing/2014/main" id="{7743353A-0BD1-8203-ECAC-6EC7FABBEDE8}"/>
              </a:ext>
            </a:extLst>
          </p:cNvPr>
          <p:cNvSpPr/>
          <p:nvPr/>
        </p:nvSpPr>
        <p:spPr>
          <a:xfrm>
            <a:off x="193741" y="2057486"/>
            <a:ext cx="891913" cy="379419"/>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err="1">
                <a:solidFill>
                  <a:srgbClr val="929497"/>
                </a:solidFill>
              </a:rPr>
              <a:t>Mapspace</a:t>
            </a:r>
            <a:r>
              <a:rPr lang="en-GB" sz="1000">
                <a:solidFill>
                  <a:srgbClr val="929497"/>
                </a:solidFill>
              </a:rPr>
              <a:t> generation</a:t>
            </a:r>
          </a:p>
        </p:txBody>
      </p:sp>
      <p:sp>
        <p:nvSpPr>
          <p:cNvPr id="10" name="Rectangle 9">
            <a:extLst>
              <a:ext uri="{FF2B5EF4-FFF2-40B4-BE49-F238E27FC236}">
                <a16:creationId xmlns:a16="http://schemas.microsoft.com/office/drawing/2014/main" id="{A204B9AD-08F5-BCB0-A5C1-2E141F2AB96D}"/>
              </a:ext>
            </a:extLst>
          </p:cNvPr>
          <p:cNvSpPr/>
          <p:nvPr/>
        </p:nvSpPr>
        <p:spPr>
          <a:xfrm>
            <a:off x="186158" y="2586665"/>
            <a:ext cx="892261" cy="336015"/>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00">
                <a:solidFill>
                  <a:schemeClr val="tx1"/>
                </a:solidFill>
              </a:rPr>
              <a:t>Analytical cost model</a:t>
            </a:r>
          </a:p>
        </p:txBody>
      </p:sp>
      <p:sp>
        <p:nvSpPr>
          <p:cNvPr id="13" name="Rectangle 12">
            <a:extLst>
              <a:ext uri="{FF2B5EF4-FFF2-40B4-BE49-F238E27FC236}">
                <a16:creationId xmlns:a16="http://schemas.microsoft.com/office/drawing/2014/main" id="{8644A831-3E2B-7FF3-11FE-0530D0CD3C5E}"/>
              </a:ext>
            </a:extLst>
          </p:cNvPr>
          <p:cNvSpPr/>
          <p:nvPr/>
        </p:nvSpPr>
        <p:spPr>
          <a:xfrm>
            <a:off x="186158" y="3065297"/>
            <a:ext cx="893293" cy="336014"/>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err="1">
                <a:solidFill>
                  <a:srgbClr val="929497"/>
                </a:solidFill>
              </a:rPr>
              <a:t>Mapspace</a:t>
            </a:r>
            <a:r>
              <a:rPr lang="en-GB" sz="1000">
                <a:solidFill>
                  <a:srgbClr val="929497"/>
                </a:solidFill>
              </a:rPr>
              <a:t> search engine </a:t>
            </a:r>
          </a:p>
        </p:txBody>
      </p:sp>
      <p:sp>
        <p:nvSpPr>
          <p:cNvPr id="16" name="Rectangle 15">
            <a:extLst>
              <a:ext uri="{FF2B5EF4-FFF2-40B4-BE49-F238E27FC236}">
                <a16:creationId xmlns:a16="http://schemas.microsoft.com/office/drawing/2014/main" id="{CF1144F1-E456-F05F-952A-A76C96FB4BE2}"/>
              </a:ext>
            </a:extLst>
          </p:cNvPr>
          <p:cNvSpPr/>
          <p:nvPr/>
        </p:nvSpPr>
        <p:spPr>
          <a:xfrm>
            <a:off x="185215" y="3543568"/>
            <a:ext cx="890196" cy="350301"/>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Outputs</a:t>
            </a:r>
          </a:p>
        </p:txBody>
      </p:sp>
      <p:sp>
        <p:nvSpPr>
          <p:cNvPr id="18" name="TextBox 17">
            <a:extLst>
              <a:ext uri="{FF2B5EF4-FFF2-40B4-BE49-F238E27FC236}">
                <a16:creationId xmlns:a16="http://schemas.microsoft.com/office/drawing/2014/main" id="{403DB6CB-6282-DB6C-9388-42DC82F79E10}"/>
              </a:ext>
            </a:extLst>
          </p:cNvPr>
          <p:cNvSpPr txBox="1"/>
          <p:nvPr/>
        </p:nvSpPr>
        <p:spPr>
          <a:xfrm>
            <a:off x="1557338" y="1428750"/>
            <a:ext cx="1594757" cy="16868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800"/>
              </a:lnSpc>
            </a:pPr>
            <a:r>
              <a:rPr lang="en-GB" sz="1200" b="1">
                <a:cs typeface="Segoe UI"/>
              </a:rPr>
              <a:t>Input</a:t>
            </a:r>
            <a:r>
              <a:rPr lang="en-GB" sz="1200">
                <a:cs typeface="Segoe UI"/>
              </a:rPr>
              <a:t>: </a:t>
            </a:r>
            <a:r>
              <a:rPr lang="en-GB" sz="1200" err="1">
                <a:cs typeface="Segoe UI"/>
              </a:rPr>
              <a:t>Mapspace</a:t>
            </a:r>
            <a:r>
              <a:rPr lang="en-GB" sz="1200">
                <a:cs typeface="Segoe UI"/>
              </a:rPr>
              <a:t>, Architecture and workload</a:t>
            </a:r>
            <a:r>
              <a:rPr lang="en-US" sz="1200">
                <a:cs typeface="Segoe UI"/>
              </a:rPr>
              <a:t>​</a:t>
            </a:r>
          </a:p>
          <a:p>
            <a:pPr>
              <a:lnSpc>
                <a:spcPts val="1800"/>
              </a:lnSpc>
            </a:pPr>
            <a:r>
              <a:rPr lang="en-GB" sz="1200" b="1">
                <a:cs typeface="Segoe UI"/>
              </a:rPr>
              <a:t>Output</a:t>
            </a:r>
            <a:r>
              <a:rPr lang="en-GB" sz="1200">
                <a:cs typeface="Segoe UI"/>
              </a:rPr>
              <a:t>: Data size, memory movement  per operand.</a:t>
            </a:r>
            <a:r>
              <a:rPr lang="en-US" sz="1200">
                <a:cs typeface="Segoe UI"/>
              </a:rPr>
              <a:t>​</a:t>
            </a:r>
          </a:p>
        </p:txBody>
      </p:sp>
      <p:sp>
        <p:nvSpPr>
          <p:cNvPr id="20" name="TextBox 19">
            <a:extLst>
              <a:ext uri="{FF2B5EF4-FFF2-40B4-BE49-F238E27FC236}">
                <a16:creationId xmlns:a16="http://schemas.microsoft.com/office/drawing/2014/main" id="{2EBE003E-BD1F-2695-1DB2-EA1FFE3CEEF4}"/>
              </a:ext>
            </a:extLst>
          </p:cNvPr>
          <p:cNvSpPr txBox="1"/>
          <p:nvPr/>
        </p:nvSpPr>
        <p:spPr>
          <a:xfrm>
            <a:off x="3981434" y="1427637"/>
            <a:ext cx="1481026"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t>Input</a:t>
            </a:r>
            <a:r>
              <a:rPr lang="en-GB" sz="1200"/>
              <a:t>: Memory bandwidth, memory movement </a:t>
            </a:r>
            <a:endParaRPr lang="en-US"/>
          </a:p>
          <a:p>
            <a:r>
              <a:rPr lang="en-GB" sz="1200" b="1"/>
              <a:t>Output</a:t>
            </a:r>
            <a:r>
              <a:rPr lang="en-GB" sz="1200"/>
              <a:t>: Word access in four direction for each memory level</a:t>
            </a:r>
          </a:p>
        </p:txBody>
      </p:sp>
      <p:sp>
        <p:nvSpPr>
          <p:cNvPr id="22" name="TextBox 21">
            <a:extLst>
              <a:ext uri="{FF2B5EF4-FFF2-40B4-BE49-F238E27FC236}">
                <a16:creationId xmlns:a16="http://schemas.microsoft.com/office/drawing/2014/main" id="{09DF566A-B358-7B07-036F-7D7242743B6E}"/>
              </a:ext>
            </a:extLst>
          </p:cNvPr>
          <p:cNvSpPr txBox="1"/>
          <p:nvPr/>
        </p:nvSpPr>
        <p:spPr>
          <a:xfrm>
            <a:off x="6458139" y="1406206"/>
            <a:ext cx="164533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t>Input</a:t>
            </a:r>
            <a:r>
              <a:rPr lang="en-GB" sz="1200"/>
              <a:t>: Word access count, r/w ports energy (</a:t>
            </a:r>
            <a:r>
              <a:rPr lang="en-GB" sz="1200" err="1"/>
              <a:t>pJ</a:t>
            </a:r>
            <a:r>
              <a:rPr lang="en-GB" sz="1200"/>
              <a:t>)</a:t>
            </a:r>
            <a:endParaRPr lang="en-GB" sz="1200">
              <a:solidFill>
                <a:srgbClr val="3C3C3B"/>
              </a:solidFill>
            </a:endParaRPr>
          </a:p>
          <a:p>
            <a:r>
              <a:rPr lang="en-GB" sz="1200" b="1"/>
              <a:t>Output</a:t>
            </a:r>
            <a:r>
              <a:rPr lang="en-GB" sz="1200"/>
              <a:t>: Overall energy analysis</a:t>
            </a:r>
          </a:p>
        </p:txBody>
      </p:sp>
      <p:sp>
        <p:nvSpPr>
          <p:cNvPr id="24" name="TextBox 23">
            <a:extLst>
              <a:ext uri="{FF2B5EF4-FFF2-40B4-BE49-F238E27FC236}">
                <a16:creationId xmlns:a16="http://schemas.microsoft.com/office/drawing/2014/main" id="{4B021F80-8CB2-7A5E-DF1D-28EC7CA89B5B}"/>
              </a:ext>
            </a:extLst>
          </p:cNvPr>
          <p:cNvSpPr txBox="1"/>
          <p:nvPr/>
        </p:nvSpPr>
        <p:spPr>
          <a:xfrm>
            <a:off x="6456447" y="3113989"/>
            <a:ext cx="164533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t>Input</a:t>
            </a:r>
            <a:r>
              <a:rPr lang="en-GB" sz="1200"/>
              <a:t>: Memory utilisation, shared memory, double buffer flag, Word access count, memory bandwidth </a:t>
            </a:r>
          </a:p>
          <a:p>
            <a:r>
              <a:rPr lang="en-GB" sz="1200" b="1"/>
              <a:t>Output</a:t>
            </a:r>
            <a:r>
              <a:rPr lang="en-GB" sz="1200"/>
              <a:t>: Overall latency analysis </a:t>
            </a:r>
          </a:p>
        </p:txBody>
      </p:sp>
      <p:cxnSp>
        <p:nvCxnSpPr>
          <p:cNvPr id="7" name="Straight Arrow Connector 6">
            <a:extLst>
              <a:ext uri="{FF2B5EF4-FFF2-40B4-BE49-F238E27FC236}">
                <a16:creationId xmlns:a16="http://schemas.microsoft.com/office/drawing/2014/main" id="{7095D801-38DC-3FA2-2A1C-DD1977D6D99F}"/>
              </a:ext>
            </a:extLst>
          </p:cNvPr>
          <p:cNvCxnSpPr>
            <a:stCxn id="17" idx="3"/>
            <a:endCxn id="5" idx="1"/>
          </p:cNvCxnSpPr>
          <p:nvPr/>
        </p:nvCxnSpPr>
        <p:spPr>
          <a:xfrm>
            <a:off x="3152095" y="1079284"/>
            <a:ext cx="827213" cy="203"/>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3063E41-2A91-789E-347F-A9CD426B366A}"/>
              </a:ext>
            </a:extLst>
          </p:cNvPr>
          <p:cNvCxnSpPr>
            <a:stCxn id="5" idx="3"/>
            <a:endCxn id="15" idx="1"/>
          </p:cNvCxnSpPr>
          <p:nvPr/>
        </p:nvCxnSpPr>
        <p:spPr>
          <a:xfrm flipV="1">
            <a:off x="5465208" y="1076798"/>
            <a:ext cx="1070528" cy="2689"/>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Connector: Elbow 18">
            <a:extLst>
              <a:ext uri="{FF2B5EF4-FFF2-40B4-BE49-F238E27FC236}">
                <a16:creationId xmlns:a16="http://schemas.microsoft.com/office/drawing/2014/main" id="{024329A3-07F8-FE98-F559-9BD6498D472F}"/>
              </a:ext>
            </a:extLst>
          </p:cNvPr>
          <p:cNvCxnSpPr>
            <a:stCxn id="5" idx="3"/>
            <a:endCxn id="12" idx="1"/>
          </p:cNvCxnSpPr>
          <p:nvPr/>
        </p:nvCxnSpPr>
        <p:spPr>
          <a:xfrm>
            <a:off x="5465208" y="1079487"/>
            <a:ext cx="1068169" cy="1695990"/>
          </a:xfrm>
          <a:prstGeom prst="bentConnector3">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3CCED589-079C-88C0-0299-3141F9AE85D9}"/>
              </a:ext>
            </a:extLst>
          </p:cNvPr>
          <p:cNvSpPr/>
          <p:nvPr/>
        </p:nvSpPr>
        <p:spPr>
          <a:xfrm>
            <a:off x="6533377" y="4485050"/>
            <a:ext cx="1485900" cy="578224"/>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t>Area model</a:t>
            </a:r>
          </a:p>
        </p:txBody>
      </p:sp>
    </p:spTree>
    <p:extLst>
      <p:ext uri="{BB962C8B-B14F-4D97-AF65-F5344CB8AC3E}">
        <p14:creationId xmlns:p14="http://schemas.microsoft.com/office/powerpoint/2010/main" val="1143995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animBg="1"/>
      <p:bldP spid="15" grpId="0" animBg="1"/>
      <p:bldP spid="17" grpId="0" animBg="1"/>
      <p:bldP spid="18" grpId="0"/>
      <p:bldP spid="20" grpId="0"/>
      <p:bldP spid="22" grpId="0"/>
      <p:bldP spid="24" grpId="0"/>
      <p:bldP spid="3"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764C8-5E98-4434-35B4-3767C5AAA111}"/>
              </a:ext>
            </a:extLst>
          </p:cNvPr>
          <p:cNvSpPr>
            <a:spLocks noGrp="1"/>
          </p:cNvSpPr>
          <p:nvPr>
            <p:ph type="title"/>
          </p:nvPr>
        </p:nvSpPr>
        <p:spPr/>
        <p:txBody>
          <a:bodyPr/>
          <a:lstStyle/>
          <a:p>
            <a:r>
              <a:rPr lang="en-GB">
                <a:latin typeface="Gill Sans MT"/>
                <a:cs typeface="Gill Sans"/>
              </a:rPr>
              <a:t>Workload </a:t>
            </a:r>
            <a:endParaRPr lang="en-GB"/>
          </a:p>
        </p:txBody>
      </p:sp>
      <p:sp>
        <p:nvSpPr>
          <p:cNvPr id="4" name="Slide Number Placeholder 3">
            <a:extLst>
              <a:ext uri="{FF2B5EF4-FFF2-40B4-BE49-F238E27FC236}">
                <a16:creationId xmlns:a16="http://schemas.microsoft.com/office/drawing/2014/main" id="{40A751D3-29CF-58AB-3A3E-52F5A1A396EC}"/>
              </a:ext>
            </a:extLst>
          </p:cNvPr>
          <p:cNvSpPr>
            <a:spLocks noGrp="1"/>
          </p:cNvSpPr>
          <p:nvPr>
            <p:ph type="sldNum" sz="quarter" idx="12"/>
          </p:nvPr>
        </p:nvSpPr>
        <p:spPr/>
        <p:txBody>
          <a:bodyPr/>
          <a:lstStyle/>
          <a:p>
            <a:fld id="{8836216C-5BC3-7C44-80F8-E30864FFC228}" type="slidenum">
              <a:rPr lang="en-US" smtClean="0"/>
              <a:t>55</a:t>
            </a:fld>
            <a:endParaRPr lang="en-US"/>
          </a:p>
        </p:txBody>
      </p:sp>
      <p:sp>
        <p:nvSpPr>
          <p:cNvPr id="5" name="Text Placeholder 4">
            <a:extLst>
              <a:ext uri="{FF2B5EF4-FFF2-40B4-BE49-F238E27FC236}">
                <a16:creationId xmlns:a16="http://schemas.microsoft.com/office/drawing/2014/main" id="{0BC61F7E-9C04-194D-3A72-527C63583F3F}"/>
              </a:ext>
            </a:extLst>
          </p:cNvPr>
          <p:cNvSpPr>
            <a:spLocks noGrp="1"/>
          </p:cNvSpPr>
          <p:nvPr>
            <p:ph type="body" sz="quarter" idx="13"/>
          </p:nvPr>
        </p:nvSpPr>
        <p:spPr/>
        <p:txBody>
          <a:bodyPr/>
          <a:lstStyle/>
          <a:p>
            <a:r>
              <a:rPr lang="en-GB">
                <a:latin typeface="Gill Sans MT"/>
                <a:cs typeface="Gill Sans"/>
              </a:rPr>
              <a:t>A single layer from the VGGnet-19 Architecture</a:t>
            </a:r>
            <a:endParaRPr lang="en-GB"/>
          </a:p>
        </p:txBody>
      </p:sp>
      <p:pic>
        <p:nvPicPr>
          <p:cNvPr id="3" name="Picture 2">
            <a:extLst>
              <a:ext uri="{FF2B5EF4-FFF2-40B4-BE49-F238E27FC236}">
                <a16:creationId xmlns:a16="http://schemas.microsoft.com/office/drawing/2014/main" id="{2040E39E-728C-9D25-1402-1792B754FAFE}"/>
              </a:ext>
            </a:extLst>
          </p:cNvPr>
          <p:cNvPicPr>
            <a:picLocks noChangeAspect="1"/>
          </p:cNvPicPr>
          <p:nvPr/>
        </p:nvPicPr>
        <p:blipFill>
          <a:blip r:embed="rId4"/>
          <a:stretch>
            <a:fillRect/>
          </a:stretch>
        </p:blipFill>
        <p:spPr>
          <a:xfrm>
            <a:off x="153709" y="1518721"/>
            <a:ext cx="3756976" cy="2534582"/>
          </a:xfrm>
          <a:prstGeom prst="rect">
            <a:avLst/>
          </a:prstGeom>
        </p:spPr>
      </p:pic>
      <p:sp>
        <p:nvSpPr>
          <p:cNvPr id="10" name="Rectangle 9">
            <a:extLst>
              <a:ext uri="{FF2B5EF4-FFF2-40B4-BE49-F238E27FC236}">
                <a16:creationId xmlns:a16="http://schemas.microsoft.com/office/drawing/2014/main" id="{682F1360-8E2D-FAB5-DE75-4E46B648EC66}"/>
              </a:ext>
            </a:extLst>
          </p:cNvPr>
          <p:cNvSpPr/>
          <p:nvPr/>
        </p:nvSpPr>
        <p:spPr>
          <a:xfrm>
            <a:off x="1045924" y="1137681"/>
            <a:ext cx="2132349" cy="375366"/>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err="1"/>
              <a:t>VGGnet</a:t>
            </a:r>
            <a:r>
              <a:rPr lang="en-GB" sz="1400"/>
              <a:t> 19 Architecture</a:t>
            </a:r>
          </a:p>
        </p:txBody>
      </p:sp>
      <p:cxnSp>
        <p:nvCxnSpPr>
          <p:cNvPr id="12" name="Straight Arrow Connector 11">
            <a:extLst>
              <a:ext uri="{FF2B5EF4-FFF2-40B4-BE49-F238E27FC236}">
                <a16:creationId xmlns:a16="http://schemas.microsoft.com/office/drawing/2014/main" id="{AF414697-7277-E05F-1BC9-08D2309E8F09}"/>
              </a:ext>
            </a:extLst>
          </p:cNvPr>
          <p:cNvCxnSpPr/>
          <p:nvPr/>
        </p:nvCxnSpPr>
        <p:spPr>
          <a:xfrm>
            <a:off x="795057" y="1561905"/>
            <a:ext cx="4639826" cy="188893"/>
          </a:xfrm>
          <a:prstGeom prst="straightConnector1">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DD82F731-B631-756C-BB02-E4D8416A40E7}"/>
              </a:ext>
            </a:extLst>
          </p:cNvPr>
          <p:cNvCxnSpPr>
            <a:cxnSpLocks/>
          </p:cNvCxnSpPr>
          <p:nvPr/>
        </p:nvCxnSpPr>
        <p:spPr>
          <a:xfrm>
            <a:off x="409137" y="3111268"/>
            <a:ext cx="5028016" cy="147783"/>
          </a:xfrm>
          <a:prstGeom prst="straightConnector1">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graphicFrame>
        <p:nvGraphicFramePr>
          <p:cNvPr id="18" name="Table 17">
            <a:extLst>
              <a:ext uri="{FF2B5EF4-FFF2-40B4-BE49-F238E27FC236}">
                <a16:creationId xmlns:a16="http://schemas.microsoft.com/office/drawing/2014/main" id="{98706A16-49D9-EB91-AD91-D52C28377C93}"/>
              </a:ext>
            </a:extLst>
          </p:cNvPr>
          <p:cNvGraphicFramePr>
            <a:graphicFrameLocks noGrp="1"/>
          </p:cNvGraphicFramePr>
          <p:nvPr/>
        </p:nvGraphicFramePr>
        <p:xfrm>
          <a:off x="5436972" y="1729946"/>
          <a:ext cx="3475623" cy="1557528"/>
        </p:xfrm>
        <a:graphic>
          <a:graphicData uri="http://schemas.openxmlformats.org/drawingml/2006/table">
            <a:tbl>
              <a:tblPr firstRow="1" bandRow="1">
                <a:tableStyleId>{5C22544A-7EE6-4342-B048-85BDC9FD1C3A}</a:tableStyleId>
              </a:tblPr>
              <a:tblGrid>
                <a:gridCol w="2231939">
                  <a:extLst>
                    <a:ext uri="{9D8B030D-6E8A-4147-A177-3AD203B41FA5}">
                      <a16:colId xmlns:a16="http://schemas.microsoft.com/office/drawing/2014/main" val="1655675255"/>
                    </a:ext>
                  </a:extLst>
                </a:gridCol>
                <a:gridCol w="1243684">
                  <a:extLst>
                    <a:ext uri="{9D8B030D-6E8A-4147-A177-3AD203B41FA5}">
                      <a16:colId xmlns:a16="http://schemas.microsoft.com/office/drawing/2014/main" val="1343585999"/>
                    </a:ext>
                  </a:extLst>
                </a:gridCol>
              </a:tblGrid>
              <a:tr h="245631">
                <a:tc gridSpan="2">
                  <a:txBody>
                    <a:bodyPr/>
                    <a:lstStyle/>
                    <a:p>
                      <a:pPr algn="ctr"/>
                      <a:r>
                        <a:rPr lang="en-GB"/>
                        <a:t>Layer Configuration</a:t>
                      </a:r>
                    </a:p>
                  </a:txBody>
                  <a:tcPr/>
                </a:tc>
                <a:tc hMerge="1">
                  <a:txBody>
                    <a:bodyPr/>
                    <a:lstStyle/>
                    <a:p>
                      <a:endParaRPr lang="en-US"/>
                    </a:p>
                  </a:txBody>
                  <a:tcPr/>
                </a:tc>
                <a:extLst>
                  <a:ext uri="{0D108BD9-81ED-4DB2-BD59-A6C34878D82A}">
                    <a16:rowId xmlns:a16="http://schemas.microsoft.com/office/drawing/2014/main" val="3656221272"/>
                  </a:ext>
                </a:extLst>
              </a:tr>
              <a:tr h="245631">
                <a:tc>
                  <a:txBody>
                    <a:bodyPr/>
                    <a:lstStyle/>
                    <a:p>
                      <a:r>
                        <a:rPr lang="en-GB" sz="1400"/>
                        <a:t>Inputs (B,C,IX,IY)</a:t>
                      </a:r>
                    </a:p>
                  </a:txBody>
                  <a:tcPr/>
                </a:tc>
                <a:tc>
                  <a:txBody>
                    <a:bodyPr/>
                    <a:lstStyle/>
                    <a:p>
                      <a:r>
                        <a:rPr lang="en-GB" sz="1400"/>
                        <a:t>(1,3,224,224)</a:t>
                      </a:r>
                    </a:p>
                  </a:txBody>
                  <a:tcPr/>
                </a:tc>
                <a:extLst>
                  <a:ext uri="{0D108BD9-81ED-4DB2-BD59-A6C34878D82A}">
                    <a16:rowId xmlns:a16="http://schemas.microsoft.com/office/drawing/2014/main" val="1331152227"/>
                  </a:ext>
                </a:extLst>
              </a:tr>
              <a:tr h="245631">
                <a:tc>
                  <a:txBody>
                    <a:bodyPr/>
                    <a:lstStyle/>
                    <a:p>
                      <a:r>
                        <a:rPr lang="en-GB" sz="1400"/>
                        <a:t>Weights (K,C,FX,FY)</a:t>
                      </a:r>
                    </a:p>
                  </a:txBody>
                  <a:tcPr/>
                </a:tc>
                <a:tc>
                  <a:txBody>
                    <a:bodyPr/>
                    <a:lstStyle/>
                    <a:p>
                      <a:r>
                        <a:rPr lang="en-GB" sz="1400"/>
                        <a:t>(64,3,3,3)</a:t>
                      </a:r>
                    </a:p>
                  </a:txBody>
                  <a:tcPr/>
                </a:tc>
                <a:extLst>
                  <a:ext uri="{0D108BD9-81ED-4DB2-BD59-A6C34878D82A}">
                    <a16:rowId xmlns:a16="http://schemas.microsoft.com/office/drawing/2014/main" val="3780704750"/>
                  </a:ext>
                </a:extLst>
              </a:tr>
              <a:tr h="245631">
                <a:tc>
                  <a:txBody>
                    <a:bodyPr/>
                    <a:lstStyle/>
                    <a:p>
                      <a:r>
                        <a:rPr lang="en-GB" sz="1400"/>
                        <a:t>Outputs (B,K,OX,OY)</a:t>
                      </a:r>
                    </a:p>
                  </a:txBody>
                  <a:tcPr/>
                </a:tc>
                <a:tc>
                  <a:txBody>
                    <a:bodyPr/>
                    <a:lstStyle/>
                    <a:p>
                      <a:r>
                        <a:rPr lang="en-GB" sz="1400"/>
                        <a:t>(1,64,224,224)</a:t>
                      </a:r>
                    </a:p>
                  </a:txBody>
                  <a:tcPr/>
                </a:tc>
                <a:extLst>
                  <a:ext uri="{0D108BD9-81ED-4DB2-BD59-A6C34878D82A}">
                    <a16:rowId xmlns:a16="http://schemas.microsoft.com/office/drawing/2014/main" val="2569111225"/>
                  </a:ext>
                </a:extLst>
              </a:tr>
              <a:tr h="245631">
                <a:tc>
                  <a:txBody>
                    <a:bodyPr/>
                    <a:lstStyle/>
                    <a:p>
                      <a:r>
                        <a:rPr lang="en-GB" sz="1400"/>
                        <a:t>Total MACs</a:t>
                      </a:r>
                    </a:p>
                  </a:txBody>
                  <a:tcPr/>
                </a:tc>
                <a:tc>
                  <a:txBody>
                    <a:bodyPr/>
                    <a:lstStyle/>
                    <a:p>
                      <a:r>
                        <a:rPr lang="en-GB" sz="1400"/>
                        <a:t>86704128</a:t>
                      </a:r>
                    </a:p>
                  </a:txBody>
                  <a:tcPr/>
                </a:tc>
                <a:extLst>
                  <a:ext uri="{0D108BD9-81ED-4DB2-BD59-A6C34878D82A}">
                    <a16:rowId xmlns:a16="http://schemas.microsoft.com/office/drawing/2014/main" val="777442258"/>
                  </a:ext>
                </a:extLst>
              </a:tr>
            </a:tbl>
          </a:graphicData>
        </a:graphic>
      </p:graphicFrame>
    </p:spTree>
    <p:extLst>
      <p:ext uri="{BB962C8B-B14F-4D97-AF65-F5344CB8AC3E}">
        <p14:creationId xmlns:p14="http://schemas.microsoft.com/office/powerpoint/2010/main" val="4267072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extLst>
    <p:ext uri="{6950BFC3-D8DA-4A85-94F7-54DA5524770B}">
      <p188:commentRel xmlns:p188="http://schemas.microsoft.com/office/powerpoint/2018/8/main" r:id="rId3"/>
    </p:ext>
  </p:extLst>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74284-01B7-3691-4109-F1636411B7B7}"/>
              </a:ext>
            </a:extLst>
          </p:cNvPr>
          <p:cNvSpPr>
            <a:spLocks noGrp="1"/>
          </p:cNvSpPr>
          <p:nvPr>
            <p:ph type="title"/>
          </p:nvPr>
        </p:nvSpPr>
        <p:spPr/>
        <p:txBody>
          <a:bodyPr/>
          <a:lstStyle/>
          <a:p>
            <a:r>
              <a:rPr lang="en-GB">
                <a:latin typeface="Gill Sans MT"/>
                <a:cs typeface="Gill Sans"/>
              </a:rPr>
              <a:t>Event driven </a:t>
            </a:r>
            <a:r>
              <a:rPr lang="en-GB" err="1">
                <a:latin typeface="Gill Sans MT"/>
                <a:cs typeface="Gill Sans"/>
              </a:rPr>
              <a:t>datapath</a:t>
            </a:r>
            <a:r>
              <a:rPr lang="en-GB">
                <a:latin typeface="Gill Sans MT"/>
                <a:cs typeface="Gill Sans"/>
              </a:rPr>
              <a:t> validation</a:t>
            </a:r>
            <a:endParaRPr lang="en-GB"/>
          </a:p>
        </p:txBody>
      </p:sp>
      <p:sp>
        <p:nvSpPr>
          <p:cNvPr id="4" name="Slide Number Placeholder 3">
            <a:extLst>
              <a:ext uri="{FF2B5EF4-FFF2-40B4-BE49-F238E27FC236}">
                <a16:creationId xmlns:a16="http://schemas.microsoft.com/office/drawing/2014/main" id="{15B8B567-62AA-F006-2005-0BEC194BD604}"/>
              </a:ext>
            </a:extLst>
          </p:cNvPr>
          <p:cNvSpPr>
            <a:spLocks noGrp="1"/>
          </p:cNvSpPr>
          <p:nvPr>
            <p:ph type="sldNum" sz="quarter" idx="12"/>
          </p:nvPr>
        </p:nvSpPr>
        <p:spPr/>
        <p:txBody>
          <a:bodyPr/>
          <a:lstStyle/>
          <a:p>
            <a:fld id="{8836216C-5BC3-7C44-80F8-E30864FFC228}" type="slidenum">
              <a:rPr lang="en-US" smtClean="0"/>
              <a:t>56</a:t>
            </a:fld>
            <a:endParaRPr lang="en-US"/>
          </a:p>
        </p:txBody>
      </p:sp>
      <p:sp>
        <p:nvSpPr>
          <p:cNvPr id="5" name="Text Placeholder 4">
            <a:extLst>
              <a:ext uri="{FF2B5EF4-FFF2-40B4-BE49-F238E27FC236}">
                <a16:creationId xmlns:a16="http://schemas.microsoft.com/office/drawing/2014/main" id="{5272D363-561A-FE58-0573-B89CA4DF67B4}"/>
              </a:ext>
            </a:extLst>
          </p:cNvPr>
          <p:cNvSpPr>
            <a:spLocks noGrp="1"/>
          </p:cNvSpPr>
          <p:nvPr>
            <p:ph type="body" sz="quarter" idx="13"/>
          </p:nvPr>
        </p:nvSpPr>
        <p:spPr/>
        <p:txBody>
          <a:bodyPr/>
          <a:lstStyle/>
          <a:p>
            <a:r>
              <a:rPr lang="en-GB">
                <a:latin typeface="Gill Sans MT"/>
                <a:cs typeface="Gill Sans"/>
              </a:rPr>
              <a:t>Events, weights, partial sum and output </a:t>
            </a:r>
            <a:r>
              <a:rPr lang="en-GB" err="1">
                <a:latin typeface="Gill Sans MT"/>
                <a:cs typeface="Gill Sans"/>
              </a:rPr>
              <a:t>datapaths</a:t>
            </a:r>
            <a:endParaRPr lang="en-GB">
              <a:latin typeface="Gill Sans MT"/>
              <a:cs typeface="Gill Sans"/>
            </a:endParaRPr>
          </a:p>
        </p:txBody>
      </p:sp>
      <p:cxnSp>
        <p:nvCxnSpPr>
          <p:cNvPr id="6" name="Straight Arrow Connector 5">
            <a:extLst>
              <a:ext uri="{FF2B5EF4-FFF2-40B4-BE49-F238E27FC236}">
                <a16:creationId xmlns:a16="http://schemas.microsoft.com/office/drawing/2014/main" id="{E6AF01D5-2D87-F673-7DF9-A4A4EA7DA209}"/>
              </a:ext>
            </a:extLst>
          </p:cNvPr>
          <p:cNvCxnSpPr/>
          <p:nvPr/>
        </p:nvCxnSpPr>
        <p:spPr>
          <a:xfrm>
            <a:off x="4564856" y="1385888"/>
            <a:ext cx="7145" cy="3271837"/>
          </a:xfrm>
          <a:prstGeom prst="straightConnector1">
            <a:avLst/>
          </a:prstGeom>
          <a:ln w="3175" cmpd="sng">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D23DE4E-CE2D-350F-2B00-03231374FF43}"/>
              </a:ext>
            </a:extLst>
          </p:cNvPr>
          <p:cNvSpPr txBox="1"/>
          <p:nvPr/>
        </p:nvSpPr>
        <p:spPr>
          <a:xfrm>
            <a:off x="1583403" y="1142999"/>
            <a:ext cx="2370952" cy="276999"/>
          </a:xfrm>
          <a:prstGeom prst="rect">
            <a:avLst/>
          </a:prstGeom>
          <a:solidFill>
            <a:schemeClr val="tx2">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200"/>
              <a:t>SENECA</a:t>
            </a:r>
          </a:p>
        </p:txBody>
      </p:sp>
      <p:sp>
        <p:nvSpPr>
          <p:cNvPr id="8" name="TextBox 7">
            <a:extLst>
              <a:ext uri="{FF2B5EF4-FFF2-40B4-BE49-F238E27FC236}">
                <a16:creationId xmlns:a16="http://schemas.microsoft.com/office/drawing/2014/main" id="{EFD30A0F-97DB-EE36-376E-8387DEFEC163}"/>
              </a:ext>
            </a:extLst>
          </p:cNvPr>
          <p:cNvSpPr txBox="1"/>
          <p:nvPr/>
        </p:nvSpPr>
        <p:spPr>
          <a:xfrm>
            <a:off x="5526753" y="1142998"/>
            <a:ext cx="2370952" cy="276999"/>
          </a:xfrm>
          <a:prstGeom prst="rect">
            <a:avLst/>
          </a:prstGeom>
          <a:solidFill>
            <a:schemeClr val="tx2">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a:defRPr sz="1200"/>
            </a:lvl1pPr>
          </a:lstStyle>
          <a:p>
            <a:r>
              <a:rPr lang="en-GB"/>
              <a:t>AeDAM Implementation</a:t>
            </a:r>
            <a:endParaRPr lang="en-GB" err="1"/>
          </a:p>
        </p:txBody>
      </p:sp>
      <p:sp>
        <p:nvSpPr>
          <p:cNvPr id="9" name="Rectangle 8">
            <a:extLst>
              <a:ext uri="{FF2B5EF4-FFF2-40B4-BE49-F238E27FC236}">
                <a16:creationId xmlns:a16="http://schemas.microsoft.com/office/drawing/2014/main" id="{71E3CA70-7726-06F1-CD12-E87079CDD159}"/>
              </a:ext>
            </a:extLst>
          </p:cNvPr>
          <p:cNvSpPr/>
          <p:nvPr/>
        </p:nvSpPr>
        <p:spPr>
          <a:xfrm>
            <a:off x="157162" y="2057400"/>
            <a:ext cx="1050131" cy="300038"/>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00">
                <a:solidFill>
                  <a:schemeClr val="tx1"/>
                </a:solidFill>
              </a:rPr>
              <a:t>Inputs</a:t>
            </a:r>
          </a:p>
        </p:txBody>
      </p:sp>
      <p:sp>
        <p:nvSpPr>
          <p:cNvPr id="10" name="Rectangle 9">
            <a:extLst>
              <a:ext uri="{FF2B5EF4-FFF2-40B4-BE49-F238E27FC236}">
                <a16:creationId xmlns:a16="http://schemas.microsoft.com/office/drawing/2014/main" id="{04316AD7-EEB8-07B2-924F-3AF94038914D}"/>
              </a:ext>
            </a:extLst>
          </p:cNvPr>
          <p:cNvSpPr/>
          <p:nvPr/>
        </p:nvSpPr>
        <p:spPr>
          <a:xfrm>
            <a:off x="157161" y="2571750"/>
            <a:ext cx="1050131"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Weights</a:t>
            </a:r>
          </a:p>
        </p:txBody>
      </p:sp>
      <p:sp>
        <p:nvSpPr>
          <p:cNvPr id="11" name="Rectangle 10">
            <a:extLst>
              <a:ext uri="{FF2B5EF4-FFF2-40B4-BE49-F238E27FC236}">
                <a16:creationId xmlns:a16="http://schemas.microsoft.com/office/drawing/2014/main" id="{6B8597AD-D197-7C07-67B8-31A2EF4D963C}"/>
              </a:ext>
            </a:extLst>
          </p:cNvPr>
          <p:cNvSpPr/>
          <p:nvPr/>
        </p:nvSpPr>
        <p:spPr>
          <a:xfrm>
            <a:off x="157160" y="3093244"/>
            <a:ext cx="1050131"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Partial Sums</a:t>
            </a:r>
          </a:p>
        </p:txBody>
      </p:sp>
      <p:sp>
        <p:nvSpPr>
          <p:cNvPr id="12" name="Rectangle 11">
            <a:extLst>
              <a:ext uri="{FF2B5EF4-FFF2-40B4-BE49-F238E27FC236}">
                <a16:creationId xmlns:a16="http://schemas.microsoft.com/office/drawing/2014/main" id="{E8679DBD-664E-E410-D923-C85DC2759426}"/>
              </a:ext>
            </a:extLst>
          </p:cNvPr>
          <p:cNvSpPr/>
          <p:nvPr/>
        </p:nvSpPr>
        <p:spPr>
          <a:xfrm>
            <a:off x="157159" y="3614737"/>
            <a:ext cx="1050131"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Outputs</a:t>
            </a:r>
          </a:p>
        </p:txBody>
      </p:sp>
      <p:sp>
        <p:nvSpPr>
          <p:cNvPr id="3" name="Rectangle: Rounded Corners 2">
            <a:extLst>
              <a:ext uri="{FF2B5EF4-FFF2-40B4-BE49-F238E27FC236}">
                <a16:creationId xmlns:a16="http://schemas.microsoft.com/office/drawing/2014/main" id="{1CB25289-40BB-50BB-14A1-3DD3B89AE8B5}"/>
              </a:ext>
            </a:extLst>
          </p:cNvPr>
          <p:cNvSpPr/>
          <p:nvPr/>
        </p:nvSpPr>
        <p:spPr>
          <a:xfrm>
            <a:off x="2143125" y="1557339"/>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00">
                <a:solidFill>
                  <a:schemeClr val="tx1"/>
                </a:solidFill>
                <a:ea typeface="+mn-lt"/>
                <a:cs typeface="+mn-lt"/>
              </a:rPr>
              <a:t>NoC</a:t>
            </a:r>
            <a:endParaRPr lang="en-US" sz="1000"/>
          </a:p>
        </p:txBody>
      </p:sp>
      <p:sp>
        <p:nvSpPr>
          <p:cNvPr id="13" name="Rectangle: Rounded Corners 12">
            <a:extLst>
              <a:ext uri="{FF2B5EF4-FFF2-40B4-BE49-F238E27FC236}">
                <a16:creationId xmlns:a16="http://schemas.microsoft.com/office/drawing/2014/main" id="{C6E0BCF9-9047-D286-8EB6-D683692CF05A}"/>
              </a:ext>
            </a:extLst>
          </p:cNvPr>
          <p:cNvSpPr/>
          <p:nvPr/>
        </p:nvSpPr>
        <p:spPr>
          <a:xfrm>
            <a:off x="2143125" y="1993107"/>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RISC-V Controller</a:t>
            </a:r>
            <a:endParaRPr lang="en-US" sz="1000"/>
          </a:p>
        </p:txBody>
      </p:sp>
      <p:sp>
        <p:nvSpPr>
          <p:cNvPr id="14" name="Rectangle: Rounded Corners 13">
            <a:extLst>
              <a:ext uri="{FF2B5EF4-FFF2-40B4-BE49-F238E27FC236}">
                <a16:creationId xmlns:a16="http://schemas.microsoft.com/office/drawing/2014/main" id="{4A181F2D-6CA8-8230-A08E-DB9AC44CF78F}"/>
              </a:ext>
            </a:extLst>
          </p:cNvPr>
          <p:cNvSpPr/>
          <p:nvPr/>
        </p:nvSpPr>
        <p:spPr>
          <a:xfrm>
            <a:off x="2143125" y="2507456"/>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Task FIFO</a:t>
            </a:r>
            <a:endParaRPr lang="en-US" sz="1000"/>
          </a:p>
        </p:txBody>
      </p:sp>
      <p:sp>
        <p:nvSpPr>
          <p:cNvPr id="15" name="Rectangle: Rounded Corners 14">
            <a:extLst>
              <a:ext uri="{FF2B5EF4-FFF2-40B4-BE49-F238E27FC236}">
                <a16:creationId xmlns:a16="http://schemas.microsoft.com/office/drawing/2014/main" id="{2DF8540A-3DD4-3318-A8C9-C6A0761C57CF}"/>
              </a:ext>
            </a:extLst>
          </p:cNvPr>
          <p:cNvSpPr/>
          <p:nvPr/>
        </p:nvSpPr>
        <p:spPr>
          <a:xfrm>
            <a:off x="2143125" y="3028949"/>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Loop Controller</a:t>
            </a:r>
            <a:endParaRPr lang="en-US" sz="1000"/>
          </a:p>
        </p:txBody>
      </p:sp>
      <p:sp>
        <p:nvSpPr>
          <p:cNvPr id="16" name="Rectangle: Rounded Corners 15">
            <a:extLst>
              <a:ext uri="{FF2B5EF4-FFF2-40B4-BE49-F238E27FC236}">
                <a16:creationId xmlns:a16="http://schemas.microsoft.com/office/drawing/2014/main" id="{AC181B8A-5DEC-3FC1-DAF7-4C6FED110040}"/>
              </a:ext>
            </a:extLst>
          </p:cNvPr>
          <p:cNvSpPr/>
          <p:nvPr/>
        </p:nvSpPr>
        <p:spPr>
          <a:xfrm>
            <a:off x="2143125" y="3550443"/>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NPE Register</a:t>
            </a:r>
            <a:endParaRPr lang="en-US" sz="1000"/>
          </a:p>
        </p:txBody>
      </p:sp>
      <p:sp>
        <p:nvSpPr>
          <p:cNvPr id="17" name="Rectangle: Rounded Corners 16">
            <a:extLst>
              <a:ext uri="{FF2B5EF4-FFF2-40B4-BE49-F238E27FC236}">
                <a16:creationId xmlns:a16="http://schemas.microsoft.com/office/drawing/2014/main" id="{388ADAD5-563F-555B-77BC-3F0A1EEBB13A}"/>
              </a:ext>
            </a:extLst>
          </p:cNvPr>
          <p:cNvSpPr/>
          <p:nvPr/>
        </p:nvSpPr>
        <p:spPr>
          <a:xfrm>
            <a:off x="2143125" y="4036218"/>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MAC Units</a:t>
            </a:r>
            <a:endParaRPr lang="en-US" sz="1000"/>
          </a:p>
        </p:txBody>
      </p:sp>
      <p:sp>
        <p:nvSpPr>
          <p:cNvPr id="18" name="Rectangle: Rounded Corners 17">
            <a:extLst>
              <a:ext uri="{FF2B5EF4-FFF2-40B4-BE49-F238E27FC236}">
                <a16:creationId xmlns:a16="http://schemas.microsoft.com/office/drawing/2014/main" id="{7986D7C3-E5F4-F8E3-7382-1673126E9D4F}"/>
              </a:ext>
            </a:extLst>
          </p:cNvPr>
          <p:cNvSpPr/>
          <p:nvPr/>
        </p:nvSpPr>
        <p:spPr>
          <a:xfrm>
            <a:off x="6015038" y="1564484"/>
            <a:ext cx="1385886" cy="278607"/>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err="1">
                <a:solidFill>
                  <a:srgbClr val="3C3C3B"/>
                </a:solidFill>
                <a:ea typeface="+mn-lt"/>
                <a:cs typeface="+mn-lt"/>
              </a:rPr>
              <a:t>NOC_inputs_outputs</a:t>
            </a:r>
            <a:endParaRPr lang="en-US" sz="1000" err="1"/>
          </a:p>
        </p:txBody>
      </p:sp>
      <p:sp>
        <p:nvSpPr>
          <p:cNvPr id="19" name="Rectangle: Rounded Corners 18">
            <a:extLst>
              <a:ext uri="{FF2B5EF4-FFF2-40B4-BE49-F238E27FC236}">
                <a16:creationId xmlns:a16="http://schemas.microsoft.com/office/drawing/2014/main" id="{94C56102-7BBB-F171-E8CA-494F9797D0C9}"/>
              </a:ext>
            </a:extLst>
          </p:cNvPr>
          <p:cNvSpPr/>
          <p:nvPr/>
        </p:nvSpPr>
        <p:spPr>
          <a:xfrm>
            <a:off x="6079331" y="3550444"/>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Register </a:t>
            </a:r>
            <a:endParaRPr lang="en-US" sz="1000"/>
          </a:p>
        </p:txBody>
      </p:sp>
      <p:sp>
        <p:nvSpPr>
          <p:cNvPr id="20" name="Rectangle: Rounded Corners 19">
            <a:extLst>
              <a:ext uri="{FF2B5EF4-FFF2-40B4-BE49-F238E27FC236}">
                <a16:creationId xmlns:a16="http://schemas.microsoft.com/office/drawing/2014/main" id="{1044942F-49EA-435D-57CA-12397F90B7D6}"/>
              </a:ext>
            </a:extLst>
          </p:cNvPr>
          <p:cNvSpPr/>
          <p:nvPr/>
        </p:nvSpPr>
        <p:spPr>
          <a:xfrm>
            <a:off x="6079331" y="4036219"/>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MAC Unit</a:t>
            </a:r>
            <a:endParaRPr lang="en-US" sz="1000"/>
          </a:p>
        </p:txBody>
      </p:sp>
      <p:cxnSp>
        <p:nvCxnSpPr>
          <p:cNvPr id="22" name="Straight Arrow Connector 21">
            <a:extLst>
              <a:ext uri="{FF2B5EF4-FFF2-40B4-BE49-F238E27FC236}">
                <a16:creationId xmlns:a16="http://schemas.microsoft.com/office/drawing/2014/main" id="{D1A70B16-FBAB-18E1-E21C-A799B639CCE4}"/>
              </a:ext>
            </a:extLst>
          </p:cNvPr>
          <p:cNvCxnSpPr>
            <a:stCxn id="3" idx="2"/>
            <a:endCxn id="13" idx="0"/>
          </p:cNvCxnSpPr>
          <p:nvPr/>
        </p:nvCxnSpPr>
        <p:spPr>
          <a:xfrm>
            <a:off x="2775347" y="1843089"/>
            <a:ext cx="0" cy="150018"/>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A18CF0A-356C-0C11-E01A-20B4990708C1}"/>
              </a:ext>
            </a:extLst>
          </p:cNvPr>
          <p:cNvCxnSpPr>
            <a:stCxn id="13" idx="2"/>
            <a:endCxn id="14" idx="0"/>
          </p:cNvCxnSpPr>
          <p:nvPr/>
        </p:nvCxnSpPr>
        <p:spPr>
          <a:xfrm>
            <a:off x="2775347" y="2278857"/>
            <a:ext cx="0" cy="228599"/>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2A7702DD-E415-4F76-D88C-82101092A5D8}"/>
              </a:ext>
            </a:extLst>
          </p:cNvPr>
          <p:cNvCxnSpPr>
            <a:stCxn id="14" idx="2"/>
            <a:endCxn id="15" idx="0"/>
          </p:cNvCxnSpPr>
          <p:nvPr/>
        </p:nvCxnSpPr>
        <p:spPr>
          <a:xfrm>
            <a:off x="2775347" y="2793206"/>
            <a:ext cx="0" cy="235743"/>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95D54F7B-8A65-F65E-FBC8-74D4A4E6E853}"/>
              </a:ext>
            </a:extLst>
          </p:cNvPr>
          <p:cNvCxnSpPr>
            <a:stCxn id="15" idx="2"/>
            <a:endCxn id="16" idx="0"/>
          </p:cNvCxnSpPr>
          <p:nvPr/>
        </p:nvCxnSpPr>
        <p:spPr>
          <a:xfrm>
            <a:off x="2775347" y="3314699"/>
            <a:ext cx="0" cy="235744"/>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6D1FAC55-4128-D8FA-85CB-D97A9AF50342}"/>
              </a:ext>
            </a:extLst>
          </p:cNvPr>
          <p:cNvCxnSpPr>
            <a:stCxn id="16" idx="2"/>
            <a:endCxn id="17" idx="0"/>
          </p:cNvCxnSpPr>
          <p:nvPr/>
        </p:nvCxnSpPr>
        <p:spPr>
          <a:xfrm>
            <a:off x="2775347" y="3836193"/>
            <a:ext cx="0" cy="200025"/>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C6C938FC-F133-BE1F-6265-4B2D9C5F0136}"/>
              </a:ext>
            </a:extLst>
          </p:cNvPr>
          <p:cNvCxnSpPr>
            <a:stCxn id="18" idx="2"/>
            <a:endCxn id="19" idx="0"/>
          </p:cNvCxnSpPr>
          <p:nvPr/>
        </p:nvCxnSpPr>
        <p:spPr>
          <a:xfrm>
            <a:off x="6707981" y="1843091"/>
            <a:ext cx="3572" cy="1707353"/>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7F89A35C-40B9-5C9C-7474-2210588C2C3C}"/>
              </a:ext>
            </a:extLst>
          </p:cNvPr>
          <p:cNvCxnSpPr>
            <a:stCxn id="19" idx="2"/>
            <a:endCxn id="20" idx="0"/>
          </p:cNvCxnSpPr>
          <p:nvPr/>
        </p:nvCxnSpPr>
        <p:spPr>
          <a:xfrm>
            <a:off x="6711553" y="3836194"/>
            <a:ext cx="0" cy="200025"/>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5124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par>
                                <p:cTn id="29" presetID="10"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500"/>
                                        <p:tgtEl>
                                          <p:spTgt spid="26"/>
                                        </p:tgtEl>
                                      </p:cBhvr>
                                    </p:animEffect>
                                  </p:childTnLst>
                                </p:cTn>
                              </p:par>
                              <p:par>
                                <p:cTn id="35" presetID="10"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500"/>
                                        <p:tgtEl>
                                          <p:spTgt spid="28"/>
                                        </p:tgtEl>
                                      </p:cBhvr>
                                    </p:animEffect>
                                  </p:childTnLst>
                                </p:cTn>
                              </p:par>
                              <p:par>
                                <p:cTn id="38" presetID="10" presetClass="entr" presetSubtype="0" fill="hold"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500"/>
                                        <p:tgtEl>
                                          <p:spTgt spid="3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500"/>
                                        <p:tgtEl>
                                          <p:spTgt spid="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3"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471CB8B4-FBA7-4D39-1411-CF665DC41D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DDD92-0E22-36B2-6FA7-3D1C06D5A300}"/>
              </a:ext>
            </a:extLst>
          </p:cNvPr>
          <p:cNvSpPr>
            <a:spLocks noGrp="1"/>
          </p:cNvSpPr>
          <p:nvPr>
            <p:ph type="title"/>
          </p:nvPr>
        </p:nvSpPr>
        <p:spPr/>
        <p:txBody>
          <a:bodyPr/>
          <a:lstStyle/>
          <a:p>
            <a:r>
              <a:rPr lang="en-GB">
                <a:latin typeface="Gill Sans MT"/>
                <a:cs typeface="Gill Sans"/>
              </a:rPr>
              <a:t>Event driven </a:t>
            </a:r>
            <a:r>
              <a:rPr lang="en-GB" err="1">
                <a:latin typeface="Gill Sans MT"/>
                <a:cs typeface="Gill Sans"/>
              </a:rPr>
              <a:t>datapath</a:t>
            </a:r>
            <a:r>
              <a:rPr lang="en-GB">
                <a:latin typeface="Gill Sans MT"/>
                <a:cs typeface="Gill Sans"/>
              </a:rPr>
              <a:t> validation</a:t>
            </a:r>
            <a:endParaRPr lang="en-GB"/>
          </a:p>
        </p:txBody>
      </p:sp>
      <p:sp>
        <p:nvSpPr>
          <p:cNvPr id="4" name="Slide Number Placeholder 3">
            <a:extLst>
              <a:ext uri="{FF2B5EF4-FFF2-40B4-BE49-F238E27FC236}">
                <a16:creationId xmlns:a16="http://schemas.microsoft.com/office/drawing/2014/main" id="{DF4BBE65-9195-93C6-4397-B0C9FEFAB8EA}"/>
              </a:ext>
            </a:extLst>
          </p:cNvPr>
          <p:cNvSpPr>
            <a:spLocks noGrp="1"/>
          </p:cNvSpPr>
          <p:nvPr>
            <p:ph type="sldNum" sz="quarter" idx="12"/>
          </p:nvPr>
        </p:nvSpPr>
        <p:spPr/>
        <p:txBody>
          <a:bodyPr/>
          <a:lstStyle/>
          <a:p>
            <a:fld id="{8836216C-5BC3-7C44-80F8-E30864FFC228}" type="slidenum">
              <a:rPr lang="en-US" smtClean="0"/>
              <a:t>57</a:t>
            </a:fld>
            <a:endParaRPr lang="en-US"/>
          </a:p>
        </p:txBody>
      </p:sp>
      <p:sp>
        <p:nvSpPr>
          <p:cNvPr id="5" name="Text Placeholder 4">
            <a:extLst>
              <a:ext uri="{FF2B5EF4-FFF2-40B4-BE49-F238E27FC236}">
                <a16:creationId xmlns:a16="http://schemas.microsoft.com/office/drawing/2014/main" id="{EDB23324-D096-E824-B087-A3A8468040A9}"/>
              </a:ext>
            </a:extLst>
          </p:cNvPr>
          <p:cNvSpPr>
            <a:spLocks noGrp="1"/>
          </p:cNvSpPr>
          <p:nvPr>
            <p:ph type="body" sz="quarter" idx="13"/>
          </p:nvPr>
        </p:nvSpPr>
        <p:spPr/>
        <p:txBody>
          <a:bodyPr/>
          <a:lstStyle/>
          <a:p>
            <a:r>
              <a:rPr lang="en-GB">
                <a:latin typeface="Gill Sans MT"/>
                <a:cs typeface="Gill Sans"/>
              </a:rPr>
              <a:t>Events, weights, partial sum and output </a:t>
            </a:r>
            <a:r>
              <a:rPr lang="en-GB" err="1">
                <a:latin typeface="Gill Sans MT"/>
                <a:cs typeface="Gill Sans"/>
              </a:rPr>
              <a:t>datapaths</a:t>
            </a:r>
          </a:p>
        </p:txBody>
      </p:sp>
      <p:cxnSp>
        <p:nvCxnSpPr>
          <p:cNvPr id="6" name="Straight Arrow Connector 5">
            <a:extLst>
              <a:ext uri="{FF2B5EF4-FFF2-40B4-BE49-F238E27FC236}">
                <a16:creationId xmlns:a16="http://schemas.microsoft.com/office/drawing/2014/main" id="{2E474FA1-AB68-B5BE-CF70-005D0A4E16F2}"/>
              </a:ext>
            </a:extLst>
          </p:cNvPr>
          <p:cNvCxnSpPr/>
          <p:nvPr/>
        </p:nvCxnSpPr>
        <p:spPr>
          <a:xfrm>
            <a:off x="4564856" y="1385888"/>
            <a:ext cx="7145" cy="3271837"/>
          </a:xfrm>
          <a:prstGeom prst="straightConnector1">
            <a:avLst/>
          </a:prstGeom>
          <a:ln w="3175" cmpd="sng">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3" name="Rectangle: Rounded Corners 2">
            <a:extLst>
              <a:ext uri="{FF2B5EF4-FFF2-40B4-BE49-F238E27FC236}">
                <a16:creationId xmlns:a16="http://schemas.microsoft.com/office/drawing/2014/main" id="{E214295D-BCFF-8AEB-5CF5-54EBEC475D69}"/>
              </a:ext>
            </a:extLst>
          </p:cNvPr>
          <p:cNvSpPr/>
          <p:nvPr/>
        </p:nvSpPr>
        <p:spPr>
          <a:xfrm>
            <a:off x="2143125" y="2100264"/>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SRAM (DMEM)</a:t>
            </a:r>
            <a:endParaRPr lang="en-US" sz="1000"/>
          </a:p>
        </p:txBody>
      </p:sp>
      <p:sp>
        <p:nvSpPr>
          <p:cNvPr id="13" name="Rectangle: Rounded Corners 12">
            <a:extLst>
              <a:ext uri="{FF2B5EF4-FFF2-40B4-BE49-F238E27FC236}">
                <a16:creationId xmlns:a16="http://schemas.microsoft.com/office/drawing/2014/main" id="{0E914E71-2949-F050-C783-D4104FE26081}"/>
              </a:ext>
            </a:extLst>
          </p:cNvPr>
          <p:cNvSpPr/>
          <p:nvPr/>
        </p:nvSpPr>
        <p:spPr>
          <a:xfrm>
            <a:off x="2143125" y="2536032"/>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Loop Controller</a:t>
            </a:r>
            <a:endParaRPr lang="en-US" sz="1000"/>
          </a:p>
        </p:txBody>
      </p:sp>
      <p:sp>
        <p:nvSpPr>
          <p:cNvPr id="14" name="Rectangle: Rounded Corners 13">
            <a:extLst>
              <a:ext uri="{FF2B5EF4-FFF2-40B4-BE49-F238E27FC236}">
                <a16:creationId xmlns:a16="http://schemas.microsoft.com/office/drawing/2014/main" id="{23950D3A-BFD7-DCD1-472C-89025701068F}"/>
              </a:ext>
            </a:extLst>
          </p:cNvPr>
          <p:cNvSpPr/>
          <p:nvPr/>
        </p:nvSpPr>
        <p:spPr>
          <a:xfrm>
            <a:off x="2143125" y="3050381"/>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NPE Register</a:t>
            </a:r>
            <a:endParaRPr lang="en-US" sz="1000"/>
          </a:p>
        </p:txBody>
      </p:sp>
      <p:sp>
        <p:nvSpPr>
          <p:cNvPr id="15" name="Rectangle: Rounded Corners 14">
            <a:extLst>
              <a:ext uri="{FF2B5EF4-FFF2-40B4-BE49-F238E27FC236}">
                <a16:creationId xmlns:a16="http://schemas.microsoft.com/office/drawing/2014/main" id="{26189FE0-B94B-517A-6168-F0414C235F6B}"/>
              </a:ext>
            </a:extLst>
          </p:cNvPr>
          <p:cNvSpPr/>
          <p:nvPr/>
        </p:nvSpPr>
        <p:spPr>
          <a:xfrm>
            <a:off x="2143125" y="3571874"/>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MAC Units</a:t>
            </a:r>
            <a:endParaRPr lang="en-US" sz="1000"/>
          </a:p>
        </p:txBody>
      </p:sp>
      <p:sp>
        <p:nvSpPr>
          <p:cNvPr id="18" name="Rectangle: Rounded Corners 17">
            <a:extLst>
              <a:ext uri="{FF2B5EF4-FFF2-40B4-BE49-F238E27FC236}">
                <a16:creationId xmlns:a16="http://schemas.microsoft.com/office/drawing/2014/main" id="{ACF43F1E-59C0-6C9D-ECB1-82069EC33568}"/>
              </a:ext>
            </a:extLst>
          </p:cNvPr>
          <p:cNvSpPr/>
          <p:nvPr/>
        </p:nvSpPr>
        <p:spPr>
          <a:xfrm>
            <a:off x="5865019" y="1557340"/>
            <a:ext cx="1693067" cy="350043"/>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err="1">
                <a:solidFill>
                  <a:schemeClr val="tx1"/>
                </a:solidFill>
                <a:ea typeface="+mn-lt"/>
                <a:cs typeface="+mn-lt"/>
              </a:rPr>
              <a:t>Shared_memory_Weights</a:t>
            </a:r>
            <a:r>
              <a:rPr lang="en-GB" sz="1000">
                <a:solidFill>
                  <a:schemeClr val="tx1"/>
                </a:solidFill>
                <a:ea typeface="+mn-lt"/>
                <a:cs typeface="+mn-lt"/>
              </a:rPr>
              <a:t> </a:t>
            </a:r>
            <a:endParaRPr lang="en-US" sz="1000">
              <a:solidFill>
                <a:schemeClr val="tx1"/>
              </a:solidFill>
            </a:endParaRPr>
          </a:p>
        </p:txBody>
      </p:sp>
      <p:sp>
        <p:nvSpPr>
          <p:cNvPr id="19" name="Rectangle: Rounded Corners 18">
            <a:extLst>
              <a:ext uri="{FF2B5EF4-FFF2-40B4-BE49-F238E27FC236}">
                <a16:creationId xmlns:a16="http://schemas.microsoft.com/office/drawing/2014/main" id="{B2BCDBBA-6AD8-D1EE-3933-C13626E386BA}"/>
              </a:ext>
            </a:extLst>
          </p:cNvPr>
          <p:cNvSpPr/>
          <p:nvPr/>
        </p:nvSpPr>
        <p:spPr>
          <a:xfrm>
            <a:off x="6079330" y="2100262"/>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rPr>
              <a:t>SRAM</a:t>
            </a:r>
          </a:p>
        </p:txBody>
      </p:sp>
      <p:sp>
        <p:nvSpPr>
          <p:cNvPr id="20" name="Rectangle: Rounded Corners 19">
            <a:extLst>
              <a:ext uri="{FF2B5EF4-FFF2-40B4-BE49-F238E27FC236}">
                <a16:creationId xmlns:a16="http://schemas.microsoft.com/office/drawing/2014/main" id="{88C6A4D9-C613-0DEC-F463-DAC4C3689B83}"/>
              </a:ext>
            </a:extLst>
          </p:cNvPr>
          <p:cNvSpPr/>
          <p:nvPr/>
        </p:nvSpPr>
        <p:spPr>
          <a:xfrm>
            <a:off x="6079331" y="3050381"/>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Register</a:t>
            </a:r>
            <a:endParaRPr lang="en-US" sz="1000"/>
          </a:p>
        </p:txBody>
      </p:sp>
      <p:sp>
        <p:nvSpPr>
          <p:cNvPr id="21" name="Rectangle: Rounded Corners 20">
            <a:extLst>
              <a:ext uri="{FF2B5EF4-FFF2-40B4-BE49-F238E27FC236}">
                <a16:creationId xmlns:a16="http://schemas.microsoft.com/office/drawing/2014/main" id="{3A94AA94-174A-1BFF-CAB4-17588F173AB7}"/>
              </a:ext>
            </a:extLst>
          </p:cNvPr>
          <p:cNvSpPr/>
          <p:nvPr/>
        </p:nvSpPr>
        <p:spPr>
          <a:xfrm>
            <a:off x="6079330" y="3571875"/>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MAC Units</a:t>
            </a:r>
            <a:endParaRPr lang="en-US" sz="1000"/>
          </a:p>
        </p:txBody>
      </p:sp>
      <p:sp>
        <p:nvSpPr>
          <p:cNvPr id="16" name="Rectangle 15">
            <a:extLst>
              <a:ext uri="{FF2B5EF4-FFF2-40B4-BE49-F238E27FC236}">
                <a16:creationId xmlns:a16="http://schemas.microsoft.com/office/drawing/2014/main" id="{7E5E9930-12F5-BBEC-84FE-7A5592667E73}"/>
              </a:ext>
            </a:extLst>
          </p:cNvPr>
          <p:cNvSpPr/>
          <p:nvPr/>
        </p:nvSpPr>
        <p:spPr>
          <a:xfrm>
            <a:off x="157162" y="2057400"/>
            <a:ext cx="1050131"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Inputs</a:t>
            </a:r>
          </a:p>
        </p:txBody>
      </p:sp>
      <p:sp>
        <p:nvSpPr>
          <p:cNvPr id="17" name="Rectangle 16">
            <a:extLst>
              <a:ext uri="{FF2B5EF4-FFF2-40B4-BE49-F238E27FC236}">
                <a16:creationId xmlns:a16="http://schemas.microsoft.com/office/drawing/2014/main" id="{E948CEB7-465B-2F0E-04A1-CEA6C5A5B373}"/>
              </a:ext>
            </a:extLst>
          </p:cNvPr>
          <p:cNvSpPr/>
          <p:nvPr/>
        </p:nvSpPr>
        <p:spPr>
          <a:xfrm>
            <a:off x="157161" y="2571750"/>
            <a:ext cx="1050131" cy="300038"/>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00">
                <a:solidFill>
                  <a:schemeClr val="tx1"/>
                </a:solidFill>
              </a:rPr>
              <a:t>Weights</a:t>
            </a:r>
          </a:p>
        </p:txBody>
      </p:sp>
      <p:sp>
        <p:nvSpPr>
          <p:cNvPr id="22" name="Rectangle 21">
            <a:extLst>
              <a:ext uri="{FF2B5EF4-FFF2-40B4-BE49-F238E27FC236}">
                <a16:creationId xmlns:a16="http://schemas.microsoft.com/office/drawing/2014/main" id="{A8002936-0895-A681-BBA1-3115FCE31701}"/>
              </a:ext>
            </a:extLst>
          </p:cNvPr>
          <p:cNvSpPr/>
          <p:nvPr/>
        </p:nvSpPr>
        <p:spPr>
          <a:xfrm>
            <a:off x="157160" y="3093244"/>
            <a:ext cx="1050131"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Partial Sums</a:t>
            </a:r>
          </a:p>
        </p:txBody>
      </p:sp>
      <p:sp>
        <p:nvSpPr>
          <p:cNvPr id="23" name="Rectangle 22">
            <a:extLst>
              <a:ext uri="{FF2B5EF4-FFF2-40B4-BE49-F238E27FC236}">
                <a16:creationId xmlns:a16="http://schemas.microsoft.com/office/drawing/2014/main" id="{6F5D2B55-BD93-0E04-1AF6-B7C9D562CE38}"/>
              </a:ext>
            </a:extLst>
          </p:cNvPr>
          <p:cNvSpPr/>
          <p:nvPr/>
        </p:nvSpPr>
        <p:spPr>
          <a:xfrm>
            <a:off x="157159" y="3614737"/>
            <a:ext cx="1050131"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Outputs</a:t>
            </a:r>
          </a:p>
        </p:txBody>
      </p:sp>
      <p:cxnSp>
        <p:nvCxnSpPr>
          <p:cNvPr id="25" name="Straight Arrow Connector 24">
            <a:extLst>
              <a:ext uri="{FF2B5EF4-FFF2-40B4-BE49-F238E27FC236}">
                <a16:creationId xmlns:a16="http://schemas.microsoft.com/office/drawing/2014/main" id="{7F46FC44-A731-137C-15A9-B2F2F384F329}"/>
              </a:ext>
            </a:extLst>
          </p:cNvPr>
          <p:cNvCxnSpPr>
            <a:stCxn id="3" idx="2"/>
            <a:endCxn id="13" idx="0"/>
          </p:cNvCxnSpPr>
          <p:nvPr/>
        </p:nvCxnSpPr>
        <p:spPr>
          <a:xfrm>
            <a:off x="2775347" y="2386014"/>
            <a:ext cx="0" cy="150018"/>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F3B95D88-8309-C6C9-440D-C80E2D58F0CB}"/>
              </a:ext>
            </a:extLst>
          </p:cNvPr>
          <p:cNvCxnSpPr>
            <a:stCxn id="13" idx="2"/>
            <a:endCxn id="14" idx="0"/>
          </p:cNvCxnSpPr>
          <p:nvPr/>
        </p:nvCxnSpPr>
        <p:spPr>
          <a:xfrm>
            <a:off x="2775347" y="2821782"/>
            <a:ext cx="0" cy="228599"/>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E6E4A1FC-EF3F-A0B7-E7A8-9DDE8B88D9E7}"/>
              </a:ext>
            </a:extLst>
          </p:cNvPr>
          <p:cNvCxnSpPr>
            <a:stCxn id="14" idx="2"/>
            <a:endCxn id="15" idx="0"/>
          </p:cNvCxnSpPr>
          <p:nvPr/>
        </p:nvCxnSpPr>
        <p:spPr>
          <a:xfrm>
            <a:off x="2775347" y="3336131"/>
            <a:ext cx="0" cy="235743"/>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54E52B76-27CA-33C8-669B-47069F2BB15A}"/>
              </a:ext>
            </a:extLst>
          </p:cNvPr>
          <p:cNvCxnSpPr>
            <a:stCxn id="18" idx="2"/>
            <a:endCxn id="19" idx="0"/>
          </p:cNvCxnSpPr>
          <p:nvPr/>
        </p:nvCxnSpPr>
        <p:spPr>
          <a:xfrm flipH="1">
            <a:off x="6711552" y="1907383"/>
            <a:ext cx="1" cy="192879"/>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5A8722DA-B53D-70DA-E9FA-0F808BAE77E0}"/>
              </a:ext>
            </a:extLst>
          </p:cNvPr>
          <p:cNvCxnSpPr>
            <a:stCxn id="19" idx="2"/>
            <a:endCxn id="20" idx="0"/>
          </p:cNvCxnSpPr>
          <p:nvPr/>
        </p:nvCxnSpPr>
        <p:spPr>
          <a:xfrm>
            <a:off x="6711552" y="2386012"/>
            <a:ext cx="1" cy="664369"/>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73A349E5-6F0A-158C-050F-4A8B230B99AF}"/>
              </a:ext>
            </a:extLst>
          </p:cNvPr>
          <p:cNvCxnSpPr>
            <a:stCxn id="20" idx="2"/>
            <a:endCxn id="21" idx="0"/>
          </p:cNvCxnSpPr>
          <p:nvPr/>
        </p:nvCxnSpPr>
        <p:spPr>
          <a:xfrm flipH="1">
            <a:off x="6711552" y="3336131"/>
            <a:ext cx="1" cy="235744"/>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3844EDB9-DF38-358A-6881-BBA11A9AD1B5}"/>
              </a:ext>
            </a:extLst>
          </p:cNvPr>
          <p:cNvSpPr txBox="1"/>
          <p:nvPr/>
        </p:nvSpPr>
        <p:spPr>
          <a:xfrm>
            <a:off x="1583403" y="1142999"/>
            <a:ext cx="2370952" cy="276999"/>
          </a:xfrm>
          <a:prstGeom prst="rect">
            <a:avLst/>
          </a:prstGeom>
          <a:solidFill>
            <a:schemeClr val="tx2">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200"/>
              <a:t>SENECA</a:t>
            </a:r>
            <a:endParaRPr lang="en-GB" sz="1200" err="1"/>
          </a:p>
        </p:txBody>
      </p:sp>
      <p:sp>
        <p:nvSpPr>
          <p:cNvPr id="39" name="TextBox 38">
            <a:extLst>
              <a:ext uri="{FF2B5EF4-FFF2-40B4-BE49-F238E27FC236}">
                <a16:creationId xmlns:a16="http://schemas.microsoft.com/office/drawing/2014/main" id="{3132010C-2365-2AD1-EBDE-56E0C6B03219}"/>
              </a:ext>
            </a:extLst>
          </p:cNvPr>
          <p:cNvSpPr txBox="1"/>
          <p:nvPr/>
        </p:nvSpPr>
        <p:spPr>
          <a:xfrm>
            <a:off x="5526753" y="1142998"/>
            <a:ext cx="2370952" cy="276999"/>
          </a:xfrm>
          <a:prstGeom prst="rect">
            <a:avLst/>
          </a:prstGeom>
          <a:solidFill>
            <a:schemeClr val="tx2">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a:defRPr sz="1200"/>
            </a:lvl1pPr>
          </a:lstStyle>
          <a:p>
            <a:r>
              <a:rPr lang="en-GB"/>
              <a:t>AeDAM Implementation</a:t>
            </a:r>
            <a:endParaRPr lang="en-GB" err="1"/>
          </a:p>
        </p:txBody>
      </p:sp>
    </p:spTree>
    <p:extLst>
      <p:ext uri="{BB962C8B-B14F-4D97-AF65-F5344CB8AC3E}">
        <p14:creationId xmlns:p14="http://schemas.microsoft.com/office/powerpoint/2010/main" val="24515539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500"/>
                                        <p:tgtEl>
                                          <p:spTgt spid="2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500"/>
                                        <p:tgtEl>
                                          <p:spTgt spid="3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6" presetID="10" presetClass="entr" presetSubtype="0" fill="hold"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500"/>
                                        <p:tgtEl>
                                          <p:spTgt spid="31"/>
                                        </p:tgtEl>
                                      </p:cBhvr>
                                    </p:animEffect>
                                  </p:childTnLst>
                                </p:cTn>
                              </p:par>
                              <p:par>
                                <p:cTn id="49" presetID="10" presetClass="entr" presetSubtype="0" fill="hold" nodeType="with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500"/>
                                        <p:tgtEl>
                                          <p:spTgt spid="34"/>
                                        </p:tgtEl>
                                      </p:cBhvr>
                                    </p:animEffect>
                                  </p:childTnLst>
                                </p:cTn>
                              </p:par>
                              <p:par>
                                <p:cTn id="52" presetID="10" presetClass="entr" presetSubtype="0" fill="hold" nodeType="with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animBg="1"/>
      <p:bldP spid="14" grpId="0" animBg="1"/>
      <p:bldP spid="15" grpId="0" animBg="1"/>
      <p:bldP spid="18" grpId="0" animBg="1"/>
      <p:bldP spid="19" grpId="0" animBg="1"/>
      <p:bldP spid="20" grpId="0" animBg="1"/>
      <p:bldP spid="21" grpId="0" animBg="1"/>
      <p:bldP spid="38" grpId="0" animBg="1"/>
      <p:bldP spid="39" grpId="0" animBg="1"/>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1608E2A-04E9-E59C-76A3-49747B2B8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098CA-131A-6DDB-ADAE-00945FA2DC62}"/>
              </a:ext>
            </a:extLst>
          </p:cNvPr>
          <p:cNvSpPr>
            <a:spLocks noGrp="1"/>
          </p:cNvSpPr>
          <p:nvPr>
            <p:ph type="title"/>
          </p:nvPr>
        </p:nvSpPr>
        <p:spPr/>
        <p:txBody>
          <a:bodyPr/>
          <a:lstStyle/>
          <a:p>
            <a:r>
              <a:rPr lang="en-GB">
                <a:latin typeface="Gill Sans MT"/>
                <a:cs typeface="Gill Sans"/>
              </a:rPr>
              <a:t>Event driven </a:t>
            </a:r>
            <a:r>
              <a:rPr lang="en-GB" err="1">
                <a:latin typeface="Gill Sans MT"/>
                <a:cs typeface="Gill Sans"/>
              </a:rPr>
              <a:t>datapath</a:t>
            </a:r>
            <a:r>
              <a:rPr lang="en-GB">
                <a:latin typeface="Gill Sans MT"/>
                <a:cs typeface="Gill Sans"/>
              </a:rPr>
              <a:t> validation</a:t>
            </a:r>
            <a:endParaRPr lang="en-GB"/>
          </a:p>
        </p:txBody>
      </p:sp>
      <p:sp>
        <p:nvSpPr>
          <p:cNvPr id="4" name="Slide Number Placeholder 3">
            <a:extLst>
              <a:ext uri="{FF2B5EF4-FFF2-40B4-BE49-F238E27FC236}">
                <a16:creationId xmlns:a16="http://schemas.microsoft.com/office/drawing/2014/main" id="{AA653242-22AA-646B-BF26-45E18BAA262B}"/>
              </a:ext>
            </a:extLst>
          </p:cNvPr>
          <p:cNvSpPr>
            <a:spLocks noGrp="1"/>
          </p:cNvSpPr>
          <p:nvPr>
            <p:ph type="sldNum" sz="quarter" idx="12"/>
          </p:nvPr>
        </p:nvSpPr>
        <p:spPr/>
        <p:txBody>
          <a:bodyPr/>
          <a:lstStyle/>
          <a:p>
            <a:fld id="{8836216C-5BC3-7C44-80F8-E30864FFC228}" type="slidenum">
              <a:rPr lang="en-US" smtClean="0"/>
              <a:t>58</a:t>
            </a:fld>
            <a:endParaRPr lang="en-US"/>
          </a:p>
        </p:txBody>
      </p:sp>
      <p:sp>
        <p:nvSpPr>
          <p:cNvPr id="5" name="Text Placeholder 4">
            <a:extLst>
              <a:ext uri="{FF2B5EF4-FFF2-40B4-BE49-F238E27FC236}">
                <a16:creationId xmlns:a16="http://schemas.microsoft.com/office/drawing/2014/main" id="{CACA1371-3EEC-C2D6-F6F5-D4F4623AC088}"/>
              </a:ext>
            </a:extLst>
          </p:cNvPr>
          <p:cNvSpPr>
            <a:spLocks noGrp="1"/>
          </p:cNvSpPr>
          <p:nvPr>
            <p:ph type="body" sz="quarter" idx="13"/>
          </p:nvPr>
        </p:nvSpPr>
        <p:spPr/>
        <p:txBody>
          <a:bodyPr/>
          <a:lstStyle/>
          <a:p>
            <a:r>
              <a:rPr lang="en-GB">
                <a:latin typeface="Gill Sans MT"/>
                <a:cs typeface="Gill Sans"/>
              </a:rPr>
              <a:t>Events, weights, partial sum and output </a:t>
            </a:r>
            <a:r>
              <a:rPr lang="en-GB" err="1">
                <a:latin typeface="Gill Sans MT"/>
                <a:cs typeface="Gill Sans"/>
              </a:rPr>
              <a:t>datapaths</a:t>
            </a:r>
          </a:p>
        </p:txBody>
      </p:sp>
      <p:cxnSp>
        <p:nvCxnSpPr>
          <p:cNvPr id="6" name="Straight Arrow Connector 5">
            <a:extLst>
              <a:ext uri="{FF2B5EF4-FFF2-40B4-BE49-F238E27FC236}">
                <a16:creationId xmlns:a16="http://schemas.microsoft.com/office/drawing/2014/main" id="{D13ADD41-B110-0F79-1BC4-1E09A7ECA0A2}"/>
              </a:ext>
            </a:extLst>
          </p:cNvPr>
          <p:cNvCxnSpPr/>
          <p:nvPr/>
        </p:nvCxnSpPr>
        <p:spPr>
          <a:xfrm>
            <a:off x="4564856" y="1385888"/>
            <a:ext cx="7145" cy="3271837"/>
          </a:xfrm>
          <a:prstGeom prst="straightConnector1">
            <a:avLst/>
          </a:prstGeom>
          <a:ln w="3175" cmpd="sng">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84F25BED-EFA5-058C-F9AF-94F7B7AA4B0E}"/>
              </a:ext>
            </a:extLst>
          </p:cNvPr>
          <p:cNvSpPr/>
          <p:nvPr/>
        </p:nvSpPr>
        <p:spPr>
          <a:xfrm>
            <a:off x="2143125" y="2243138"/>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chemeClr val="tx1"/>
                </a:solidFill>
                <a:ea typeface="+mn-lt"/>
                <a:cs typeface="+mn-lt"/>
              </a:rPr>
              <a:t>MAC Units</a:t>
            </a:r>
            <a:endParaRPr lang="en-US" sz="1000">
              <a:solidFill>
                <a:schemeClr val="tx1"/>
              </a:solidFill>
            </a:endParaRPr>
          </a:p>
        </p:txBody>
      </p:sp>
      <p:sp>
        <p:nvSpPr>
          <p:cNvPr id="14" name="Rectangle: Rounded Corners 13">
            <a:extLst>
              <a:ext uri="{FF2B5EF4-FFF2-40B4-BE49-F238E27FC236}">
                <a16:creationId xmlns:a16="http://schemas.microsoft.com/office/drawing/2014/main" id="{11218DFD-5BE9-4F9C-C308-80DA547A9C68}"/>
              </a:ext>
            </a:extLst>
          </p:cNvPr>
          <p:cNvSpPr/>
          <p:nvPr/>
        </p:nvSpPr>
        <p:spPr>
          <a:xfrm>
            <a:off x="2143125" y="2757487"/>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NPE Register</a:t>
            </a:r>
            <a:endParaRPr lang="en-US" sz="1000"/>
          </a:p>
        </p:txBody>
      </p:sp>
      <p:sp>
        <p:nvSpPr>
          <p:cNvPr id="15" name="Rectangle: Rounded Corners 14">
            <a:extLst>
              <a:ext uri="{FF2B5EF4-FFF2-40B4-BE49-F238E27FC236}">
                <a16:creationId xmlns:a16="http://schemas.microsoft.com/office/drawing/2014/main" id="{4817D4BA-CFAB-A800-FD62-C8B04553A121}"/>
              </a:ext>
            </a:extLst>
          </p:cNvPr>
          <p:cNvSpPr/>
          <p:nvPr/>
        </p:nvSpPr>
        <p:spPr>
          <a:xfrm>
            <a:off x="2143125" y="3278980"/>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rPr>
              <a:t>SRAM</a:t>
            </a:r>
          </a:p>
        </p:txBody>
      </p:sp>
      <p:sp>
        <p:nvSpPr>
          <p:cNvPr id="19" name="Rectangle: Rounded Corners 18">
            <a:extLst>
              <a:ext uri="{FF2B5EF4-FFF2-40B4-BE49-F238E27FC236}">
                <a16:creationId xmlns:a16="http://schemas.microsoft.com/office/drawing/2014/main" id="{CA305B73-D7E5-A394-21F5-EF7BBCFF701C}"/>
              </a:ext>
            </a:extLst>
          </p:cNvPr>
          <p:cNvSpPr/>
          <p:nvPr/>
        </p:nvSpPr>
        <p:spPr>
          <a:xfrm>
            <a:off x="6086475" y="2243137"/>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MAC Units</a:t>
            </a:r>
            <a:endParaRPr lang="en-US" sz="1000"/>
          </a:p>
        </p:txBody>
      </p:sp>
      <p:sp>
        <p:nvSpPr>
          <p:cNvPr id="20" name="Rectangle: Rounded Corners 19">
            <a:extLst>
              <a:ext uri="{FF2B5EF4-FFF2-40B4-BE49-F238E27FC236}">
                <a16:creationId xmlns:a16="http://schemas.microsoft.com/office/drawing/2014/main" id="{794E0FF7-322C-561B-53B7-4342396F87B9}"/>
              </a:ext>
            </a:extLst>
          </p:cNvPr>
          <p:cNvSpPr/>
          <p:nvPr/>
        </p:nvSpPr>
        <p:spPr>
          <a:xfrm>
            <a:off x="6086475" y="2757487"/>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Register</a:t>
            </a:r>
            <a:endParaRPr lang="en-US" sz="1000"/>
          </a:p>
        </p:txBody>
      </p:sp>
      <p:sp>
        <p:nvSpPr>
          <p:cNvPr id="21" name="Rectangle: Rounded Corners 20">
            <a:extLst>
              <a:ext uri="{FF2B5EF4-FFF2-40B4-BE49-F238E27FC236}">
                <a16:creationId xmlns:a16="http://schemas.microsoft.com/office/drawing/2014/main" id="{B4A613D1-8543-0E77-9D7D-26F89B9B7773}"/>
              </a:ext>
            </a:extLst>
          </p:cNvPr>
          <p:cNvSpPr/>
          <p:nvPr/>
        </p:nvSpPr>
        <p:spPr>
          <a:xfrm>
            <a:off x="6086474" y="3278981"/>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rPr>
              <a:t>SRAM</a:t>
            </a:r>
          </a:p>
        </p:txBody>
      </p:sp>
      <p:sp>
        <p:nvSpPr>
          <p:cNvPr id="3" name="Rectangle 2">
            <a:extLst>
              <a:ext uri="{FF2B5EF4-FFF2-40B4-BE49-F238E27FC236}">
                <a16:creationId xmlns:a16="http://schemas.microsoft.com/office/drawing/2014/main" id="{25CAE8C5-FE51-B4C3-60B5-54C7E8F17698}"/>
              </a:ext>
            </a:extLst>
          </p:cNvPr>
          <p:cNvSpPr/>
          <p:nvPr/>
        </p:nvSpPr>
        <p:spPr>
          <a:xfrm>
            <a:off x="157162" y="2057400"/>
            <a:ext cx="1050131"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Inputs</a:t>
            </a:r>
          </a:p>
        </p:txBody>
      </p:sp>
      <p:sp>
        <p:nvSpPr>
          <p:cNvPr id="16" name="Rectangle 15">
            <a:extLst>
              <a:ext uri="{FF2B5EF4-FFF2-40B4-BE49-F238E27FC236}">
                <a16:creationId xmlns:a16="http://schemas.microsoft.com/office/drawing/2014/main" id="{3AD8A96E-623F-F24D-72A7-796053934732}"/>
              </a:ext>
            </a:extLst>
          </p:cNvPr>
          <p:cNvSpPr/>
          <p:nvPr/>
        </p:nvSpPr>
        <p:spPr>
          <a:xfrm>
            <a:off x="157161" y="2571750"/>
            <a:ext cx="1050131"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Weights</a:t>
            </a:r>
          </a:p>
        </p:txBody>
      </p:sp>
      <p:sp>
        <p:nvSpPr>
          <p:cNvPr id="17" name="Rectangle 16">
            <a:extLst>
              <a:ext uri="{FF2B5EF4-FFF2-40B4-BE49-F238E27FC236}">
                <a16:creationId xmlns:a16="http://schemas.microsoft.com/office/drawing/2014/main" id="{E47BE0F9-CADA-B49E-A794-BDE86392B3A6}"/>
              </a:ext>
            </a:extLst>
          </p:cNvPr>
          <p:cNvSpPr/>
          <p:nvPr/>
        </p:nvSpPr>
        <p:spPr>
          <a:xfrm>
            <a:off x="157160" y="3093244"/>
            <a:ext cx="1050131" cy="300038"/>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00">
                <a:solidFill>
                  <a:schemeClr val="tx1"/>
                </a:solidFill>
              </a:rPr>
              <a:t>Partial Sums</a:t>
            </a:r>
          </a:p>
        </p:txBody>
      </p:sp>
      <p:sp>
        <p:nvSpPr>
          <p:cNvPr id="18" name="Rectangle 17">
            <a:extLst>
              <a:ext uri="{FF2B5EF4-FFF2-40B4-BE49-F238E27FC236}">
                <a16:creationId xmlns:a16="http://schemas.microsoft.com/office/drawing/2014/main" id="{1EC6828F-AEC2-14FB-F9BA-1339FD5A7169}"/>
              </a:ext>
            </a:extLst>
          </p:cNvPr>
          <p:cNvSpPr/>
          <p:nvPr/>
        </p:nvSpPr>
        <p:spPr>
          <a:xfrm>
            <a:off x="157159" y="3614737"/>
            <a:ext cx="1050131"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Outputs</a:t>
            </a:r>
          </a:p>
        </p:txBody>
      </p:sp>
      <p:sp>
        <p:nvSpPr>
          <p:cNvPr id="22" name="TextBox 21">
            <a:extLst>
              <a:ext uri="{FF2B5EF4-FFF2-40B4-BE49-F238E27FC236}">
                <a16:creationId xmlns:a16="http://schemas.microsoft.com/office/drawing/2014/main" id="{56F08B63-4D79-1A10-00D3-1C0D7E06343E}"/>
              </a:ext>
            </a:extLst>
          </p:cNvPr>
          <p:cNvSpPr txBox="1"/>
          <p:nvPr/>
        </p:nvSpPr>
        <p:spPr>
          <a:xfrm>
            <a:off x="1583403" y="1142999"/>
            <a:ext cx="2370952" cy="276999"/>
          </a:xfrm>
          <a:prstGeom prst="rect">
            <a:avLst/>
          </a:prstGeom>
          <a:solidFill>
            <a:schemeClr val="tx2">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200"/>
              <a:t>SENECA</a:t>
            </a:r>
            <a:endParaRPr lang="en-GB" sz="1200" err="1"/>
          </a:p>
        </p:txBody>
      </p:sp>
      <p:sp>
        <p:nvSpPr>
          <p:cNvPr id="23" name="TextBox 22">
            <a:extLst>
              <a:ext uri="{FF2B5EF4-FFF2-40B4-BE49-F238E27FC236}">
                <a16:creationId xmlns:a16="http://schemas.microsoft.com/office/drawing/2014/main" id="{B87D6ED1-6059-9683-66E3-6A517FD8D977}"/>
              </a:ext>
            </a:extLst>
          </p:cNvPr>
          <p:cNvSpPr txBox="1"/>
          <p:nvPr/>
        </p:nvSpPr>
        <p:spPr>
          <a:xfrm>
            <a:off x="5526753" y="1142998"/>
            <a:ext cx="2370952" cy="276999"/>
          </a:xfrm>
          <a:prstGeom prst="rect">
            <a:avLst/>
          </a:prstGeom>
          <a:solidFill>
            <a:schemeClr val="tx2">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a:defRPr sz="1200"/>
            </a:lvl1pPr>
          </a:lstStyle>
          <a:p>
            <a:r>
              <a:rPr lang="en-GB"/>
              <a:t>AeDAM Implementation</a:t>
            </a:r>
            <a:endParaRPr lang="en-GB" err="1"/>
          </a:p>
        </p:txBody>
      </p:sp>
      <p:cxnSp>
        <p:nvCxnSpPr>
          <p:cNvPr id="25" name="Straight Arrow Connector 24">
            <a:extLst>
              <a:ext uri="{FF2B5EF4-FFF2-40B4-BE49-F238E27FC236}">
                <a16:creationId xmlns:a16="http://schemas.microsoft.com/office/drawing/2014/main" id="{DEEC3AD0-015B-9DB2-CE01-E9EE62CC497C}"/>
              </a:ext>
            </a:extLst>
          </p:cNvPr>
          <p:cNvCxnSpPr>
            <a:cxnSpLocks/>
          </p:cNvCxnSpPr>
          <p:nvPr/>
        </p:nvCxnSpPr>
        <p:spPr>
          <a:xfrm>
            <a:off x="2550622" y="2528888"/>
            <a:ext cx="0" cy="228599"/>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CCF7C0C-793C-CB47-BCC4-4FA1320412B8}"/>
              </a:ext>
            </a:extLst>
          </p:cNvPr>
          <p:cNvCxnSpPr>
            <a:cxnSpLocks/>
          </p:cNvCxnSpPr>
          <p:nvPr/>
        </p:nvCxnSpPr>
        <p:spPr>
          <a:xfrm>
            <a:off x="2550622" y="3043237"/>
            <a:ext cx="0" cy="235743"/>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AD3AC562-F46B-7DCD-07B2-ED666A462F00}"/>
              </a:ext>
            </a:extLst>
          </p:cNvPr>
          <p:cNvCxnSpPr>
            <a:cxnSpLocks/>
          </p:cNvCxnSpPr>
          <p:nvPr/>
        </p:nvCxnSpPr>
        <p:spPr>
          <a:xfrm>
            <a:off x="6455226" y="2528887"/>
            <a:ext cx="0" cy="228600"/>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FD8BD29C-C274-A905-F9A1-FEDDEF3DE949}"/>
              </a:ext>
            </a:extLst>
          </p:cNvPr>
          <p:cNvCxnSpPr>
            <a:cxnSpLocks/>
          </p:cNvCxnSpPr>
          <p:nvPr/>
        </p:nvCxnSpPr>
        <p:spPr>
          <a:xfrm flipH="1">
            <a:off x="6455225" y="3021806"/>
            <a:ext cx="1" cy="235744"/>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ABC1A61E-A5D2-AA10-BDD9-78BA53FD1D2B}"/>
              </a:ext>
            </a:extLst>
          </p:cNvPr>
          <p:cNvCxnSpPr>
            <a:cxnSpLocks/>
          </p:cNvCxnSpPr>
          <p:nvPr/>
        </p:nvCxnSpPr>
        <p:spPr>
          <a:xfrm flipV="1">
            <a:off x="2974242" y="2528887"/>
            <a:ext cx="0" cy="228600"/>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08107BB3-56C0-8F9A-EAA8-E8860C8191A1}"/>
              </a:ext>
            </a:extLst>
          </p:cNvPr>
          <p:cNvCxnSpPr>
            <a:cxnSpLocks/>
          </p:cNvCxnSpPr>
          <p:nvPr/>
        </p:nvCxnSpPr>
        <p:spPr>
          <a:xfrm flipV="1">
            <a:off x="2974242" y="3043237"/>
            <a:ext cx="0" cy="228600"/>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F380D606-B5D1-9465-C0B0-D194E9647BE6}"/>
              </a:ext>
            </a:extLst>
          </p:cNvPr>
          <p:cNvCxnSpPr>
            <a:cxnSpLocks/>
          </p:cNvCxnSpPr>
          <p:nvPr/>
        </p:nvCxnSpPr>
        <p:spPr>
          <a:xfrm flipV="1">
            <a:off x="6954724" y="2528887"/>
            <a:ext cx="0" cy="228600"/>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8405C082-B6BE-0CF1-7E95-69D2982064AF}"/>
              </a:ext>
            </a:extLst>
          </p:cNvPr>
          <p:cNvCxnSpPr>
            <a:cxnSpLocks/>
          </p:cNvCxnSpPr>
          <p:nvPr/>
        </p:nvCxnSpPr>
        <p:spPr>
          <a:xfrm flipV="1">
            <a:off x="6958521" y="3050380"/>
            <a:ext cx="0" cy="228600"/>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8538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37" presetID="10"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childTnLst>
                                </p:cTn>
                              </p:par>
                              <p:par>
                                <p:cTn id="40" presetID="10" presetClass="entr" presetSubtype="0" fill="hold" nodeType="with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par>
                                <p:cTn id="43" presetID="10" presetClass="entr" presetSubtype="0" fill="hold"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par>
                                <p:cTn id="46" presetID="10" presetClass="entr" presetSubtype="0" fill="hold"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500"/>
                                        <p:tgtEl>
                                          <p:spTgt spid="34"/>
                                        </p:tgtEl>
                                      </p:cBhvr>
                                    </p:animEffect>
                                  </p:childTnLst>
                                </p:cTn>
                              </p:par>
                              <p:par>
                                <p:cTn id="49" presetID="10" presetClass="entr" presetSubtype="0" fill="hold"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500"/>
                                        <p:tgtEl>
                                          <p:spTgt spid="35"/>
                                        </p:tgtEl>
                                      </p:cBhvr>
                                    </p:animEffect>
                                  </p:childTnLst>
                                </p:cTn>
                              </p:par>
                              <p:par>
                                <p:cTn id="52" presetID="10" presetClass="entr" presetSubtype="0" fill="hold" nodeType="with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fade">
                                      <p:cBhvr>
                                        <p:cTn id="5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9" grpId="0" animBg="1"/>
      <p:bldP spid="20" grpId="0" animBg="1"/>
      <p:bldP spid="21" grpId="0" animBg="1"/>
      <p:bldP spid="22" grpId="0" animBg="1"/>
      <p:bldP spid="23"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5FF6D46-4A7D-67F1-F740-DE5D6378E4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1AECF-C67D-2ED5-951B-5D27C9FB28CF}"/>
              </a:ext>
            </a:extLst>
          </p:cNvPr>
          <p:cNvSpPr>
            <a:spLocks noGrp="1"/>
          </p:cNvSpPr>
          <p:nvPr>
            <p:ph type="title"/>
          </p:nvPr>
        </p:nvSpPr>
        <p:spPr/>
        <p:txBody>
          <a:bodyPr/>
          <a:lstStyle/>
          <a:p>
            <a:r>
              <a:rPr lang="en-GB">
                <a:latin typeface="Gill Sans MT"/>
                <a:cs typeface="Gill Sans"/>
              </a:rPr>
              <a:t>Event driven </a:t>
            </a:r>
            <a:r>
              <a:rPr lang="en-GB" err="1">
                <a:latin typeface="Gill Sans MT"/>
                <a:cs typeface="Gill Sans"/>
              </a:rPr>
              <a:t>datapath</a:t>
            </a:r>
            <a:r>
              <a:rPr lang="en-GB">
                <a:latin typeface="Gill Sans MT"/>
                <a:cs typeface="Gill Sans"/>
              </a:rPr>
              <a:t> validation</a:t>
            </a:r>
            <a:endParaRPr lang="en-GB"/>
          </a:p>
        </p:txBody>
      </p:sp>
      <p:sp>
        <p:nvSpPr>
          <p:cNvPr id="4" name="Slide Number Placeholder 3">
            <a:extLst>
              <a:ext uri="{FF2B5EF4-FFF2-40B4-BE49-F238E27FC236}">
                <a16:creationId xmlns:a16="http://schemas.microsoft.com/office/drawing/2014/main" id="{2E9735D6-9F6D-4C84-BF66-443AB49CB5BD}"/>
              </a:ext>
            </a:extLst>
          </p:cNvPr>
          <p:cNvSpPr>
            <a:spLocks noGrp="1"/>
          </p:cNvSpPr>
          <p:nvPr>
            <p:ph type="sldNum" sz="quarter" idx="12"/>
          </p:nvPr>
        </p:nvSpPr>
        <p:spPr/>
        <p:txBody>
          <a:bodyPr/>
          <a:lstStyle/>
          <a:p>
            <a:fld id="{8836216C-5BC3-7C44-80F8-E30864FFC228}" type="slidenum">
              <a:rPr lang="en-US" smtClean="0"/>
              <a:t>59</a:t>
            </a:fld>
            <a:endParaRPr lang="en-US"/>
          </a:p>
        </p:txBody>
      </p:sp>
      <p:sp>
        <p:nvSpPr>
          <p:cNvPr id="5" name="Text Placeholder 4">
            <a:extLst>
              <a:ext uri="{FF2B5EF4-FFF2-40B4-BE49-F238E27FC236}">
                <a16:creationId xmlns:a16="http://schemas.microsoft.com/office/drawing/2014/main" id="{7745BFA9-7A4B-26EF-0C8E-7A416D78614E}"/>
              </a:ext>
            </a:extLst>
          </p:cNvPr>
          <p:cNvSpPr>
            <a:spLocks noGrp="1"/>
          </p:cNvSpPr>
          <p:nvPr>
            <p:ph type="body" sz="quarter" idx="13"/>
          </p:nvPr>
        </p:nvSpPr>
        <p:spPr/>
        <p:txBody>
          <a:bodyPr/>
          <a:lstStyle/>
          <a:p>
            <a:r>
              <a:rPr lang="en-GB">
                <a:latin typeface="Gill Sans MT"/>
                <a:cs typeface="Gill Sans"/>
              </a:rPr>
              <a:t>Events, weights, partial sum and output </a:t>
            </a:r>
            <a:r>
              <a:rPr lang="en-GB" err="1">
                <a:latin typeface="Gill Sans MT"/>
                <a:cs typeface="Gill Sans"/>
              </a:rPr>
              <a:t>datapaths</a:t>
            </a:r>
          </a:p>
        </p:txBody>
      </p:sp>
      <p:cxnSp>
        <p:nvCxnSpPr>
          <p:cNvPr id="6" name="Straight Arrow Connector 5">
            <a:extLst>
              <a:ext uri="{FF2B5EF4-FFF2-40B4-BE49-F238E27FC236}">
                <a16:creationId xmlns:a16="http://schemas.microsoft.com/office/drawing/2014/main" id="{EF913705-3761-30CC-F348-894B81C3AF2E}"/>
              </a:ext>
            </a:extLst>
          </p:cNvPr>
          <p:cNvCxnSpPr/>
          <p:nvPr/>
        </p:nvCxnSpPr>
        <p:spPr>
          <a:xfrm>
            <a:off x="4564856" y="1385888"/>
            <a:ext cx="7145" cy="3271837"/>
          </a:xfrm>
          <a:prstGeom prst="straightConnector1">
            <a:avLst/>
          </a:prstGeom>
          <a:ln w="3175" cmpd="sng">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4BED485D-7A1F-8CC0-9E57-9F95EB428C1B}"/>
              </a:ext>
            </a:extLst>
          </p:cNvPr>
          <p:cNvSpPr/>
          <p:nvPr/>
        </p:nvSpPr>
        <p:spPr>
          <a:xfrm>
            <a:off x="2143125" y="1771651"/>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chemeClr val="tx1"/>
                </a:solidFill>
                <a:ea typeface="+mn-lt"/>
                <a:cs typeface="+mn-lt"/>
              </a:rPr>
              <a:t>NPE Register</a:t>
            </a:r>
            <a:endParaRPr lang="en-US" sz="1000">
              <a:solidFill>
                <a:schemeClr val="tx1"/>
              </a:solidFill>
            </a:endParaRPr>
          </a:p>
        </p:txBody>
      </p:sp>
      <p:sp>
        <p:nvSpPr>
          <p:cNvPr id="14" name="Rectangle: Rounded Corners 13">
            <a:extLst>
              <a:ext uri="{FF2B5EF4-FFF2-40B4-BE49-F238E27FC236}">
                <a16:creationId xmlns:a16="http://schemas.microsoft.com/office/drawing/2014/main" id="{B6A0B748-2875-34A4-BC58-AEB3A01E8F84}"/>
              </a:ext>
            </a:extLst>
          </p:cNvPr>
          <p:cNvSpPr/>
          <p:nvPr/>
        </p:nvSpPr>
        <p:spPr>
          <a:xfrm>
            <a:off x="2143125" y="2243137"/>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Event Generator</a:t>
            </a:r>
            <a:endParaRPr lang="en-US" sz="1000"/>
          </a:p>
        </p:txBody>
      </p:sp>
      <p:sp>
        <p:nvSpPr>
          <p:cNvPr id="15" name="Rectangle: Rounded Corners 14">
            <a:extLst>
              <a:ext uri="{FF2B5EF4-FFF2-40B4-BE49-F238E27FC236}">
                <a16:creationId xmlns:a16="http://schemas.microsoft.com/office/drawing/2014/main" id="{B12E5344-FEA6-1E48-AF80-7CB3C58A81A8}"/>
              </a:ext>
            </a:extLst>
          </p:cNvPr>
          <p:cNvSpPr/>
          <p:nvPr/>
        </p:nvSpPr>
        <p:spPr>
          <a:xfrm>
            <a:off x="2143125" y="2757486"/>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Output FIFO</a:t>
            </a:r>
            <a:endParaRPr lang="en-US" sz="1000"/>
          </a:p>
        </p:txBody>
      </p:sp>
      <p:sp>
        <p:nvSpPr>
          <p:cNvPr id="19" name="Rectangle: Rounded Corners 18">
            <a:extLst>
              <a:ext uri="{FF2B5EF4-FFF2-40B4-BE49-F238E27FC236}">
                <a16:creationId xmlns:a16="http://schemas.microsoft.com/office/drawing/2014/main" id="{BC9B2C4F-D4CD-51A2-00EE-735D7D910DDB}"/>
              </a:ext>
            </a:extLst>
          </p:cNvPr>
          <p:cNvSpPr/>
          <p:nvPr/>
        </p:nvSpPr>
        <p:spPr>
          <a:xfrm>
            <a:off x="6079331" y="2757486"/>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SRAM</a:t>
            </a:r>
          </a:p>
        </p:txBody>
      </p:sp>
      <p:sp>
        <p:nvSpPr>
          <p:cNvPr id="21" name="Rectangle: Rounded Corners 20">
            <a:extLst>
              <a:ext uri="{FF2B5EF4-FFF2-40B4-BE49-F238E27FC236}">
                <a16:creationId xmlns:a16="http://schemas.microsoft.com/office/drawing/2014/main" id="{CD9E4DD1-C538-C3D4-AC53-CDC55AA1F258}"/>
              </a:ext>
            </a:extLst>
          </p:cNvPr>
          <p:cNvSpPr/>
          <p:nvPr/>
        </p:nvSpPr>
        <p:spPr>
          <a:xfrm>
            <a:off x="5974681" y="3882624"/>
            <a:ext cx="1473741" cy="350043"/>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err="1">
                <a:solidFill>
                  <a:srgbClr val="3C3C3B"/>
                </a:solidFill>
                <a:ea typeface="+mn-lt"/>
                <a:cs typeface="+mn-lt"/>
              </a:rPr>
              <a:t>NOC_inputs_outputs</a:t>
            </a:r>
            <a:endParaRPr lang="en-US" sz="1000" err="1"/>
          </a:p>
        </p:txBody>
      </p:sp>
      <p:sp>
        <p:nvSpPr>
          <p:cNvPr id="3" name="Rectangle: Rounded Corners 2">
            <a:extLst>
              <a:ext uri="{FF2B5EF4-FFF2-40B4-BE49-F238E27FC236}">
                <a16:creationId xmlns:a16="http://schemas.microsoft.com/office/drawing/2014/main" id="{A2555C75-5574-17D4-5AB5-96E0546ECF40}"/>
              </a:ext>
            </a:extLst>
          </p:cNvPr>
          <p:cNvSpPr/>
          <p:nvPr/>
        </p:nvSpPr>
        <p:spPr>
          <a:xfrm>
            <a:off x="2143125" y="3328985"/>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RISC-V</a:t>
            </a:r>
            <a:endParaRPr lang="en-US" sz="1000"/>
          </a:p>
        </p:txBody>
      </p:sp>
      <p:sp>
        <p:nvSpPr>
          <p:cNvPr id="16" name="Rectangle: Rounded Corners 15">
            <a:extLst>
              <a:ext uri="{FF2B5EF4-FFF2-40B4-BE49-F238E27FC236}">
                <a16:creationId xmlns:a16="http://schemas.microsoft.com/office/drawing/2014/main" id="{7AFF1FD2-EB3E-A637-90EC-A111873435FE}"/>
              </a:ext>
            </a:extLst>
          </p:cNvPr>
          <p:cNvSpPr/>
          <p:nvPr/>
        </p:nvSpPr>
        <p:spPr>
          <a:xfrm>
            <a:off x="2143125" y="3882624"/>
            <a:ext cx="1264443" cy="285750"/>
          </a:xfrm>
          <a:prstGeom prst="round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3C3C3B"/>
                </a:solidFill>
                <a:ea typeface="+mn-lt"/>
                <a:cs typeface="+mn-lt"/>
              </a:rPr>
              <a:t>NoC</a:t>
            </a:r>
            <a:endParaRPr lang="en-US" sz="1000"/>
          </a:p>
        </p:txBody>
      </p:sp>
      <p:sp>
        <p:nvSpPr>
          <p:cNvPr id="17" name="Rectangle 16">
            <a:extLst>
              <a:ext uri="{FF2B5EF4-FFF2-40B4-BE49-F238E27FC236}">
                <a16:creationId xmlns:a16="http://schemas.microsoft.com/office/drawing/2014/main" id="{40C1E676-8C03-FB5E-9354-3DC0D7CB9BA8}"/>
              </a:ext>
            </a:extLst>
          </p:cNvPr>
          <p:cNvSpPr/>
          <p:nvPr/>
        </p:nvSpPr>
        <p:spPr>
          <a:xfrm>
            <a:off x="157162" y="2057400"/>
            <a:ext cx="1050131"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Inputs</a:t>
            </a:r>
          </a:p>
        </p:txBody>
      </p:sp>
      <p:sp>
        <p:nvSpPr>
          <p:cNvPr id="18" name="Rectangle 17">
            <a:extLst>
              <a:ext uri="{FF2B5EF4-FFF2-40B4-BE49-F238E27FC236}">
                <a16:creationId xmlns:a16="http://schemas.microsoft.com/office/drawing/2014/main" id="{295C3361-E0B6-4C70-7A3B-DB7B6432A29F}"/>
              </a:ext>
            </a:extLst>
          </p:cNvPr>
          <p:cNvSpPr/>
          <p:nvPr/>
        </p:nvSpPr>
        <p:spPr>
          <a:xfrm>
            <a:off x="157161" y="2571750"/>
            <a:ext cx="1050131"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Weights</a:t>
            </a:r>
          </a:p>
        </p:txBody>
      </p:sp>
      <p:sp>
        <p:nvSpPr>
          <p:cNvPr id="20" name="Rectangle 19">
            <a:extLst>
              <a:ext uri="{FF2B5EF4-FFF2-40B4-BE49-F238E27FC236}">
                <a16:creationId xmlns:a16="http://schemas.microsoft.com/office/drawing/2014/main" id="{561B5C2F-2D47-45FE-FBD2-8935E81947ED}"/>
              </a:ext>
            </a:extLst>
          </p:cNvPr>
          <p:cNvSpPr/>
          <p:nvPr/>
        </p:nvSpPr>
        <p:spPr>
          <a:xfrm>
            <a:off x="157160" y="3093244"/>
            <a:ext cx="1050131" cy="300038"/>
          </a:xfrm>
          <a:prstGeom prst="rect">
            <a:avLst/>
          </a:prstGeom>
          <a:no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000">
                <a:solidFill>
                  <a:srgbClr val="929497"/>
                </a:solidFill>
              </a:rPr>
              <a:t>Partial Sums</a:t>
            </a:r>
          </a:p>
        </p:txBody>
      </p:sp>
      <p:sp>
        <p:nvSpPr>
          <p:cNvPr id="22" name="Rectangle 21">
            <a:extLst>
              <a:ext uri="{FF2B5EF4-FFF2-40B4-BE49-F238E27FC236}">
                <a16:creationId xmlns:a16="http://schemas.microsoft.com/office/drawing/2014/main" id="{AA8C38A5-CB8A-15DA-62F7-515765717C8C}"/>
              </a:ext>
            </a:extLst>
          </p:cNvPr>
          <p:cNvSpPr/>
          <p:nvPr/>
        </p:nvSpPr>
        <p:spPr>
          <a:xfrm>
            <a:off x="157159" y="3614737"/>
            <a:ext cx="1050131" cy="300038"/>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00">
                <a:solidFill>
                  <a:schemeClr val="tx1"/>
                </a:solidFill>
              </a:rPr>
              <a:t>Outputs</a:t>
            </a:r>
          </a:p>
        </p:txBody>
      </p:sp>
      <p:sp>
        <p:nvSpPr>
          <p:cNvPr id="23" name="TextBox 22">
            <a:extLst>
              <a:ext uri="{FF2B5EF4-FFF2-40B4-BE49-F238E27FC236}">
                <a16:creationId xmlns:a16="http://schemas.microsoft.com/office/drawing/2014/main" id="{412968C1-F6EB-6693-2E25-5F0AC3985897}"/>
              </a:ext>
            </a:extLst>
          </p:cNvPr>
          <p:cNvSpPr txBox="1"/>
          <p:nvPr/>
        </p:nvSpPr>
        <p:spPr>
          <a:xfrm>
            <a:off x="1583403" y="1142999"/>
            <a:ext cx="2370952" cy="276999"/>
          </a:xfrm>
          <a:prstGeom prst="rect">
            <a:avLst/>
          </a:prstGeom>
          <a:solidFill>
            <a:schemeClr val="tx2">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200"/>
              <a:t>SENECA</a:t>
            </a:r>
            <a:endParaRPr lang="en-GB" sz="1200" err="1"/>
          </a:p>
        </p:txBody>
      </p:sp>
      <p:sp>
        <p:nvSpPr>
          <p:cNvPr id="24" name="TextBox 23">
            <a:extLst>
              <a:ext uri="{FF2B5EF4-FFF2-40B4-BE49-F238E27FC236}">
                <a16:creationId xmlns:a16="http://schemas.microsoft.com/office/drawing/2014/main" id="{393C6EBC-7BAF-E937-9A03-6CA6011F0D32}"/>
              </a:ext>
            </a:extLst>
          </p:cNvPr>
          <p:cNvSpPr txBox="1"/>
          <p:nvPr/>
        </p:nvSpPr>
        <p:spPr>
          <a:xfrm>
            <a:off x="5526753" y="1142998"/>
            <a:ext cx="2370952" cy="276999"/>
          </a:xfrm>
          <a:prstGeom prst="rect">
            <a:avLst/>
          </a:prstGeom>
          <a:solidFill>
            <a:schemeClr val="tx2">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a:defRPr sz="1200"/>
            </a:lvl1pPr>
          </a:lstStyle>
          <a:p>
            <a:r>
              <a:rPr lang="en-GB"/>
              <a:t>AeDAM Implementation</a:t>
            </a:r>
            <a:endParaRPr lang="en-GB" err="1"/>
          </a:p>
        </p:txBody>
      </p:sp>
      <p:cxnSp>
        <p:nvCxnSpPr>
          <p:cNvPr id="26" name="Straight Arrow Connector 25">
            <a:extLst>
              <a:ext uri="{FF2B5EF4-FFF2-40B4-BE49-F238E27FC236}">
                <a16:creationId xmlns:a16="http://schemas.microsoft.com/office/drawing/2014/main" id="{049885F6-E189-ECE0-EB57-0577A3E96D62}"/>
              </a:ext>
            </a:extLst>
          </p:cNvPr>
          <p:cNvCxnSpPr>
            <a:stCxn id="13" idx="2"/>
            <a:endCxn id="14" idx="0"/>
          </p:cNvCxnSpPr>
          <p:nvPr/>
        </p:nvCxnSpPr>
        <p:spPr>
          <a:xfrm>
            <a:off x="2775347" y="2057401"/>
            <a:ext cx="0" cy="185736"/>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1DD14A4D-F98D-841E-3B12-7F76464F3A7C}"/>
              </a:ext>
            </a:extLst>
          </p:cNvPr>
          <p:cNvCxnSpPr>
            <a:stCxn id="14" idx="2"/>
            <a:endCxn id="15" idx="0"/>
          </p:cNvCxnSpPr>
          <p:nvPr/>
        </p:nvCxnSpPr>
        <p:spPr>
          <a:xfrm>
            <a:off x="2775347" y="2528887"/>
            <a:ext cx="0" cy="228599"/>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7FFEEC31-599E-075B-61A8-8205BDC84A39}"/>
              </a:ext>
            </a:extLst>
          </p:cNvPr>
          <p:cNvCxnSpPr>
            <a:stCxn id="15" idx="2"/>
            <a:endCxn id="3" idx="0"/>
          </p:cNvCxnSpPr>
          <p:nvPr/>
        </p:nvCxnSpPr>
        <p:spPr>
          <a:xfrm>
            <a:off x="2775347" y="3043236"/>
            <a:ext cx="0" cy="285749"/>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7C56BF18-9D1C-1620-EDAD-353AD3584156}"/>
              </a:ext>
            </a:extLst>
          </p:cNvPr>
          <p:cNvCxnSpPr>
            <a:stCxn id="3" idx="2"/>
            <a:endCxn id="16" idx="0"/>
          </p:cNvCxnSpPr>
          <p:nvPr/>
        </p:nvCxnSpPr>
        <p:spPr>
          <a:xfrm>
            <a:off x="2775347" y="3614735"/>
            <a:ext cx="0" cy="267889"/>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220D8B23-644C-C510-E3F7-542147CA1D07}"/>
              </a:ext>
            </a:extLst>
          </p:cNvPr>
          <p:cNvCxnSpPr>
            <a:stCxn id="19" idx="2"/>
            <a:endCxn id="21" idx="0"/>
          </p:cNvCxnSpPr>
          <p:nvPr/>
        </p:nvCxnSpPr>
        <p:spPr>
          <a:xfrm flipH="1">
            <a:off x="6711552" y="3043236"/>
            <a:ext cx="1" cy="839388"/>
          </a:xfrm>
          <a:prstGeom prst="straightConnector1">
            <a:avLst/>
          </a:prstGeom>
          <a:ln w="28575" cmpd="sng">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4423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par>
                                <p:cTn id="26" presetID="10" presetClass="entr" presetSubtype="0" fill="hold"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500"/>
                                        <p:tgtEl>
                                          <p:spTgt spid="28"/>
                                        </p:tgtEl>
                                      </p:cBhvr>
                                    </p:animEffect>
                                  </p:childTnLst>
                                </p:cTn>
                              </p:par>
                              <p:par>
                                <p:cTn id="29" presetID="10" presetClass="entr" presetSubtype="0"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par>
                                <p:cTn id="32" presetID="10" presetClass="entr" presetSubtype="0" fill="hold"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500"/>
                                        <p:tgtEl>
                                          <p:spTgt spid="3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6" presetID="10" presetClass="entr" presetSubtype="0" fill="hold"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9" grpId="0" animBg="1"/>
      <p:bldP spid="21" grpId="0" animBg="1"/>
      <p:bldP spid="3" grpId="0" animBg="1"/>
      <p:bldP spid="16" grpId="0" animBg="1"/>
      <p:bldP spid="23" grpId="0" animBg="1"/>
      <p:bldP spid="24"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80B84-6DA5-DFED-B221-F7EBD528BC28}"/>
              </a:ext>
            </a:extLst>
          </p:cNvPr>
          <p:cNvSpPr>
            <a:spLocks noGrp="1"/>
          </p:cNvSpPr>
          <p:nvPr>
            <p:ph type="title"/>
          </p:nvPr>
        </p:nvSpPr>
        <p:spPr/>
        <p:txBody>
          <a:bodyPr/>
          <a:lstStyle/>
          <a:p>
            <a:r>
              <a:rPr lang="en-GB">
                <a:latin typeface="Gill Sans MT"/>
                <a:cs typeface="Gill Sans"/>
              </a:rPr>
              <a:t>Word access Validation</a:t>
            </a:r>
            <a:endParaRPr lang="en-GB"/>
          </a:p>
        </p:txBody>
      </p:sp>
      <p:sp>
        <p:nvSpPr>
          <p:cNvPr id="4" name="Slide Number Placeholder 3">
            <a:extLst>
              <a:ext uri="{FF2B5EF4-FFF2-40B4-BE49-F238E27FC236}">
                <a16:creationId xmlns:a16="http://schemas.microsoft.com/office/drawing/2014/main" id="{9C33D7F3-0013-476D-CD15-263BCD33DE75}"/>
              </a:ext>
            </a:extLst>
          </p:cNvPr>
          <p:cNvSpPr>
            <a:spLocks noGrp="1"/>
          </p:cNvSpPr>
          <p:nvPr>
            <p:ph type="sldNum" sz="quarter" idx="12"/>
          </p:nvPr>
        </p:nvSpPr>
        <p:spPr/>
        <p:txBody>
          <a:bodyPr/>
          <a:lstStyle/>
          <a:p>
            <a:fld id="{8836216C-5BC3-7C44-80F8-E30864FFC228}" type="slidenum">
              <a:rPr lang="en-US" smtClean="0"/>
              <a:t>60</a:t>
            </a:fld>
            <a:endParaRPr lang="en-US"/>
          </a:p>
        </p:txBody>
      </p:sp>
      <p:sp>
        <p:nvSpPr>
          <p:cNvPr id="5" name="Text Placeholder 4">
            <a:extLst>
              <a:ext uri="{FF2B5EF4-FFF2-40B4-BE49-F238E27FC236}">
                <a16:creationId xmlns:a16="http://schemas.microsoft.com/office/drawing/2014/main" id="{AA489A86-09AE-B365-C0B0-73F4429EDA0B}"/>
              </a:ext>
            </a:extLst>
          </p:cNvPr>
          <p:cNvSpPr>
            <a:spLocks noGrp="1"/>
          </p:cNvSpPr>
          <p:nvPr>
            <p:ph type="body" sz="quarter" idx="13"/>
          </p:nvPr>
        </p:nvSpPr>
        <p:spPr/>
        <p:txBody>
          <a:bodyPr/>
          <a:lstStyle/>
          <a:p>
            <a:r>
              <a:rPr lang="en-GB">
                <a:latin typeface="Gill Sans MT"/>
                <a:cs typeface="Gill Sans"/>
              </a:rPr>
              <a:t>Comparison of Manual verification and AeDAM access counts</a:t>
            </a:r>
            <a:endParaRPr lang="en-GB"/>
          </a:p>
        </p:txBody>
      </p:sp>
      <p:sp>
        <p:nvSpPr>
          <p:cNvPr id="7" name="TextBox 6">
            <a:extLst>
              <a:ext uri="{FF2B5EF4-FFF2-40B4-BE49-F238E27FC236}">
                <a16:creationId xmlns:a16="http://schemas.microsoft.com/office/drawing/2014/main" id="{5326EBB6-BB04-541C-F31F-344942A96D9E}"/>
              </a:ext>
            </a:extLst>
          </p:cNvPr>
          <p:cNvSpPr txBox="1"/>
          <p:nvPr/>
        </p:nvSpPr>
        <p:spPr>
          <a:xfrm>
            <a:off x="5562124" y="1197294"/>
            <a:ext cx="3006090" cy="1022806"/>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err="1">
                <a:ea typeface="+mn-lt"/>
                <a:cs typeface="+mn-lt"/>
              </a:rPr>
              <a:t>Word_Accesses</a:t>
            </a:r>
            <a:r>
              <a:rPr lang="en-GB" sz="1200">
                <a:ea typeface="+mn-lt"/>
                <a:cs typeface="+mn-lt"/>
              </a:rPr>
              <a:t> = ⌈(Elements × Precision) /         </a:t>
            </a:r>
            <a:r>
              <a:rPr lang="en-GB" sz="1200" err="1">
                <a:ea typeface="+mn-lt"/>
                <a:cs typeface="+mn-lt"/>
              </a:rPr>
              <a:t>Word_Size</a:t>
            </a:r>
            <a:r>
              <a:rPr lang="en-GB" sz="1200">
                <a:ea typeface="+mn-lt"/>
                <a:cs typeface="+mn-lt"/>
              </a:rPr>
              <a:t>⌉ ×         </a:t>
            </a:r>
            <a:r>
              <a:rPr lang="en-GB" sz="1200" err="1">
                <a:ea typeface="+mn-lt"/>
                <a:cs typeface="+mn-lt"/>
              </a:rPr>
              <a:t>Bandwidth_Efficiency</a:t>
            </a:r>
            <a:r>
              <a:rPr lang="en-GB" sz="1200">
                <a:ea typeface="+mn-lt"/>
                <a:cs typeface="+mn-lt"/>
              </a:rPr>
              <a:t> × </a:t>
            </a:r>
            <a:endParaRPr lang="en-US" err="1">
              <a:ea typeface="+mn-lt"/>
              <a:cs typeface="+mn-lt"/>
            </a:endParaRPr>
          </a:p>
          <a:p>
            <a:r>
              <a:rPr lang="en-GB" sz="1200">
                <a:ea typeface="+mn-lt"/>
                <a:cs typeface="+mn-lt"/>
              </a:rPr>
              <a:t>        Periods × </a:t>
            </a:r>
            <a:endParaRPr lang="en-US" sz="1600">
              <a:ea typeface="+mn-lt"/>
              <a:cs typeface="+mn-lt"/>
            </a:endParaRPr>
          </a:p>
          <a:p>
            <a:r>
              <a:rPr lang="en-GB" sz="1200">
                <a:ea typeface="+mn-lt"/>
                <a:cs typeface="+mn-lt"/>
              </a:rPr>
              <a:t>        </a:t>
            </a:r>
            <a:r>
              <a:rPr lang="en-GB" sz="1200" err="1">
                <a:ea typeface="+mn-lt"/>
                <a:cs typeface="+mn-lt"/>
              </a:rPr>
              <a:t>Spatial_Units</a:t>
            </a:r>
            <a:endParaRPr lang="en-US" sz="1600" err="1"/>
          </a:p>
        </p:txBody>
      </p:sp>
      <p:sp>
        <p:nvSpPr>
          <p:cNvPr id="8" name="TextBox 7">
            <a:extLst>
              <a:ext uri="{FF2B5EF4-FFF2-40B4-BE49-F238E27FC236}">
                <a16:creationId xmlns:a16="http://schemas.microsoft.com/office/drawing/2014/main" id="{E7739D6E-3FEE-FC65-B38E-E58DA2587DE1}"/>
              </a:ext>
            </a:extLst>
          </p:cNvPr>
          <p:cNvSpPr txBox="1"/>
          <p:nvPr/>
        </p:nvSpPr>
        <p:spPr>
          <a:xfrm>
            <a:off x="5560695" y="2315527"/>
            <a:ext cx="3005614"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Calibri"/>
              <a:buChar char="-"/>
            </a:pPr>
            <a:r>
              <a:rPr lang="en-GB" sz="1200"/>
              <a:t>Elements: Data elements moved per period</a:t>
            </a:r>
          </a:p>
          <a:p>
            <a:pPr marL="171450" indent="-171450">
              <a:buFont typeface="Calibri"/>
              <a:buChar char="-"/>
            </a:pPr>
            <a:r>
              <a:rPr lang="en-GB" sz="1200"/>
              <a:t>Precision: Bits per element (8/16/32 bits)</a:t>
            </a:r>
          </a:p>
          <a:p>
            <a:pPr marL="171450" indent="-171450">
              <a:buFont typeface="Calibri"/>
              <a:buChar char="-"/>
            </a:pPr>
            <a:r>
              <a:rPr lang="en-GB" sz="1200" err="1"/>
              <a:t>Word_size</a:t>
            </a:r>
            <a:r>
              <a:rPr lang="en-GB" sz="1200"/>
              <a:t>: </a:t>
            </a:r>
            <a:r>
              <a:rPr lang="en-GB" sz="1200" err="1"/>
              <a:t>Bandwith</a:t>
            </a:r>
            <a:r>
              <a:rPr lang="en-GB" sz="1200"/>
              <a:t> of the memory</a:t>
            </a:r>
          </a:p>
          <a:p>
            <a:pPr marL="171450" indent="-171450">
              <a:buFont typeface="Calibri"/>
              <a:buChar char="-"/>
            </a:pPr>
            <a:r>
              <a:rPr lang="en-GB" sz="1200" err="1"/>
              <a:t>Bandwidth_Efficiency</a:t>
            </a:r>
            <a:r>
              <a:rPr lang="en-GB" sz="1200"/>
              <a:t>: </a:t>
            </a:r>
            <a:r>
              <a:rPr lang="en-GB" sz="1200" err="1"/>
              <a:t>min_bandwidth</a:t>
            </a:r>
            <a:r>
              <a:rPr lang="en-GB" sz="1200"/>
              <a:t>/</a:t>
            </a:r>
            <a:r>
              <a:rPr lang="en-GB" sz="1200" err="1"/>
              <a:t>max_bandwidth</a:t>
            </a:r>
            <a:endParaRPr lang="en-GB" sz="1200"/>
          </a:p>
          <a:p>
            <a:pPr marL="171450" indent="-171450">
              <a:buFont typeface="Calibri"/>
              <a:buChar char="-"/>
            </a:pPr>
            <a:r>
              <a:rPr lang="en-GB" sz="1200" err="1"/>
              <a:t>Spatial_units</a:t>
            </a:r>
            <a:r>
              <a:rPr lang="en-GB" sz="1200"/>
              <a:t>: </a:t>
            </a:r>
            <a:r>
              <a:rPr lang="en-GB" sz="1200" err="1"/>
              <a:t>No.of</a:t>
            </a:r>
            <a:r>
              <a:rPr lang="en-GB" sz="1200"/>
              <a:t> Parallel units</a:t>
            </a:r>
          </a:p>
        </p:txBody>
      </p:sp>
      <p:pic>
        <p:nvPicPr>
          <p:cNvPr id="3" name="Picture 2">
            <a:extLst>
              <a:ext uri="{FF2B5EF4-FFF2-40B4-BE49-F238E27FC236}">
                <a16:creationId xmlns:a16="http://schemas.microsoft.com/office/drawing/2014/main" id="{26173A96-6D00-BF2B-581B-4EA2E43EF099}"/>
              </a:ext>
            </a:extLst>
          </p:cNvPr>
          <p:cNvPicPr>
            <a:picLocks noChangeAspect="1"/>
          </p:cNvPicPr>
          <p:nvPr/>
        </p:nvPicPr>
        <p:blipFill>
          <a:blip r:embed="rId3"/>
          <a:stretch>
            <a:fillRect/>
          </a:stretch>
        </p:blipFill>
        <p:spPr>
          <a:xfrm>
            <a:off x="757506" y="1388582"/>
            <a:ext cx="4415647" cy="2172240"/>
          </a:xfrm>
          <a:prstGeom prst="rect">
            <a:avLst/>
          </a:prstGeom>
        </p:spPr>
      </p:pic>
      <p:sp>
        <p:nvSpPr>
          <p:cNvPr id="6" name="TextBox 5">
            <a:extLst>
              <a:ext uri="{FF2B5EF4-FFF2-40B4-BE49-F238E27FC236}">
                <a16:creationId xmlns:a16="http://schemas.microsoft.com/office/drawing/2014/main" id="{6FA14623-1D90-00C8-C049-F6619F21A599}"/>
              </a:ext>
            </a:extLst>
          </p:cNvPr>
          <p:cNvSpPr txBox="1"/>
          <p:nvPr/>
        </p:nvSpPr>
        <p:spPr>
          <a:xfrm>
            <a:off x="757107" y="3700522"/>
            <a:ext cx="4609817" cy="461665"/>
          </a:xfrm>
          <a:prstGeom prst="rect">
            <a:avLst/>
          </a:prstGeom>
          <a:noFill/>
        </p:spPr>
        <p:txBody>
          <a:bodyPr wrap="square" rtlCol="0">
            <a:spAutoFit/>
          </a:bodyPr>
          <a:lstStyle/>
          <a:p>
            <a:pPr algn="ctr"/>
            <a:r>
              <a:rPr lang="en-US" sz="1200"/>
              <a:t>AeDAM validation against manual verification shows close agreement across memory operations.</a:t>
            </a:r>
            <a:endParaRPr lang="en-NL" sz="1200"/>
          </a:p>
        </p:txBody>
      </p:sp>
    </p:spTree>
    <p:extLst>
      <p:ext uri="{BB962C8B-B14F-4D97-AF65-F5344CB8AC3E}">
        <p14:creationId xmlns:p14="http://schemas.microsoft.com/office/powerpoint/2010/main" val="41183899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6" grpId="0"/>
    </p:bld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E13B415-5DD4-C3F8-855B-2504EE3F10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5925D-F749-7BD2-DD64-A8252C2861A7}"/>
              </a:ext>
            </a:extLst>
          </p:cNvPr>
          <p:cNvSpPr>
            <a:spLocks noGrp="1"/>
          </p:cNvSpPr>
          <p:nvPr>
            <p:ph type="title"/>
          </p:nvPr>
        </p:nvSpPr>
        <p:spPr/>
        <p:txBody>
          <a:bodyPr/>
          <a:lstStyle/>
          <a:p>
            <a:r>
              <a:rPr lang="en-GB">
                <a:latin typeface="Gill Sans MT"/>
                <a:cs typeface="Gill Sans"/>
              </a:rPr>
              <a:t>Latency Validation</a:t>
            </a:r>
            <a:endParaRPr lang="en-GB"/>
          </a:p>
        </p:txBody>
      </p:sp>
      <p:sp>
        <p:nvSpPr>
          <p:cNvPr id="4" name="Slide Number Placeholder 3">
            <a:extLst>
              <a:ext uri="{FF2B5EF4-FFF2-40B4-BE49-F238E27FC236}">
                <a16:creationId xmlns:a16="http://schemas.microsoft.com/office/drawing/2014/main" id="{D332038C-92DB-5F09-ECA1-A1FDA70F8A45}"/>
              </a:ext>
            </a:extLst>
          </p:cNvPr>
          <p:cNvSpPr>
            <a:spLocks noGrp="1"/>
          </p:cNvSpPr>
          <p:nvPr>
            <p:ph type="sldNum" sz="quarter" idx="12"/>
          </p:nvPr>
        </p:nvSpPr>
        <p:spPr/>
        <p:txBody>
          <a:bodyPr/>
          <a:lstStyle/>
          <a:p>
            <a:fld id="{8836216C-5BC3-7C44-80F8-E30864FFC228}" type="slidenum">
              <a:rPr lang="en-US" smtClean="0"/>
              <a:t>61</a:t>
            </a:fld>
            <a:endParaRPr lang="en-US"/>
          </a:p>
        </p:txBody>
      </p:sp>
      <p:sp>
        <p:nvSpPr>
          <p:cNvPr id="5" name="Text Placeholder 4">
            <a:extLst>
              <a:ext uri="{FF2B5EF4-FFF2-40B4-BE49-F238E27FC236}">
                <a16:creationId xmlns:a16="http://schemas.microsoft.com/office/drawing/2014/main" id="{F8D59DD1-9B0E-5551-3F49-CF0A66A2EFEC}"/>
              </a:ext>
            </a:extLst>
          </p:cNvPr>
          <p:cNvSpPr>
            <a:spLocks noGrp="1"/>
          </p:cNvSpPr>
          <p:nvPr>
            <p:ph type="body" sz="quarter" idx="13"/>
          </p:nvPr>
        </p:nvSpPr>
        <p:spPr>
          <a:xfrm>
            <a:off x="160630" y="576315"/>
            <a:ext cx="8753475" cy="369332"/>
          </a:xfrm>
        </p:spPr>
        <p:txBody>
          <a:bodyPr/>
          <a:lstStyle/>
          <a:p>
            <a:r>
              <a:rPr lang="en-GB">
                <a:latin typeface="Gill Sans MT"/>
                <a:cs typeface="Gill Sans"/>
              </a:rPr>
              <a:t>Comparison of Manual verification and AeDAM Latency stats</a:t>
            </a:r>
            <a:endParaRPr lang="en-GB"/>
          </a:p>
        </p:txBody>
      </p:sp>
      <p:sp>
        <p:nvSpPr>
          <p:cNvPr id="8" name="TextBox 7">
            <a:extLst>
              <a:ext uri="{FF2B5EF4-FFF2-40B4-BE49-F238E27FC236}">
                <a16:creationId xmlns:a16="http://schemas.microsoft.com/office/drawing/2014/main" id="{F09E1B24-A7F7-AFF4-7863-E053A8896EF6}"/>
              </a:ext>
            </a:extLst>
          </p:cNvPr>
          <p:cNvSpPr txBox="1"/>
          <p:nvPr/>
        </p:nvSpPr>
        <p:spPr>
          <a:xfrm>
            <a:off x="5447335" y="1285099"/>
            <a:ext cx="3190272" cy="138499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AutoNum type="arabicPeriod"/>
            </a:pPr>
            <a:r>
              <a:rPr lang="en-GB" sz="1200" err="1">
                <a:ea typeface="+mn-lt"/>
                <a:cs typeface="+mn-lt"/>
              </a:rPr>
              <a:t>C_ideal</a:t>
            </a:r>
            <a:r>
              <a:rPr lang="en-GB" sz="1200">
                <a:ea typeface="+mn-lt"/>
                <a:cs typeface="+mn-lt"/>
              </a:rPr>
              <a:t> = ⌈N_MAC / </a:t>
            </a:r>
            <a:r>
              <a:rPr lang="en-GB" sz="1200" err="1">
                <a:ea typeface="+mn-lt"/>
                <a:cs typeface="+mn-lt"/>
              </a:rPr>
              <a:t>N_unit</a:t>
            </a:r>
            <a:r>
              <a:rPr lang="en-GB" sz="1200">
                <a:ea typeface="+mn-lt"/>
                <a:cs typeface="+mn-lt"/>
              </a:rPr>
              <a:t>⌉ × </a:t>
            </a:r>
            <a:r>
              <a:rPr lang="en-GB" sz="1200" err="1">
                <a:ea typeface="+mn-lt"/>
                <a:cs typeface="+mn-lt"/>
              </a:rPr>
              <a:t>C_op</a:t>
            </a:r>
            <a:endParaRPr lang="en-GB" sz="1200">
              <a:ea typeface="+mn-lt"/>
              <a:cs typeface="+mn-lt"/>
            </a:endParaRPr>
          </a:p>
          <a:p>
            <a:pPr marL="228600" indent="-228600">
              <a:buAutoNum type="arabicPeriod"/>
            </a:pPr>
            <a:r>
              <a:rPr lang="en-GB" sz="1200" err="1">
                <a:ea typeface="+mn-lt"/>
                <a:cs typeface="+mn-lt"/>
              </a:rPr>
              <a:t>C_temp</a:t>
            </a:r>
            <a:r>
              <a:rPr lang="en-GB" sz="1200">
                <a:ea typeface="+mn-lt"/>
                <a:cs typeface="+mn-lt"/>
              </a:rPr>
              <a:t> = </a:t>
            </a:r>
            <a:r>
              <a:rPr lang="en-GB" sz="1200" err="1">
                <a:ea typeface="+mn-lt"/>
                <a:cs typeface="+mn-lt"/>
              </a:rPr>
              <a:t>C_map</a:t>
            </a:r>
            <a:r>
              <a:rPr lang="en-GB" sz="1200">
                <a:ea typeface="+mn-lt"/>
                <a:cs typeface="+mn-lt"/>
              </a:rPr>
              <a:t> × </a:t>
            </a:r>
            <a:r>
              <a:rPr lang="en-GB" sz="1200" err="1">
                <a:ea typeface="+mn-lt"/>
                <a:cs typeface="+mn-lt"/>
              </a:rPr>
              <a:t>C_op</a:t>
            </a:r>
            <a:endParaRPr lang="en-GB" sz="1200">
              <a:ea typeface="+mn-lt"/>
              <a:cs typeface="+mn-lt"/>
            </a:endParaRPr>
          </a:p>
          <a:p>
            <a:pPr marL="228600" indent="-228600">
              <a:buAutoNum type="arabicPeriod"/>
            </a:pPr>
            <a:r>
              <a:rPr lang="en-GB" sz="1200" err="1">
                <a:ea typeface="+mn-lt"/>
                <a:cs typeface="+mn-lt"/>
              </a:rPr>
              <a:t>U_spatial</a:t>
            </a:r>
            <a:r>
              <a:rPr lang="en-GB" sz="1200">
                <a:ea typeface="+mn-lt"/>
                <a:cs typeface="+mn-lt"/>
              </a:rPr>
              <a:t> = </a:t>
            </a:r>
            <a:r>
              <a:rPr lang="en-GB" sz="1200" err="1">
                <a:ea typeface="+mn-lt"/>
                <a:cs typeface="+mn-lt"/>
              </a:rPr>
              <a:t>C_ideal</a:t>
            </a:r>
            <a:r>
              <a:rPr lang="en-GB" sz="1200">
                <a:ea typeface="+mn-lt"/>
                <a:cs typeface="+mn-lt"/>
              </a:rPr>
              <a:t> / </a:t>
            </a:r>
            <a:r>
              <a:rPr lang="en-GB" sz="1200" err="1">
                <a:ea typeface="+mn-lt"/>
                <a:cs typeface="+mn-lt"/>
              </a:rPr>
              <a:t>C_temp</a:t>
            </a:r>
            <a:endParaRPr lang="en-GB" sz="1200"/>
          </a:p>
          <a:p>
            <a:pPr marL="228600" indent="-228600">
              <a:buFontTx/>
              <a:buAutoNum type="arabicPeriod"/>
            </a:pPr>
            <a:r>
              <a:rPr lang="en-GB" sz="1200">
                <a:ea typeface="+mn-lt"/>
                <a:cs typeface="+mn-lt"/>
              </a:rPr>
              <a:t>L₀ = </a:t>
            </a:r>
            <a:r>
              <a:rPr lang="en-GB" sz="1200" err="1">
                <a:ea typeface="+mn-lt"/>
                <a:cs typeface="+mn-lt"/>
              </a:rPr>
              <a:t>C_temp</a:t>
            </a:r>
            <a:r>
              <a:rPr lang="en-GB" sz="1200">
                <a:ea typeface="+mn-lt"/>
                <a:cs typeface="+mn-lt"/>
              </a:rPr>
              <a:t> + </a:t>
            </a:r>
            <a:r>
              <a:rPr lang="en-GB" sz="1200" err="1">
                <a:ea typeface="+mn-lt"/>
                <a:cs typeface="+mn-lt"/>
              </a:rPr>
              <a:t>SS_comb</a:t>
            </a:r>
            <a:endParaRPr lang="en-GB" sz="1200" err="1"/>
          </a:p>
          <a:p>
            <a:pPr marL="228600" indent="-228600">
              <a:buFontTx/>
              <a:buAutoNum type="arabicPeriod"/>
            </a:pPr>
            <a:r>
              <a:rPr lang="en-GB" sz="1200">
                <a:ea typeface="+mn-lt"/>
                <a:cs typeface="+mn-lt"/>
              </a:rPr>
              <a:t>L₁ = L₀ + </a:t>
            </a:r>
            <a:r>
              <a:rPr lang="en-GB" sz="1200" err="1">
                <a:ea typeface="+mn-lt"/>
                <a:cs typeface="+mn-lt"/>
              </a:rPr>
              <a:t>C_onload</a:t>
            </a:r>
            <a:endParaRPr lang="en-GB" sz="1200" err="1"/>
          </a:p>
          <a:p>
            <a:pPr marL="228600" indent="-228600">
              <a:buFontTx/>
              <a:buAutoNum type="arabicPeriod"/>
            </a:pPr>
            <a:r>
              <a:rPr lang="en-GB" sz="1200">
                <a:ea typeface="+mn-lt"/>
                <a:cs typeface="+mn-lt"/>
              </a:rPr>
              <a:t>L₂ = L₁ + </a:t>
            </a:r>
            <a:r>
              <a:rPr lang="en-GB" sz="1200" err="1">
                <a:ea typeface="+mn-lt"/>
                <a:cs typeface="+mn-lt"/>
              </a:rPr>
              <a:t>C_offload</a:t>
            </a:r>
            <a:endParaRPr lang="en-GB" sz="1200" err="1"/>
          </a:p>
          <a:p>
            <a:pPr marL="228600" indent="-228600">
              <a:buFontTx/>
              <a:buAutoNum type="arabicPeriod"/>
            </a:pPr>
            <a:r>
              <a:rPr lang="en-GB" sz="1200" err="1">
                <a:ea typeface="+mn-lt"/>
                <a:cs typeface="+mn-lt"/>
              </a:rPr>
              <a:t>U_i</a:t>
            </a:r>
            <a:r>
              <a:rPr lang="en-GB" sz="1200">
                <a:ea typeface="+mn-lt"/>
                <a:cs typeface="+mn-lt"/>
              </a:rPr>
              <a:t> = </a:t>
            </a:r>
            <a:r>
              <a:rPr lang="en-GB" sz="1200" err="1">
                <a:ea typeface="+mn-lt"/>
                <a:cs typeface="+mn-lt"/>
              </a:rPr>
              <a:t>C_ideal</a:t>
            </a:r>
            <a:r>
              <a:rPr lang="en-GB" sz="1200">
                <a:ea typeface="+mn-lt"/>
                <a:cs typeface="+mn-lt"/>
              </a:rPr>
              <a:t> / </a:t>
            </a:r>
            <a:r>
              <a:rPr lang="en-GB" sz="1200" err="1">
                <a:ea typeface="+mn-lt"/>
                <a:cs typeface="+mn-lt"/>
              </a:rPr>
              <a:t>L_i</a:t>
            </a:r>
            <a:r>
              <a:rPr lang="en-GB" sz="1200">
                <a:ea typeface="+mn-lt"/>
                <a:cs typeface="+mn-lt"/>
              </a:rPr>
              <a:t> (</a:t>
            </a:r>
            <a:r>
              <a:rPr lang="en-GB" sz="1200" err="1">
                <a:ea typeface="+mn-lt"/>
                <a:cs typeface="+mn-lt"/>
              </a:rPr>
              <a:t>i</a:t>
            </a:r>
            <a:r>
              <a:rPr lang="en-GB" sz="1200">
                <a:ea typeface="+mn-lt"/>
                <a:cs typeface="+mn-lt"/>
              </a:rPr>
              <a:t> = 0,1,2)</a:t>
            </a:r>
            <a:endParaRPr lang="en-GB" sz="1200"/>
          </a:p>
        </p:txBody>
      </p:sp>
      <p:sp>
        <p:nvSpPr>
          <p:cNvPr id="9" name="TextBox 6">
            <a:extLst>
              <a:ext uri="{FF2B5EF4-FFF2-40B4-BE49-F238E27FC236}">
                <a16:creationId xmlns:a16="http://schemas.microsoft.com/office/drawing/2014/main" id="{6CE842EC-35F6-E9C0-607F-6932F3E6E94A}"/>
              </a:ext>
            </a:extLst>
          </p:cNvPr>
          <p:cNvSpPr txBox="1"/>
          <p:nvPr/>
        </p:nvSpPr>
        <p:spPr>
          <a:xfrm>
            <a:off x="5443794" y="2733932"/>
            <a:ext cx="3577128" cy="193899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11480" rtl="0" eaLnBrk="1" latinLnBrk="0" hangingPunct="1">
              <a:defRPr sz="1620" kern="1200">
                <a:solidFill>
                  <a:schemeClr val="tx1"/>
                </a:solidFill>
                <a:latin typeface="+mn-lt"/>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a:lstStyle>
          <a:p>
            <a:pPr marL="171450" indent="-171450">
              <a:buFont typeface="Calibri"/>
              <a:buChar char="-"/>
            </a:pPr>
            <a:r>
              <a:rPr lang="en-GB" sz="1200">
                <a:ea typeface="+mn-lt"/>
                <a:cs typeface="+mn-lt"/>
              </a:rPr>
              <a:t>N_MAC – total operations in the layer</a:t>
            </a:r>
          </a:p>
          <a:p>
            <a:pPr marL="171450" indent="-171450">
              <a:buFont typeface="Calibri"/>
              <a:buChar char="-"/>
            </a:pPr>
            <a:r>
              <a:rPr lang="en-GB" sz="1200" err="1">
                <a:ea typeface="+mn-lt"/>
                <a:cs typeface="+mn-lt"/>
              </a:rPr>
              <a:t>N_unit</a:t>
            </a:r>
            <a:r>
              <a:rPr lang="en-GB" sz="1200">
                <a:ea typeface="+mn-lt"/>
                <a:cs typeface="+mn-lt"/>
              </a:rPr>
              <a:t> – physical MAC units in the array</a:t>
            </a:r>
          </a:p>
          <a:p>
            <a:pPr marL="171450" indent="-171450">
              <a:buFont typeface="Calibri"/>
              <a:buChar char="-"/>
            </a:pPr>
            <a:r>
              <a:rPr lang="en-GB" sz="1200" err="1">
                <a:ea typeface="+mn-lt"/>
                <a:cs typeface="+mn-lt"/>
              </a:rPr>
              <a:t>C_op</a:t>
            </a:r>
            <a:r>
              <a:rPr lang="en-GB" sz="1200">
                <a:ea typeface="+mn-lt"/>
                <a:cs typeface="+mn-lt"/>
              </a:rPr>
              <a:t> – cycles per single MAC</a:t>
            </a:r>
          </a:p>
          <a:p>
            <a:pPr marL="171450" indent="-171450">
              <a:buFont typeface="Calibri"/>
              <a:buChar char="-"/>
            </a:pPr>
            <a:r>
              <a:rPr lang="en-GB" sz="1200" err="1">
                <a:ea typeface="+mn-lt"/>
                <a:cs typeface="+mn-lt"/>
              </a:rPr>
              <a:t>C_ideal</a:t>
            </a:r>
            <a:r>
              <a:rPr lang="en-GB" sz="1200">
                <a:ea typeface="+mn-lt"/>
                <a:cs typeface="+mn-lt"/>
              </a:rPr>
              <a:t> – Ideal cycles</a:t>
            </a:r>
          </a:p>
          <a:p>
            <a:pPr marL="171450" indent="-171450">
              <a:buFont typeface="Calibri"/>
              <a:buChar char="-"/>
            </a:pPr>
            <a:r>
              <a:rPr lang="en-GB" sz="1200" err="1">
                <a:ea typeface="+mn-lt"/>
                <a:cs typeface="+mn-lt"/>
              </a:rPr>
              <a:t>C_map</a:t>
            </a:r>
            <a:r>
              <a:rPr lang="en-GB" sz="1200">
                <a:ea typeface="+mn-lt"/>
                <a:cs typeface="+mn-lt"/>
              </a:rPr>
              <a:t> – total temporal operations </a:t>
            </a:r>
          </a:p>
          <a:p>
            <a:pPr marL="171450" indent="-171450">
              <a:buFont typeface="Calibri"/>
              <a:buChar char="-"/>
            </a:pPr>
            <a:r>
              <a:rPr lang="en-GB" sz="1200" err="1">
                <a:ea typeface="+mn-lt"/>
                <a:cs typeface="+mn-lt"/>
              </a:rPr>
              <a:t>SS_comb</a:t>
            </a:r>
            <a:r>
              <a:rPr lang="en-GB" sz="1200">
                <a:ea typeface="+mn-lt"/>
                <a:cs typeface="+mn-lt"/>
              </a:rPr>
              <a:t> – combined stall/slack from all memory ports</a:t>
            </a:r>
          </a:p>
          <a:p>
            <a:pPr marL="171450" indent="-171450">
              <a:buFont typeface="Calibri"/>
              <a:buChar char="-"/>
            </a:pPr>
            <a:r>
              <a:rPr lang="en-GB" sz="1200">
                <a:ea typeface="+mn-lt"/>
                <a:cs typeface="+mn-lt"/>
              </a:rPr>
              <a:t>L0: Total computational latency with stalls</a:t>
            </a:r>
          </a:p>
          <a:p>
            <a:pPr marL="171450" indent="-171450">
              <a:buFont typeface="Calibri"/>
              <a:buChar char="-"/>
            </a:pPr>
            <a:r>
              <a:rPr lang="en-GB" sz="1200">
                <a:ea typeface="+mn-lt"/>
                <a:cs typeface="+mn-lt"/>
              </a:rPr>
              <a:t>L2: Overall latency (onloading, offloading, computation)</a:t>
            </a:r>
          </a:p>
        </p:txBody>
      </p:sp>
      <p:pic>
        <p:nvPicPr>
          <p:cNvPr id="3" name="Picture 2" descr="A graph showing data loading and data loading&#10;&#10;AI-generated content may be incorrect.">
            <a:extLst>
              <a:ext uri="{FF2B5EF4-FFF2-40B4-BE49-F238E27FC236}">
                <a16:creationId xmlns:a16="http://schemas.microsoft.com/office/drawing/2014/main" id="{FB914B5A-A35F-D793-2628-24B2008387BD}"/>
              </a:ext>
            </a:extLst>
          </p:cNvPr>
          <p:cNvPicPr>
            <a:picLocks noChangeAspect="1"/>
          </p:cNvPicPr>
          <p:nvPr/>
        </p:nvPicPr>
        <p:blipFill>
          <a:blip r:embed="rId2"/>
          <a:stretch>
            <a:fillRect/>
          </a:stretch>
        </p:blipFill>
        <p:spPr>
          <a:xfrm>
            <a:off x="426407" y="1260979"/>
            <a:ext cx="4577393" cy="2505255"/>
          </a:xfrm>
          <a:prstGeom prst="rect">
            <a:avLst/>
          </a:prstGeom>
        </p:spPr>
      </p:pic>
      <p:sp>
        <p:nvSpPr>
          <p:cNvPr id="6" name="TextBox 5">
            <a:extLst>
              <a:ext uri="{FF2B5EF4-FFF2-40B4-BE49-F238E27FC236}">
                <a16:creationId xmlns:a16="http://schemas.microsoft.com/office/drawing/2014/main" id="{F1143784-0D23-C566-BC3B-5484B599AB73}"/>
              </a:ext>
            </a:extLst>
          </p:cNvPr>
          <p:cNvSpPr txBox="1"/>
          <p:nvPr/>
        </p:nvSpPr>
        <p:spPr>
          <a:xfrm>
            <a:off x="432707" y="3878036"/>
            <a:ext cx="4571093" cy="461665"/>
          </a:xfrm>
          <a:prstGeom prst="rect">
            <a:avLst/>
          </a:prstGeom>
          <a:noFill/>
        </p:spPr>
        <p:txBody>
          <a:bodyPr wrap="square" rtlCol="0">
            <a:spAutoFit/>
          </a:bodyPr>
          <a:lstStyle/>
          <a:p>
            <a:pPr algn="ctr"/>
            <a:r>
              <a:rPr lang="en-US" sz="1200"/>
              <a:t>Manual vs AeDAM latency comparison showing validated true cycles (10,838,016) with perfect agreement.</a:t>
            </a:r>
            <a:endParaRPr lang="en-NL" sz="1200" err="1"/>
          </a:p>
        </p:txBody>
      </p:sp>
    </p:spTree>
    <p:extLst>
      <p:ext uri="{BB962C8B-B14F-4D97-AF65-F5344CB8AC3E}">
        <p14:creationId xmlns:p14="http://schemas.microsoft.com/office/powerpoint/2010/main" val="21702657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86708-EE4A-268D-7324-BFDD8FB2FEE8}"/>
              </a:ext>
            </a:extLst>
          </p:cNvPr>
          <p:cNvSpPr>
            <a:spLocks noGrp="1"/>
          </p:cNvSpPr>
          <p:nvPr>
            <p:ph type="title"/>
          </p:nvPr>
        </p:nvSpPr>
        <p:spPr/>
        <p:txBody>
          <a:bodyPr/>
          <a:lstStyle/>
          <a:p>
            <a:r>
              <a:rPr lang="en-GB">
                <a:latin typeface="Gill Sans MT"/>
                <a:cs typeface="Gill Sans"/>
              </a:rPr>
              <a:t>Energy Validation</a:t>
            </a:r>
            <a:endParaRPr lang="en-GB"/>
          </a:p>
        </p:txBody>
      </p:sp>
      <p:sp>
        <p:nvSpPr>
          <p:cNvPr id="4" name="Slide Number Placeholder 3">
            <a:extLst>
              <a:ext uri="{FF2B5EF4-FFF2-40B4-BE49-F238E27FC236}">
                <a16:creationId xmlns:a16="http://schemas.microsoft.com/office/drawing/2014/main" id="{EC2DD9AF-51EC-D087-C5DA-B3C85D2715A9}"/>
              </a:ext>
            </a:extLst>
          </p:cNvPr>
          <p:cNvSpPr>
            <a:spLocks noGrp="1"/>
          </p:cNvSpPr>
          <p:nvPr>
            <p:ph type="sldNum" sz="quarter" idx="12"/>
          </p:nvPr>
        </p:nvSpPr>
        <p:spPr/>
        <p:txBody>
          <a:bodyPr/>
          <a:lstStyle/>
          <a:p>
            <a:fld id="{8836216C-5BC3-7C44-80F8-E30864FFC228}" type="slidenum">
              <a:rPr lang="en-US" smtClean="0"/>
              <a:t>62</a:t>
            </a:fld>
            <a:endParaRPr lang="en-US"/>
          </a:p>
        </p:txBody>
      </p:sp>
      <p:sp>
        <p:nvSpPr>
          <p:cNvPr id="5" name="Text Placeholder 4">
            <a:extLst>
              <a:ext uri="{FF2B5EF4-FFF2-40B4-BE49-F238E27FC236}">
                <a16:creationId xmlns:a16="http://schemas.microsoft.com/office/drawing/2014/main" id="{A30792BB-7F78-A3A9-1BFC-506708C1DDE6}"/>
              </a:ext>
            </a:extLst>
          </p:cNvPr>
          <p:cNvSpPr>
            <a:spLocks noGrp="1"/>
          </p:cNvSpPr>
          <p:nvPr>
            <p:ph type="body" sz="quarter" idx="13"/>
          </p:nvPr>
        </p:nvSpPr>
        <p:spPr>
          <a:xfrm>
            <a:off x="160630" y="576315"/>
            <a:ext cx="8753475" cy="369332"/>
          </a:xfrm>
        </p:spPr>
        <p:txBody>
          <a:bodyPr/>
          <a:lstStyle/>
          <a:p>
            <a:r>
              <a:rPr lang="en-GB">
                <a:latin typeface="Gill Sans MT"/>
                <a:cs typeface="Gill Sans"/>
              </a:rPr>
              <a:t>Comparison of Manual verification and AeDAM Energy stats</a:t>
            </a:r>
            <a:endParaRPr lang="en-GB"/>
          </a:p>
        </p:txBody>
      </p:sp>
      <p:sp>
        <p:nvSpPr>
          <p:cNvPr id="3" name="TextBox 2">
            <a:extLst>
              <a:ext uri="{FF2B5EF4-FFF2-40B4-BE49-F238E27FC236}">
                <a16:creationId xmlns:a16="http://schemas.microsoft.com/office/drawing/2014/main" id="{35F0C1EC-6853-CC24-BD40-850ADE906993}"/>
              </a:ext>
            </a:extLst>
          </p:cNvPr>
          <p:cNvSpPr txBox="1"/>
          <p:nvPr/>
        </p:nvSpPr>
        <p:spPr>
          <a:xfrm>
            <a:off x="5208607" y="1265981"/>
            <a:ext cx="3646025" cy="1200329"/>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Dynamic Energy:</a:t>
            </a:r>
            <a:br>
              <a:rPr lang="en-GB" sz="1200"/>
            </a:br>
            <a:r>
              <a:rPr lang="en-GB" sz="1200">
                <a:ea typeface="+mn-lt"/>
                <a:cs typeface="+mn-lt"/>
              </a:rPr>
              <a:t>1.  </a:t>
            </a:r>
            <a:r>
              <a:rPr lang="en-GB" sz="1200" err="1">
                <a:ea typeface="+mn-lt"/>
                <a:cs typeface="+mn-lt"/>
              </a:rPr>
              <a:t>Total_Energy</a:t>
            </a:r>
            <a:r>
              <a:rPr lang="en-GB" sz="1200">
                <a:ea typeface="+mn-lt"/>
                <a:cs typeface="+mn-lt"/>
              </a:rPr>
              <a:t> = </a:t>
            </a:r>
            <a:r>
              <a:rPr lang="en-GB" sz="1200" err="1">
                <a:ea typeface="+mn-lt"/>
                <a:cs typeface="+mn-lt"/>
              </a:rPr>
              <a:t>MAC_Energy</a:t>
            </a:r>
            <a:r>
              <a:rPr lang="en-GB" sz="1200">
                <a:ea typeface="+mn-lt"/>
                <a:cs typeface="+mn-lt"/>
              </a:rPr>
              <a:t> + </a:t>
            </a:r>
            <a:r>
              <a:rPr lang="en-GB" sz="1200" err="1">
                <a:ea typeface="+mn-lt"/>
                <a:cs typeface="+mn-lt"/>
              </a:rPr>
              <a:t>Memory_Energy</a:t>
            </a:r>
            <a:endParaRPr lang="en-GB" sz="1200" err="1"/>
          </a:p>
          <a:p>
            <a:r>
              <a:rPr lang="en-GB" sz="1200">
                <a:ea typeface="+mn-lt"/>
                <a:cs typeface="+mn-lt"/>
              </a:rPr>
              <a:t>2. </a:t>
            </a:r>
            <a:r>
              <a:rPr lang="en-GB" sz="1200" err="1">
                <a:ea typeface="+mn-lt"/>
                <a:cs typeface="+mn-lt"/>
              </a:rPr>
              <a:t>MAC_Energy</a:t>
            </a:r>
            <a:r>
              <a:rPr lang="en-GB" sz="1200">
                <a:ea typeface="+mn-lt"/>
                <a:cs typeface="+mn-lt"/>
              </a:rPr>
              <a:t> = </a:t>
            </a:r>
            <a:r>
              <a:rPr lang="en-GB" sz="1200" err="1">
                <a:ea typeface="+mn-lt"/>
                <a:cs typeface="+mn-lt"/>
              </a:rPr>
              <a:t>Single_MAC_Energy</a:t>
            </a:r>
            <a:r>
              <a:rPr lang="en-GB" sz="1200">
                <a:ea typeface="+mn-lt"/>
                <a:cs typeface="+mn-lt"/>
              </a:rPr>
              <a:t> × </a:t>
            </a:r>
            <a:r>
              <a:rPr lang="en-GB" sz="1200" err="1">
                <a:ea typeface="+mn-lt"/>
                <a:cs typeface="+mn-lt"/>
              </a:rPr>
              <a:t>Total_MAC_Operations</a:t>
            </a:r>
            <a:endParaRPr lang="en-GB" err="1"/>
          </a:p>
          <a:p>
            <a:r>
              <a:rPr lang="en-GB" sz="1200">
                <a:ea typeface="+mn-lt"/>
                <a:cs typeface="+mn-lt"/>
              </a:rPr>
              <a:t>3. </a:t>
            </a:r>
            <a:r>
              <a:rPr lang="en-GB" sz="1200" err="1">
                <a:ea typeface="+mn-lt"/>
                <a:cs typeface="+mn-lt"/>
              </a:rPr>
              <a:t>Memory_Energy</a:t>
            </a:r>
            <a:r>
              <a:rPr lang="en-GB" sz="1200">
                <a:ea typeface="+mn-lt"/>
                <a:cs typeface="+mn-lt"/>
              </a:rPr>
              <a:t> = Σ(</a:t>
            </a:r>
            <a:r>
              <a:rPr lang="en-GB" sz="1200" err="1">
                <a:ea typeface="+mn-lt"/>
                <a:cs typeface="+mn-lt"/>
              </a:rPr>
              <a:t>Read_Energy</a:t>
            </a:r>
            <a:r>
              <a:rPr lang="en-GB" sz="1200">
                <a:ea typeface="+mn-lt"/>
                <a:cs typeface="+mn-lt"/>
              </a:rPr>
              <a:t> + </a:t>
            </a:r>
            <a:r>
              <a:rPr lang="en-GB" sz="1200" err="1">
                <a:ea typeface="+mn-lt"/>
                <a:cs typeface="+mn-lt"/>
              </a:rPr>
              <a:t>Write_Energy</a:t>
            </a:r>
            <a:r>
              <a:rPr lang="en-GB" sz="1200">
                <a:ea typeface="+mn-lt"/>
                <a:cs typeface="+mn-lt"/>
              </a:rPr>
              <a:t>) per level</a:t>
            </a:r>
          </a:p>
        </p:txBody>
      </p:sp>
      <p:sp>
        <p:nvSpPr>
          <p:cNvPr id="6" name="TextBox 5">
            <a:extLst>
              <a:ext uri="{FF2B5EF4-FFF2-40B4-BE49-F238E27FC236}">
                <a16:creationId xmlns:a16="http://schemas.microsoft.com/office/drawing/2014/main" id="{8A212C88-F699-BDD8-1B4C-633C43B67003}"/>
              </a:ext>
            </a:extLst>
          </p:cNvPr>
          <p:cNvSpPr txBox="1"/>
          <p:nvPr/>
        </p:nvSpPr>
        <p:spPr>
          <a:xfrm>
            <a:off x="5209511" y="2570393"/>
            <a:ext cx="3658593"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Calibri"/>
              <a:buChar char="-"/>
            </a:pPr>
            <a:r>
              <a:rPr lang="en-GB" sz="1200" err="1"/>
              <a:t>Read_energy</a:t>
            </a:r>
            <a:r>
              <a:rPr lang="en-GB" sz="1200"/>
              <a:t>: </a:t>
            </a:r>
            <a:r>
              <a:rPr lang="en-GB" sz="1200" err="1"/>
              <a:t>Read_accesss</a:t>
            </a:r>
            <a:r>
              <a:rPr lang="en-GB" sz="1200"/>
              <a:t> * </a:t>
            </a:r>
            <a:r>
              <a:rPr lang="en-GB" sz="1200" err="1"/>
              <a:t>Read_energy_per_access</a:t>
            </a:r>
          </a:p>
          <a:p>
            <a:pPr marL="171450" indent="-171450">
              <a:buFont typeface="Calibri"/>
              <a:buChar char="-"/>
            </a:pPr>
            <a:r>
              <a:rPr lang="en-GB" sz="1200" err="1"/>
              <a:t>Write_energy</a:t>
            </a:r>
            <a:r>
              <a:rPr lang="en-GB" sz="1200"/>
              <a:t>: </a:t>
            </a:r>
            <a:r>
              <a:rPr lang="en-GB" sz="1200" err="1"/>
              <a:t>Write_access</a:t>
            </a:r>
            <a:r>
              <a:rPr lang="en-GB" sz="1200"/>
              <a:t> * </a:t>
            </a:r>
            <a:r>
              <a:rPr lang="en-GB" sz="1200" err="1"/>
              <a:t>Write_energy_per_access</a:t>
            </a:r>
            <a:endParaRPr lang="en-GB" sz="1200"/>
          </a:p>
          <a:p>
            <a:pPr marL="171450" indent="-171450">
              <a:buFont typeface="Calibri"/>
              <a:buChar char="-"/>
            </a:pPr>
            <a:r>
              <a:rPr lang="en-GB" sz="1200"/>
              <a:t>This access energy is across the four directions</a:t>
            </a:r>
          </a:p>
        </p:txBody>
      </p:sp>
      <p:pic>
        <p:nvPicPr>
          <p:cNvPr id="7" name="Picture 6">
            <a:extLst>
              <a:ext uri="{FF2B5EF4-FFF2-40B4-BE49-F238E27FC236}">
                <a16:creationId xmlns:a16="http://schemas.microsoft.com/office/drawing/2014/main" id="{85183E39-708B-32AA-43ED-1A1780F8B58C}"/>
              </a:ext>
            </a:extLst>
          </p:cNvPr>
          <p:cNvPicPr>
            <a:picLocks noChangeAspect="1"/>
          </p:cNvPicPr>
          <p:nvPr/>
        </p:nvPicPr>
        <p:blipFill>
          <a:blip r:embed="rId2"/>
          <a:stretch>
            <a:fillRect/>
          </a:stretch>
        </p:blipFill>
        <p:spPr>
          <a:xfrm>
            <a:off x="280358" y="1185144"/>
            <a:ext cx="4722962" cy="2568335"/>
          </a:xfrm>
          <a:prstGeom prst="rect">
            <a:avLst/>
          </a:prstGeom>
        </p:spPr>
      </p:pic>
      <p:sp>
        <p:nvSpPr>
          <p:cNvPr id="8" name="TextBox 7">
            <a:extLst>
              <a:ext uri="{FF2B5EF4-FFF2-40B4-BE49-F238E27FC236}">
                <a16:creationId xmlns:a16="http://schemas.microsoft.com/office/drawing/2014/main" id="{566ADE7B-5FD2-3433-97D9-FF0E03A1031E}"/>
              </a:ext>
            </a:extLst>
          </p:cNvPr>
          <p:cNvSpPr txBox="1"/>
          <p:nvPr/>
        </p:nvSpPr>
        <p:spPr>
          <a:xfrm>
            <a:off x="375557" y="3853543"/>
            <a:ext cx="4627763" cy="461665"/>
          </a:xfrm>
          <a:prstGeom prst="rect">
            <a:avLst/>
          </a:prstGeom>
          <a:noFill/>
        </p:spPr>
        <p:txBody>
          <a:bodyPr wrap="square" rtlCol="0">
            <a:spAutoFit/>
          </a:bodyPr>
          <a:lstStyle/>
          <a:p>
            <a:pPr algn="ctr"/>
            <a:r>
              <a:rPr lang="en-US" sz="1200"/>
              <a:t>Manual vs AeDAM dynamic energy validation showing close agreement across all components from inputs to MAC operations.</a:t>
            </a:r>
            <a:endParaRPr lang="en-NL" sz="1200" err="1"/>
          </a:p>
        </p:txBody>
      </p:sp>
    </p:spTree>
    <p:extLst>
      <p:ext uri="{BB962C8B-B14F-4D97-AF65-F5344CB8AC3E}">
        <p14:creationId xmlns:p14="http://schemas.microsoft.com/office/powerpoint/2010/main" val="7830179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8" grpId="0"/>
    </p:bld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151DD-F1E2-E9CE-C9C3-58B769701582}"/>
              </a:ext>
            </a:extLst>
          </p:cNvPr>
          <p:cNvSpPr>
            <a:spLocks noGrp="1"/>
          </p:cNvSpPr>
          <p:nvPr>
            <p:ph type="title"/>
          </p:nvPr>
        </p:nvSpPr>
        <p:spPr/>
        <p:txBody>
          <a:bodyPr/>
          <a:lstStyle/>
          <a:p>
            <a:r>
              <a:rPr lang="en-GB">
                <a:latin typeface="Gill Sans MT"/>
                <a:cs typeface="Gill Sans"/>
              </a:rPr>
              <a:t>Detailed analysis of each of the cost model</a:t>
            </a:r>
            <a:endParaRPr lang="en-GB"/>
          </a:p>
        </p:txBody>
      </p:sp>
      <p:sp>
        <p:nvSpPr>
          <p:cNvPr id="4" name="Slide Number Placeholder 3">
            <a:extLst>
              <a:ext uri="{FF2B5EF4-FFF2-40B4-BE49-F238E27FC236}">
                <a16:creationId xmlns:a16="http://schemas.microsoft.com/office/drawing/2014/main" id="{3713DDEB-75E2-2E42-344F-EAA6C6347B57}"/>
              </a:ext>
            </a:extLst>
          </p:cNvPr>
          <p:cNvSpPr>
            <a:spLocks noGrp="1"/>
          </p:cNvSpPr>
          <p:nvPr>
            <p:ph type="sldNum" sz="quarter" idx="12"/>
          </p:nvPr>
        </p:nvSpPr>
        <p:spPr/>
        <p:txBody>
          <a:bodyPr/>
          <a:lstStyle/>
          <a:p>
            <a:fld id="{8836216C-5BC3-7C44-80F8-E30864FFC228}" type="slidenum">
              <a:rPr lang="en-US" smtClean="0"/>
              <a:t>63</a:t>
            </a:fld>
            <a:endParaRPr lang="en-US"/>
          </a:p>
        </p:txBody>
      </p:sp>
      <p:sp>
        <p:nvSpPr>
          <p:cNvPr id="5" name="Text Placeholder 4">
            <a:extLst>
              <a:ext uri="{FF2B5EF4-FFF2-40B4-BE49-F238E27FC236}">
                <a16:creationId xmlns:a16="http://schemas.microsoft.com/office/drawing/2014/main" id="{9269AB53-3A79-E5C7-77BC-DA9ECE72D898}"/>
              </a:ext>
            </a:extLst>
          </p:cNvPr>
          <p:cNvSpPr>
            <a:spLocks noGrp="1"/>
          </p:cNvSpPr>
          <p:nvPr>
            <p:ph type="body" sz="quarter" idx="13"/>
          </p:nvPr>
        </p:nvSpPr>
        <p:spPr/>
        <p:txBody>
          <a:bodyPr/>
          <a:lstStyle/>
          <a:p>
            <a:endParaRPr lang="en-GB"/>
          </a:p>
        </p:txBody>
      </p:sp>
      <p:sp>
        <p:nvSpPr>
          <p:cNvPr id="7" name="TextBox 6">
            <a:extLst>
              <a:ext uri="{FF2B5EF4-FFF2-40B4-BE49-F238E27FC236}">
                <a16:creationId xmlns:a16="http://schemas.microsoft.com/office/drawing/2014/main" id="{CCCE0581-3809-E3A6-55BF-F1B8B65614A0}"/>
              </a:ext>
            </a:extLst>
          </p:cNvPr>
          <p:cNvSpPr txBox="1"/>
          <p:nvPr/>
        </p:nvSpPr>
        <p:spPr>
          <a:xfrm>
            <a:off x="2714354" y="1163239"/>
            <a:ext cx="3646025" cy="32316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Dynamic Energy:</a:t>
            </a:r>
            <a:br>
              <a:rPr lang="en-GB" sz="1200" dirty="0"/>
            </a:br>
            <a:r>
              <a:rPr lang="en-GB" sz="1200" dirty="0">
                <a:ea typeface="+mn-lt"/>
                <a:cs typeface="+mn-lt"/>
              </a:rPr>
              <a:t>1.  </a:t>
            </a:r>
            <a:r>
              <a:rPr lang="en-GB" sz="1200" dirty="0" err="1">
                <a:ea typeface="+mn-lt"/>
                <a:cs typeface="+mn-lt"/>
              </a:rPr>
              <a:t>Total_Energy</a:t>
            </a:r>
            <a:r>
              <a:rPr lang="en-GB" sz="1200" dirty="0">
                <a:ea typeface="+mn-lt"/>
                <a:cs typeface="+mn-lt"/>
              </a:rPr>
              <a:t> = </a:t>
            </a:r>
            <a:r>
              <a:rPr lang="en-GB" sz="1200" dirty="0" err="1">
                <a:ea typeface="+mn-lt"/>
                <a:cs typeface="+mn-lt"/>
              </a:rPr>
              <a:t>MAC_Energy</a:t>
            </a:r>
            <a:r>
              <a:rPr lang="en-GB" sz="1200" dirty="0">
                <a:ea typeface="+mn-lt"/>
                <a:cs typeface="+mn-lt"/>
              </a:rPr>
              <a:t> + </a:t>
            </a:r>
            <a:r>
              <a:rPr lang="en-GB" sz="1200" dirty="0" err="1">
                <a:ea typeface="+mn-lt"/>
                <a:cs typeface="+mn-lt"/>
              </a:rPr>
              <a:t>Memory_Energy</a:t>
            </a:r>
            <a:endParaRPr lang="en-GB" sz="1200" dirty="0"/>
          </a:p>
          <a:p>
            <a:r>
              <a:rPr lang="en-GB" sz="1200" dirty="0">
                <a:ea typeface="+mn-lt"/>
                <a:cs typeface="+mn-lt"/>
              </a:rPr>
              <a:t>2. </a:t>
            </a:r>
            <a:r>
              <a:rPr lang="en-GB" sz="1200" dirty="0" err="1">
                <a:ea typeface="+mn-lt"/>
                <a:cs typeface="+mn-lt"/>
              </a:rPr>
              <a:t>MAC_Energy</a:t>
            </a:r>
            <a:r>
              <a:rPr lang="en-GB" sz="1200" dirty="0">
                <a:ea typeface="+mn-lt"/>
                <a:cs typeface="+mn-lt"/>
              </a:rPr>
              <a:t> = </a:t>
            </a:r>
            <a:r>
              <a:rPr lang="en-GB" sz="1200" dirty="0" err="1">
                <a:ea typeface="+mn-lt"/>
                <a:cs typeface="+mn-lt"/>
              </a:rPr>
              <a:t>Single_MAC_Energy</a:t>
            </a:r>
            <a:r>
              <a:rPr lang="en-GB" sz="1200" dirty="0">
                <a:ea typeface="+mn-lt"/>
                <a:cs typeface="+mn-lt"/>
              </a:rPr>
              <a:t> × </a:t>
            </a:r>
            <a:r>
              <a:rPr lang="en-GB" sz="1200" dirty="0" err="1">
                <a:ea typeface="+mn-lt"/>
                <a:cs typeface="+mn-lt"/>
              </a:rPr>
              <a:t>Total_MAC_Operations</a:t>
            </a:r>
            <a:endParaRPr lang="en-GB" dirty="0"/>
          </a:p>
          <a:p>
            <a:r>
              <a:rPr lang="en-GB" sz="1200" dirty="0">
                <a:ea typeface="+mn-lt"/>
                <a:cs typeface="+mn-lt"/>
              </a:rPr>
              <a:t>3. </a:t>
            </a:r>
            <a:r>
              <a:rPr lang="en-GB" sz="1200" dirty="0" err="1">
                <a:ea typeface="+mn-lt"/>
                <a:cs typeface="+mn-lt"/>
              </a:rPr>
              <a:t>Memory_Energy</a:t>
            </a:r>
            <a:r>
              <a:rPr lang="en-GB" sz="1200" dirty="0">
                <a:ea typeface="+mn-lt"/>
                <a:cs typeface="+mn-lt"/>
              </a:rPr>
              <a:t> = Σ(</a:t>
            </a:r>
            <a:r>
              <a:rPr lang="en-GB" sz="1200" dirty="0" err="1">
                <a:ea typeface="+mn-lt"/>
                <a:cs typeface="+mn-lt"/>
              </a:rPr>
              <a:t>Read_Energy</a:t>
            </a:r>
            <a:r>
              <a:rPr lang="en-GB" sz="1200" dirty="0">
                <a:ea typeface="+mn-lt"/>
                <a:cs typeface="+mn-lt"/>
              </a:rPr>
              <a:t> + </a:t>
            </a:r>
            <a:r>
              <a:rPr lang="en-GB" sz="1200" dirty="0" err="1">
                <a:ea typeface="+mn-lt"/>
                <a:cs typeface="+mn-lt"/>
              </a:rPr>
              <a:t>Write_Energy</a:t>
            </a:r>
            <a:r>
              <a:rPr lang="en-GB" sz="1200" dirty="0">
                <a:ea typeface="+mn-lt"/>
                <a:cs typeface="+mn-lt"/>
              </a:rPr>
              <a:t>) per level</a:t>
            </a:r>
          </a:p>
          <a:p>
            <a:endParaRPr lang="en-GB" sz="1200" dirty="0"/>
          </a:p>
          <a:p>
            <a:r>
              <a:rPr lang="en-GB" sz="1200" dirty="0"/>
              <a:t>Static Energy:</a:t>
            </a:r>
          </a:p>
          <a:p>
            <a:pPr marL="228600" indent="-228600">
              <a:buAutoNum type="arabicPeriod"/>
            </a:pPr>
            <a:r>
              <a:rPr lang="en-GB" sz="1200" dirty="0" err="1">
                <a:ea typeface="+mn-lt"/>
                <a:cs typeface="+mn-lt"/>
              </a:rPr>
              <a:t>Static_Energy</a:t>
            </a:r>
            <a:r>
              <a:rPr lang="en-GB" sz="1200" dirty="0">
                <a:ea typeface="+mn-lt"/>
                <a:cs typeface="+mn-lt"/>
              </a:rPr>
              <a:t> = </a:t>
            </a:r>
            <a:r>
              <a:rPr lang="en-GB" sz="1200" dirty="0" err="1">
                <a:ea typeface="+mn-lt"/>
                <a:cs typeface="+mn-lt"/>
              </a:rPr>
              <a:t>Total_Static_Power</a:t>
            </a:r>
            <a:r>
              <a:rPr lang="en-GB" sz="1200" dirty="0">
                <a:ea typeface="+mn-lt"/>
                <a:cs typeface="+mn-lt"/>
              </a:rPr>
              <a:t> × </a:t>
            </a:r>
            <a:r>
              <a:rPr lang="en-GB" sz="1200" dirty="0" err="1">
                <a:ea typeface="+mn-lt"/>
                <a:cs typeface="+mn-lt"/>
              </a:rPr>
              <a:t>Total_Execution_Time_with_Idle</a:t>
            </a:r>
            <a:endParaRPr lang="en-GB" dirty="0">
              <a:ea typeface="+mn-lt"/>
              <a:cs typeface="+mn-lt"/>
            </a:endParaRPr>
          </a:p>
          <a:p>
            <a:pPr marL="228600" indent="-228600">
              <a:buAutoNum type="arabicPeriod"/>
            </a:pPr>
            <a:r>
              <a:rPr lang="en-GB" sz="1200" dirty="0" err="1">
                <a:ea typeface="+mn-lt"/>
                <a:cs typeface="+mn-lt"/>
              </a:rPr>
              <a:t>Total_Execution_Time_with_Idle</a:t>
            </a:r>
            <a:r>
              <a:rPr lang="en-GB" sz="1200" dirty="0">
                <a:ea typeface="+mn-lt"/>
                <a:cs typeface="+mn-lt"/>
              </a:rPr>
              <a:t> = (</a:t>
            </a:r>
            <a:r>
              <a:rPr lang="en-GB" sz="1200" dirty="0" err="1">
                <a:ea typeface="+mn-lt"/>
                <a:cs typeface="+mn-lt"/>
              </a:rPr>
              <a:t>Active_Cycles</a:t>
            </a:r>
            <a:r>
              <a:rPr lang="en-GB" sz="1200" dirty="0">
                <a:ea typeface="+mn-lt"/>
                <a:cs typeface="+mn-lt"/>
              </a:rPr>
              <a:t> + </a:t>
            </a:r>
            <a:r>
              <a:rPr lang="en-GB" sz="1200" dirty="0" err="1">
                <a:ea typeface="+mn-lt"/>
                <a:cs typeface="+mn-lt"/>
              </a:rPr>
              <a:t>Idle_Cycles</a:t>
            </a:r>
            <a:r>
              <a:rPr lang="en-GB" sz="1200" dirty="0">
                <a:ea typeface="+mn-lt"/>
                <a:cs typeface="+mn-lt"/>
              </a:rPr>
              <a:t>) / </a:t>
            </a:r>
            <a:r>
              <a:rPr lang="en-GB" sz="1200" dirty="0" err="1">
                <a:ea typeface="+mn-lt"/>
                <a:cs typeface="+mn-lt"/>
              </a:rPr>
              <a:t>Clock_Frequency</a:t>
            </a:r>
            <a:endParaRPr lang="en-GB" sz="1600" dirty="0">
              <a:ea typeface="+mn-lt"/>
              <a:cs typeface="+mn-lt"/>
            </a:endParaRPr>
          </a:p>
          <a:p>
            <a:pPr marL="228600" indent="-228600">
              <a:buAutoNum type="arabicPeriod"/>
            </a:pPr>
            <a:r>
              <a:rPr lang="en-GB" sz="1200" dirty="0" err="1">
                <a:ea typeface="+mn-lt"/>
                <a:cs typeface="+mn-lt"/>
              </a:rPr>
              <a:t>Idle_Cycles</a:t>
            </a:r>
            <a:r>
              <a:rPr lang="en-GB" sz="1200" dirty="0">
                <a:ea typeface="+mn-lt"/>
                <a:cs typeface="+mn-lt"/>
              </a:rPr>
              <a:t> = </a:t>
            </a:r>
            <a:r>
              <a:rPr lang="en-GB" sz="1200" dirty="0" err="1">
                <a:ea typeface="+mn-lt"/>
                <a:cs typeface="+mn-lt"/>
              </a:rPr>
              <a:t>Active_Cycles</a:t>
            </a:r>
            <a:r>
              <a:rPr lang="en-GB" sz="1200" dirty="0">
                <a:ea typeface="+mn-lt"/>
                <a:cs typeface="+mn-lt"/>
              </a:rPr>
              <a:t> × (1 - </a:t>
            </a:r>
            <a:r>
              <a:rPr lang="en-GB" sz="1200" dirty="0" err="1">
                <a:ea typeface="+mn-lt"/>
                <a:cs typeface="+mn-lt"/>
              </a:rPr>
              <a:t>Activity_Factor</a:t>
            </a:r>
            <a:r>
              <a:rPr lang="en-GB" sz="1200" dirty="0">
                <a:ea typeface="+mn-lt"/>
                <a:cs typeface="+mn-lt"/>
              </a:rPr>
              <a:t>) / </a:t>
            </a:r>
            <a:r>
              <a:rPr lang="en-GB" sz="1200" dirty="0" err="1">
                <a:ea typeface="+mn-lt"/>
                <a:cs typeface="+mn-lt"/>
              </a:rPr>
              <a:t>Activity_Factor</a:t>
            </a:r>
            <a:endParaRPr lang="en-GB" sz="1600" dirty="0">
              <a:ea typeface="+mn-lt"/>
              <a:cs typeface="+mn-lt"/>
            </a:endParaRPr>
          </a:p>
          <a:p>
            <a:pPr marL="228600" indent="-228600">
              <a:buAutoNum type="arabicPeriod"/>
            </a:pPr>
            <a:r>
              <a:rPr lang="en-GB" sz="1200" dirty="0" err="1">
                <a:ea typeface="+mn-lt"/>
                <a:cs typeface="+mn-lt"/>
              </a:rPr>
              <a:t>Activity_Factor</a:t>
            </a:r>
            <a:r>
              <a:rPr lang="en-GB" sz="1200" dirty="0">
                <a:ea typeface="+mn-lt"/>
                <a:cs typeface="+mn-lt"/>
              </a:rPr>
              <a:t> = </a:t>
            </a:r>
            <a:r>
              <a:rPr lang="en-GB" sz="1200" dirty="0" err="1">
                <a:ea typeface="+mn-lt"/>
                <a:cs typeface="+mn-lt"/>
              </a:rPr>
              <a:t>ZigZag_MAC_Utilization_with_stalls</a:t>
            </a:r>
            <a:endParaRPr lang="en-GB" sz="1600" dirty="0"/>
          </a:p>
          <a:p>
            <a:endParaRPr lang="en-GB" sz="1200" dirty="0"/>
          </a:p>
        </p:txBody>
      </p:sp>
    </p:spTree>
    <p:extLst>
      <p:ext uri="{BB962C8B-B14F-4D97-AF65-F5344CB8AC3E}">
        <p14:creationId xmlns:p14="http://schemas.microsoft.com/office/powerpoint/2010/main" val="10579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D09CB-C78A-B0F7-19FF-43F3BF11AD21}"/>
              </a:ext>
            </a:extLst>
          </p:cNvPr>
          <p:cNvSpPr>
            <a:spLocks noGrp="1"/>
          </p:cNvSpPr>
          <p:nvPr>
            <p:ph type="title"/>
          </p:nvPr>
        </p:nvSpPr>
        <p:spPr/>
        <p:txBody>
          <a:bodyPr/>
          <a:lstStyle/>
          <a:p>
            <a:r>
              <a:rPr lang="en-GB">
                <a:latin typeface="Gill Sans MT"/>
                <a:cs typeface="Gill Sans"/>
              </a:rPr>
              <a:t>Why the optimised search works ?</a:t>
            </a:r>
            <a:endParaRPr lang="en-GB"/>
          </a:p>
        </p:txBody>
      </p:sp>
      <p:sp>
        <p:nvSpPr>
          <p:cNvPr id="3" name="Content Placeholder 2">
            <a:extLst>
              <a:ext uri="{FF2B5EF4-FFF2-40B4-BE49-F238E27FC236}">
                <a16:creationId xmlns:a16="http://schemas.microsoft.com/office/drawing/2014/main" id="{E9EBC932-2CD5-8316-7BEC-F5882091F3EF}"/>
              </a:ext>
            </a:extLst>
          </p:cNvPr>
          <p:cNvSpPr>
            <a:spLocks noGrp="1"/>
          </p:cNvSpPr>
          <p:nvPr>
            <p:ph idx="1"/>
          </p:nvPr>
        </p:nvSpPr>
        <p:spPr>
          <a:xfrm>
            <a:off x="160631" y="1078230"/>
            <a:ext cx="8753475" cy="616744"/>
          </a:xfrm>
        </p:spPr>
        <p:txBody>
          <a:bodyPr vert="horz" lIns="91440" tIns="45720" rIns="91440" bIns="45720" rtlCol="0" anchor="t">
            <a:normAutofit lnSpcReduction="10000"/>
          </a:bodyPr>
          <a:lstStyle/>
          <a:p>
            <a:pPr marL="0" indent="0">
              <a:buNone/>
            </a:pPr>
            <a:r>
              <a:rPr lang="en-GB" b="1">
                <a:latin typeface="Gill Sans MT"/>
                <a:cs typeface="Gill Sans"/>
              </a:rPr>
              <a:t>Optimisation Criteria</a:t>
            </a:r>
            <a:r>
              <a:rPr lang="en-GB">
                <a:latin typeface="Gill Sans MT"/>
                <a:cs typeface="Gill Sans"/>
              </a:rPr>
              <a:t>: Lump the smallest Loop Prime Factors (LPFs) of the loop type with the most factors while preserving large LPFs individually [1]</a:t>
            </a:r>
            <a:endParaRPr lang="en-GB"/>
          </a:p>
        </p:txBody>
      </p:sp>
      <p:sp>
        <p:nvSpPr>
          <p:cNvPr id="4" name="Slide Number Placeholder 3">
            <a:extLst>
              <a:ext uri="{FF2B5EF4-FFF2-40B4-BE49-F238E27FC236}">
                <a16:creationId xmlns:a16="http://schemas.microsoft.com/office/drawing/2014/main" id="{0383932E-F148-8E15-2EA3-2F9DDB2DF334}"/>
              </a:ext>
            </a:extLst>
          </p:cNvPr>
          <p:cNvSpPr>
            <a:spLocks noGrp="1"/>
          </p:cNvSpPr>
          <p:nvPr>
            <p:ph type="sldNum" sz="quarter" idx="12"/>
          </p:nvPr>
        </p:nvSpPr>
        <p:spPr/>
        <p:txBody>
          <a:bodyPr/>
          <a:lstStyle/>
          <a:p>
            <a:fld id="{8836216C-5BC3-7C44-80F8-E30864FFC228}" type="slidenum">
              <a:rPr lang="en-US" smtClean="0"/>
              <a:t>64</a:t>
            </a:fld>
            <a:endParaRPr lang="en-US"/>
          </a:p>
        </p:txBody>
      </p:sp>
      <p:sp>
        <p:nvSpPr>
          <p:cNvPr id="5" name="Text Placeholder 4">
            <a:extLst>
              <a:ext uri="{FF2B5EF4-FFF2-40B4-BE49-F238E27FC236}">
                <a16:creationId xmlns:a16="http://schemas.microsoft.com/office/drawing/2014/main" id="{A778CBF6-F030-3F1E-CEA8-D4B2CBB81FC8}"/>
              </a:ext>
            </a:extLst>
          </p:cNvPr>
          <p:cNvSpPr>
            <a:spLocks noGrp="1"/>
          </p:cNvSpPr>
          <p:nvPr>
            <p:ph type="body" sz="quarter" idx="13"/>
          </p:nvPr>
        </p:nvSpPr>
        <p:spPr/>
        <p:txBody>
          <a:bodyPr/>
          <a:lstStyle/>
          <a:p>
            <a:r>
              <a:rPr lang="en-GB">
                <a:latin typeface="Gill Sans MT"/>
                <a:cs typeface="Gill Sans"/>
              </a:rPr>
              <a:t>Exhaustive vs AeDAM </a:t>
            </a:r>
            <a:r>
              <a:rPr lang="en-GB" err="1">
                <a:latin typeface="Gill Sans MT"/>
                <a:cs typeface="Gill Sans"/>
              </a:rPr>
              <a:t>mapspace</a:t>
            </a:r>
            <a:endParaRPr lang="en-GB" err="1"/>
          </a:p>
        </p:txBody>
      </p:sp>
      <p:graphicFrame>
        <p:nvGraphicFramePr>
          <p:cNvPr id="6" name="Table 5">
            <a:extLst>
              <a:ext uri="{FF2B5EF4-FFF2-40B4-BE49-F238E27FC236}">
                <a16:creationId xmlns:a16="http://schemas.microsoft.com/office/drawing/2014/main" id="{508726B8-95BE-F562-B74F-1A3516DE1512}"/>
              </a:ext>
            </a:extLst>
          </p:cNvPr>
          <p:cNvGraphicFramePr>
            <a:graphicFrameLocks noGrp="1"/>
          </p:cNvGraphicFramePr>
          <p:nvPr>
            <p:extLst>
              <p:ext uri="{D42A27DB-BD31-4B8C-83A1-F6EECF244321}">
                <p14:modId xmlns:p14="http://schemas.microsoft.com/office/powerpoint/2010/main" val="2996890641"/>
              </p:ext>
            </p:extLst>
          </p:nvPr>
        </p:nvGraphicFramePr>
        <p:xfrm>
          <a:off x="585787" y="1828799"/>
          <a:ext cx="8250633" cy="2382520"/>
        </p:xfrm>
        <a:graphic>
          <a:graphicData uri="http://schemas.openxmlformats.org/drawingml/2006/table">
            <a:tbl>
              <a:tblPr firstRow="1" bandRow="1">
                <a:tableStyleId>{5C22544A-7EE6-4342-B048-85BDC9FD1C3A}</a:tableStyleId>
              </a:tblPr>
              <a:tblGrid>
                <a:gridCol w="1513702">
                  <a:extLst>
                    <a:ext uri="{9D8B030D-6E8A-4147-A177-3AD203B41FA5}">
                      <a16:colId xmlns:a16="http://schemas.microsoft.com/office/drawing/2014/main" val="827591597"/>
                    </a:ext>
                  </a:extLst>
                </a:gridCol>
                <a:gridCol w="2520191">
                  <a:extLst>
                    <a:ext uri="{9D8B030D-6E8A-4147-A177-3AD203B41FA5}">
                      <a16:colId xmlns:a16="http://schemas.microsoft.com/office/drawing/2014/main" val="1907744264"/>
                    </a:ext>
                  </a:extLst>
                </a:gridCol>
                <a:gridCol w="2139262">
                  <a:extLst>
                    <a:ext uri="{9D8B030D-6E8A-4147-A177-3AD203B41FA5}">
                      <a16:colId xmlns:a16="http://schemas.microsoft.com/office/drawing/2014/main" val="4897759"/>
                    </a:ext>
                  </a:extLst>
                </a:gridCol>
                <a:gridCol w="2077478">
                  <a:extLst>
                    <a:ext uri="{9D8B030D-6E8A-4147-A177-3AD203B41FA5}">
                      <a16:colId xmlns:a16="http://schemas.microsoft.com/office/drawing/2014/main" val="3122190461"/>
                    </a:ext>
                  </a:extLst>
                </a:gridCol>
              </a:tblGrid>
              <a:tr h="370840">
                <a:tc>
                  <a:txBody>
                    <a:bodyPr/>
                    <a:lstStyle/>
                    <a:p>
                      <a:pPr algn="ctr"/>
                      <a:r>
                        <a:rPr lang="en-GB" sz="1200" b="1"/>
                        <a:t>Criteria</a:t>
                      </a:r>
                    </a:p>
                  </a:txBody>
                  <a:tcPr/>
                </a:tc>
                <a:tc>
                  <a:txBody>
                    <a:bodyPr/>
                    <a:lstStyle/>
                    <a:p>
                      <a:pPr lvl="0" algn="ctr">
                        <a:buNone/>
                      </a:pPr>
                      <a:r>
                        <a:rPr lang="en-GB" sz="1200" b="1" i="0" u="none" strike="noStrike" noProof="0">
                          <a:latin typeface="Gill Sans MT"/>
                        </a:rPr>
                        <a:t>Small LPFs (2, 2, 3, 5)</a:t>
                      </a:r>
                      <a:endParaRPr lang="en-US" sz="1200" b="1"/>
                    </a:p>
                  </a:txBody>
                  <a:tcPr/>
                </a:tc>
                <a:tc>
                  <a:txBody>
                    <a:bodyPr/>
                    <a:lstStyle/>
                    <a:p>
                      <a:pPr lvl="0" algn="ctr">
                        <a:buNone/>
                      </a:pPr>
                      <a:r>
                        <a:rPr lang="en-GB" sz="1200" b="1" i="0" u="none" strike="noStrike" noProof="0">
                          <a:latin typeface="Gill Sans MT"/>
                        </a:rPr>
                        <a:t>Large LPFs (16, 32, 64, 128)</a:t>
                      </a:r>
                      <a:endParaRPr lang="en-US" sz="1200" b="1"/>
                    </a:p>
                  </a:txBody>
                  <a:tcPr/>
                </a:tc>
                <a:tc>
                  <a:txBody>
                    <a:bodyPr/>
                    <a:lstStyle/>
                    <a:p>
                      <a:pPr lvl="0" algn="ctr">
                        <a:buNone/>
                      </a:pPr>
                      <a:r>
                        <a:rPr lang="en-GB" sz="1200" b="1" i="0" u="none" strike="noStrike" noProof="0">
                          <a:latin typeface="Gill Sans MT"/>
                        </a:rPr>
                        <a:t>Reason</a:t>
                      </a:r>
                    </a:p>
                  </a:txBody>
                  <a:tcPr/>
                </a:tc>
                <a:extLst>
                  <a:ext uri="{0D108BD9-81ED-4DB2-BD59-A6C34878D82A}">
                    <a16:rowId xmlns:a16="http://schemas.microsoft.com/office/drawing/2014/main" val="855168759"/>
                  </a:ext>
                </a:extLst>
              </a:tr>
              <a:tr h="370840">
                <a:tc>
                  <a:txBody>
                    <a:bodyPr/>
                    <a:lstStyle/>
                    <a:p>
                      <a:pPr lvl="0">
                        <a:buNone/>
                      </a:pPr>
                      <a:r>
                        <a:rPr lang="en-GB" sz="1200" b="0" i="0" u="none" strike="noStrike" noProof="0">
                          <a:latin typeface="Gill Sans MT"/>
                        </a:rPr>
                        <a:t>Energy Impact on Final Mapping</a:t>
                      </a:r>
                      <a:endParaRPr lang="en-US" sz="1200"/>
                    </a:p>
                  </a:txBody>
                  <a:tcPr/>
                </a:tc>
                <a:tc>
                  <a:txBody>
                    <a:bodyPr/>
                    <a:lstStyle/>
                    <a:p>
                      <a:pPr lvl="0">
                        <a:buNone/>
                      </a:pPr>
                      <a:r>
                        <a:rPr lang="en-GB" sz="1200" b="0" i="0" u="none" strike="noStrike" noProof="0">
                          <a:latin typeface="Gill Sans MT"/>
                        </a:rPr>
                        <a:t>Minimal contribution to energy savings</a:t>
                      </a:r>
                      <a:endParaRPr lang="en-US" sz="1200"/>
                    </a:p>
                  </a:txBody>
                  <a:tcPr/>
                </a:tc>
                <a:tc>
                  <a:txBody>
                    <a:bodyPr/>
                    <a:lstStyle/>
                    <a:p>
                      <a:pPr lvl="0">
                        <a:buNone/>
                      </a:pPr>
                      <a:r>
                        <a:rPr lang="en-GB" sz="1200" b="0" i="0" u="none" strike="noStrike" noProof="0">
                          <a:latin typeface="Gill Sans MT"/>
                        </a:rPr>
                        <a:t>Major impact on energy consumption</a:t>
                      </a:r>
                      <a:endParaRPr lang="en-US" sz="1200"/>
                    </a:p>
                  </a:txBody>
                  <a:tcPr/>
                </a:tc>
                <a:tc>
                  <a:txBody>
                    <a:bodyPr/>
                    <a:lstStyle/>
                    <a:p>
                      <a:pPr lvl="0">
                        <a:buNone/>
                      </a:pPr>
                      <a:r>
                        <a:rPr lang="en-GB" sz="1200" b="0" i="0" u="none" strike="noStrike" noProof="0">
                          <a:latin typeface="Gill Sans MT"/>
                        </a:rPr>
                        <a:t>Optimal mapping consists of fewer loops of larger iteration size</a:t>
                      </a:r>
                      <a:endParaRPr lang="en-US" sz="1200"/>
                    </a:p>
                  </a:txBody>
                  <a:tcPr/>
                </a:tc>
                <a:extLst>
                  <a:ext uri="{0D108BD9-81ED-4DB2-BD59-A6C34878D82A}">
                    <a16:rowId xmlns:a16="http://schemas.microsoft.com/office/drawing/2014/main" val="4013459240"/>
                  </a:ext>
                </a:extLst>
              </a:tr>
              <a:tr h="370840">
                <a:tc>
                  <a:txBody>
                    <a:bodyPr/>
                    <a:lstStyle/>
                    <a:p>
                      <a:pPr lvl="0">
                        <a:buNone/>
                      </a:pPr>
                      <a:r>
                        <a:rPr lang="en-GB" sz="1200" b="0" i="0" u="none" strike="noStrike" noProof="0">
                          <a:latin typeface="Gill Sans MT"/>
                        </a:rPr>
                        <a:t>Data Reuse Opportunities</a:t>
                      </a:r>
                      <a:endParaRPr lang="en-US" sz="1200"/>
                    </a:p>
                  </a:txBody>
                  <a:tcPr/>
                </a:tc>
                <a:tc>
                  <a:txBody>
                    <a:bodyPr/>
                    <a:lstStyle/>
                    <a:p>
                      <a:pPr lvl="0">
                        <a:buNone/>
                      </a:pPr>
                      <a:r>
                        <a:rPr lang="en-GB" sz="1200" b="0" i="0" u="none" strike="noStrike" noProof="0">
                          <a:latin typeface="Gill Sans MT"/>
                        </a:rPr>
                        <a:t>Limited reuse potential per factor</a:t>
                      </a:r>
                      <a:endParaRPr lang="en-US" sz="1200"/>
                    </a:p>
                  </a:txBody>
                  <a:tcPr/>
                </a:tc>
                <a:tc>
                  <a:txBody>
                    <a:bodyPr/>
                    <a:lstStyle/>
                    <a:p>
                      <a:pPr lvl="0">
                        <a:buNone/>
                      </a:pPr>
                      <a:r>
                        <a:rPr lang="en-GB" sz="1200" b="0" i="0" u="none" strike="noStrike" noProof="0">
                          <a:latin typeface="Gill Sans MT"/>
                        </a:rPr>
                        <a:t>Significant reuse potential</a:t>
                      </a:r>
                      <a:endParaRPr lang="en-US" sz="1200"/>
                    </a:p>
                  </a:txBody>
                  <a:tcPr/>
                </a:tc>
                <a:tc>
                  <a:txBody>
                    <a:bodyPr/>
                    <a:lstStyle/>
                    <a:p>
                      <a:pPr lvl="0">
                        <a:buNone/>
                      </a:pPr>
                      <a:r>
                        <a:rPr lang="en-GB" sz="1200" b="0" i="0" u="none" strike="noStrike" noProof="0">
                          <a:latin typeface="Gill Sans MT"/>
                        </a:rPr>
                        <a:t>Larger loops create more substantial data reuse patterns</a:t>
                      </a:r>
                      <a:endParaRPr lang="en-US" sz="1200"/>
                    </a:p>
                  </a:txBody>
                  <a:tcPr/>
                </a:tc>
                <a:extLst>
                  <a:ext uri="{0D108BD9-81ED-4DB2-BD59-A6C34878D82A}">
                    <a16:rowId xmlns:a16="http://schemas.microsoft.com/office/drawing/2014/main" val="2423408701"/>
                  </a:ext>
                </a:extLst>
              </a:tr>
              <a:tr h="370840">
                <a:tc>
                  <a:txBody>
                    <a:bodyPr/>
                    <a:lstStyle/>
                    <a:p>
                      <a:pPr lvl="0">
                        <a:buNone/>
                      </a:pPr>
                      <a:r>
                        <a:rPr lang="en-GB" sz="1200" b="0" i="0" u="none" strike="noStrike" noProof="0">
                          <a:latin typeface="Gill Sans MT"/>
                        </a:rPr>
                        <a:t>Combinatorial Explosion Source</a:t>
                      </a:r>
                      <a:endParaRPr lang="en-US" sz="1200"/>
                    </a:p>
                  </a:txBody>
                  <a:tcPr/>
                </a:tc>
                <a:tc>
                  <a:txBody>
                    <a:bodyPr/>
                    <a:lstStyle/>
                    <a:p>
                      <a:pPr lvl="0">
                        <a:buNone/>
                      </a:pPr>
                      <a:r>
                        <a:rPr lang="en-GB" sz="1200" b="0" i="0" u="none" strike="noStrike" noProof="0">
                          <a:latin typeface="Gill Sans MT"/>
                        </a:rPr>
                        <a:t>Major contributor to search space explosion</a:t>
                      </a:r>
                      <a:endParaRPr lang="en-US" sz="1200"/>
                    </a:p>
                  </a:txBody>
                  <a:tcPr/>
                </a:tc>
                <a:tc>
                  <a:txBody>
                    <a:bodyPr/>
                    <a:lstStyle/>
                    <a:p>
                      <a:pPr lvl="0">
                        <a:buNone/>
                      </a:pPr>
                      <a:r>
                        <a:rPr lang="en-GB" sz="1200" b="0" i="0" u="none" strike="noStrike" noProof="0">
                          <a:latin typeface="Gill Sans MT"/>
                        </a:rPr>
                        <a:t>Individual preservation manageable</a:t>
                      </a:r>
                      <a:endParaRPr lang="en-US" sz="1200"/>
                    </a:p>
                  </a:txBody>
                  <a:tcPr/>
                </a:tc>
                <a:tc>
                  <a:txBody>
                    <a:bodyPr/>
                    <a:lstStyle/>
                    <a:p>
                      <a:pPr lvl="0">
                        <a:buNone/>
                      </a:pPr>
                      <a:r>
                        <a:rPr lang="en-GB" sz="1200" b="0" i="0" u="none" strike="noStrike" noProof="0">
                          <a:latin typeface="Gill Sans MT"/>
                        </a:rPr>
                        <a:t>10 LPFs: 10! = 3.6M → After lumping: ~12,600 orderings</a:t>
                      </a:r>
                      <a:endParaRPr lang="en-US" sz="1200"/>
                    </a:p>
                  </a:txBody>
                  <a:tcPr/>
                </a:tc>
                <a:extLst>
                  <a:ext uri="{0D108BD9-81ED-4DB2-BD59-A6C34878D82A}">
                    <a16:rowId xmlns:a16="http://schemas.microsoft.com/office/drawing/2014/main" val="2249921055"/>
                  </a:ext>
                </a:extLst>
              </a:tr>
              <a:tr h="370840">
                <a:tc>
                  <a:txBody>
                    <a:bodyPr/>
                    <a:lstStyle/>
                    <a:p>
                      <a:pPr lvl="0">
                        <a:buNone/>
                      </a:pPr>
                      <a:r>
                        <a:rPr lang="en-GB" sz="1200" b="0" i="0" u="none" strike="noStrike" noProof="0">
                          <a:latin typeface="Gill Sans MT"/>
                        </a:rPr>
                        <a:t>Optimality Risk When Combined</a:t>
                      </a:r>
                      <a:endParaRPr lang="en-US" sz="1200"/>
                    </a:p>
                  </a:txBody>
                  <a:tcPr/>
                </a:tc>
                <a:tc>
                  <a:txBody>
                    <a:bodyPr/>
                    <a:lstStyle/>
                    <a:p>
                      <a:pPr lvl="0">
                        <a:buNone/>
                      </a:pPr>
                      <a:r>
                        <a:rPr lang="en-GB" sz="1200" b="0" i="0" u="none" strike="noStrike" noProof="0">
                          <a:latin typeface="Gill Sans MT"/>
                        </a:rPr>
                        <a:t>Very low - minimal performance loss</a:t>
                      </a:r>
                      <a:endParaRPr lang="en-US" sz="1200"/>
                    </a:p>
                  </a:txBody>
                  <a:tcPr/>
                </a:tc>
                <a:tc>
                  <a:txBody>
                    <a:bodyPr/>
                    <a:lstStyle/>
                    <a:p>
                      <a:pPr lvl="0">
                        <a:buNone/>
                      </a:pPr>
                      <a:r>
                        <a:rPr lang="en-GB" sz="1200" b="0" i="0" u="none" strike="noStrike" noProof="0">
                          <a:latin typeface="Gill Sans MT"/>
                        </a:rPr>
                        <a:t>High - significant performance loss</a:t>
                      </a:r>
                      <a:endParaRPr lang="en-US" sz="1200"/>
                    </a:p>
                  </a:txBody>
                  <a:tcPr/>
                </a:tc>
                <a:tc>
                  <a:txBody>
                    <a:bodyPr/>
                    <a:lstStyle/>
                    <a:p>
                      <a:pPr lvl="0">
                        <a:buNone/>
                      </a:pPr>
                      <a:r>
                        <a:rPr lang="en-GB" sz="1200" b="0" i="0" u="none" strike="noStrike" noProof="0">
                          <a:latin typeface="Gill Sans MT"/>
                        </a:rPr>
                        <a:t>&lt;3% optimality loss with 6 LPF limit</a:t>
                      </a:r>
                      <a:endParaRPr lang="en-US" sz="1200"/>
                    </a:p>
                  </a:txBody>
                  <a:tcPr/>
                </a:tc>
                <a:extLst>
                  <a:ext uri="{0D108BD9-81ED-4DB2-BD59-A6C34878D82A}">
                    <a16:rowId xmlns:a16="http://schemas.microsoft.com/office/drawing/2014/main" val="3223483578"/>
                  </a:ext>
                </a:extLst>
              </a:tr>
            </a:tbl>
          </a:graphicData>
        </a:graphic>
      </p:graphicFrame>
      <p:sp>
        <p:nvSpPr>
          <p:cNvPr id="7" name="TextBox 6">
            <a:extLst>
              <a:ext uri="{FF2B5EF4-FFF2-40B4-BE49-F238E27FC236}">
                <a16:creationId xmlns:a16="http://schemas.microsoft.com/office/drawing/2014/main" id="{7820AF04-7B25-41F2-EE0B-7191A7D65C91}"/>
              </a:ext>
            </a:extLst>
          </p:cNvPr>
          <p:cNvSpPr txBox="1"/>
          <p:nvPr/>
        </p:nvSpPr>
        <p:spPr>
          <a:xfrm>
            <a:off x="91440" y="4531995"/>
            <a:ext cx="890016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a:t>[1]: LOMA: </a:t>
            </a:r>
            <a:r>
              <a:rPr lang="en-GB" sz="1000">
                <a:ea typeface="+mn-lt"/>
                <a:cs typeface="+mn-lt"/>
              </a:rPr>
              <a:t>Fast Auto-Scheduling on DNN Accelerators through Loop-Order-based Memory Allocation</a:t>
            </a:r>
            <a:endParaRPr lang="en-GB" sz="1000"/>
          </a:p>
        </p:txBody>
      </p:sp>
    </p:spTree>
    <p:extLst>
      <p:ext uri="{BB962C8B-B14F-4D97-AF65-F5344CB8AC3E}">
        <p14:creationId xmlns:p14="http://schemas.microsoft.com/office/powerpoint/2010/main" val="4192585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DEF5666-E643-E442-23A2-C12F13040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F749A-B19A-93AE-6743-D6B06106922D}"/>
              </a:ext>
            </a:extLst>
          </p:cNvPr>
          <p:cNvSpPr>
            <a:spLocks noGrp="1"/>
          </p:cNvSpPr>
          <p:nvPr>
            <p:ph type="title"/>
          </p:nvPr>
        </p:nvSpPr>
        <p:spPr>
          <a:xfrm>
            <a:off x="160631" y="118762"/>
            <a:ext cx="8753475" cy="461665"/>
          </a:xfrm>
        </p:spPr>
        <p:txBody>
          <a:bodyPr/>
          <a:lstStyle/>
          <a:p>
            <a:r>
              <a:rPr lang="en-GB">
                <a:latin typeface="Gill Sans MT"/>
                <a:cs typeface="Gill Sans"/>
              </a:rPr>
              <a:t>Difference b/w the AeDAM and Zigzag </a:t>
            </a:r>
            <a:r>
              <a:rPr lang="en-GB" err="1">
                <a:latin typeface="Gill Sans MT"/>
                <a:cs typeface="Gill Sans"/>
              </a:rPr>
              <a:t>mapspace</a:t>
            </a:r>
            <a:endParaRPr lang="en-GB" err="1"/>
          </a:p>
        </p:txBody>
      </p:sp>
      <p:sp>
        <p:nvSpPr>
          <p:cNvPr id="4" name="Slide Number Placeholder 3">
            <a:extLst>
              <a:ext uri="{FF2B5EF4-FFF2-40B4-BE49-F238E27FC236}">
                <a16:creationId xmlns:a16="http://schemas.microsoft.com/office/drawing/2014/main" id="{A7435F68-F144-E565-6954-7373322596F0}"/>
              </a:ext>
            </a:extLst>
          </p:cNvPr>
          <p:cNvSpPr>
            <a:spLocks noGrp="1"/>
          </p:cNvSpPr>
          <p:nvPr>
            <p:ph type="sldNum" sz="quarter" idx="12"/>
          </p:nvPr>
        </p:nvSpPr>
        <p:spPr/>
        <p:txBody>
          <a:bodyPr/>
          <a:lstStyle/>
          <a:p>
            <a:fld id="{8836216C-5BC3-7C44-80F8-E30864FFC228}" type="slidenum">
              <a:rPr lang="en-US" smtClean="0"/>
              <a:t>65</a:t>
            </a:fld>
            <a:endParaRPr lang="en-US"/>
          </a:p>
        </p:txBody>
      </p:sp>
      <p:sp>
        <p:nvSpPr>
          <p:cNvPr id="7" name="Text Placeholder 6">
            <a:extLst>
              <a:ext uri="{FF2B5EF4-FFF2-40B4-BE49-F238E27FC236}">
                <a16:creationId xmlns:a16="http://schemas.microsoft.com/office/drawing/2014/main" id="{09F38C81-304E-5CF0-E028-1680CA783475}"/>
              </a:ext>
            </a:extLst>
          </p:cNvPr>
          <p:cNvSpPr>
            <a:spLocks noGrp="1"/>
          </p:cNvSpPr>
          <p:nvPr>
            <p:ph type="body" sz="quarter" idx="13"/>
          </p:nvPr>
        </p:nvSpPr>
        <p:spPr/>
        <p:txBody>
          <a:bodyPr/>
          <a:lstStyle/>
          <a:p>
            <a:endParaRPr lang="en-GB"/>
          </a:p>
        </p:txBody>
      </p:sp>
      <p:pic>
        <p:nvPicPr>
          <p:cNvPr id="8" name="Picture 7" descr="A diagram of different colored cubes&#10;&#10;AI-generated content may be incorrect.">
            <a:extLst>
              <a:ext uri="{FF2B5EF4-FFF2-40B4-BE49-F238E27FC236}">
                <a16:creationId xmlns:a16="http://schemas.microsoft.com/office/drawing/2014/main" id="{C5D84722-5E64-2D52-CB74-F32660A4296F}"/>
              </a:ext>
            </a:extLst>
          </p:cNvPr>
          <p:cNvPicPr>
            <a:picLocks noChangeAspect="1"/>
          </p:cNvPicPr>
          <p:nvPr/>
        </p:nvPicPr>
        <p:blipFill>
          <a:blip r:embed="rId3"/>
          <a:stretch>
            <a:fillRect/>
          </a:stretch>
        </p:blipFill>
        <p:spPr>
          <a:xfrm>
            <a:off x="246597" y="1042775"/>
            <a:ext cx="2017697" cy="3239304"/>
          </a:xfrm>
          <a:prstGeom prst="rect">
            <a:avLst/>
          </a:prstGeom>
        </p:spPr>
      </p:pic>
      <p:sp>
        <p:nvSpPr>
          <p:cNvPr id="9" name="Rectangle 8">
            <a:extLst>
              <a:ext uri="{FF2B5EF4-FFF2-40B4-BE49-F238E27FC236}">
                <a16:creationId xmlns:a16="http://schemas.microsoft.com/office/drawing/2014/main" id="{810C82BE-C7E4-827B-3998-64F8FBE0422D}"/>
              </a:ext>
            </a:extLst>
          </p:cNvPr>
          <p:cNvSpPr/>
          <p:nvPr/>
        </p:nvSpPr>
        <p:spPr>
          <a:xfrm>
            <a:off x="243288" y="4281681"/>
            <a:ext cx="2021327" cy="367373"/>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marL="0" algn="l" defTabSz="411480" rtl="0" eaLnBrk="1" latinLnBrk="0" hangingPunct="1">
              <a:defRPr sz="1620" kern="1200">
                <a:solidFill>
                  <a:schemeClr val="lt1"/>
                </a:solidFill>
                <a:latin typeface="+mn-lt"/>
                <a:ea typeface="+mn-ea"/>
                <a:cs typeface="+mn-cs"/>
              </a:defRPr>
            </a:lvl1pPr>
            <a:lvl2pPr marL="411480" algn="l" defTabSz="411480" rtl="0" eaLnBrk="1" latinLnBrk="0" hangingPunct="1">
              <a:defRPr sz="1620" kern="1200">
                <a:solidFill>
                  <a:schemeClr val="lt1"/>
                </a:solidFill>
                <a:latin typeface="+mn-lt"/>
                <a:ea typeface="+mn-ea"/>
                <a:cs typeface="+mn-cs"/>
              </a:defRPr>
            </a:lvl2pPr>
            <a:lvl3pPr marL="822960" algn="l" defTabSz="411480" rtl="0" eaLnBrk="1" latinLnBrk="0" hangingPunct="1">
              <a:defRPr sz="1620" kern="1200">
                <a:solidFill>
                  <a:schemeClr val="lt1"/>
                </a:solidFill>
                <a:latin typeface="+mn-lt"/>
                <a:ea typeface="+mn-ea"/>
                <a:cs typeface="+mn-cs"/>
              </a:defRPr>
            </a:lvl3pPr>
            <a:lvl4pPr marL="1234440" algn="l" defTabSz="411480" rtl="0" eaLnBrk="1" latinLnBrk="0" hangingPunct="1">
              <a:defRPr sz="1620" kern="1200">
                <a:solidFill>
                  <a:schemeClr val="lt1"/>
                </a:solidFill>
                <a:latin typeface="+mn-lt"/>
                <a:ea typeface="+mn-ea"/>
                <a:cs typeface="+mn-cs"/>
              </a:defRPr>
            </a:lvl4pPr>
            <a:lvl5pPr marL="1645920" algn="l" defTabSz="411480" rtl="0" eaLnBrk="1" latinLnBrk="0" hangingPunct="1">
              <a:defRPr sz="1620" kern="1200">
                <a:solidFill>
                  <a:schemeClr val="lt1"/>
                </a:solidFill>
                <a:latin typeface="+mn-lt"/>
                <a:ea typeface="+mn-ea"/>
                <a:cs typeface="+mn-cs"/>
              </a:defRPr>
            </a:lvl5pPr>
            <a:lvl6pPr marL="2057400" algn="l" defTabSz="411480" rtl="0" eaLnBrk="1" latinLnBrk="0" hangingPunct="1">
              <a:defRPr sz="1620" kern="1200">
                <a:solidFill>
                  <a:schemeClr val="lt1"/>
                </a:solidFill>
                <a:latin typeface="+mn-lt"/>
                <a:ea typeface="+mn-ea"/>
                <a:cs typeface="+mn-cs"/>
              </a:defRPr>
            </a:lvl6pPr>
            <a:lvl7pPr marL="2468880" algn="l" defTabSz="411480" rtl="0" eaLnBrk="1" latinLnBrk="0" hangingPunct="1">
              <a:defRPr sz="1620" kern="1200">
                <a:solidFill>
                  <a:schemeClr val="lt1"/>
                </a:solidFill>
                <a:latin typeface="+mn-lt"/>
                <a:ea typeface="+mn-ea"/>
                <a:cs typeface="+mn-cs"/>
              </a:defRPr>
            </a:lvl7pPr>
            <a:lvl8pPr marL="2880360" algn="l" defTabSz="411480" rtl="0" eaLnBrk="1" latinLnBrk="0" hangingPunct="1">
              <a:defRPr sz="1620" kern="1200">
                <a:solidFill>
                  <a:schemeClr val="lt1"/>
                </a:solidFill>
                <a:latin typeface="+mn-lt"/>
                <a:ea typeface="+mn-ea"/>
                <a:cs typeface="+mn-cs"/>
              </a:defRPr>
            </a:lvl8pPr>
            <a:lvl9pPr marL="3291840" algn="l" defTabSz="411480" rtl="0" eaLnBrk="1" latinLnBrk="0" hangingPunct="1">
              <a:defRPr sz="1620" kern="1200">
                <a:solidFill>
                  <a:schemeClr val="lt1"/>
                </a:solidFill>
                <a:latin typeface="+mn-lt"/>
                <a:ea typeface="+mn-ea"/>
                <a:cs typeface="+mn-cs"/>
              </a:defRPr>
            </a:lvl9pPr>
          </a:lstStyle>
          <a:p>
            <a:pPr algn="ctr"/>
            <a:r>
              <a:rPr lang="en-GB" sz="1400"/>
              <a:t>Output Stationary</a:t>
            </a:r>
          </a:p>
        </p:txBody>
      </p:sp>
      <p:sp>
        <p:nvSpPr>
          <p:cNvPr id="10" name="Rectangle 9">
            <a:extLst>
              <a:ext uri="{FF2B5EF4-FFF2-40B4-BE49-F238E27FC236}">
                <a16:creationId xmlns:a16="http://schemas.microsoft.com/office/drawing/2014/main" id="{493C4B83-FA87-21FA-92BB-6836CCD4600D}"/>
              </a:ext>
            </a:extLst>
          </p:cNvPr>
          <p:cNvSpPr/>
          <p:nvPr/>
        </p:nvSpPr>
        <p:spPr>
          <a:xfrm>
            <a:off x="2677926" y="4279778"/>
            <a:ext cx="1972707" cy="371872"/>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11480" rtl="0" eaLnBrk="1" latinLnBrk="0" hangingPunct="1">
              <a:defRPr sz="1620" kern="1200">
                <a:solidFill>
                  <a:schemeClr val="lt1"/>
                </a:solidFill>
                <a:latin typeface="+mn-lt"/>
                <a:ea typeface="+mn-ea"/>
                <a:cs typeface="+mn-cs"/>
              </a:defRPr>
            </a:lvl1pPr>
            <a:lvl2pPr marL="411480" algn="l" defTabSz="411480" rtl="0" eaLnBrk="1" latinLnBrk="0" hangingPunct="1">
              <a:defRPr sz="1620" kern="1200">
                <a:solidFill>
                  <a:schemeClr val="lt1"/>
                </a:solidFill>
                <a:latin typeface="+mn-lt"/>
                <a:ea typeface="+mn-ea"/>
                <a:cs typeface="+mn-cs"/>
              </a:defRPr>
            </a:lvl2pPr>
            <a:lvl3pPr marL="822960" algn="l" defTabSz="411480" rtl="0" eaLnBrk="1" latinLnBrk="0" hangingPunct="1">
              <a:defRPr sz="1620" kern="1200">
                <a:solidFill>
                  <a:schemeClr val="lt1"/>
                </a:solidFill>
                <a:latin typeface="+mn-lt"/>
                <a:ea typeface="+mn-ea"/>
                <a:cs typeface="+mn-cs"/>
              </a:defRPr>
            </a:lvl3pPr>
            <a:lvl4pPr marL="1234440" algn="l" defTabSz="411480" rtl="0" eaLnBrk="1" latinLnBrk="0" hangingPunct="1">
              <a:defRPr sz="1620" kern="1200">
                <a:solidFill>
                  <a:schemeClr val="lt1"/>
                </a:solidFill>
                <a:latin typeface="+mn-lt"/>
                <a:ea typeface="+mn-ea"/>
                <a:cs typeface="+mn-cs"/>
              </a:defRPr>
            </a:lvl4pPr>
            <a:lvl5pPr marL="1645920" algn="l" defTabSz="411480" rtl="0" eaLnBrk="1" latinLnBrk="0" hangingPunct="1">
              <a:defRPr sz="1620" kern="1200">
                <a:solidFill>
                  <a:schemeClr val="lt1"/>
                </a:solidFill>
                <a:latin typeface="+mn-lt"/>
                <a:ea typeface="+mn-ea"/>
                <a:cs typeface="+mn-cs"/>
              </a:defRPr>
            </a:lvl5pPr>
            <a:lvl6pPr marL="2057400" algn="l" defTabSz="411480" rtl="0" eaLnBrk="1" latinLnBrk="0" hangingPunct="1">
              <a:defRPr sz="1620" kern="1200">
                <a:solidFill>
                  <a:schemeClr val="lt1"/>
                </a:solidFill>
                <a:latin typeface="+mn-lt"/>
                <a:ea typeface="+mn-ea"/>
                <a:cs typeface="+mn-cs"/>
              </a:defRPr>
            </a:lvl6pPr>
            <a:lvl7pPr marL="2468880" algn="l" defTabSz="411480" rtl="0" eaLnBrk="1" latinLnBrk="0" hangingPunct="1">
              <a:defRPr sz="1620" kern="1200">
                <a:solidFill>
                  <a:schemeClr val="lt1"/>
                </a:solidFill>
                <a:latin typeface="+mn-lt"/>
                <a:ea typeface="+mn-ea"/>
                <a:cs typeface="+mn-cs"/>
              </a:defRPr>
            </a:lvl7pPr>
            <a:lvl8pPr marL="2880360" algn="l" defTabSz="411480" rtl="0" eaLnBrk="1" latinLnBrk="0" hangingPunct="1">
              <a:defRPr sz="1620" kern="1200">
                <a:solidFill>
                  <a:schemeClr val="lt1"/>
                </a:solidFill>
                <a:latin typeface="+mn-lt"/>
                <a:ea typeface="+mn-ea"/>
                <a:cs typeface="+mn-cs"/>
              </a:defRPr>
            </a:lvl8pPr>
            <a:lvl9pPr marL="3291840" algn="l" defTabSz="411480" rtl="0" eaLnBrk="1" latinLnBrk="0" hangingPunct="1">
              <a:defRPr sz="1620" kern="1200">
                <a:solidFill>
                  <a:schemeClr val="lt1"/>
                </a:solidFill>
                <a:latin typeface="+mn-lt"/>
                <a:ea typeface="+mn-ea"/>
                <a:cs typeface="+mn-cs"/>
              </a:defRPr>
            </a:lvl9pPr>
          </a:lstStyle>
          <a:p>
            <a:pPr algn="ctr"/>
            <a:r>
              <a:rPr lang="en-GB" sz="1400"/>
              <a:t>Weight Stationary</a:t>
            </a:r>
          </a:p>
        </p:txBody>
      </p:sp>
      <p:pic>
        <p:nvPicPr>
          <p:cNvPr id="11" name="Picture 10" descr="A diagram of different colored cubes&#10;&#10;AI-generated content may be incorrect.">
            <a:extLst>
              <a:ext uri="{FF2B5EF4-FFF2-40B4-BE49-F238E27FC236}">
                <a16:creationId xmlns:a16="http://schemas.microsoft.com/office/drawing/2014/main" id="{2CAD82BF-923D-67EF-5D3E-D3790190C289}"/>
              </a:ext>
            </a:extLst>
          </p:cNvPr>
          <p:cNvPicPr>
            <a:picLocks noChangeAspect="1"/>
          </p:cNvPicPr>
          <p:nvPr/>
        </p:nvPicPr>
        <p:blipFill>
          <a:blip r:embed="rId4"/>
          <a:stretch>
            <a:fillRect/>
          </a:stretch>
        </p:blipFill>
        <p:spPr>
          <a:xfrm>
            <a:off x="2601506" y="1043275"/>
            <a:ext cx="1970274" cy="3136911"/>
          </a:xfrm>
          <a:prstGeom prst="rect">
            <a:avLst/>
          </a:prstGeom>
        </p:spPr>
      </p:pic>
      <p:pic>
        <p:nvPicPr>
          <p:cNvPr id="12" name="Picture 11" descr="A diagram of a diagram of a diagram&#10;&#10;AI-generated content may be incorrect.">
            <a:extLst>
              <a:ext uri="{FF2B5EF4-FFF2-40B4-BE49-F238E27FC236}">
                <a16:creationId xmlns:a16="http://schemas.microsoft.com/office/drawing/2014/main" id="{7270BE8F-C74C-7BD2-8F01-2FAF7CB17D3F}"/>
              </a:ext>
            </a:extLst>
          </p:cNvPr>
          <p:cNvPicPr>
            <a:picLocks noChangeAspect="1"/>
          </p:cNvPicPr>
          <p:nvPr/>
        </p:nvPicPr>
        <p:blipFill>
          <a:blip r:embed="rId5"/>
          <a:stretch>
            <a:fillRect/>
          </a:stretch>
        </p:blipFill>
        <p:spPr>
          <a:xfrm>
            <a:off x="4765541" y="1040480"/>
            <a:ext cx="1969196" cy="3243994"/>
          </a:xfrm>
          <a:prstGeom prst="rect">
            <a:avLst/>
          </a:prstGeom>
        </p:spPr>
      </p:pic>
      <p:sp>
        <p:nvSpPr>
          <p:cNvPr id="13" name="Rectangle 12">
            <a:extLst>
              <a:ext uri="{FF2B5EF4-FFF2-40B4-BE49-F238E27FC236}">
                <a16:creationId xmlns:a16="http://schemas.microsoft.com/office/drawing/2014/main" id="{04047F70-947D-1CBB-6556-F0832FC43E6E}"/>
              </a:ext>
            </a:extLst>
          </p:cNvPr>
          <p:cNvSpPr/>
          <p:nvPr/>
        </p:nvSpPr>
        <p:spPr>
          <a:xfrm>
            <a:off x="4837504" y="4281563"/>
            <a:ext cx="1976517" cy="363300"/>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marL="0" algn="l" defTabSz="411480" rtl="0" eaLnBrk="1" latinLnBrk="0" hangingPunct="1">
              <a:defRPr sz="1620" kern="1200">
                <a:solidFill>
                  <a:schemeClr val="lt1"/>
                </a:solidFill>
                <a:latin typeface="+mn-lt"/>
                <a:ea typeface="+mn-ea"/>
                <a:cs typeface="+mn-cs"/>
              </a:defRPr>
            </a:lvl1pPr>
            <a:lvl2pPr marL="411480" algn="l" defTabSz="411480" rtl="0" eaLnBrk="1" latinLnBrk="0" hangingPunct="1">
              <a:defRPr sz="1620" kern="1200">
                <a:solidFill>
                  <a:schemeClr val="lt1"/>
                </a:solidFill>
                <a:latin typeface="+mn-lt"/>
                <a:ea typeface="+mn-ea"/>
                <a:cs typeface="+mn-cs"/>
              </a:defRPr>
            </a:lvl2pPr>
            <a:lvl3pPr marL="822960" algn="l" defTabSz="411480" rtl="0" eaLnBrk="1" latinLnBrk="0" hangingPunct="1">
              <a:defRPr sz="1620" kern="1200">
                <a:solidFill>
                  <a:schemeClr val="lt1"/>
                </a:solidFill>
                <a:latin typeface="+mn-lt"/>
                <a:ea typeface="+mn-ea"/>
                <a:cs typeface="+mn-cs"/>
              </a:defRPr>
            </a:lvl3pPr>
            <a:lvl4pPr marL="1234440" algn="l" defTabSz="411480" rtl="0" eaLnBrk="1" latinLnBrk="0" hangingPunct="1">
              <a:defRPr sz="1620" kern="1200">
                <a:solidFill>
                  <a:schemeClr val="lt1"/>
                </a:solidFill>
                <a:latin typeface="+mn-lt"/>
                <a:ea typeface="+mn-ea"/>
                <a:cs typeface="+mn-cs"/>
              </a:defRPr>
            </a:lvl4pPr>
            <a:lvl5pPr marL="1645920" algn="l" defTabSz="411480" rtl="0" eaLnBrk="1" latinLnBrk="0" hangingPunct="1">
              <a:defRPr sz="1620" kern="1200">
                <a:solidFill>
                  <a:schemeClr val="lt1"/>
                </a:solidFill>
                <a:latin typeface="+mn-lt"/>
                <a:ea typeface="+mn-ea"/>
                <a:cs typeface="+mn-cs"/>
              </a:defRPr>
            </a:lvl5pPr>
            <a:lvl6pPr marL="2057400" algn="l" defTabSz="411480" rtl="0" eaLnBrk="1" latinLnBrk="0" hangingPunct="1">
              <a:defRPr sz="1620" kern="1200">
                <a:solidFill>
                  <a:schemeClr val="lt1"/>
                </a:solidFill>
                <a:latin typeface="+mn-lt"/>
                <a:ea typeface="+mn-ea"/>
                <a:cs typeface="+mn-cs"/>
              </a:defRPr>
            </a:lvl6pPr>
            <a:lvl7pPr marL="2468880" algn="l" defTabSz="411480" rtl="0" eaLnBrk="1" latinLnBrk="0" hangingPunct="1">
              <a:defRPr sz="1620" kern="1200">
                <a:solidFill>
                  <a:schemeClr val="lt1"/>
                </a:solidFill>
                <a:latin typeface="+mn-lt"/>
                <a:ea typeface="+mn-ea"/>
                <a:cs typeface="+mn-cs"/>
              </a:defRPr>
            </a:lvl7pPr>
            <a:lvl8pPr marL="2880360" algn="l" defTabSz="411480" rtl="0" eaLnBrk="1" latinLnBrk="0" hangingPunct="1">
              <a:defRPr sz="1620" kern="1200">
                <a:solidFill>
                  <a:schemeClr val="lt1"/>
                </a:solidFill>
                <a:latin typeface="+mn-lt"/>
                <a:ea typeface="+mn-ea"/>
                <a:cs typeface="+mn-cs"/>
              </a:defRPr>
            </a:lvl8pPr>
            <a:lvl9pPr marL="3291840" algn="l" defTabSz="411480" rtl="0" eaLnBrk="1" latinLnBrk="0" hangingPunct="1">
              <a:defRPr sz="1620" kern="1200">
                <a:solidFill>
                  <a:schemeClr val="lt1"/>
                </a:solidFill>
                <a:latin typeface="+mn-lt"/>
                <a:ea typeface="+mn-ea"/>
                <a:cs typeface="+mn-cs"/>
              </a:defRPr>
            </a:lvl9pPr>
          </a:lstStyle>
          <a:p>
            <a:pPr algn="ctr"/>
            <a:r>
              <a:rPr lang="en-GB" sz="1400"/>
              <a:t>Input Stationary</a:t>
            </a:r>
          </a:p>
        </p:txBody>
      </p:sp>
      <p:pic>
        <p:nvPicPr>
          <p:cNvPr id="14" name="Picture 13" descr="A diagram of a diagram of a diagram&#10;&#10;AI-generated content may be incorrect.">
            <a:extLst>
              <a:ext uri="{FF2B5EF4-FFF2-40B4-BE49-F238E27FC236}">
                <a16:creationId xmlns:a16="http://schemas.microsoft.com/office/drawing/2014/main" id="{D8272B14-ED82-9550-EFBA-B59DCF8EA3C9}"/>
              </a:ext>
            </a:extLst>
          </p:cNvPr>
          <p:cNvPicPr>
            <a:picLocks noChangeAspect="1"/>
          </p:cNvPicPr>
          <p:nvPr/>
        </p:nvPicPr>
        <p:blipFill>
          <a:blip r:embed="rId6"/>
          <a:stretch>
            <a:fillRect/>
          </a:stretch>
        </p:blipFill>
        <p:spPr>
          <a:xfrm>
            <a:off x="6963811" y="1044111"/>
            <a:ext cx="1934149" cy="3142484"/>
          </a:xfrm>
          <a:prstGeom prst="rect">
            <a:avLst/>
          </a:prstGeom>
        </p:spPr>
      </p:pic>
      <p:sp>
        <p:nvSpPr>
          <p:cNvPr id="15" name="Rectangle 14">
            <a:extLst>
              <a:ext uri="{FF2B5EF4-FFF2-40B4-BE49-F238E27FC236}">
                <a16:creationId xmlns:a16="http://schemas.microsoft.com/office/drawing/2014/main" id="{20605BB2-98D8-2E3C-8CB9-5D9D4730DF23}"/>
              </a:ext>
            </a:extLst>
          </p:cNvPr>
          <p:cNvSpPr/>
          <p:nvPr/>
        </p:nvSpPr>
        <p:spPr>
          <a:xfrm>
            <a:off x="6965412" y="4278269"/>
            <a:ext cx="1936989" cy="362346"/>
          </a:xfrm>
          <a:prstGeom prst="rect">
            <a:avLst/>
          </a:prstGeom>
          <a:gradFill>
            <a:gsLst>
              <a:gs pos="0">
                <a:schemeClr val="accent6"/>
              </a:gs>
              <a:gs pos="60000">
                <a:schemeClr val="tx2"/>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marL="0" algn="l" defTabSz="411480" rtl="0" eaLnBrk="1" latinLnBrk="0" hangingPunct="1">
              <a:defRPr sz="1620" kern="1200">
                <a:solidFill>
                  <a:schemeClr val="lt1"/>
                </a:solidFill>
                <a:latin typeface="+mn-lt"/>
                <a:ea typeface="+mn-ea"/>
                <a:cs typeface="+mn-cs"/>
              </a:defRPr>
            </a:lvl1pPr>
            <a:lvl2pPr marL="411480" algn="l" defTabSz="411480" rtl="0" eaLnBrk="1" latinLnBrk="0" hangingPunct="1">
              <a:defRPr sz="1620" kern="1200">
                <a:solidFill>
                  <a:schemeClr val="lt1"/>
                </a:solidFill>
                <a:latin typeface="+mn-lt"/>
                <a:ea typeface="+mn-ea"/>
                <a:cs typeface="+mn-cs"/>
              </a:defRPr>
            </a:lvl2pPr>
            <a:lvl3pPr marL="822960" algn="l" defTabSz="411480" rtl="0" eaLnBrk="1" latinLnBrk="0" hangingPunct="1">
              <a:defRPr sz="1620" kern="1200">
                <a:solidFill>
                  <a:schemeClr val="lt1"/>
                </a:solidFill>
                <a:latin typeface="+mn-lt"/>
                <a:ea typeface="+mn-ea"/>
                <a:cs typeface="+mn-cs"/>
              </a:defRPr>
            </a:lvl3pPr>
            <a:lvl4pPr marL="1234440" algn="l" defTabSz="411480" rtl="0" eaLnBrk="1" latinLnBrk="0" hangingPunct="1">
              <a:defRPr sz="1620" kern="1200">
                <a:solidFill>
                  <a:schemeClr val="lt1"/>
                </a:solidFill>
                <a:latin typeface="+mn-lt"/>
                <a:ea typeface="+mn-ea"/>
                <a:cs typeface="+mn-cs"/>
              </a:defRPr>
            </a:lvl4pPr>
            <a:lvl5pPr marL="1645920" algn="l" defTabSz="411480" rtl="0" eaLnBrk="1" latinLnBrk="0" hangingPunct="1">
              <a:defRPr sz="1620" kern="1200">
                <a:solidFill>
                  <a:schemeClr val="lt1"/>
                </a:solidFill>
                <a:latin typeface="+mn-lt"/>
                <a:ea typeface="+mn-ea"/>
                <a:cs typeface="+mn-cs"/>
              </a:defRPr>
            </a:lvl5pPr>
            <a:lvl6pPr marL="2057400" algn="l" defTabSz="411480" rtl="0" eaLnBrk="1" latinLnBrk="0" hangingPunct="1">
              <a:defRPr sz="1620" kern="1200">
                <a:solidFill>
                  <a:schemeClr val="lt1"/>
                </a:solidFill>
                <a:latin typeface="+mn-lt"/>
                <a:ea typeface="+mn-ea"/>
                <a:cs typeface="+mn-cs"/>
              </a:defRPr>
            </a:lvl6pPr>
            <a:lvl7pPr marL="2468880" algn="l" defTabSz="411480" rtl="0" eaLnBrk="1" latinLnBrk="0" hangingPunct="1">
              <a:defRPr sz="1620" kern="1200">
                <a:solidFill>
                  <a:schemeClr val="lt1"/>
                </a:solidFill>
                <a:latin typeface="+mn-lt"/>
                <a:ea typeface="+mn-ea"/>
                <a:cs typeface="+mn-cs"/>
              </a:defRPr>
            </a:lvl7pPr>
            <a:lvl8pPr marL="2880360" algn="l" defTabSz="411480" rtl="0" eaLnBrk="1" latinLnBrk="0" hangingPunct="1">
              <a:defRPr sz="1620" kern="1200">
                <a:solidFill>
                  <a:schemeClr val="lt1"/>
                </a:solidFill>
                <a:latin typeface="+mn-lt"/>
                <a:ea typeface="+mn-ea"/>
                <a:cs typeface="+mn-cs"/>
              </a:defRPr>
            </a:lvl8pPr>
            <a:lvl9pPr marL="3291840" algn="l" defTabSz="411480" rtl="0" eaLnBrk="1" latinLnBrk="0" hangingPunct="1">
              <a:defRPr sz="1620" kern="1200">
                <a:solidFill>
                  <a:schemeClr val="lt1"/>
                </a:solidFill>
                <a:latin typeface="+mn-lt"/>
                <a:ea typeface="+mn-ea"/>
                <a:cs typeface="+mn-cs"/>
              </a:defRPr>
            </a:lvl9pPr>
          </a:lstStyle>
          <a:p>
            <a:pPr algn="ctr"/>
            <a:r>
              <a:rPr lang="en-GB" sz="1400"/>
              <a:t>Event driven</a:t>
            </a:r>
          </a:p>
        </p:txBody>
      </p:sp>
      <p:sp>
        <p:nvSpPr>
          <p:cNvPr id="3" name="Rectangle 2">
            <a:extLst>
              <a:ext uri="{FF2B5EF4-FFF2-40B4-BE49-F238E27FC236}">
                <a16:creationId xmlns:a16="http://schemas.microsoft.com/office/drawing/2014/main" id="{B9478FC6-12B5-A30D-7E4B-4064C854FE7A}"/>
              </a:ext>
            </a:extLst>
          </p:cNvPr>
          <p:cNvSpPr/>
          <p:nvPr/>
        </p:nvSpPr>
        <p:spPr>
          <a:xfrm>
            <a:off x="242888" y="2114550"/>
            <a:ext cx="6493668" cy="914400"/>
          </a:xfrm>
          <a:prstGeom prst="rect">
            <a:avLst/>
          </a:prstGeom>
          <a:gradFill>
            <a:gsLst>
              <a:gs pos="0">
                <a:schemeClr val="accent6"/>
              </a:gs>
              <a:gs pos="60000">
                <a:schemeClr val="tx2"/>
              </a:gs>
            </a:gsLst>
            <a:lin ang="2700000" scaled="0"/>
          </a:gra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err="1"/>
              <a:t>ZigZag</a:t>
            </a:r>
            <a:r>
              <a:rPr lang="en-GB" sz="1400"/>
              <a:t> </a:t>
            </a:r>
            <a:r>
              <a:rPr lang="en-GB" sz="1400" err="1"/>
              <a:t>mapspace</a:t>
            </a:r>
          </a:p>
        </p:txBody>
      </p:sp>
      <p:sp>
        <p:nvSpPr>
          <p:cNvPr id="5" name="Rectangle 4">
            <a:extLst>
              <a:ext uri="{FF2B5EF4-FFF2-40B4-BE49-F238E27FC236}">
                <a16:creationId xmlns:a16="http://schemas.microsoft.com/office/drawing/2014/main" id="{FFA7934D-11A8-4513-9CAE-092E980C76A6}"/>
              </a:ext>
            </a:extLst>
          </p:cNvPr>
          <p:cNvSpPr/>
          <p:nvPr/>
        </p:nvSpPr>
        <p:spPr>
          <a:xfrm>
            <a:off x="6965156" y="2114550"/>
            <a:ext cx="1935956" cy="914400"/>
          </a:xfrm>
          <a:prstGeom prst="rect">
            <a:avLst/>
          </a:prstGeom>
          <a:gradFill>
            <a:gsLst>
              <a:gs pos="0">
                <a:schemeClr val="accent6"/>
              </a:gs>
              <a:gs pos="60000">
                <a:schemeClr val="tx2"/>
              </a:gs>
            </a:gsLst>
            <a:lin ang="2700000" scaled="0"/>
          </a:gra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GB" sz="1400"/>
              <a:t>AeDAM </a:t>
            </a:r>
            <a:r>
              <a:rPr lang="en-GB" sz="1400" err="1"/>
              <a:t>mapspace</a:t>
            </a:r>
            <a:endParaRPr lang="en-GB" sz="1400"/>
          </a:p>
        </p:txBody>
      </p:sp>
    </p:spTree>
    <p:extLst>
      <p:ext uri="{BB962C8B-B14F-4D97-AF65-F5344CB8AC3E}">
        <p14:creationId xmlns:p14="http://schemas.microsoft.com/office/powerpoint/2010/main" val="36716878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500"/>
                                        <p:tgtEl>
                                          <p:spTgt spid="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P spid="15" grpId="0" animBg="1"/>
      <p:bldP spid="3" grpId="0" animBg="1"/>
      <p:bldP spid="5" grpId="0" animBg="1"/>
    </p:bld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18B37-BC05-486D-8F80-F7951DCBAE14}"/>
              </a:ext>
            </a:extLst>
          </p:cNvPr>
          <p:cNvSpPr>
            <a:spLocks noGrp="1"/>
          </p:cNvSpPr>
          <p:nvPr>
            <p:ph type="title"/>
          </p:nvPr>
        </p:nvSpPr>
        <p:spPr/>
        <p:txBody>
          <a:bodyPr/>
          <a:lstStyle/>
          <a:p>
            <a:r>
              <a:rPr lang="en-GB" err="1">
                <a:latin typeface="Gill Sans MT"/>
                <a:cs typeface="Gill Sans"/>
              </a:rPr>
              <a:t>AeDAM</a:t>
            </a:r>
            <a:r>
              <a:rPr lang="en-GB">
                <a:latin typeface="Gill Sans MT"/>
                <a:cs typeface="Gill Sans"/>
              </a:rPr>
              <a:t> Complete </a:t>
            </a:r>
            <a:r>
              <a:rPr lang="en-GB" err="1">
                <a:latin typeface="Gill Sans MT"/>
                <a:cs typeface="Gill Sans"/>
              </a:rPr>
              <a:t>toolflow</a:t>
            </a:r>
            <a:endParaRPr lang="en-GB"/>
          </a:p>
        </p:txBody>
      </p:sp>
      <p:sp>
        <p:nvSpPr>
          <p:cNvPr id="4" name="Slide Number Placeholder 3">
            <a:extLst>
              <a:ext uri="{FF2B5EF4-FFF2-40B4-BE49-F238E27FC236}">
                <a16:creationId xmlns:a16="http://schemas.microsoft.com/office/drawing/2014/main" id="{6AC1DCAA-91A9-0178-B7BD-CE5F529B75E6}"/>
              </a:ext>
            </a:extLst>
          </p:cNvPr>
          <p:cNvSpPr>
            <a:spLocks noGrp="1"/>
          </p:cNvSpPr>
          <p:nvPr>
            <p:ph type="sldNum" sz="quarter" idx="12"/>
          </p:nvPr>
        </p:nvSpPr>
        <p:spPr/>
        <p:txBody>
          <a:bodyPr/>
          <a:lstStyle/>
          <a:p>
            <a:fld id="{8836216C-5BC3-7C44-80F8-E30864FFC228}" type="slidenum">
              <a:rPr lang="en-US" smtClean="0"/>
              <a:t>66</a:t>
            </a:fld>
            <a:endParaRPr lang="en-US"/>
          </a:p>
        </p:txBody>
      </p:sp>
      <p:pic>
        <p:nvPicPr>
          <p:cNvPr id="5" name="Picture 4">
            <a:extLst>
              <a:ext uri="{FF2B5EF4-FFF2-40B4-BE49-F238E27FC236}">
                <a16:creationId xmlns:a16="http://schemas.microsoft.com/office/drawing/2014/main" id="{C9C27013-AFF9-D434-2371-255832861911}"/>
              </a:ext>
            </a:extLst>
          </p:cNvPr>
          <p:cNvPicPr>
            <a:picLocks noChangeAspect="1"/>
          </p:cNvPicPr>
          <p:nvPr/>
        </p:nvPicPr>
        <p:blipFill>
          <a:blip r:embed="rId3"/>
          <a:stretch>
            <a:fillRect/>
          </a:stretch>
        </p:blipFill>
        <p:spPr>
          <a:xfrm>
            <a:off x="0" y="1818867"/>
            <a:ext cx="9144000" cy="1884473"/>
          </a:xfrm>
          <a:prstGeom prst="rect">
            <a:avLst/>
          </a:prstGeom>
        </p:spPr>
      </p:pic>
    </p:spTree>
    <p:extLst>
      <p:ext uri="{BB962C8B-B14F-4D97-AF65-F5344CB8AC3E}">
        <p14:creationId xmlns:p14="http://schemas.microsoft.com/office/powerpoint/2010/main" val="6159901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6950BFC3-D8DA-4A85-94F7-54DA5524770B}">
      <p188:commentRel xmlns:p188="http://schemas.microsoft.com/office/powerpoint/2018/8/main" r:id="rId2"/>
    </p:ext>
  </p:extLst>
</p:sld>
</file>

<file path=ppt/theme/theme1.xml><?xml version="1.0" encoding="utf-8"?>
<a:theme xmlns:a="http://schemas.openxmlformats.org/drawingml/2006/main" name="imec - holst">
  <a:themeElements>
    <a:clrScheme name="imec 2021 3">
      <a:dk1>
        <a:srgbClr val="3C3C3B"/>
      </a:dk1>
      <a:lt1>
        <a:srgbClr val="FFFFFF"/>
      </a:lt1>
      <a:dk2>
        <a:srgbClr val="3F98BD"/>
      </a:dk2>
      <a:lt2>
        <a:srgbClr val="929497"/>
      </a:lt2>
      <a:accent1>
        <a:srgbClr val="3E98BD"/>
      </a:accent1>
      <a:accent2>
        <a:srgbClr val="52BDC1"/>
      </a:accent2>
      <a:accent3>
        <a:srgbClr val="90288D"/>
      </a:accent3>
      <a:accent4>
        <a:srgbClr val="1582BD"/>
      </a:accent4>
      <a:accent5>
        <a:srgbClr val="36337C"/>
      </a:accent5>
      <a:accent6>
        <a:srgbClr val="99BDE4"/>
      </a:accent6>
      <a:hlink>
        <a:srgbClr val="3F98BD"/>
      </a:hlink>
      <a:folHlink>
        <a:srgbClr val="2D6C85"/>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effectLst/>
      </a:spPr>
      <a:bodyPr rtlCol="0" anchor="ctr"/>
      <a:lstStyle>
        <a:defPPr algn="ctr">
          <a:defRPr sz="900" b="1" dirty="0" smtClean="0">
            <a:latin typeface="Gill Sans MT"/>
            <a:cs typeface="Gill Sans MT"/>
          </a:defRPr>
        </a:defPPr>
      </a:lstStyle>
      <a:style>
        <a:lnRef idx="1">
          <a:schemeClr val="accent1"/>
        </a:lnRef>
        <a:fillRef idx="3">
          <a:schemeClr val="accent1"/>
        </a:fillRef>
        <a:effectRef idx="2">
          <a:schemeClr val="accent1"/>
        </a:effectRef>
        <a:fontRef idx="minor">
          <a:schemeClr val="lt1"/>
        </a:fontRef>
      </a:style>
    </a:spDef>
    <a:lnDef>
      <a:spPr>
        <a:ln w="3175" cmpd="sng">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ctr">
          <a:defRPr sz="1050" b="1" dirty="0" smtClean="0">
            <a:solidFill>
              <a:srgbClr val="464749"/>
            </a:solidFill>
          </a:defRPr>
        </a:defPPr>
      </a:lstStyle>
    </a:txDef>
  </a:objectDefaults>
  <a:extraClrSchemeLst/>
  <a:extLst>
    <a:ext uri="{05A4C25C-085E-4340-85A3-A5531E510DB2}">
      <thm15:themeFamily xmlns:thm15="http://schemas.microsoft.com/office/thememl/2012/main" name="imec_confidential" id="{CFAB1493-EDDF-6747-BC85-678A5E87CB8A}" vid="{E0B1BA8D-B72F-3F4B-9F09-0FF9C2C6A696}"/>
    </a:ext>
  </a:extLst>
</a:theme>
</file>

<file path=ppt/theme/theme2.xml><?xml version="1.0" encoding="utf-8"?>
<a:theme xmlns:a="http://schemas.openxmlformats.org/drawingml/2006/main" name="Theme1">
  <a:themeElements>
    <a:clrScheme name="imec 2021 3">
      <a:dk1>
        <a:srgbClr val="3C3C3B"/>
      </a:dk1>
      <a:lt1>
        <a:srgbClr val="FFFFFF"/>
      </a:lt1>
      <a:dk2>
        <a:srgbClr val="3F98BD"/>
      </a:dk2>
      <a:lt2>
        <a:srgbClr val="929497"/>
      </a:lt2>
      <a:accent1>
        <a:srgbClr val="3E98BD"/>
      </a:accent1>
      <a:accent2>
        <a:srgbClr val="52BDC1"/>
      </a:accent2>
      <a:accent3>
        <a:srgbClr val="90288D"/>
      </a:accent3>
      <a:accent4>
        <a:srgbClr val="1582BD"/>
      </a:accent4>
      <a:accent5>
        <a:srgbClr val="36337C"/>
      </a:accent5>
      <a:accent6>
        <a:srgbClr val="99BDE4"/>
      </a:accent6>
      <a:hlink>
        <a:srgbClr val="3F98BD"/>
      </a:hlink>
      <a:folHlink>
        <a:srgbClr val="2D6C85"/>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a:gsLst>
            <a:gs pos="0">
              <a:schemeClr val="accent6"/>
            </a:gs>
            <a:gs pos="60000">
              <a:schemeClr val="tx2"/>
            </a:gs>
          </a:gsLst>
          <a:lin ang="2700000" scaled="0"/>
        </a:gradFill>
        <a:ln>
          <a:noFill/>
        </a:ln>
        <a:effectLst/>
      </a:spPr>
      <a:bodyPr rtlCol="0" anchor="ctr"/>
      <a:lstStyle>
        <a:defPPr algn="ctr">
          <a:defRPr sz="1400" smtClean="0"/>
        </a:defPPr>
      </a:lstStyle>
      <a:style>
        <a:lnRef idx="1">
          <a:schemeClr val="accent1"/>
        </a:lnRef>
        <a:fillRef idx="3">
          <a:schemeClr val="accent1"/>
        </a:fillRef>
        <a:effectRef idx="2">
          <a:schemeClr val="accent1"/>
        </a:effectRef>
        <a:fontRef idx="minor">
          <a:schemeClr val="lt1"/>
        </a:fontRef>
      </a:style>
    </a:spDef>
    <a:lnDef>
      <a:spPr>
        <a:ln w="3175" cmpd="sng">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ctr">
          <a:defRPr sz="1200" dirty="0" err="1" smtClean="0"/>
        </a:defPPr>
      </a:lstStyle>
    </a:txDef>
  </a:objectDefaults>
  <a:extraClrSchemeLst/>
  <a:extLst>
    <a:ext uri="{05A4C25C-085E-4340-85A3-A5531E510DB2}">
      <thm15:themeFamily xmlns:thm15="http://schemas.microsoft.com/office/thememl/2012/main" name="Theme1" id="{B9E665F0-C26B-4365-B2DE-A4BDC0EAA3C0}" vid="{E37BFF3E-68FE-43F1-87C2-B2F59EDB242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imec 2021 3">
    <a:dk1>
      <a:srgbClr val="3C3C3B"/>
    </a:dk1>
    <a:lt1>
      <a:srgbClr val="FFFFFF"/>
    </a:lt1>
    <a:dk2>
      <a:srgbClr val="3F98BD"/>
    </a:dk2>
    <a:lt2>
      <a:srgbClr val="929497"/>
    </a:lt2>
    <a:accent1>
      <a:srgbClr val="3E98BD"/>
    </a:accent1>
    <a:accent2>
      <a:srgbClr val="52BDC1"/>
    </a:accent2>
    <a:accent3>
      <a:srgbClr val="90288D"/>
    </a:accent3>
    <a:accent4>
      <a:srgbClr val="1582BD"/>
    </a:accent4>
    <a:accent5>
      <a:srgbClr val="36337C"/>
    </a:accent5>
    <a:accent6>
      <a:srgbClr val="99BDE4"/>
    </a:accent6>
    <a:hlink>
      <a:srgbClr val="3F98BD"/>
    </a:hlink>
    <a:folHlink>
      <a:srgbClr val="2D6C85"/>
    </a:folHlink>
  </a:clrScheme>
</a:themeOverride>
</file>

<file path=ppt/theme/themeOverride2.xml><?xml version="1.0" encoding="utf-8"?>
<a:themeOverride xmlns:a="http://schemas.openxmlformats.org/drawingml/2006/main">
  <a:clrScheme name="imec 2021 3">
    <a:dk1>
      <a:srgbClr val="3C3C3B"/>
    </a:dk1>
    <a:lt1>
      <a:srgbClr val="FFFFFF"/>
    </a:lt1>
    <a:dk2>
      <a:srgbClr val="3F98BD"/>
    </a:dk2>
    <a:lt2>
      <a:srgbClr val="929497"/>
    </a:lt2>
    <a:accent1>
      <a:srgbClr val="3E98BD"/>
    </a:accent1>
    <a:accent2>
      <a:srgbClr val="52BDC1"/>
    </a:accent2>
    <a:accent3>
      <a:srgbClr val="90288D"/>
    </a:accent3>
    <a:accent4>
      <a:srgbClr val="1582BD"/>
    </a:accent4>
    <a:accent5>
      <a:srgbClr val="36337C"/>
    </a:accent5>
    <a:accent6>
      <a:srgbClr val="99BDE4"/>
    </a:accent6>
    <a:hlink>
      <a:srgbClr val="3F98BD"/>
    </a:hlink>
    <a:folHlink>
      <a:srgbClr val="2D6C85"/>
    </a:folHlink>
  </a:clrScheme>
</a:themeOverride>
</file>

<file path=docProps/app.xml><?xml version="1.0" encoding="utf-8"?>
<Properties xmlns="http://schemas.openxmlformats.org/officeDocument/2006/extended-properties" xmlns:vt="http://schemas.openxmlformats.org/officeDocument/2006/docPropsVTypes">
  <Template>Default Theme</Template>
  <TotalTime>781</TotalTime>
  <Words>8083</Words>
  <Application>Microsoft Office PowerPoint</Application>
  <PresentationFormat>On-screen Show (16:9)</PresentationFormat>
  <Paragraphs>1296</Paragraphs>
  <Slides>66</Slides>
  <Notes>49</Notes>
  <HiddenSlides>14</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66</vt:i4>
      </vt:variant>
    </vt:vector>
  </HeadingPairs>
  <TitlesOfParts>
    <vt:vector size="77" baseType="lpstr">
      <vt:lpstr>Aptos</vt:lpstr>
      <vt:lpstr>Arial</vt:lpstr>
      <vt:lpstr>Calibri</vt:lpstr>
      <vt:lpstr>Courier New</vt:lpstr>
      <vt:lpstr>Courier New,monospace</vt:lpstr>
      <vt:lpstr>Gill Sans</vt:lpstr>
      <vt:lpstr>Gill Sans MT</vt:lpstr>
      <vt:lpstr>Segoe UI</vt:lpstr>
      <vt:lpstr>Wingdings</vt:lpstr>
      <vt:lpstr>imec - holst</vt:lpstr>
      <vt:lpstr>Theme1</vt:lpstr>
      <vt:lpstr>PowerPoint Presentation</vt:lpstr>
      <vt:lpstr>AI is Everywhere</vt:lpstr>
      <vt:lpstr>AI is Everywhere</vt:lpstr>
      <vt:lpstr>AI is Everywhere</vt:lpstr>
      <vt:lpstr>Event Driven Paradigm</vt:lpstr>
      <vt:lpstr>Neuromorphic Architecture Landscape</vt:lpstr>
      <vt:lpstr>Exploration should be Science based not an Art</vt:lpstr>
      <vt:lpstr>Scope of Research</vt:lpstr>
      <vt:lpstr>Outline</vt:lpstr>
      <vt:lpstr>Mapping CNNs to Hardware: Spatial &amp; Temporal Unrolling</vt:lpstr>
      <vt:lpstr>What is Exploration ?</vt:lpstr>
      <vt:lpstr>Different Dataflow strategies</vt:lpstr>
      <vt:lpstr>Outline</vt:lpstr>
      <vt:lpstr>Related works</vt:lpstr>
      <vt:lpstr>Outline</vt:lpstr>
      <vt:lpstr>Thesis Contributions: Overview</vt:lpstr>
      <vt:lpstr>AeDAM Implementation Scope</vt:lpstr>
      <vt:lpstr>I</vt:lpstr>
      <vt:lpstr>AeDAM Component Overview</vt:lpstr>
      <vt:lpstr>Architecture and Workload Specification</vt:lpstr>
      <vt:lpstr>Event-Driven Mapping Space Generation</vt:lpstr>
      <vt:lpstr>Comprehensive Cost Analysis Pipeline</vt:lpstr>
      <vt:lpstr>Optimization-Driven Mapping Selection</vt:lpstr>
      <vt:lpstr>Framework Results and Analysis</vt:lpstr>
      <vt:lpstr>Outline</vt:lpstr>
      <vt:lpstr>Analysis overview</vt:lpstr>
      <vt:lpstr>Target Architecture: SENECA Platform</vt:lpstr>
      <vt:lpstr>Benchmark Neural Network: VGGNet-16 </vt:lpstr>
      <vt:lpstr>Validation process</vt:lpstr>
      <vt:lpstr>Comparison with SoTA</vt:lpstr>
      <vt:lpstr>ZigZag Integration and Extensions</vt:lpstr>
      <vt:lpstr>PowerPoint Presentation</vt:lpstr>
      <vt:lpstr>Mapping Space Optimization</vt:lpstr>
      <vt:lpstr>Mapping Space Efficiency Analysis</vt:lpstr>
      <vt:lpstr>Exploration Performance Comparison</vt:lpstr>
      <vt:lpstr>Word Access comparison Results</vt:lpstr>
      <vt:lpstr>Latency Performance Analysis</vt:lpstr>
      <vt:lpstr>Energy Consumption Trade-offs</vt:lpstr>
      <vt:lpstr>Comparision Summary</vt:lpstr>
      <vt:lpstr>Design Space Exploration Case Study</vt:lpstr>
      <vt:lpstr>SRAM Configuration Analysis</vt:lpstr>
      <vt:lpstr>SRAM Optimization Results</vt:lpstr>
      <vt:lpstr>Processing Element Configuration Study</vt:lpstr>
      <vt:lpstr>PE Arrangement Optimization</vt:lpstr>
      <vt:lpstr>Optimal Architecture Configuration</vt:lpstr>
      <vt:lpstr>Outline</vt:lpstr>
      <vt:lpstr>Conclusion</vt:lpstr>
      <vt:lpstr>Future work</vt:lpstr>
      <vt:lpstr>Thank you</vt:lpstr>
      <vt:lpstr>Q&amp;A</vt:lpstr>
      <vt:lpstr>Backup</vt:lpstr>
      <vt:lpstr>Architecture model</vt:lpstr>
      <vt:lpstr>Different Dataflow strategies</vt:lpstr>
      <vt:lpstr>3.  Analytical cost model</vt:lpstr>
      <vt:lpstr>Workload </vt:lpstr>
      <vt:lpstr>Event driven datapath validation</vt:lpstr>
      <vt:lpstr>Event driven datapath validation</vt:lpstr>
      <vt:lpstr>Event driven datapath validation</vt:lpstr>
      <vt:lpstr>Event driven datapath validation</vt:lpstr>
      <vt:lpstr>Word access Validation</vt:lpstr>
      <vt:lpstr>Latency Validation</vt:lpstr>
      <vt:lpstr>Energy Validation</vt:lpstr>
      <vt:lpstr>Detailed analysis of each of the cost model</vt:lpstr>
      <vt:lpstr>Why the optimised search works ?</vt:lpstr>
      <vt:lpstr>Difference b/w the AeDAM and Zigzag mapspace</vt:lpstr>
      <vt:lpstr>AeDAM Complete toolflow</vt:lpstr>
    </vt:vector>
  </TitlesOfParts>
  <Company>imec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Malladi Naga Subhash (imec)</dc:creator>
  <cp:lastModifiedBy>Kanishkan Vadivel (imec)</cp:lastModifiedBy>
  <cp:revision>2</cp:revision>
  <dcterms:created xsi:type="dcterms:W3CDTF">2024-10-22T20:43:05Z</dcterms:created>
  <dcterms:modified xsi:type="dcterms:W3CDTF">2025-08-29T11:41:00Z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02d096a-b9c6-47d3-a057-0331d74161ec_Enabled">
    <vt:lpwstr>true</vt:lpwstr>
  </property>
  <property fmtid="{D5CDD505-2E9C-101B-9397-08002B2CF9AE}" pid="3" name="MSIP_Label_902d096a-b9c6-47d3-a057-0331d74161ec_SetDate">
    <vt:lpwstr>2025-05-06T07:56:58Z</vt:lpwstr>
  </property>
  <property fmtid="{D5CDD505-2E9C-101B-9397-08002B2CF9AE}" pid="4" name="MSIP_Label_902d096a-b9c6-47d3-a057-0331d74161ec_Method">
    <vt:lpwstr>Privileged</vt:lpwstr>
  </property>
  <property fmtid="{D5CDD505-2E9C-101B-9397-08002B2CF9AE}" pid="5" name="MSIP_Label_902d096a-b9c6-47d3-a057-0331d74161ec_Name">
    <vt:lpwstr>Confidential - General - Unmarked</vt:lpwstr>
  </property>
  <property fmtid="{D5CDD505-2E9C-101B-9397-08002B2CF9AE}" pid="6" name="MSIP_Label_902d096a-b9c6-47d3-a057-0331d74161ec_SiteId">
    <vt:lpwstr>a72d5a72-25ee-40f0-9bd1-067cb5b770d4</vt:lpwstr>
  </property>
  <property fmtid="{D5CDD505-2E9C-101B-9397-08002B2CF9AE}" pid="7" name="MSIP_Label_902d096a-b9c6-47d3-a057-0331d74161ec_ActionId">
    <vt:lpwstr>ec118234-40ed-45c1-aad5-035a4a88a452</vt:lpwstr>
  </property>
  <property fmtid="{D5CDD505-2E9C-101B-9397-08002B2CF9AE}" pid="8" name="MSIP_Label_902d096a-b9c6-47d3-a057-0331d74161ec_ContentBits">
    <vt:lpwstr>0</vt:lpwstr>
  </property>
  <property fmtid="{D5CDD505-2E9C-101B-9397-08002B2CF9AE}" pid="9" name="MSIP_Label_902d096a-b9c6-47d3-a057-0331d74161ec_Tag">
    <vt:lpwstr>10, 0, 1, 2</vt:lpwstr>
  </property>
</Properties>
</file>